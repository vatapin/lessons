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5aa16cc3f4240a9" /><Relationship Type="http://schemas.openxmlformats.org/officeDocument/2006/relationships/extended-properties" Target="/docProps/app.xml" Id="R1b16dce92c884ef1" /><Relationship Type="http://schemas.openxmlformats.org/officeDocument/2006/relationships/officeDocument" Target="/ppt/presentation.xml" Id="R9df544f9bc174cd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7c4041a6e6743b6"/>
  </p:sldMasterIdLst>
  <p:notesMasterIdLst>
    <p:notesMasterId xmlns:r="http://schemas.openxmlformats.org/officeDocument/2006/relationships" r:id="Re10bdb9fbda94e61"/>
  </p:notesMasterIdLst>
  <p:sldIdLst>
    <p:sldId xmlns:r="http://schemas.openxmlformats.org/officeDocument/2006/relationships" id="256" r:id="Rb99b9003146b465d"/>
    <p:sldId xmlns:r="http://schemas.openxmlformats.org/officeDocument/2006/relationships" id="257" r:id="Rc1d3247c79704804"/>
    <p:sldId xmlns:r="http://schemas.openxmlformats.org/officeDocument/2006/relationships" id="258" r:id="Rac9543f32f424443"/>
    <p:sldId xmlns:r="http://schemas.openxmlformats.org/officeDocument/2006/relationships" id="259" r:id="Rb1ee4af07c8c4137"/>
    <p:sldId xmlns:r="http://schemas.openxmlformats.org/officeDocument/2006/relationships" id="260" r:id="Re4ad07e1d9d04766"/>
    <p:sldId xmlns:r="http://schemas.openxmlformats.org/officeDocument/2006/relationships" id="261" r:id="R2eb817ed78ff4e2d"/>
    <p:sldId xmlns:r="http://schemas.openxmlformats.org/officeDocument/2006/relationships" id="262" r:id="R52e586c5de8d45f7"/>
    <p:sldId xmlns:r="http://schemas.openxmlformats.org/officeDocument/2006/relationships" id="263" r:id="R67ed1259d62742f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e5aeae6c2ef4529" /><Relationship Type="http://schemas.openxmlformats.org/officeDocument/2006/relationships/slideMaster" Target="/ppt/slideMasters/slideMaster1.xml" Id="Re7c4041a6e6743b6" /><Relationship Type="http://schemas.openxmlformats.org/officeDocument/2006/relationships/notesMaster" Target="/ppt/notesMasters/notesMaster1.xml" Id="Re10bdb9fbda94e61" /><Relationship Type="http://schemas.openxmlformats.org/officeDocument/2006/relationships/presProps" Target="/ppt/presProps.xml" Id="Rfa2c8977cb0b43e1" /><Relationship Type="http://schemas.openxmlformats.org/officeDocument/2006/relationships/tableStyles" Target="/ppt/tableStyles.xml" Id="Rb634a089cbae4b43" /><Relationship Type="http://schemas.openxmlformats.org/officeDocument/2006/relationships/slide" Target="/ppt/slides/slide1.xml" Id="Rb99b9003146b465d" /><Relationship Type="http://schemas.openxmlformats.org/officeDocument/2006/relationships/slide" Target="/ppt/slides/slide2.xml" Id="Rc1d3247c79704804" /><Relationship Type="http://schemas.openxmlformats.org/officeDocument/2006/relationships/slide" Target="/ppt/slides/slide3.xml" Id="Rac9543f32f424443" /><Relationship Type="http://schemas.openxmlformats.org/officeDocument/2006/relationships/slide" Target="/ppt/slides/slide4.xml" Id="Rb1ee4af07c8c4137" /><Relationship Type="http://schemas.openxmlformats.org/officeDocument/2006/relationships/slide" Target="/ppt/slides/slide5.xml" Id="Re4ad07e1d9d04766" /><Relationship Type="http://schemas.openxmlformats.org/officeDocument/2006/relationships/slide" Target="/ppt/slides/slide6.xml" Id="R2eb817ed78ff4e2d" /><Relationship Type="http://schemas.openxmlformats.org/officeDocument/2006/relationships/slide" Target="/ppt/slides/slide7.xml" Id="R52e586c5de8d45f7" /><Relationship Type="http://schemas.openxmlformats.org/officeDocument/2006/relationships/slide" Target="/ppt/slides/slide8.xml" Id="R67ed1259d62742f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150c77a4b9446a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853ccfbf2a44d4f" /><Relationship Type="http://schemas.openxmlformats.org/officeDocument/2006/relationships/notesMaster" Target="/ppt/notesMasters/notesMaster1.xml" Id="R8e96097a5f4a4d3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8874284512f4371" /><Relationship Type="http://schemas.openxmlformats.org/officeDocument/2006/relationships/notesMaster" Target="/ppt/notesMasters/notesMaster1.xml" Id="R8a478625a7244a7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6c8a94fff9a476c" /><Relationship Type="http://schemas.openxmlformats.org/officeDocument/2006/relationships/notesMaster" Target="/ppt/notesMasters/notesMaster1.xml" Id="Rc9ce73476848456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5fb54577daa4199" /><Relationship Type="http://schemas.openxmlformats.org/officeDocument/2006/relationships/notesMaster" Target="/ppt/notesMasters/notesMaster1.xml" Id="R0641bc25a59f44d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2279f6f1b8b481c" /><Relationship Type="http://schemas.openxmlformats.org/officeDocument/2006/relationships/notesMaster" Target="/ppt/notesMasters/notesMaster1.xml" Id="R45fe6cd6d4f24cb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3e9cbded1834bfd" /><Relationship Type="http://schemas.openxmlformats.org/officeDocument/2006/relationships/notesMaster" Target="/ppt/notesMasters/notesMaster1.xml" Id="Rce8f3f9c436243d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480c38ea6a64086" /><Relationship Type="http://schemas.openxmlformats.org/officeDocument/2006/relationships/notesMaster" Target="/ppt/notesMasters/notesMaster1.xml" Id="R1a8b7946dd514df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fccce96cb7c4d89" /><Relationship Type="http://schemas.openxmlformats.org/officeDocument/2006/relationships/notesMaster" Target="/ppt/notesMasters/notesMaster1.xml" Id="R7b247bf825a3490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Ведущий: «Какое из этих выражений ближе к слову „простить“? Выберите одно и объясните соседу. Можно говорить только о вымышленных ситуациях». 30 секунд на выбор, 2 минуты на разговор вдвоём. Выслушайте два разных ответа без оценки. Скажите: «Вернёмся к вашему выбору после притчи». В последнюю минуту каждый записывает вопрос, с которым пришёл. Личные истории раскрывать не нужно.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Пётр спрашивает о прощении брата. Христос отвечает притчей о несопоставимых долгах: полученная милость должна влиять на отношение к другим. Не пропускайте серьёзное заключение в ст. 35. Притча не предписывает скрывать причинённый вред и автоматически восстанавливать безусловное доверие.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Bibelquelle: https://bible.by/syn/40/18/</a:t>
            </a:r>
          </a:p>
          <a:p xmlns:a="http://schemas.openxmlformats.org/drawingml/2006/main">
            <a:r>
              <a:t>German reading: https://github.com/VAtapin/lessons/blob/main/resources/content/forgiveness-de.php</a:t>
            </a:r>
          </a:p>
          <a:p xmlns:a="http://schemas.openxmlformats.org/drawingml/2006/main">
            <a:r>
              <a:t>Illustration generated for this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Ведущий: «Пётр спрашивает, сколько раз прощать брата. Послушаем весь ответ Христа и притчу. Талант здесь — крупная денежная единица, а не способность человека». Прочитайте Мф. 18:21–35 целиком, включая заключительный стих: 4 минуты. Предложите следить за суммами долгов, просьбами и ответами. Затем распределите пять добровольных ролей: рассказчик, царь, первый должник, товарищ-должник и свидетель. За 2 минуты участники находят свои стихи. Обсуждение начнётся после сценки.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Пётр спрашивает о прощении брата. Христос отвечает притчей о несопоставимых долгах: полученная милость должна влиять на отношение к другим. Не пропускайте серьёзное заключение в ст. 35. Притча не предписывает скрывать причинённый вред и автоматически восстанавливать безусловное доверие.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21 Тогда Пётр приступил к Нему и сказал: Господи! сколько раз прощать брату моему, согрешающему против меня? до семи ли раз?</a:t>
            </a:r>
          </a:p>
          <a:p xmlns:a="http://schemas.openxmlformats.org/drawingml/2006/main">
            <a:r>
              <a:t>22 Иисус говорит ему: не говорю тебе: «до семи», но до седмижды семидесяти раз.</a:t>
            </a:r>
          </a:p>
          <a:p xmlns:a="http://schemas.openxmlformats.org/drawingml/2006/main">
            <a:r>
              <a:t>23 Посему Царство Небесное подобно царю, который захотел сосчитаться с рабами своими;</a:t>
            </a:r>
          </a:p>
          <a:p xmlns:a="http://schemas.openxmlformats.org/drawingml/2006/main">
            <a:r>
              <a:t>24 когда начал он считаться, приведён был к нему некто, который должен был ему десять тысяч талантов;</a:t>
            </a:r>
          </a:p>
          <a:p xmlns:a="http://schemas.openxmlformats.org/drawingml/2006/main">
            <a:r>
              <a:t>25 а как он не имел чем заплатить, то государь его приказал продать его, и жену его, и детей, и всё, что он имел, и заплатить;</a:t>
            </a:r>
          </a:p>
          <a:p xmlns:a="http://schemas.openxmlformats.org/drawingml/2006/main">
            <a:r>
              <a:t>26 тогда раб тот пал, и, кланяясь ему, говорил: «государь! потерпи на мне, и всё тебе заплачу».</a:t>
            </a:r>
          </a:p>
          <a:p xmlns:a="http://schemas.openxmlformats.org/drawingml/2006/main">
            <a:r>
              <a:t>27 Государь, умилосердившись над рабом тем, отпустил его и долг простил ему.</a:t>
            </a:r>
          </a:p>
          <a:p xmlns:a="http://schemas.openxmlformats.org/drawingml/2006/main">
            <a:r>
              <a:t>28 Раб же тот, выйдя, нашёл одного из товарищей своих, который должен был ему сто динариев, и, схватив его, душил, говоря: «отдай мне, что должен».</a:t>
            </a:r>
          </a:p>
          <a:p xmlns:a="http://schemas.openxmlformats.org/drawingml/2006/main">
            <a:r>
              <a:t>29 Тогда товарищ его пал к ногам его, умолял его и говорил: «потерпи на мне, и всё отдам тебе».</a:t>
            </a:r>
          </a:p>
          <a:p xmlns:a="http://schemas.openxmlformats.org/drawingml/2006/main">
            <a:r>
              <a:t>30 Но тот не захотел, а пошёл и посадил его в темницу, пока не отдаст долга.</a:t>
            </a:r>
          </a:p>
          <a:p xmlns:a="http://schemas.openxmlformats.org/drawingml/2006/main">
            <a:r>
              <a:t>31 Товарищи его, видев происшедшее, очень огорчились и, придя, рассказали государю своему всё бывшее.</a:t>
            </a:r>
          </a:p>
          <a:p xmlns:a="http://schemas.openxmlformats.org/drawingml/2006/main">
            <a:r>
              <a:t>32 Тогда государь его призывает его и говорит: «злой раб! весь долг тот я простил тебе, потому что ты упросил меня;</a:t>
            </a:r>
          </a:p>
          <a:p xmlns:a="http://schemas.openxmlformats.org/drawingml/2006/main">
            <a:r>
              <a:t>33 не надлежало ли и тебе помиловать товарища твоего, как и я помиловал тебя?»</a:t>
            </a:r>
          </a:p>
          <a:p xmlns:a="http://schemas.openxmlformats.org/drawingml/2006/main">
            <a:r>
              <a:t>34 И, разгневавшись, государь его отдал его истязателям, пока не отдаст ему всего долга.</a:t>
            </a:r>
          </a:p>
          <a:p xmlns:a="http://schemas.openxmlformats.org/drawingml/2006/main">
            <a:r>
              <a:t>35 Так и Отец Мой Небесный поступит с вами, если не простит каждый из вас от сердца своего брату своему согрешений его.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Bibelquelle: https://bible.by/syn/40/18/</a:t>
            </a:r>
          </a:p>
          <a:p xmlns:a="http://schemas.openxmlformats.org/drawingml/2006/main">
            <a:r>
              <a:t>German reading: https://github.com/VAtapin/lessons/blob/main/resources/content/forgiveness-de.php</a:t>
            </a:r>
          </a:p>
          <a:p xmlns:a="http://schemas.openxmlformats.org/drawingml/2006/main">
            <a:r>
              <a:t>Illustration generated for this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 минуты на сценку. Рассказчик читает ст. 23–25; первый должник — ст. 26; рассказчик — ст. 27. Царь раскрывает ладонь. Первый должник и товарищ читают ст. 28–29 без физического контакта; рассказчик — ст. 30–31; свидетель сообщает царю о случившемся словами ст. 31. Царь читает ст. 32–33, рассказчик — ст. 34, ведущий — ст. 35. Не добавляйте счастливого окончания. 2 минуты пары сравнивают обе просьбы. 3 минуты общего разговора: «Что должник получил сверх своей просьбы? Почему полученная милость должна была изменить его отношение к другому?» Ориентир: царь простил долг, а не только отсрочил платёж. Христос говорит о прощении от сердца, а не о подсчёте разрешённых обид.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Пётр спрашивает о прощении брата. Христос отвечает притчей о несопоставимых долгах: полученная милость должна влиять на отношение к другим. Не пропускайте серьёзное заключение в ст. 35. Притча не предписывает скрывать причинённый вред и автоматически восстанавливать безусловное доверие.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Bibelquelle: https://bible.by/syn/40/18/</a:t>
            </a:r>
          </a:p>
          <a:p xmlns:a="http://schemas.openxmlformats.org/drawingml/2006/main">
            <a:r>
              <a:t>German reading: https://github.com/VAtapin/lessons/blob/main/resources/content/forgiveness-de.php</a:t>
            </a:r>
          </a:p>
          <a:p xmlns:a="http://schemas.openxmlformats.org/drawingml/2006/main">
            <a:r>
              <a:t>Illustration generated for this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Раздайте карточки 1–4 группам по 3–4 человека. 3 минуты: определите, где говорится о памяти, отказе от мести, приглашении к примирению и доверии. Для спорных фраз запишите вопрос. 2 минуты: две группы объясняют разные решения. Ведущий: «Какие шаги может сделать один человек, а какие зависят от обоих?» 3 минуты разбора. Ориентир: отказаться от ответного унижения можно самому; примирение требует участия обоих; доверие связано с надёжностью поведения. Возвращение боли само по себе не доказывает отсутствия прощения. Это педагогические различения, помогающие обсуждать отношения, а не дословные определения из притчи.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Пётр спрашивает о прощении брата. Христос отвечает притчей о несопоставимых долгах: полученная милость должна влиять на отношение к другим. Не пропускайте серьёзное заключение в ст. 35. Притча не предписывает скрывать причинённый вред и автоматически восстанавливать безусловное доверие.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Bibelquelle: https://bible.by/syn/40/18/</a:t>
            </a:r>
          </a:p>
          <a:p xmlns:a="http://schemas.openxmlformats.org/drawingml/2006/main">
            <a:r>
              <a:t>German reading: https://github.com/VAtapin/lessons/blob/main/resources/content/forgiveness-de.php</a:t>
            </a:r>
          </a:p>
          <a:p xmlns:a="http://schemas.openxmlformats.org/drawingml/2006/main">
            <a:r>
              <a:t>Illustration generated for this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Прочитайте карточку 5: Елена доверила Ольге семейную трудность и попросила сохранить разговор в тайне. Ольга переслала сообщение знакомой. Елена хочет высмеять Ольгу публично. 4 минуты группы предлагают ответ на четыре вопроса: «Какой вред причинён? Что будет местью? О чём Елена может попросить? Какое условие дальнейшего общения разумно?» 2 минуты группы обмениваются решениями. Затем сообщите: «Ольга признала поступок, удалила пересланное сообщение и попросила получательницу его не распространять». 3 минуты: «Что изменилось? Что ещё не восстановилось?» Ориентир: признание и попытка остановить распространение — начало ответственности. Они не гарантируют исчезновения всех копий и немедленного возвращения доверия.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Пётр спрашивает о прощении брата. Христос отвечает притчей о несопоставимых долгах: полученная милость должна влиять на отношение к другим. Не пропускайте серьёзное заключение в ст. 35. Притча не предписывает скрывать причинённый вред и автоматически восстанавливать безусловное доверие.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Bibelquelle: https://bible.by/syn/40/18/</a:t>
            </a:r>
          </a:p>
          <a:p xmlns:a="http://schemas.openxmlformats.org/drawingml/2006/main">
            <a:r>
              <a:t>German reading: https://github.com/VAtapin/lessons/blob/main/resources/content/forgiveness-de.php</a:t>
            </a:r>
          </a:p>
          <a:p xmlns:a="http://schemas.openxmlformats.org/drawingml/2006/main">
            <a:r>
              <a:t>Illustration generated for this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Ведущий произносит: «Прости, если ты обиделась, но я хотела как лучше». 1 минута: найдите условность и оправдание. Затем пары разыгрывают разговор Ольги и Елены. Ольга называет поступок, причинённый вред, просит прощения и предлагает выполнимое исправление. Елена отвечает честно и не обязана сразу соглашаться. 2 минуты разговора и 1 минута обратной связи; затем смена ролей и повтор — всего 6 минут. Последние 3 минуты: какие фразы помогли взять ответственность? Пример: «Я переслала твои слова без разрешения. Нарушила твоё доверие. Прости. Я уже попросила не распространять сообщение и больше не буду делиться твоими словами без согласия». Избегайте обещаний управлять действиями всех получателей.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Пётр спрашивает о прощении брата. Христос отвечает притчей о несопоставимых долгах: полученная милость должна влиять на отношение к другим. Не пропускайте серьёзное заключение в ст. 35. Притча не предписывает скрывать причинённый вред и автоматически восстанавливать безусловное доверие.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Bibelquelle: https://bible.by/syn/40/18/</a:t>
            </a:r>
          </a:p>
          <a:p xmlns:a="http://schemas.openxmlformats.org/drawingml/2006/main">
            <a:r>
              <a:t>German reading: https://github.com/VAtapin/lessons/blob/main/resources/content/forgiveness-de.php</a:t>
            </a:r>
          </a:p>
          <a:p xmlns:a="http://schemas.openxmlformats.org/drawingml/2006/main">
            <a:r>
              <a:t>Illustration generated for this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Откройте карточку 6: через неделю Ольга снова пересказала чужую личную историю — теперь другого человека. 3 минуты группы пересматривают условия общения. 2 минуты пары формулируют ответ Елены: факт, граница, дальнейшее действие. Пример: «Ты снова передала личные слова. Пока я не буду обсуждать с тобой семейные подробности. О нашем общении можем поговорить отдельно». 3 минуты общего разбора: «Где отказ от мести? Кто отвечает за повторный поступок? Какие действия со временем могли бы укрепить доверие?» Иллюстрация ремонта чашки показывает терпение и последовательность. Люди не обязаны возвращать отношения в точности к прежнему виду. При продолжающемся вреде сначала необходимы защита и помощь.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Пётр спрашивает о прощении брата. Христос отвечает притчей о несопоставимых долгах: полученная милость должна влиять на отношение к другим. Не пропускайте серьёзное заключение в ст. 35. Притча не предписывает скрывать причинённый вред и автоматически восстанавливать безусловное доверие.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Bibelquelle: https://bible.by/syn/40/18/</a:t>
            </a:r>
          </a:p>
          <a:p xmlns:a="http://schemas.openxmlformats.org/drawingml/2006/main">
            <a:r>
              <a:t>German reading: https://github.com/VAtapin/lessons/blob/main/resources/content/forgiveness-de.php</a:t>
            </a:r>
          </a:p>
          <a:p xmlns:a="http://schemas.openxmlformats.org/drawingml/2006/main">
            <a:r>
              <a:t>Illustration generated for this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 минуты личной работы: выберите небольшую или вымышленную ситуацию, заполните подходящие поля рабочего листа. Записи остаются у участников. 1 минута: вернитесь к первоначальному выбору; желающие заканчивают фразу «Теперь я различаю…». Последние 2 минуты: каждый проверяет, выполним ли его шаг и зависит ли он от него самого. Ведущий: «Мы можем помнить боль и всё же начинать отказываться от мести. Доверие укрепляют правдивые и повторяющиеся поступки». Предложите заключительную молитву добровольно. Не спрашивайте публично, кто уже простил.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Пётр спрашивает о прощении брата. Христос отвечает притчей о несопоставимых долгах: полученная милость должна влиять на отношение к другим. Не пропускайте серьёзное заключение в ст. 35. Притча не предписывает скрывать причинённый вред и автоматически восстанавливать безусловное доверие.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Bibelquelle: https://bible.by/syn/40/18/</a:t>
            </a:r>
          </a:p>
          <a:p xmlns:a="http://schemas.openxmlformats.org/drawingml/2006/main">
            <a:r>
              <a:t>German reading: https://github.com/VAtapin/lessons/blob/main/resources/content/forgiveness-de.php</a:t>
            </a:r>
          </a:p>
          <a:p xmlns:a="http://schemas.openxmlformats.org/drawingml/2006/main">
            <a:r>
              <a:t>Illustration generated for this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548ed6960b41c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53891cbdcc494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b1724dc8d4433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ffcaede8fc4a2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9f87a3ee4a4a8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b6d96d1c6b482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DC674BF2-705B-4E27-8F79-905F627E4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6F20860-40CD-4A6C-96F6-4DD905B037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7DEC1C25-9C74-476F-92C8-7C8661A6E92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328DE078-A254-461C-84DA-ACC5101EC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DA7BD17-CF6B-4EC7-8E38-1631E4022A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31841D81-A5FE-49F0-B91E-397751CB2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CE9C3BD-90A2-4917-B4C9-E35592E983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CC6361C4-028C-453E-AC3A-E7DF2C44FF6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856161FD-5DEF-4C4D-8BB1-3BF2625F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4868FA1-053A-44AF-A43A-3E639C9BAC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101E7A0-1126-4F9B-88B5-405320A0685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64E7CF5-18CB-4EF9-9BA6-FB6272E1437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C7523884-3FFA-4207-980E-B5C0BE356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770000E-B8E7-4199-9059-E672F4B413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0AB0D8B-C0C6-42D0-83ED-9B319355B07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5222e79af3c4198" /><Relationship Type="http://schemas.openxmlformats.org/officeDocument/2006/relationships/slideLayout" Target="/ppt/slideLayouts/slideLayout1.xml" Id="R3c2392c24a04442a" /><Relationship Type="http://schemas.openxmlformats.org/officeDocument/2006/relationships/slideLayout" Target="/ppt/slideLayouts/slideLayout2.xml" Id="R4c162869de784cf7" /><Relationship Type="http://schemas.openxmlformats.org/officeDocument/2006/relationships/slideLayout" Target="/ppt/slideLayouts/slideLayout3.xml" Id="R1a6f122cbb3049b8" /><Relationship Type="http://schemas.openxmlformats.org/officeDocument/2006/relationships/slideLayout" Target="/ppt/slideLayouts/slideLayout4.xml" Id="R65ca9e5a031647a4" /><Relationship Type="http://schemas.openxmlformats.org/officeDocument/2006/relationships/slideLayout" Target="/ppt/slideLayouts/slideLayout5.xml" Id="R086d611da7184397" /><Relationship Type="http://schemas.openxmlformats.org/officeDocument/2006/relationships/slideLayout" Target="/ppt/slideLayouts/slideLayout6.xml" Id="Ra7d1475fcb11449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c2392c24a04442a"/>
    <p:sldLayoutId xmlns:r="http://schemas.openxmlformats.org/officeDocument/2006/relationships" id="2147483650" r:id="R4c162869de784cf7"/>
    <p:sldLayoutId xmlns:r="http://schemas.openxmlformats.org/officeDocument/2006/relationships" id="2147483651" r:id="R1a6f122cbb3049b8"/>
    <p:sldLayoutId xmlns:r="http://schemas.openxmlformats.org/officeDocument/2006/relationships" id="2147483652" r:id="R65ca9e5a031647a4"/>
    <p:sldLayoutId xmlns:r="http://schemas.openxmlformats.org/officeDocument/2006/relationships" id="2147483653" r:id="R086d611da7184397"/>
    <p:sldLayoutId xmlns:r="http://schemas.openxmlformats.org/officeDocument/2006/relationships" id="2147483654" r:id="Ra7d1475fcb11449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84636c7f384cbd" /><Relationship Type="http://schemas.openxmlformats.org/officeDocument/2006/relationships/image" Target="/ppt/media/image.jpeg" Id="Re5c815adc32d483e" /><Relationship Type="http://schemas.openxmlformats.org/officeDocument/2006/relationships/notesSlide" Target="/ppt/notesSlides/notesSlide1.xml" Id="R15608e59de7f488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a3795a83e74349" /><Relationship Type="http://schemas.openxmlformats.org/officeDocument/2006/relationships/image" Target="/ppt/media/image2.jpeg" Id="R04bd388dec0444ec" /><Relationship Type="http://schemas.openxmlformats.org/officeDocument/2006/relationships/notesSlide" Target="/ppt/notesSlides/notesSlide2.xml" Id="Rb51eeaecec3b4af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4b9cda03fb44bf" /><Relationship Type="http://schemas.openxmlformats.org/officeDocument/2006/relationships/image" Target="/ppt/media/image3.jpeg" Id="R9f0b28ef0efd432b" /><Relationship Type="http://schemas.openxmlformats.org/officeDocument/2006/relationships/notesSlide" Target="/ppt/notesSlides/notesSlide3.xml" Id="R0a2e4addcaa140c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5f73efd1a948f1" /><Relationship Type="http://schemas.openxmlformats.org/officeDocument/2006/relationships/image" Target="/ppt/media/image4.jpeg" Id="Rb04a8955ec1049a7" /><Relationship Type="http://schemas.openxmlformats.org/officeDocument/2006/relationships/notesSlide" Target="/ppt/notesSlides/notesSlide4.xml" Id="R9fde742658e04d0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cbed814c8f4b44" /><Relationship Type="http://schemas.openxmlformats.org/officeDocument/2006/relationships/image" Target="/ppt/media/image5.jpeg" Id="R97176a3d22f74c23" /><Relationship Type="http://schemas.openxmlformats.org/officeDocument/2006/relationships/notesSlide" Target="/ppt/notesSlides/notesSlide5.xml" Id="R6d063b1ee7d6454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a9bb616ff347bc" /><Relationship Type="http://schemas.openxmlformats.org/officeDocument/2006/relationships/image" Target="/ppt/media/image6.jpeg" Id="R5dfe94eb5aca4b5b" /><Relationship Type="http://schemas.openxmlformats.org/officeDocument/2006/relationships/notesSlide" Target="/ppt/notesSlides/notesSlide6.xml" Id="R0b2f15ed1bfb459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c577a66fdd4a69" /><Relationship Type="http://schemas.openxmlformats.org/officeDocument/2006/relationships/image" Target="/ppt/media/image7.jpeg" Id="Reda640cc1f8c477f" /><Relationship Type="http://schemas.openxmlformats.org/officeDocument/2006/relationships/notesSlide" Target="/ppt/notesSlides/notesSlide7.xml" Id="R95f12883c31c4cb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ad1e525244449f" /><Relationship Type="http://schemas.openxmlformats.org/officeDocument/2006/relationships/image" Target="/ppt/media/image8.jpeg" Id="R03aeac9a43bc42f6" /><Relationship Type="http://schemas.openxmlformats.org/officeDocument/2006/relationships/notesSlide" Target="/ppt/notesSlides/notesSlide8.xml" Id="Rffc0f74f5581430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c815adc32d483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47A681-A32F-4668-8685-F37B0E433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1000"/>
            <a:ext cx="4524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035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0353B"/>
                </a:solidFill>
                <a:latin typeface="DejaVu Sans"/>
                <a:ea typeface="DejaVu Sans"/>
                <a:cs typeface="DejaVu Sans"/>
              </a:rPr>
              <a:t>1 / 8     4 мин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EC607B-E432-4E62-BEE2-F56C9C57B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47750"/>
            <a:ext cx="4524375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0353B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20353B"/>
                </a:solidFill>
                <a:latin typeface="DejaVu Sans"/>
                <a:ea typeface="DejaVu Sans"/>
                <a:cs typeface="DejaVu Sans"/>
              </a:rPr>
              <a:t>Простить — значит всё забыть?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A157C4-9B43-4101-8EE3-B7015EC19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81375"/>
            <a:ext cx="4524375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035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0353B"/>
                </a:solidFill>
                <a:latin typeface="DejaVu Sans"/>
                <a:ea typeface="DejaVu Sans"/>
                <a:cs typeface="DejaVu Sans"/>
              </a:rPr>
              <a:t>Забыть?</a:t>
            </a:r>
          </a:p>
          <a:p xmlns:a="http://schemas.openxmlformats.org/drawingml/2006/main">
            <a:pPr>
              <a:defRPr sz="2175" b="0">
                <a:solidFill>
                  <a:srgbClr val="2035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0353B"/>
                </a:solidFill>
                <a:latin typeface="DejaVu Sans"/>
                <a:ea typeface="DejaVu Sans"/>
                <a:cs typeface="DejaVu Sans"/>
              </a:rPr>
              <a:t>Отказаться от мести?</a:t>
            </a:r>
          </a:p>
          <a:p xmlns:a="http://schemas.openxmlformats.org/drawingml/2006/main">
            <a:pPr>
              <a:defRPr sz="2175" b="0">
                <a:solidFill>
                  <a:srgbClr val="2035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0353B"/>
                </a:solidFill>
                <a:latin typeface="DejaVu Sans"/>
                <a:ea typeface="DejaVu Sans"/>
                <a:cs typeface="DejaVu Sans"/>
              </a:rPr>
              <a:t>Снова доверять?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E0AD95-91D7-44CC-9D2B-0EF788C11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4524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0353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20353B"/>
                </a:solidFill>
                <a:latin typeface="DejaVu Sans"/>
                <a:ea typeface="DejaVu Sans"/>
                <a:cs typeface="DejaVu Sans"/>
              </a:rPr>
              <a:t>lessons.atapin.de</a:t>
            </a:r>
          </a:p>
        </p:txBody>
      </p:sp>
    </p:spTree>
    <p:extLst>
      <p:ext uri="{BB962C8B-B14F-4D97-AF65-F5344CB8AC3E}">
        <p14:creationId xmlns:p14="http://schemas.microsoft.com/office/powerpoint/2010/main" val="195192555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bd388dec0444e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446C83-41E3-4559-B2AF-1F2CBFE0C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1000"/>
            <a:ext cx="4524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035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0353B"/>
                </a:solidFill>
                <a:latin typeface="DejaVu Sans"/>
                <a:ea typeface="DejaVu Sans"/>
                <a:cs typeface="DejaVu Sans"/>
              </a:rPr>
              <a:t>2 / 8     7 мин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18B272-CCD2-4FF9-870C-E60AB9B7E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47750"/>
            <a:ext cx="4524375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0353B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20353B"/>
                </a:solidFill>
                <a:latin typeface="DejaVu Sans"/>
                <a:ea typeface="DejaVu Sans"/>
                <a:cs typeface="DejaVu Sans"/>
              </a:rPr>
              <a:t>Милость царя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3F9D6B-A038-475F-8BE1-641E7E317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81375"/>
            <a:ext cx="4524375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035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0353B"/>
                </a:solidFill>
                <a:latin typeface="DejaVu Sans"/>
                <a:ea typeface="DejaVu Sans"/>
                <a:cs typeface="DejaVu Sans"/>
              </a:rPr>
              <a:t>Мф. 18:21–35</a:t>
            </a:r>
          </a:p>
          <a:p xmlns:a="http://schemas.openxmlformats.org/drawingml/2006/main">
            <a:pPr>
              <a:defRPr sz="2175" b="0">
                <a:solidFill>
                  <a:srgbClr val="2035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0353B"/>
                </a:solidFill>
                <a:latin typeface="DejaVu Sans"/>
                <a:ea typeface="DejaVu Sans"/>
                <a:cs typeface="DejaVu Sans"/>
              </a:rPr>
              <a:t>Две просьбы</a:t>
            </a:r>
          </a:p>
          <a:p xmlns:a="http://schemas.openxmlformats.org/drawingml/2006/main">
            <a:pPr>
              <a:defRPr sz="2175" b="0">
                <a:solidFill>
                  <a:srgbClr val="2035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0353B"/>
                </a:solidFill>
                <a:latin typeface="DejaVu Sans"/>
                <a:ea typeface="DejaVu Sans"/>
                <a:cs typeface="DejaVu Sans"/>
              </a:rPr>
              <a:t>Два ответа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B7A180-FD9F-49CC-93D7-7C8969F9C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4524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0353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20353B"/>
                </a:solidFill>
                <a:latin typeface="DejaVu Sans"/>
                <a:ea typeface="DejaVu Sans"/>
                <a:cs typeface="DejaVu Sans"/>
              </a:rPr>
              <a:t>lessons.atapin.de</a:t>
            </a:r>
          </a:p>
        </p:txBody>
      </p:sp>
    </p:spTree>
    <p:extLst>
      <p:ext uri="{BB962C8B-B14F-4D97-AF65-F5344CB8AC3E}">
        <p14:creationId xmlns:p14="http://schemas.microsoft.com/office/powerpoint/2010/main" val="131955515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0b28ef0efd432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CFEFA4-9F00-47C2-9099-A5950F8F0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1000"/>
            <a:ext cx="4524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035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0353B"/>
                </a:solidFill>
                <a:latin typeface="DejaVu Sans"/>
                <a:ea typeface="DejaVu Sans"/>
                <a:cs typeface="DejaVu Sans"/>
              </a:rPr>
              <a:t>3 / 8     9 мин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DD2D3B-32B3-4F4E-BF82-84BCA23C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47750"/>
            <a:ext cx="4524375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0353B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20353B"/>
                </a:solidFill>
                <a:latin typeface="DejaVu Sans"/>
                <a:ea typeface="DejaVu Sans"/>
                <a:cs typeface="DejaVu Sans"/>
              </a:rPr>
              <a:t>Две просьбы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8BD760-241C-407F-B81E-EBF8A89F1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81375"/>
            <a:ext cx="4524375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035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0353B"/>
                </a:solidFill>
                <a:latin typeface="DejaVu Sans"/>
                <a:ea typeface="DejaVu Sans"/>
                <a:cs typeface="DejaVu Sans"/>
              </a:rPr>
              <a:t>Что получил должник?</a:t>
            </a:r>
          </a:p>
          <a:p xmlns:a="http://schemas.openxmlformats.org/drawingml/2006/main">
            <a:pPr>
              <a:defRPr sz="2175" b="0">
                <a:solidFill>
                  <a:srgbClr val="2035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0353B"/>
                </a:solidFill>
                <a:latin typeface="DejaVu Sans"/>
                <a:ea typeface="DejaVu Sans"/>
                <a:cs typeface="DejaVu Sans"/>
              </a:rPr>
              <a:t>Как ответил товарищу?</a:t>
            </a:r>
          </a:p>
          <a:p xmlns:a="http://schemas.openxmlformats.org/drawingml/2006/main">
            <a:pPr>
              <a:defRPr sz="2175" b="0">
                <a:solidFill>
                  <a:srgbClr val="2035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0353B"/>
                </a:solidFill>
                <a:latin typeface="DejaVu Sans"/>
                <a:ea typeface="DejaVu Sans"/>
                <a:cs typeface="DejaVu Sans"/>
              </a:rPr>
              <a:t>Что должно было измениться?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76F719-75D7-4809-A1D0-E48C86542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4524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0353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20353B"/>
                </a:solidFill>
                <a:latin typeface="DejaVu Sans"/>
                <a:ea typeface="DejaVu Sans"/>
                <a:cs typeface="DejaVu Sans"/>
              </a:rPr>
              <a:t>lessons.atapin.de</a:t>
            </a:r>
          </a:p>
        </p:txBody>
      </p:sp>
    </p:spTree>
    <p:extLst>
      <p:ext uri="{BB962C8B-B14F-4D97-AF65-F5344CB8AC3E}">
        <p14:creationId xmlns:p14="http://schemas.microsoft.com/office/powerpoint/2010/main" val="186127479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4a8955ec1049a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5638C8-59C1-49EF-850F-8393F845D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1000"/>
            <a:ext cx="4524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035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0353B"/>
                </a:solidFill>
                <a:latin typeface="DejaVu Sans"/>
                <a:ea typeface="DejaVu Sans"/>
                <a:cs typeface="DejaVu Sans"/>
              </a:rPr>
              <a:t>4 / 8     8 мин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04EBA7-2451-4DD4-895C-0B31B2FF5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47750"/>
            <a:ext cx="4524375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0353B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20353B"/>
                </a:solidFill>
                <a:latin typeface="DejaVu Sans"/>
                <a:ea typeface="DejaVu Sans"/>
                <a:cs typeface="DejaVu Sans"/>
              </a:rPr>
              <a:t>Прощение и доверие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A72265-61C6-4656-912A-F41B1497A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81375"/>
            <a:ext cx="4524375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035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0353B"/>
                </a:solidFill>
                <a:latin typeface="DejaVu Sans"/>
                <a:ea typeface="DejaVu Sans"/>
                <a:cs typeface="DejaVu Sans"/>
              </a:rPr>
              <a:t>Что могу выбрать я?</a:t>
            </a:r>
          </a:p>
          <a:p xmlns:a="http://schemas.openxmlformats.org/drawingml/2006/main">
            <a:pPr>
              <a:defRPr sz="2175" b="0">
                <a:solidFill>
                  <a:srgbClr val="2035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0353B"/>
                </a:solidFill>
                <a:latin typeface="DejaVu Sans"/>
                <a:ea typeface="DejaVu Sans"/>
                <a:cs typeface="DejaVu Sans"/>
              </a:rPr>
              <a:t>Что требует участия двоих?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8CDF23-DF32-4EE6-BF18-CDA26ACCF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4524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0353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20353B"/>
                </a:solidFill>
                <a:latin typeface="DejaVu Sans"/>
                <a:ea typeface="DejaVu Sans"/>
                <a:cs typeface="DejaVu Sans"/>
              </a:rPr>
              <a:t>lessons.atapin.de</a:t>
            </a:r>
          </a:p>
        </p:txBody>
      </p:sp>
    </p:spTree>
    <p:extLst>
      <p:ext uri="{BB962C8B-B14F-4D97-AF65-F5344CB8AC3E}">
        <p14:creationId xmlns:p14="http://schemas.microsoft.com/office/powerpoint/2010/main" val="106868947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176a3d22f74c2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F6D304-2F20-49EA-A42E-3253AE8FD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1000"/>
            <a:ext cx="4524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035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0353B"/>
                </a:solidFill>
                <a:latin typeface="DejaVu Sans"/>
                <a:ea typeface="DejaVu Sans"/>
                <a:cs typeface="DejaVu Sans"/>
              </a:rPr>
              <a:t>5 / 8     9 мин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BC703C-3096-4C10-880B-7F897BD72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47750"/>
            <a:ext cx="4524375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0353B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20353B"/>
                </a:solidFill>
                <a:latin typeface="DejaVu Sans"/>
                <a:ea typeface="DejaVu Sans"/>
                <a:cs typeface="DejaVu Sans"/>
              </a:rPr>
              <a:t>Тайна стала общей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37A4F9-2894-4DA3-9DD6-2CBCAFE98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81375"/>
            <a:ext cx="4524375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035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0353B"/>
                </a:solidFill>
                <a:latin typeface="DejaVu Sans"/>
                <a:ea typeface="DejaVu Sans"/>
                <a:cs typeface="DejaVu Sans"/>
              </a:rPr>
              <a:t>Боль</a:t>
            </a:r>
          </a:p>
          <a:p xmlns:a="http://schemas.openxmlformats.org/drawingml/2006/main">
            <a:pPr>
              <a:defRPr sz="2175" b="0">
                <a:solidFill>
                  <a:srgbClr val="2035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0353B"/>
                </a:solidFill>
                <a:latin typeface="DejaVu Sans"/>
                <a:ea typeface="DejaVu Sans"/>
                <a:cs typeface="DejaVu Sans"/>
              </a:rPr>
              <a:t>Желание отомстить</a:t>
            </a:r>
          </a:p>
          <a:p xmlns:a="http://schemas.openxmlformats.org/drawingml/2006/main">
            <a:pPr>
              <a:defRPr sz="2175" b="0">
                <a:solidFill>
                  <a:srgbClr val="2035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0353B"/>
                </a:solidFill>
                <a:latin typeface="DejaVu Sans"/>
                <a:ea typeface="DejaVu Sans"/>
                <a:cs typeface="DejaVu Sans"/>
              </a:rPr>
              <a:t>Просьба и дальнейшее общение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9CB1CA-5325-4B3E-A8AB-A9760944D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4524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0353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20353B"/>
                </a:solidFill>
                <a:latin typeface="DejaVu Sans"/>
                <a:ea typeface="DejaVu Sans"/>
                <a:cs typeface="DejaVu Sans"/>
              </a:rPr>
              <a:t>lessons.atapin.de</a:t>
            </a:r>
          </a:p>
        </p:txBody>
      </p:sp>
    </p:spTree>
    <p:extLst>
      <p:ext uri="{BB962C8B-B14F-4D97-AF65-F5344CB8AC3E}">
        <p14:creationId xmlns:p14="http://schemas.microsoft.com/office/powerpoint/2010/main" val="113586973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fe94eb5aca4b5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0AAD34-BD0A-4484-A652-520DD3545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1000"/>
            <a:ext cx="4524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035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0353B"/>
                </a:solidFill>
                <a:latin typeface="DejaVu Sans"/>
                <a:ea typeface="DejaVu Sans"/>
                <a:cs typeface="DejaVu Sans"/>
              </a:rPr>
              <a:t>6 / 8     10 мин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904CD2-56DF-4339-9921-D84FF54CE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47750"/>
            <a:ext cx="4524375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0353B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20353B"/>
                </a:solidFill>
                <a:latin typeface="DejaVu Sans"/>
                <a:ea typeface="DejaVu Sans"/>
                <a:cs typeface="DejaVu Sans"/>
              </a:rPr>
              <a:t>Просьба о прощении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F45EE4-A9B9-415F-91C6-EE5A399AB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81375"/>
            <a:ext cx="4524375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035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0353B"/>
                </a:solidFill>
                <a:latin typeface="DejaVu Sans"/>
                <a:ea typeface="DejaVu Sans"/>
                <a:cs typeface="DejaVu Sans"/>
              </a:rPr>
              <a:t>Я сделала…</a:t>
            </a:r>
          </a:p>
          <a:p xmlns:a="http://schemas.openxmlformats.org/drawingml/2006/main">
            <a:pPr>
              <a:defRPr sz="2175" b="0">
                <a:solidFill>
                  <a:srgbClr val="2035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0353B"/>
                </a:solidFill>
                <a:latin typeface="DejaVu Sans"/>
                <a:ea typeface="DejaVu Sans"/>
                <a:cs typeface="DejaVu Sans"/>
              </a:rPr>
              <a:t>Этим причинила…</a:t>
            </a:r>
          </a:p>
          <a:p xmlns:a="http://schemas.openxmlformats.org/drawingml/2006/main">
            <a:pPr>
              <a:defRPr sz="2175" b="0">
                <a:solidFill>
                  <a:srgbClr val="2035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0353B"/>
                </a:solidFill>
                <a:latin typeface="DejaVu Sans"/>
                <a:ea typeface="DejaVu Sans"/>
                <a:cs typeface="DejaVu Sans"/>
              </a:rPr>
              <a:t>Прошу прощения.</a:t>
            </a:r>
          </a:p>
          <a:p xmlns:a="http://schemas.openxmlformats.org/drawingml/2006/main">
            <a:pPr>
              <a:defRPr sz="2175" b="0">
                <a:solidFill>
                  <a:srgbClr val="2035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0353B"/>
                </a:solidFill>
                <a:latin typeface="DejaVu Sans"/>
                <a:ea typeface="DejaVu Sans"/>
                <a:cs typeface="DejaVu Sans"/>
              </a:rPr>
              <a:t>Чтобы исправить, я…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099ED6-D339-4129-BB7E-F81847536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4524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0353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20353B"/>
                </a:solidFill>
                <a:latin typeface="DejaVu Sans"/>
                <a:ea typeface="DejaVu Sans"/>
                <a:cs typeface="DejaVu Sans"/>
              </a:rPr>
              <a:t>lessons.atapin.de</a:t>
            </a:r>
          </a:p>
        </p:txBody>
      </p:sp>
    </p:spTree>
    <p:extLst>
      <p:ext uri="{BB962C8B-B14F-4D97-AF65-F5344CB8AC3E}">
        <p14:creationId xmlns:p14="http://schemas.microsoft.com/office/powerpoint/2010/main" val="92505794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a640cc1f8c477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40BB6D-1195-419D-B8C0-E4EAA80FA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1000"/>
            <a:ext cx="4524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035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0353B"/>
                </a:solidFill>
                <a:latin typeface="DejaVu Sans"/>
                <a:ea typeface="DejaVu Sans"/>
                <a:cs typeface="DejaVu Sans"/>
              </a:rPr>
              <a:t>7 / 8     8 мин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3C5CAF-2975-4038-B898-CB9BD366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47750"/>
            <a:ext cx="4524375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0353B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20353B"/>
                </a:solidFill>
                <a:latin typeface="DejaVu Sans"/>
                <a:ea typeface="DejaVu Sans"/>
                <a:cs typeface="DejaVu Sans"/>
              </a:rPr>
              <a:t>Если это повторилось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643547-A5BD-478E-B7C9-0313B5141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81375"/>
            <a:ext cx="4524375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035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0353B"/>
                </a:solidFill>
                <a:latin typeface="DejaVu Sans"/>
                <a:ea typeface="DejaVu Sans"/>
                <a:cs typeface="DejaVu Sans"/>
              </a:rPr>
              <a:t>Что изменилось?</a:t>
            </a:r>
          </a:p>
          <a:p xmlns:a="http://schemas.openxmlformats.org/drawingml/2006/main">
            <a:pPr>
              <a:defRPr sz="2175" b="0">
                <a:solidFill>
                  <a:srgbClr val="2035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0353B"/>
                </a:solidFill>
                <a:latin typeface="DejaVu Sans"/>
                <a:ea typeface="DejaVu Sans"/>
                <a:cs typeface="DejaVu Sans"/>
              </a:rPr>
              <a:t>Какая граница нужна?</a:t>
            </a:r>
          </a:p>
          <a:p xmlns:a="http://schemas.openxmlformats.org/drawingml/2006/main">
            <a:pPr>
              <a:defRPr sz="2175" b="0">
                <a:solidFill>
                  <a:srgbClr val="2035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0353B"/>
                </a:solidFill>
                <a:latin typeface="DejaVu Sans"/>
                <a:ea typeface="DejaVu Sans"/>
                <a:cs typeface="DejaVu Sans"/>
              </a:rPr>
              <a:t>Кто отвечает за поступок?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760341-625C-4844-9840-8059FCEB7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4524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0353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20353B"/>
                </a:solidFill>
                <a:latin typeface="DejaVu Sans"/>
                <a:ea typeface="DejaVu Sans"/>
                <a:cs typeface="DejaVu Sans"/>
              </a:rPr>
              <a:t>lessons.atapin.de</a:t>
            </a:r>
          </a:p>
        </p:txBody>
      </p:sp>
    </p:spTree>
    <p:extLst>
      <p:ext uri="{BB962C8B-B14F-4D97-AF65-F5344CB8AC3E}">
        <p14:creationId xmlns:p14="http://schemas.microsoft.com/office/powerpoint/2010/main" val="85698420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aeac9a43bc42f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492852-409B-4FE8-BDA1-90ACFF693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1000"/>
            <a:ext cx="4524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035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0353B"/>
                </a:solidFill>
                <a:latin typeface="DejaVu Sans"/>
                <a:ea typeface="DejaVu Sans"/>
                <a:cs typeface="DejaVu Sans"/>
              </a:rPr>
              <a:t>8 / 8     5 мин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8D6660-7AB6-4119-9C59-D09845A6E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47750"/>
            <a:ext cx="4524375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0353B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20353B"/>
                </a:solidFill>
                <a:latin typeface="DejaVu Sans"/>
                <a:ea typeface="DejaVu Sans"/>
                <a:cs typeface="DejaVu Sans"/>
              </a:rPr>
              <a:t>Мой следующий шаг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309525-93CE-4874-8954-30C752F95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81375"/>
            <a:ext cx="4524375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035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0353B"/>
                </a:solidFill>
                <a:latin typeface="DejaVu Sans"/>
                <a:ea typeface="DejaVu Sans"/>
                <a:cs typeface="DejaVu Sans"/>
              </a:rPr>
              <a:t>Теперь я различаю…</a:t>
            </a:r>
          </a:p>
          <a:p xmlns:a="http://schemas.openxmlformats.org/drawingml/2006/main">
            <a:pPr>
              <a:defRPr sz="2175" b="0">
                <a:solidFill>
                  <a:srgbClr val="2035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0353B"/>
                </a:solidFill>
                <a:latin typeface="DejaVu Sans"/>
                <a:ea typeface="DejaVu Sans"/>
                <a:cs typeface="DejaVu Sans"/>
              </a:rPr>
              <a:t>Мой шаг и срок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464978-E0DF-44ED-8415-DBE37F6C4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4524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0353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20353B"/>
                </a:solidFill>
                <a:latin typeface="DejaVu Sans"/>
                <a:ea typeface="DejaVu Sans"/>
                <a:cs typeface="DejaVu Sans"/>
              </a:rPr>
              <a:t>lessons.atapin.de</a:t>
            </a:r>
          </a:p>
        </p:txBody>
      </p:sp>
    </p:spTree>
    <p:extLst>
      <p:ext uri="{BB962C8B-B14F-4D97-AF65-F5344CB8AC3E}">
        <p14:creationId xmlns:p14="http://schemas.microsoft.com/office/powerpoint/2010/main" val="3505846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2026-10-05T13:26:57.0570000Z</dcterms:created>
  <dcterms:modified xsi:type="dcterms:W3CDTF">2026-10-05T13:26:57.0570000Z</dcterms:modified>
</coreProperties>
</file>