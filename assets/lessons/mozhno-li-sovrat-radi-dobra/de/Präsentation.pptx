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08ad2ae1da045f4" /><Relationship Type="http://schemas.openxmlformats.org/officeDocument/2006/relationships/extended-properties" Target="/docProps/app.xml" Id="R066d4604453940d1" /><Relationship Type="http://schemas.openxmlformats.org/officeDocument/2006/relationships/officeDocument" Target="/ppt/presentation.xml" Id="Rceece1db0caf483e" /></Relationships>
</file>

<file path=ppt/presentation.xml><?xml version="1.0" encoding="utf-8"?>
<p:presentation xmlns:p="http://schemas.openxmlformats.org/presentationml/2006/main">
  <p:sldMasterIdLst>
    <p:sldMasterId xmlns:r="http://schemas.openxmlformats.org/officeDocument/2006/relationships" id="2147483648" r:id="R48dc5335b11e43c7"/>
  </p:sldMasterIdLst>
  <p:notesMasterIdLst>
    <p:notesMasterId xmlns:r="http://schemas.openxmlformats.org/officeDocument/2006/relationships" r:id="R025a186cde824f46"/>
  </p:notesMasterIdLst>
  <p:sldIdLst>
    <p:sldId xmlns:r="http://schemas.openxmlformats.org/officeDocument/2006/relationships" id="256" r:id="R3d840687d3d442aa"/>
    <p:sldId xmlns:r="http://schemas.openxmlformats.org/officeDocument/2006/relationships" id="257" r:id="R18f3a968cf1e4ca4"/>
    <p:sldId xmlns:r="http://schemas.openxmlformats.org/officeDocument/2006/relationships" id="258" r:id="R0e15ac10afc24082"/>
    <p:sldId xmlns:r="http://schemas.openxmlformats.org/officeDocument/2006/relationships" id="259" r:id="R0276383869234b0e"/>
    <p:sldId xmlns:r="http://schemas.openxmlformats.org/officeDocument/2006/relationships" id="260" r:id="R1f309a0cad9d43a9"/>
    <p:sldId xmlns:r="http://schemas.openxmlformats.org/officeDocument/2006/relationships" id="261" r:id="R0d1720324e5e488c"/>
    <p:sldId xmlns:r="http://schemas.openxmlformats.org/officeDocument/2006/relationships" id="262" r:id="Rea634e634f614a5a"/>
    <p:sldId xmlns:r="http://schemas.openxmlformats.org/officeDocument/2006/relationships" id="263" r:id="R3c9dca9f1af74845"/>
    <p:sldId xmlns:r="http://schemas.openxmlformats.org/officeDocument/2006/relationships" id="264" r:id="R20b57660cae649e8"/>
    <p:sldId xmlns:r="http://schemas.openxmlformats.org/officeDocument/2006/relationships" id="265" r:id="R200aeb27ab7e4d49"/>
    <p:sldId xmlns:r="http://schemas.openxmlformats.org/officeDocument/2006/relationships" id="266" r:id="Ra46374ef622848d1"/>
    <p:sldId xmlns:r="http://schemas.openxmlformats.org/officeDocument/2006/relationships" id="267" r:id="Rdff22e5197e1402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737343ab6e94066" /><Relationship Type="http://schemas.openxmlformats.org/officeDocument/2006/relationships/slideMaster" Target="/ppt/slideMasters/slideMaster1.xml" Id="R48dc5335b11e43c7" /><Relationship Type="http://schemas.openxmlformats.org/officeDocument/2006/relationships/notesMaster" Target="/ppt/notesMasters/notesMaster1.xml" Id="R025a186cde824f46" /><Relationship Type="http://schemas.openxmlformats.org/officeDocument/2006/relationships/presProps" Target="/ppt/presProps.xml" Id="R82787af2a6294a4a" /><Relationship Type="http://schemas.openxmlformats.org/officeDocument/2006/relationships/tableStyles" Target="/ppt/tableStyles.xml" Id="Ra0ac17633d344be9" /><Relationship Type="http://schemas.openxmlformats.org/officeDocument/2006/relationships/slide" Target="/ppt/slides/slide1.xml" Id="R3d840687d3d442aa" /><Relationship Type="http://schemas.openxmlformats.org/officeDocument/2006/relationships/slide" Target="/ppt/slides/slide2.xml" Id="R18f3a968cf1e4ca4" /><Relationship Type="http://schemas.openxmlformats.org/officeDocument/2006/relationships/slide" Target="/ppt/slides/slide3.xml" Id="R0e15ac10afc24082" /><Relationship Type="http://schemas.openxmlformats.org/officeDocument/2006/relationships/slide" Target="/ppt/slides/slide4.xml" Id="R0276383869234b0e" /><Relationship Type="http://schemas.openxmlformats.org/officeDocument/2006/relationships/slide" Target="/ppt/slides/slide5.xml" Id="R1f309a0cad9d43a9" /><Relationship Type="http://schemas.openxmlformats.org/officeDocument/2006/relationships/slide" Target="/ppt/slides/slide6.xml" Id="R0d1720324e5e488c" /><Relationship Type="http://schemas.openxmlformats.org/officeDocument/2006/relationships/slide" Target="/ppt/slides/slide7.xml" Id="Rea634e634f614a5a" /><Relationship Type="http://schemas.openxmlformats.org/officeDocument/2006/relationships/slide" Target="/ppt/slides/slide8.xml" Id="R3c9dca9f1af74845" /><Relationship Type="http://schemas.openxmlformats.org/officeDocument/2006/relationships/slide" Target="/ppt/slides/slide9.xml" Id="R20b57660cae649e8" /><Relationship Type="http://schemas.openxmlformats.org/officeDocument/2006/relationships/slide" Target="/ppt/slides/slide10.xml" Id="R200aeb27ab7e4d49" /><Relationship Type="http://schemas.openxmlformats.org/officeDocument/2006/relationships/slide" Target="/ppt/slides/slide11.xml" Id="Ra46374ef622848d1" /><Relationship Type="http://schemas.openxmlformats.org/officeDocument/2006/relationships/slide" Target="/ppt/slides/slide12.xml" Id="Rdff22e5197e1402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2c010839a6474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f4fd9072c404c52" /><Relationship Type="http://schemas.openxmlformats.org/officeDocument/2006/relationships/notesMaster" Target="/ppt/notesMasters/notesMaster1.xml" Id="Ree870b04fc564423"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89bf3a27e34829" /><Relationship Type="http://schemas.openxmlformats.org/officeDocument/2006/relationships/notesMaster" Target="/ppt/notesMasters/notesMaster1.xml" Id="Re3f83c2b3cd34da9" /></Relationships>
</file>

<file path=ppt/notesSlides/_rels/notesSlide3.xml.rels>&#65279;<?xml version="1.0" encoding="utf-8"?><Relationships xmlns="http://schemas.openxmlformats.org/package/2006/relationships"><Relationship Type="http://schemas.openxmlformats.org/officeDocument/2006/relationships/slide" Target="/ppt/slides/slide3.xml" Id="R490b919919954dee" /><Relationship Type="http://schemas.openxmlformats.org/officeDocument/2006/relationships/notesMaster" Target="/ppt/notesMasters/notesMaster1.xml" Id="Rcad418eea2a5406d" /></Relationships>
</file>

<file path=ppt/notesSlides/_rels/notesSlide4.xml.rels>&#65279;<?xml version="1.0" encoding="utf-8"?><Relationships xmlns="http://schemas.openxmlformats.org/package/2006/relationships"><Relationship Type="http://schemas.openxmlformats.org/officeDocument/2006/relationships/slide" Target="/ppt/slides/slide4.xml" Id="R4a9b7cfa20354989" /><Relationship Type="http://schemas.openxmlformats.org/officeDocument/2006/relationships/notesMaster" Target="/ppt/notesMasters/notesMaster1.xml" Id="R14528ae857e744f3" /></Relationships>
</file>

<file path=ppt/notesSlides/_rels/notesSlide5.xml.rels>&#65279;<?xml version="1.0" encoding="utf-8"?><Relationships xmlns="http://schemas.openxmlformats.org/package/2006/relationships"><Relationship Type="http://schemas.openxmlformats.org/officeDocument/2006/relationships/slide" Target="/ppt/slides/slide5.xml" Id="Rb3e8df3adb5d468d" /><Relationship Type="http://schemas.openxmlformats.org/officeDocument/2006/relationships/notesMaster" Target="/ppt/notesMasters/notesMaster1.xml" Id="R02cb1ef1870e4212" /></Relationships>
</file>

<file path=ppt/notesSlides/_rels/notesSlide6.xml.rels>&#65279;<?xml version="1.0" encoding="utf-8"?><Relationships xmlns="http://schemas.openxmlformats.org/package/2006/relationships"><Relationship Type="http://schemas.openxmlformats.org/officeDocument/2006/relationships/slide" Target="/ppt/slides/slide6.xml" Id="R1edd618b67384246" /><Relationship Type="http://schemas.openxmlformats.org/officeDocument/2006/relationships/notesMaster" Target="/ppt/notesMasters/notesMaster1.xml" Id="R9bfd62cae3514f83" /></Relationships>
</file>

<file path=ppt/notesSlides/_rels/notesSlide7.xml.rels>&#65279;<?xml version="1.0" encoding="utf-8"?><Relationships xmlns="http://schemas.openxmlformats.org/package/2006/relationships"><Relationship Type="http://schemas.openxmlformats.org/officeDocument/2006/relationships/slide" Target="/ppt/slides/slide7.xml" Id="Rf42e7eccdb494496" /><Relationship Type="http://schemas.openxmlformats.org/officeDocument/2006/relationships/notesMaster" Target="/ppt/notesMasters/notesMaster1.xml" Id="R50d1be4fd3524199" /></Relationships>
</file>

<file path=ppt/notesSlides/_rels/notesSlide8.xml.rels>&#65279;<?xml version="1.0" encoding="utf-8"?><Relationships xmlns="http://schemas.openxmlformats.org/package/2006/relationships"><Relationship Type="http://schemas.openxmlformats.org/officeDocument/2006/relationships/slide" Target="/ppt/slides/slide8.xml" Id="R6939e18ce9fa4fc1" /><Relationship Type="http://schemas.openxmlformats.org/officeDocument/2006/relationships/notesMaster" Target="/ppt/notesMasters/notesMaster1.xml" Id="Re1e282ff1d1d4718" /></Relationships>
</file>

<file path=ppt/notesSlides/_rels/notesSlide9.xml.rels>&#65279;<?xml version="1.0" encoding="utf-8"?><Relationships xmlns="http://schemas.openxmlformats.org/package/2006/relationships"><Relationship Type="http://schemas.openxmlformats.org/officeDocument/2006/relationships/slide" Target="/ppt/slides/slide9.xml" Id="R12e6a6d6284f4a76" /><Relationship Type="http://schemas.openxmlformats.org/officeDocument/2006/relationships/notesMaster" Target="/ppt/notesMasters/notesMaster1.xml" Id="R74d8b99d59514a6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aeee446eef54ab5" /><Relationship Type="http://schemas.openxmlformats.org/officeDocument/2006/relationships/notesMaster" Target="/ppt/notesMasters/notesMaster1.xml" Id="Rd49217075667428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cf6b6c19088421d" /><Relationship Type="http://schemas.openxmlformats.org/officeDocument/2006/relationships/notesMaster" Target="/ppt/notesMasters/notesMaster1.xml" Id="R4dc1937a7d5a46e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a342cf509a14904" /><Relationship Type="http://schemas.openxmlformats.org/officeDocument/2006/relationships/notesMaster" Target="/ppt/notesMasters/notesMaster1.xml" Id="R70889f816dee41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Darf man für etwas Gutes lügen? — 2 Minuten.</a:t>
            </a:r>
          </a:p>
          <a:p xmlns:a="http://schemas.openxmlformats.org/drawingml/2006/main">
            <a:r>
              <a:t/>
            </a:r>
          </a:p>
          <a:p xmlns:a="http://schemas.openxmlformats.org/drawingml/2006/main">
            <a:r>
              <a:t>Worte: Manchmal scheint es: Wenn ich die Unwahrheit sage, wird es dem Freund leichter. Doch was geschieht mit dem, der unseren Worten glaubt? Heute suchen wir Hilfe, die die Wahrheit bewahrt.</a:t>
            </a:r>
          </a:p>
          <a:p xmlns:a="http://schemas.openxmlformats.org/drawingml/2006/main">
            <a:r>
              <a:t>Durchführung: Erfundener Fall: Ein Freund hat das gemeinsame Projekt nicht beendet und bittet zu sagen, alles sei fertig. Jeder entscheidet still, was er antworten würde. Noch keine persönlichen Geschichten sammeln. Zur Lesung übergehen.</a:t>
            </a:r>
          </a:p>
          <a:p xmlns:a="http://schemas.openxmlformats.org/drawingml/2006/main">
            <a:r>
              <a:t>Frage: Welche Hilfe wollen wir dem Freund geben?</a:t>
            </a:r>
          </a:p>
          <a:p xmlns:a="http://schemas.openxmlformats.org/drawingml/2006/main">
            <a:r>
              <a:t>Orientierung: Ihn unterstützen und helfen, die Arbeit zu beenden. Prüfen, ob wir die Schwierigkeit auf jemanden verschieben, der dem Versprechen glaubt, alles sei fertig.</a:t>
            </a:r>
          </a:p>
          <a:p xmlns:a="http://schemas.openxmlformats.org/drawingml/2006/main">
            <a:r>
              <a:t>Rhythmus: 1 Minute Fall; 1 Minute persönliche Wahl und Übergang.</a:t>
            </a:r>
          </a:p>
          <a:p xmlns:a="http://schemas.openxmlformats.org/drawingml/2006/main">
            <a:r>
              <a:t/>
            </a:r>
          </a:p>
          <a:p xmlns:a="http://schemas.openxmlformats.org/drawingml/2006/main">
            <a:r>
              <a:t>Vorbereitung</a:t>
            </a:r>
          </a:p>
          <a:p xmlns:a="http://schemas.openxmlformats.org/drawingml/2006/main">
            <a:r>
              <a:t>1. Zwölf Folien und Moderationsnotizen öffnen. Epheser 4,25–32 vollständig vorbereiten. Sofort nach dem Lesen das Rollenspiel; Besprechung nach allen drei Versionen.</a:t>
            </a:r>
          </a:p>
          <a:p xmlns:a="http://schemas.openxmlformats.org/drawingml/2006/main">
            <a:r>
              <a:t>2. Seite 1 pro Gruppe, Seiten 2,3,5 pro Paar, Seite 4 pro Viererteam, Seite 6 für jeden drucken. Alle Karten und Aufgaben illustriert; Graustufendruck möglich.</a:t>
            </a:r>
          </a:p>
          <a:p xmlns:a="http://schemas.openxmlformats.org/drawingml/2006/main">
            <a:r>
              <a:t>3. Karten vorab ausschneiden; Schreibfelder auf Seiten 3 und 4 zusammenlassen. Stifte. Unfertiges Schulprojekt aus Papier für das Spiel. Neue Wendung erst in Phase 9 mitteilen.</a:t>
            </a:r>
          </a:p>
          <a:p xmlns:a="http://schemas.openxmlformats.org/drawingml/2006/main">
            <a:r>
              <a:t>4. Vier Rollen wählen; Einleitungen liest die Lehrkraft. Vor jeder Version zurück zum Ausgangspunkt: Projekt nicht fertig. Drei alternative Antworten, keine drei aufeinanderfolgenden Ereignisse.</a:t>
            </a:r>
          </a:p>
          <a:p xmlns:a="http://schemas.openxmlformats.org/drawingml/2006/main">
            <a:r>
              <a:t>5. Paare und Viererteams bilden. In unvollständigem Team liest einer zwei Informationen. Persönliches Blatt bleibt beim Teilnehmer. Jeder Übung darf ein erfundener Fall zugrunde liegen.</a:t>
            </a:r>
          </a:p>
          <a:p xmlns:a="http://schemas.openxmlformats.org/drawingml/2006/main">
            <a:r>
              <a:t>Zentrale Hinweise</a:t>
            </a:r>
          </a:p>
          <a:p xmlns:a="http://schemas.openxmlformats.org/drawingml/2006/main">
            <a:r>
              <a:t>1. Grundlage Epheser 4,25. Verse 25–32 zusammen lesen: Wahrheit, gute Rede und Mitgefühl gehören zu demselben Leben in Christus. Keine Debatte, in der Grausamkeit oder Täuschung gewählt werden müssen.</a:t>
            </a:r>
          </a:p>
          <a:p xmlns:a="http://schemas.openxmlformats.org/drawingml/2006/main">
            <a:r>
              <a:t>2. Brief ist Weisung, heutiges Spiel ein eigens verfasstes Beispiel. Sascha, Mischa und Schulprojekt gehören nicht zum biblischen Bericht. Keine im Vers fehlenden Versprechen sofortigen Erfolgs ergänzen.</a:t>
            </a:r>
          </a:p>
          <a:p xmlns:a="http://schemas.openxmlformats.org/drawingml/2006/main">
            <a:r>
              <a:t>3. Lüge ist hier bewusst falsche Mitteilung. Halbwahrheit ist absichtliches Verschweigen, das eine falsche Vorstellung erzeugt. Nicht jede kurze Antwort täuscht; Kartenbedingung und Schluss des Zuhörers beachten.</a:t>
            </a:r>
          </a:p>
          <a:p xmlns:a="http://schemas.openxmlformats.org/drawingml/2006/main">
            <a:r>
              <a:t>4. Sechs Sätze: Lüge Karten 1 und 3, Halbwahrheit 2 und 4, ehrliche Antwort 5 und 6, von links nach rechts, oben nach unten. Schritte Seite 2: 3,1,4,2; Zusammenhänge erklären ist wichtiger als Zahlen raten.</a:t>
            </a:r>
          </a:p>
          <a:p xmlns:a="http://schemas.openxmlformats.org/drawingml/2006/main">
            <a:r>
              <a:t>5. Wahrhaftigkeit verlangt nicht, jedem alle persönlichen Details mitzuteilen. Direkte Weigerung, fremdes Persönliches zu besprechen, und „Ich weiß es noch nicht“ sind ehrlich. Überraschung als „Das ist noch geheim“ benennen. Bei Gefahr oder Schaden Hilfe eines vertrauenswürdigen Erwachsenen suchen.</a:t>
            </a:r>
          </a:p>
          <a:p xmlns:a="http://schemas.openxmlformats.org/drawingml/2006/main">
            <a:r>
              <a:t>6. Wahrheit über konkrete Arbeit braucht keine Etiketten für Menschen. Statt „Du kannst nichts“ sagen, was noch zu tun ist. Reale gelungene Einzelheit und machbare Verbesserung nennen. Zuhörer darf enttäuscht sein; kein Grund, Fakten zu erfinden.</a:t>
            </a:r>
          </a:p>
          <a:p xmlns:a="http://schemas.openxmlformats.org/drawingml/2006/main">
            <a:r>
              <a:t>7. Teamaufgabe braucht Buchprüfung und verlässliche Nachricht. Plan 2 berichtigt Unwahrheit vor ihren Zuhörern; bestätigten Termin mit Lehrkraft klären. Persönliche Gründe müssen nicht öffentlich allen Empfängern erzählt werden.</a:t>
            </a:r>
          </a:p>
          <a:p xmlns:a="http://schemas.openxmlformats.org/drawingml/2006/main">
            <a:r>
              <a:t>8. Bei wirklicher Lüge Berichtigung und machbare Hilfe wählen helfen. Keine öffentliche Beichte. Umkehr umfasst Hinwendung zu Gott und Veränderung der Handlungen; bei Fragen zur Beichte Gespräch mit Priester anbieten. Am Ende Erklärung der Halbwahrheit und konkreten ehrlichen Schritt prüfen.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Sprecht die Wahrheit mit eurem Nächsten — 2 Minuten.</a:t>
            </a:r>
          </a:p>
          <a:p xmlns:a="http://schemas.openxmlformats.org/drawingml/2006/main">
            <a:r>
              <a:t/>
            </a:r>
          </a:p>
          <a:p xmlns:a="http://schemas.openxmlformats.org/drawingml/2006/main">
            <a:r>
              <a:t>Worte: Wir lesen Epheser 4,25–32 vollständig. Achtet auf den Ruf zur Wahrheit und Worte über gute Rede und Mitgefühl. Sofort nach dem Lesen spielen wir eine heutige Situation.</a:t>
            </a:r>
          </a:p>
          <a:p xmlns:a="http://schemas.openxmlformats.org/drawingml/2006/main">
            <a:r>
              <a:t>Durchführung: Alle acht Verse ohne Zwischenbesprechung lesen. Vier erhalten vorab Rollen: Lehrkraft, Sascha, Mischa, Anja. Dann sofort das Rollenspiel beginnen.</a:t>
            </a:r>
          </a:p>
          <a:p xmlns:a="http://schemas.openxmlformats.org/drawingml/2006/main">
            <a:r>
              <a:t>Frage: Hörauftrag: Hören, wie Wahrheit mit dem Verhältnis zum anderen verbunden ist.</a:t>
            </a:r>
          </a:p>
          <a:p xmlns:a="http://schemas.openxmlformats.org/drawingml/2006/main">
            <a:r>
              <a:t>Orientierung: V. 25 verbindet Wahrheit damit, dass wir Glieder voneinander sind. V. 29 und 32 weisen auf hilfreiche Worte, Güte und Vergebung. Dies ist eine apostolische Weisung; das folgende Spiel ist ein erfundenes Beispiel.</a:t>
            </a:r>
          </a:p>
          <a:p xmlns:a="http://schemas.openxmlformats.org/drawingml/2006/main">
            <a:r>
              <a:t>Rhythmus: Bis 1,5 Minuten Lesen; 30 Sekunden Übergang zum Spiel.</a:t>
            </a:r>
          </a:p>
          <a:p xmlns:a="http://schemas.openxmlformats.org/drawingml/2006/main">
            <a:r>
              <a:t/>
            </a:r>
          </a:p>
          <a:p xmlns:a="http://schemas.openxmlformats.org/drawingml/2006/main">
            <a:r>
              <a:t>Vorbereitung</a:t>
            </a:r>
          </a:p>
          <a:p xmlns:a="http://schemas.openxmlformats.org/drawingml/2006/main">
            <a:r>
              <a:t>1. Zwölf Folien und Moderationsnotizen öffnen. Epheser 4,25–32 vollständig vorbereiten. Sofort nach dem Lesen das Rollenspiel; Besprechung nach allen drei Versionen.</a:t>
            </a:r>
          </a:p>
          <a:p xmlns:a="http://schemas.openxmlformats.org/drawingml/2006/main">
            <a:r>
              <a:t>2. Seite 1 pro Gruppe, Seiten 2,3,5 pro Paar, Seite 4 pro Viererteam, Seite 6 für jeden drucken. Alle Karten und Aufgaben illustriert; Graustufendruck möglich.</a:t>
            </a:r>
          </a:p>
          <a:p xmlns:a="http://schemas.openxmlformats.org/drawingml/2006/main">
            <a:r>
              <a:t>3. Karten vorab ausschneiden; Schreibfelder auf Seiten 3 und 4 zusammenlassen. Stifte. Unfertiges Schulprojekt aus Papier für das Spiel. Neue Wendung erst in Phase 9 mitteilen.</a:t>
            </a:r>
          </a:p>
          <a:p xmlns:a="http://schemas.openxmlformats.org/drawingml/2006/main">
            <a:r>
              <a:t>4. Vier Rollen wählen; Einleitungen liest die Lehrkraft. Vor jeder Version zurück zum Ausgangspunkt: Projekt nicht fertig. Drei alternative Antworten, keine drei aufeinanderfolgenden Ereignisse.</a:t>
            </a:r>
          </a:p>
          <a:p xmlns:a="http://schemas.openxmlformats.org/drawingml/2006/main">
            <a:r>
              <a:t>5. Paare und Viererteams bilden. In unvollständigem Team liest einer zwei Informationen. Persönliches Blatt bleibt beim Teilnehmer. Jeder Übung darf ein erfundener Fall zugrunde liegen.</a:t>
            </a:r>
          </a:p>
          <a:p xmlns:a="http://schemas.openxmlformats.org/drawingml/2006/main">
            <a:r>
              <a:t>Zentrale Hinweise</a:t>
            </a:r>
          </a:p>
          <a:p xmlns:a="http://schemas.openxmlformats.org/drawingml/2006/main">
            <a:r>
              <a:t>1. Grundlage Epheser 4,25. Verse 25–32 zusammen lesen: Wahrheit, gute Rede und Mitgefühl gehören zu demselben Leben in Christus. Keine Debatte, in der Grausamkeit oder Täuschung gewählt werden müssen.</a:t>
            </a:r>
          </a:p>
          <a:p xmlns:a="http://schemas.openxmlformats.org/drawingml/2006/main">
            <a:r>
              <a:t>2. Brief ist Weisung, heutiges Spiel ein eigens verfasstes Beispiel. Sascha, Mischa und Schulprojekt gehören nicht zum biblischen Bericht. Keine im Vers fehlenden Versprechen sofortigen Erfolgs ergänzen.</a:t>
            </a:r>
          </a:p>
          <a:p xmlns:a="http://schemas.openxmlformats.org/drawingml/2006/main">
            <a:r>
              <a:t>3. Lüge ist hier bewusst falsche Mitteilung. Halbwahrheit ist absichtliches Verschweigen, das eine falsche Vorstellung erzeugt. Nicht jede kurze Antwort täuscht; Kartenbedingung und Schluss des Zuhörers beachten.</a:t>
            </a:r>
          </a:p>
          <a:p xmlns:a="http://schemas.openxmlformats.org/drawingml/2006/main">
            <a:r>
              <a:t>4. Sechs Sätze: Lüge Karten 1 und 3, Halbwahrheit 2 und 4, ehrliche Antwort 5 und 6, von links nach rechts, oben nach unten. Schritte Seite 2: 3,1,4,2; Zusammenhänge erklären ist wichtiger als Zahlen raten.</a:t>
            </a:r>
          </a:p>
          <a:p xmlns:a="http://schemas.openxmlformats.org/drawingml/2006/main">
            <a:r>
              <a:t>5. Wahrhaftigkeit verlangt nicht, jedem alle persönlichen Details mitzuteilen. Direkte Weigerung, fremdes Persönliches zu besprechen, und „Ich weiß es noch nicht“ sind ehrlich. Überraschung als „Das ist noch geheim“ benennen. Bei Gefahr oder Schaden Hilfe eines vertrauenswürdigen Erwachsenen suchen.</a:t>
            </a:r>
          </a:p>
          <a:p xmlns:a="http://schemas.openxmlformats.org/drawingml/2006/main">
            <a:r>
              <a:t>6. Wahrheit über konkrete Arbeit braucht keine Etiketten für Menschen. Statt „Du kannst nichts“ sagen, was noch zu tun ist. Reale gelungene Einzelheit und machbare Verbesserung nennen. Zuhörer darf enttäuscht sein; kein Grund, Fakten zu erfinden.</a:t>
            </a:r>
          </a:p>
          <a:p xmlns:a="http://schemas.openxmlformats.org/drawingml/2006/main">
            <a:r>
              <a:t>7. Teamaufgabe braucht Buchprüfung und verlässliche Nachricht. Plan 2 berichtigt Unwahrheit vor ihren Zuhörern; bestätigten Termin mit Lehrkraft klären. Persönliche Gründe müssen nicht öffentlich allen Empfängern erzählt werden.</a:t>
            </a:r>
          </a:p>
          <a:p xmlns:a="http://schemas.openxmlformats.org/drawingml/2006/main">
            <a:r>
              <a:t>8. Bei wirklicher Lüge Berichtigung und machbare Hilfe wählen helfen. Keine öffentliche Beichte. Umkehr umfasst Hinwendung zu Gott und Veränderung der Handlungen; bei Fragen zur Beichte Gespräch mit Priester anbieten. Am Ende Erklärung der Halbwahrheit und konkreten ehrlichen Schritt prüfen.</a:t>
            </a:r>
          </a:p>
          <a:p xmlns:a="http://schemas.openxmlformats.org/drawingml/2006/main">
            <a:r>
              <a:t/>
            </a:r>
          </a:p>
          <a:p xmlns:a="http://schemas.openxmlformats.org/drawingml/2006/main">
            <a:r>
              <a:t>Deutsche Übertragung der ausgewählten russischen Lesung des bereitgestellten Materials.</a:t>
            </a:r>
          </a:p>
          <a:p xmlns:a="http://schemas.openxmlformats.org/drawingml/2006/main">
            <a:r>
              <a:t>Epheser 4,25. Darum legt die Lüge ab und sprecht die Wahrheit, jeder mit seinem Nächsten, denn wir sind Glieder voneinander.</a:t>
            </a:r>
          </a:p>
          <a:p xmlns:a="http://schemas.openxmlformats.org/drawingml/2006/main">
            <a:r>
              <a:t>Epheser 4,26. Wenn ihr zürnt, sündigt nicht: Die Sonne soll nicht über eurem Zorn untergehen;</a:t>
            </a:r>
          </a:p>
          <a:p xmlns:a="http://schemas.openxmlformats.org/drawingml/2006/main">
            <a:r>
              <a:t>Epheser 4,27. und gebt dem Teufel keinen Raum.</a:t>
            </a:r>
          </a:p>
          <a:p xmlns:a="http://schemas.openxmlformats.org/drawingml/2006/main">
            <a:r>
              <a:t>Epheser 4,28. Wer gestohlen hat, soll künftig nicht stehlen, sondern lieber arbeiten und mit seinen Händen Nützliches tun, damit er dem Bedürftigen etwas geben kann.</a:t>
            </a:r>
          </a:p>
          <a:p xmlns:a="http://schemas.openxmlformats.org/drawingml/2006/main">
            <a:r>
              <a:t>Epheser 4,29. Kein verdorbenes Wort soll aus eurem Mund kommen, sondern nur ein gutes zur Erbauung im Glauben, damit es den Hörenden Gnade bringt.</a:t>
            </a:r>
          </a:p>
          <a:p xmlns:a="http://schemas.openxmlformats.org/drawingml/2006/main">
            <a:r>
              <a:t>Epheser 4,30. Und betrübt nicht den Heiligen Geist Gottes, mit Dem ihr für den Tag der Erlösung versiegelt seid.</a:t>
            </a:r>
          </a:p>
          <a:p xmlns:a="http://schemas.openxmlformats.org/drawingml/2006/main">
            <a:r>
              <a:t>Epheser 4,31. Alle Gereiztheit und Wut und Zorn und Geschrei und üble Rede seien mit jeder Bosheit von euch entfernt;</a:t>
            </a:r>
          </a:p>
          <a:p xmlns:a="http://schemas.openxmlformats.org/drawingml/2006/main">
            <a:r>
              <a:t>Epheser 4,32. seid aber gütig zueinander, mitfühlend, vergebt einander, wie auch Gott euch in Christus vergeben hat.</a:t>
            </a:r>
          </a:p>
          <a:p xmlns:a="http://schemas.openxmlformats.org/drawingml/2006/main">
            <a:r>
              <a:t/>
            </a:r>
          </a:p>
          <a:p xmlns:a="http://schemas.openxmlformats.org/drawingml/2006/main">
            <a:r>
              <a:t>Gemeinsamer Anfang: Vier Rollen: Lehrkraft, Sascha, Mischa, Anja. Einleitungen liest die Lehrkraft. Heutiges erfundenes Beispiel. Sascha arbeitete gestern am gemeinsamen Projekt, doch es ist nicht fertig. Anja bereitet die Gestaltung vor und rechnet heute mit dem ganzen Projekt. Lehrkraft fragt jedes Mal: „Ist das ganze Projekt fertig?“ Sascha leise zu Mischa: „Sag nicht, dass ich nicht fertig geworden bin. Ich will die Klasse nicht enttäuschen“. Vor jeder Version kehren wir zu dieser Bedingung zurück.</a:t>
            </a:r>
          </a:p>
          <a:p xmlns:a="http://schemas.openxmlformats.org/drawingml/2006/main">
            <a:r>
              <a:t>Version 1 — direkte Lüge: Lehrkraft: „Ist das ganze Projekt fertig?“ Mischa weiß, dass es nicht stimmt: „Ja, alles ist fertig“. Lehrkraft: „Dann wird Anja heute die Gestaltung vorbereiten, und morgen zeigen wir die Arbeit“. Anja zu Sascha: „Gib mir die fertige Arbeit“. Sascha: „Sie ist noch nicht fertig“. Anja: „Ich habe schon mit der Gestaltung angefangen und damit gerechnet. Jetzt müssen wir den Plan ändern“. Moderation: Erste Version beendet; zurück zur Ausgangsbedingung.</a:t>
            </a:r>
          </a:p>
          <a:p xmlns:a="http://schemas.openxmlformats.org/drawingml/2006/main">
            <a:r>
              <a:t>Version 2 — Halbwahrheit: Lehrkraft: „Ist das ganze Projekt fertig?“ Mischa: „Sascha hat gestern den ganzen Abend daran gearbeitet“. Das ist ein wahrer Fakt, aber Mischa antwortet absichtlich nicht zur Unvollständigkeit, damit die Lehrkraft glaubt, alles sei fertig. Lehrkraft: „Gut, dann kümmert sich Anja um die Gestaltung“. Mischa hört den falschen Schluss und präzisiert nicht. Anja geht zu Sascha und wiederholt das Gespräch der ersten Version: Arbeit nicht fertig, ihr Plan muss geändert werden. Moderation: Zweite Version beendet; wieder Ausgangsbedingung.</a:t>
            </a:r>
          </a:p>
          <a:p xmlns:a="http://schemas.openxmlformats.org/drawingml/2006/main">
            <a:r>
              <a:t>Version 3 — ehrliche Antwort mit Hilfe: Lehrkraft: „Ist das ganze Projekt fertig?“ Mischa: „Ein Teil ist fertig, das ganze Projekt noch nicht. Sascha erklärt selbst, was noch fehlt. Ich kann heute helfen“. Sascha: „Ich muss noch einen Abschnitt beenden. Ich habe nicht rechtzeitig Bescheid gesagt. Verzeiht. Stimmen wir ab, was wir schaffen“. Anja: „Dann fange ich mit dem fertigen Teil an. Ich muss wissen, wann der Rest kommt“. Lehrkraft: „Nach dem Gespräch klären wir Umfang und Termin. Bereitschaft versprechen wir nach dem Ergebnis“. Mischa und Sascha vereinbaren Hilfe. Moderation: Dritte Version beendet; jetzt Besprechung.</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Eine Situation, drei Antworten — 6 Minuten.</a:t>
            </a:r>
          </a:p>
          <a:p xmlns:a="http://schemas.openxmlformats.org/drawingml/2006/main">
            <a:r>
              <a:t/>
            </a:r>
          </a:p>
          <a:p xmlns:a="http://schemas.openxmlformats.org/drawingml/2006/main">
            <a:r>
              <a:t>Worte: Sascha hat das Projekt nicht beendet. Die Lehrkraft fragt, ob das ganze Projekt fertig ist. Mischa will den Freund schützen. Wir spielen drei Antworten und beobachten, was Anja und die Lehrkraft jeweils danach tun.</a:t>
            </a:r>
          </a:p>
          <a:p xmlns:a="http://schemas.openxmlformats.org/drawingml/2006/main">
            <a:r>
              <a:t>Durchführung: Alle drei Versionen nach dem Anhang mit denselben vier Rollen spielen. Vor jeder zum Ausgangspunkt zurück: Das Projekt ist nicht fertig. Zuerst direkte Lüge, dann Halbwahrheit, dann ehrliche Antwort mit Hilfe. Besprechung erst nach dem dritten Ende.</a:t>
            </a:r>
          </a:p>
          <a:p xmlns:a="http://schemas.openxmlformats.org/drawingml/2006/main">
            <a:r>
              <a:t>Frage: Beobachten: Welchen Schluss zog der Zuhörer und was begann er zu planen?</a:t>
            </a:r>
          </a:p>
          <a:p xmlns:a="http://schemas.openxmlformats.org/drawingml/2006/main">
            <a:r>
              <a:t>Orientierung: In den ersten zwei Versionen rechnet Anja mit fertiger Arbeit und verliert Zeit. In der dritten erhält sie richtige Informationen und kann einen realistischen Plan abstimmen. Die dritte verspricht kein sofort fertiges Projekt.</a:t>
            </a:r>
          </a:p>
          <a:p xmlns:a="http://schemas.openxmlformats.org/drawingml/2006/main">
            <a:r>
              <a:t>Rhythmus: Je 2 Minuten pro Version einschließlich kurzem Übergang.</a:t>
            </a:r>
          </a:p>
          <a:p xmlns:a="http://schemas.openxmlformats.org/drawingml/2006/main">
            <a:r>
              <a:t/>
            </a:r>
          </a:p>
          <a:p xmlns:a="http://schemas.openxmlformats.org/drawingml/2006/main">
            <a:r>
              <a:t>Vorbereitung</a:t>
            </a:r>
          </a:p>
          <a:p xmlns:a="http://schemas.openxmlformats.org/drawingml/2006/main">
            <a:r>
              <a:t>1. Zwölf Folien und Moderationsnotizen öffnen. Epheser 4,25–32 vollständig vorbereiten. Sofort nach dem Lesen das Rollenspiel; Besprechung nach allen drei Versionen.</a:t>
            </a:r>
          </a:p>
          <a:p xmlns:a="http://schemas.openxmlformats.org/drawingml/2006/main">
            <a:r>
              <a:t>2. Seite 1 pro Gruppe, Seiten 2,3,5 pro Paar, Seite 4 pro Viererteam, Seite 6 für jeden drucken. Alle Karten und Aufgaben illustriert; Graustufendruck möglich.</a:t>
            </a:r>
          </a:p>
          <a:p xmlns:a="http://schemas.openxmlformats.org/drawingml/2006/main">
            <a:r>
              <a:t>3. Karten vorab ausschneiden; Schreibfelder auf Seiten 3 und 4 zusammenlassen. Stifte. Unfertiges Schulprojekt aus Papier für das Spiel. Neue Wendung erst in Phase 9 mitteilen.</a:t>
            </a:r>
          </a:p>
          <a:p xmlns:a="http://schemas.openxmlformats.org/drawingml/2006/main">
            <a:r>
              <a:t>4. Vier Rollen wählen; Einleitungen liest die Lehrkraft. Vor jeder Version zurück zum Ausgangspunkt: Projekt nicht fertig. Drei alternative Antworten, keine drei aufeinanderfolgenden Ereignisse.</a:t>
            </a:r>
          </a:p>
          <a:p xmlns:a="http://schemas.openxmlformats.org/drawingml/2006/main">
            <a:r>
              <a:t>5. Paare und Viererteams bilden. In unvollständigem Team liest einer zwei Informationen. Persönliches Blatt bleibt beim Teilnehmer. Jeder Übung darf ein erfundener Fall zugrunde liegen.</a:t>
            </a:r>
          </a:p>
          <a:p xmlns:a="http://schemas.openxmlformats.org/drawingml/2006/main">
            <a:r>
              <a:t>Zentrale Hinweise</a:t>
            </a:r>
          </a:p>
          <a:p xmlns:a="http://schemas.openxmlformats.org/drawingml/2006/main">
            <a:r>
              <a:t>1. Grundlage Epheser 4,25. Verse 25–32 zusammen lesen: Wahrheit, gute Rede und Mitgefühl gehören zu demselben Leben in Christus. Keine Debatte, in der Grausamkeit oder Täuschung gewählt werden müssen.</a:t>
            </a:r>
          </a:p>
          <a:p xmlns:a="http://schemas.openxmlformats.org/drawingml/2006/main">
            <a:r>
              <a:t>2. Brief ist Weisung, heutiges Spiel ein eigens verfasstes Beispiel. Sascha, Mischa und Schulprojekt gehören nicht zum biblischen Bericht. Keine im Vers fehlenden Versprechen sofortigen Erfolgs ergänzen.</a:t>
            </a:r>
          </a:p>
          <a:p xmlns:a="http://schemas.openxmlformats.org/drawingml/2006/main">
            <a:r>
              <a:t>3. Lüge ist hier bewusst falsche Mitteilung. Halbwahrheit ist absichtliches Verschweigen, das eine falsche Vorstellung erzeugt. Nicht jede kurze Antwort täuscht; Kartenbedingung und Schluss des Zuhörers beachten.</a:t>
            </a:r>
          </a:p>
          <a:p xmlns:a="http://schemas.openxmlformats.org/drawingml/2006/main">
            <a:r>
              <a:t>4. Sechs Sätze: Lüge Karten 1 und 3, Halbwahrheit 2 und 4, ehrliche Antwort 5 und 6, von links nach rechts, oben nach unten. Schritte Seite 2: 3,1,4,2; Zusammenhänge erklären ist wichtiger als Zahlen raten.</a:t>
            </a:r>
          </a:p>
          <a:p xmlns:a="http://schemas.openxmlformats.org/drawingml/2006/main">
            <a:r>
              <a:t>5. Wahrhaftigkeit verlangt nicht, jedem alle persönlichen Details mitzuteilen. Direkte Weigerung, fremdes Persönliches zu besprechen, und „Ich weiß es noch nicht“ sind ehrlich. Überraschung als „Das ist noch geheim“ benennen. Bei Gefahr oder Schaden Hilfe eines vertrauenswürdigen Erwachsenen suchen.</a:t>
            </a:r>
          </a:p>
          <a:p xmlns:a="http://schemas.openxmlformats.org/drawingml/2006/main">
            <a:r>
              <a:t>6. Wahrheit über konkrete Arbeit braucht keine Etiketten für Menschen. Statt „Du kannst nichts“ sagen, was noch zu tun ist. Reale gelungene Einzelheit und machbare Verbesserung nennen. Zuhörer darf enttäuscht sein; kein Grund, Fakten zu erfinden.</a:t>
            </a:r>
          </a:p>
          <a:p xmlns:a="http://schemas.openxmlformats.org/drawingml/2006/main">
            <a:r>
              <a:t>7. Teamaufgabe braucht Buchprüfung und verlässliche Nachricht. Plan 2 berichtigt Unwahrheit vor ihren Zuhörern; bestätigten Termin mit Lehrkraft klären. Persönliche Gründe müssen nicht öffentlich allen Empfängern erzählt werden.</a:t>
            </a:r>
          </a:p>
          <a:p xmlns:a="http://schemas.openxmlformats.org/drawingml/2006/main">
            <a:r>
              <a:t>8. Bei wirklicher Lüge Berichtigung und machbare Hilfe wählen helfen. Keine öffentliche Beichte. Umkehr umfasst Hinwendung zu Gott und Veränderung der Handlungen; bei Fragen zur Beichte Gespräch mit Priester anbieten. Am Ende Erklärung der Halbwahrheit und konkreten ehrlichen Schritt prüfen.</a:t>
            </a:r>
          </a:p>
          <a:p xmlns:a="http://schemas.openxmlformats.org/drawingml/2006/main">
            <a:r>
              <a:t/>
            </a:r>
          </a:p>
          <a:p xmlns:a="http://schemas.openxmlformats.org/drawingml/2006/main">
            <a:r>
              <a:t>Deutsche Übertragung der ausgewählten russischen Lesung des bereitgestellten Materials.</a:t>
            </a:r>
          </a:p>
          <a:p xmlns:a="http://schemas.openxmlformats.org/drawingml/2006/main">
            <a:r>
              <a:t>Epheser 4,25. Darum legt die Lüge ab und sprecht die Wahrheit, jeder mit seinem Nächsten, denn wir sind Glieder voneinander.</a:t>
            </a:r>
          </a:p>
          <a:p xmlns:a="http://schemas.openxmlformats.org/drawingml/2006/main">
            <a:r>
              <a:t>Epheser 4,26. Wenn ihr zürnt, sündigt nicht: Die Sonne soll nicht über eurem Zorn untergehen;</a:t>
            </a:r>
          </a:p>
          <a:p xmlns:a="http://schemas.openxmlformats.org/drawingml/2006/main">
            <a:r>
              <a:t>Epheser 4,27. und gebt dem Teufel keinen Raum.</a:t>
            </a:r>
          </a:p>
          <a:p xmlns:a="http://schemas.openxmlformats.org/drawingml/2006/main">
            <a:r>
              <a:t>Epheser 4,28. Wer gestohlen hat, soll künftig nicht stehlen, sondern lieber arbeiten und mit seinen Händen Nützliches tun, damit er dem Bedürftigen etwas geben kann.</a:t>
            </a:r>
          </a:p>
          <a:p xmlns:a="http://schemas.openxmlformats.org/drawingml/2006/main">
            <a:r>
              <a:t>Epheser 4,29. Kein verdorbenes Wort soll aus eurem Mund kommen, sondern nur ein gutes zur Erbauung im Glauben, damit es den Hörenden Gnade bringt.</a:t>
            </a:r>
          </a:p>
          <a:p xmlns:a="http://schemas.openxmlformats.org/drawingml/2006/main">
            <a:r>
              <a:t>Epheser 4,30. Und betrübt nicht den Heiligen Geist Gottes, mit Dem ihr für den Tag der Erlösung versiegelt seid.</a:t>
            </a:r>
          </a:p>
          <a:p xmlns:a="http://schemas.openxmlformats.org/drawingml/2006/main">
            <a:r>
              <a:t>Epheser 4,31. Alle Gereiztheit und Wut und Zorn und Geschrei und üble Rede seien mit jeder Bosheit von euch entfernt;</a:t>
            </a:r>
          </a:p>
          <a:p xmlns:a="http://schemas.openxmlformats.org/drawingml/2006/main">
            <a:r>
              <a:t>Epheser 4,32. seid aber gütig zueinander, mitfühlend, vergebt einander, wie auch Gott euch in Christus vergeben hat.</a:t>
            </a:r>
          </a:p>
          <a:p xmlns:a="http://schemas.openxmlformats.org/drawingml/2006/main">
            <a:r>
              <a:t/>
            </a:r>
          </a:p>
          <a:p xmlns:a="http://schemas.openxmlformats.org/drawingml/2006/main">
            <a:r>
              <a:t>Gemeinsamer Anfang: Vier Rollen: Lehrkraft, Sascha, Mischa, Anja. Einleitungen liest die Lehrkraft. Heutiges erfundenes Beispiel. Sascha arbeitete gestern am gemeinsamen Projekt, doch es ist nicht fertig. Anja bereitet die Gestaltung vor und rechnet heute mit dem ganzen Projekt. Lehrkraft fragt jedes Mal: „Ist das ganze Projekt fertig?“ Sascha leise zu Mischa: „Sag nicht, dass ich nicht fertig geworden bin. Ich will die Klasse nicht enttäuschen“. Vor jeder Version kehren wir zu dieser Bedingung zurück.</a:t>
            </a:r>
          </a:p>
          <a:p xmlns:a="http://schemas.openxmlformats.org/drawingml/2006/main">
            <a:r>
              <a:t>Version 1 — direkte Lüge: Lehrkraft: „Ist das ganze Projekt fertig?“ Mischa weiß, dass es nicht stimmt: „Ja, alles ist fertig“. Lehrkraft: „Dann wird Anja heute die Gestaltung vorbereiten, und morgen zeigen wir die Arbeit“. Anja zu Sascha: „Gib mir die fertige Arbeit“. Sascha: „Sie ist noch nicht fertig“. Anja: „Ich habe schon mit der Gestaltung angefangen und damit gerechnet. Jetzt müssen wir den Plan ändern“. Moderation: Erste Version beendet; zurück zur Ausgangsbedingung.</a:t>
            </a:r>
          </a:p>
          <a:p xmlns:a="http://schemas.openxmlformats.org/drawingml/2006/main">
            <a:r>
              <a:t>Version 2 — Halbwahrheit: Lehrkraft: „Ist das ganze Projekt fertig?“ Mischa: „Sascha hat gestern den ganzen Abend daran gearbeitet“. Das ist ein wahrer Fakt, aber Mischa antwortet absichtlich nicht zur Unvollständigkeit, damit die Lehrkraft glaubt, alles sei fertig. Lehrkraft: „Gut, dann kümmert sich Anja um die Gestaltung“. Mischa hört den falschen Schluss und präzisiert nicht. Anja geht zu Sascha und wiederholt das Gespräch der ersten Version: Arbeit nicht fertig, ihr Plan muss geändert werden. Moderation: Zweite Version beendet; wieder Ausgangsbedingung.</a:t>
            </a:r>
          </a:p>
          <a:p xmlns:a="http://schemas.openxmlformats.org/drawingml/2006/main">
            <a:r>
              <a:t>Version 3 — ehrliche Antwort mit Hilfe: Lehrkraft: „Ist das ganze Projekt fertig?“ Mischa: „Ein Teil ist fertig, das ganze Projekt noch nicht. Sascha erklärt selbst, was noch fehlt. Ich kann heute helfen“. Sascha: „Ich muss noch einen Abschnitt beenden. Ich habe nicht rechtzeitig Bescheid gesagt. Verzeiht. Stimmen wir ab, was wir schaffen“. Anja: „Dann fange ich mit dem fertigen Teil an. Ich muss wissen, wann der Rest kommt“. Lehrkraft: „Nach dem Gespräch klären wir Umfang und Termin. Bereitschaft versprechen wir nach dem Ergebnis“. Mischa und Sascha vereinbaren Hilfe. Moderation: Dritte Version beendet; jetzt Besprechung.</a:t>
            </a:r>
          </a:p>
          <a:p xmlns:a="http://schemas.openxmlformats.org/drawingml/2006/main">
            <a:r>
              <a:t/>
            </a:r>
          </a:p>
          <a:p xmlns:a="http://schemas.openxmlformats.org/drawingml/2006/main">
            <a:r>
              <a:t>Lehrkraft</a:t>
            </a:r>
          </a:p>
          <a:p xmlns:a="http://schemas.openxmlformats.org/drawingml/2006/main">
            <a:r>
              <a:t>Frage jedes Mal: „Ist das ganze Projekt fertig?“ Sage nach der Antwort den Satz deiner Version. In der dritten realistischen Umfang und Termin abstimmen. Vollständige Worte im Lehrerheft.</a:t>
            </a:r>
          </a:p>
          <a:p xmlns:a="http://schemas.openxmlformats.org/drawingml/2006/main">
            <a:r>
              <a:t/>
            </a:r>
          </a:p>
          <a:p xmlns:a="http://schemas.openxmlformats.org/drawingml/2006/main">
            <a:r>
              <a:t>Sascha</a:t>
            </a:r>
          </a:p>
          <a:p xmlns:a="http://schemas.openxmlformats.org/drawingml/2006/main">
            <a:r>
              <a:t>Du hast gestern gearbeitet, doch das ganze Projekt ist nicht fertig. Bitte Mischa, dies zu verstecken. In Version 3 sage ehrlich, was noch fehlt, und bitte, einen Plan abzustimmen.</a:t>
            </a:r>
          </a:p>
          <a:p xmlns:a="http://schemas.openxmlformats.org/drawingml/2006/main">
            <a:r>
              <a:t/>
            </a:r>
          </a:p>
          <a:p xmlns:a="http://schemas.openxmlformats.org/drawingml/2006/main">
            <a:r>
              <a:t>Mischa</a:t>
            </a:r>
          </a:p>
          <a:p xmlns:a="http://schemas.openxmlformats.org/drawingml/2006/main">
            <a:r>
              <a:t>Du willst Sascha helfen. Drei Versionen: „Ja, alles ist fertig“; „Er hat den ganzen Abend gearbeitet“; „Noch nicht fertig, ich helfe“. Vollständige Worte im Lehrerheft.</a:t>
            </a:r>
          </a:p>
          <a:p xmlns:a="http://schemas.openxmlformats.org/drawingml/2006/main">
            <a:r>
              <a:t/>
            </a:r>
          </a:p>
          <a:p xmlns:a="http://schemas.openxmlformats.org/drawingml/2006/main">
            <a:r>
              <a:t>Anja</a:t>
            </a:r>
          </a:p>
          <a:p xmlns:a="http://schemas.openxmlformats.org/drawingml/2006/main">
            <a:r>
              <a:t>Du bereitest die Gestaltung vor. In den ersten zwei Versionen rechnest du mit fertiger Arbeit und merkst, dass der Plan geändert werden muss. In der dritten Termin klären und mit fertigem Teil beginnen.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Absicht und Folgen — 4 Minuten.</a:t>
            </a:r>
          </a:p>
          <a:p xmlns:a="http://schemas.openxmlformats.org/drawingml/2006/main">
            <a:r>
              <a:t/>
            </a:r>
          </a:p>
          <a:p xmlns:a="http://schemas.openxmlformats.org/drawingml/2006/main">
            <a:r>
              <a:t>Worte: Mischa wollte helfen. Aber wie beeinflussten seine Worte Anja? Weshalb kann der wahre Satz „Sascha hat gestern gearbeitet“ täuschen? Wir stellen den Weg zu einer ehrlichen Antwort her.</a:t>
            </a:r>
          </a:p>
          <a:p xmlns:a="http://schemas.openxmlformats.org/drawingml/2006/main">
            <a:r>
              <a:t>Durchführung: Zwei kurze Antworten zum Spiel hören. Paare ordnen dann vier Schrittkarten: Fakten klären, an den Zuhörer denken, ehrlich antworten, durch Handeln helfen. Ein Paar erklärt die Reihenfolge.</a:t>
            </a:r>
          </a:p>
          <a:p xmlns:a="http://schemas.openxmlformats.org/drawingml/2006/main">
            <a:r>
              <a:t>Frage: Reicht eine gute Absicht, wenn jemand eine falsche Vorstellung bekommt?</a:t>
            </a:r>
          </a:p>
          <a:p xmlns:a="http://schemas.openxmlformats.org/drawingml/2006/main">
            <a:r>
              <a:t>Orientierung: Inhalt und erwarteten Schluss des Zuhörers beachten. Im Spiel weiß Mischa, dass die Arbeit nicht fertig ist, und versteckt dies absichtlich hinter einem wahren Satz. Eine gute Absicht macht diese Antwort allein nicht ehrlich.</a:t>
            </a:r>
          </a:p>
          <a:p xmlns:a="http://schemas.openxmlformats.org/drawingml/2006/main">
            <a:r>
              <a:t>Rhythmus: 2 Minuten Gespräch; 1 Minute Karten; 1 Minute Erklärung.</a:t>
            </a:r>
          </a:p>
          <a:p xmlns:a="http://schemas.openxmlformats.org/drawingml/2006/main">
            <a:r>
              <a:t/>
            </a:r>
          </a:p>
          <a:p xmlns:a="http://schemas.openxmlformats.org/drawingml/2006/main">
            <a:r>
              <a:t>Vorbereitung</a:t>
            </a:r>
          </a:p>
          <a:p xmlns:a="http://schemas.openxmlformats.org/drawingml/2006/main">
            <a:r>
              <a:t>1. Zwölf Folien und Moderationsnotizen öffnen. Epheser 4,25–32 vollständig vorbereiten. Sofort nach dem Lesen das Rollenspiel; Besprechung nach allen drei Versionen.</a:t>
            </a:r>
          </a:p>
          <a:p xmlns:a="http://schemas.openxmlformats.org/drawingml/2006/main">
            <a:r>
              <a:t>2. Seite 1 pro Gruppe, Seiten 2,3,5 pro Paar, Seite 4 pro Viererteam, Seite 6 für jeden drucken. Alle Karten und Aufgaben illustriert; Graustufendruck möglich.</a:t>
            </a:r>
          </a:p>
          <a:p xmlns:a="http://schemas.openxmlformats.org/drawingml/2006/main">
            <a:r>
              <a:t>3. Karten vorab ausschneiden; Schreibfelder auf Seiten 3 und 4 zusammenlassen. Stifte. Unfertiges Schulprojekt aus Papier für das Spiel. Neue Wendung erst in Phase 9 mitteilen.</a:t>
            </a:r>
          </a:p>
          <a:p xmlns:a="http://schemas.openxmlformats.org/drawingml/2006/main">
            <a:r>
              <a:t>4. Vier Rollen wählen; Einleitungen liest die Lehrkraft. Vor jeder Version zurück zum Ausgangspunkt: Projekt nicht fertig. Drei alternative Antworten, keine drei aufeinanderfolgenden Ereignisse.</a:t>
            </a:r>
          </a:p>
          <a:p xmlns:a="http://schemas.openxmlformats.org/drawingml/2006/main">
            <a:r>
              <a:t>5. Paare und Viererteams bilden. In unvollständigem Team liest einer zwei Informationen. Persönliches Blatt bleibt beim Teilnehmer. Jeder Übung darf ein erfundener Fall zugrunde liegen.</a:t>
            </a:r>
          </a:p>
          <a:p xmlns:a="http://schemas.openxmlformats.org/drawingml/2006/main">
            <a:r>
              <a:t>Zentrale Hinweise</a:t>
            </a:r>
          </a:p>
          <a:p xmlns:a="http://schemas.openxmlformats.org/drawingml/2006/main">
            <a:r>
              <a:t>1. Grundlage Epheser 4,25. Verse 25–32 zusammen lesen: Wahrheit, gute Rede und Mitgefühl gehören zu demselben Leben in Christus. Keine Debatte, in der Grausamkeit oder Täuschung gewählt werden müssen.</a:t>
            </a:r>
          </a:p>
          <a:p xmlns:a="http://schemas.openxmlformats.org/drawingml/2006/main">
            <a:r>
              <a:t>2. Brief ist Weisung, heutiges Spiel ein eigens verfasstes Beispiel. Sascha, Mischa und Schulprojekt gehören nicht zum biblischen Bericht. Keine im Vers fehlenden Versprechen sofortigen Erfolgs ergänzen.</a:t>
            </a:r>
          </a:p>
          <a:p xmlns:a="http://schemas.openxmlformats.org/drawingml/2006/main">
            <a:r>
              <a:t>3. Lüge ist hier bewusst falsche Mitteilung. Halbwahrheit ist absichtliches Verschweigen, das eine falsche Vorstellung erzeugt. Nicht jede kurze Antwort täuscht; Kartenbedingung und Schluss des Zuhörers beachten.</a:t>
            </a:r>
          </a:p>
          <a:p xmlns:a="http://schemas.openxmlformats.org/drawingml/2006/main">
            <a:r>
              <a:t>4. Sechs Sätze: Lüge Karten 1 und 3, Halbwahrheit 2 und 4, ehrliche Antwort 5 und 6, von links nach rechts, oben nach unten. Schritte Seite 2: 3,1,4,2; Zusammenhänge erklären ist wichtiger als Zahlen raten.</a:t>
            </a:r>
          </a:p>
          <a:p xmlns:a="http://schemas.openxmlformats.org/drawingml/2006/main">
            <a:r>
              <a:t>5. Wahrhaftigkeit verlangt nicht, jedem alle persönlichen Details mitzuteilen. Direkte Weigerung, fremdes Persönliches zu besprechen, und „Ich weiß es noch nicht“ sind ehrlich. Überraschung als „Das ist noch geheim“ benennen. Bei Gefahr oder Schaden Hilfe eines vertrauenswürdigen Erwachsenen suchen.</a:t>
            </a:r>
          </a:p>
          <a:p xmlns:a="http://schemas.openxmlformats.org/drawingml/2006/main">
            <a:r>
              <a:t>6. Wahrheit über konkrete Arbeit braucht keine Etiketten für Menschen. Statt „Du kannst nichts“ sagen, was noch zu tun ist. Reale gelungene Einzelheit und machbare Verbesserung nennen. Zuhörer darf enttäuscht sein; kein Grund, Fakten zu erfinden.</a:t>
            </a:r>
          </a:p>
          <a:p xmlns:a="http://schemas.openxmlformats.org/drawingml/2006/main">
            <a:r>
              <a:t>7. Teamaufgabe braucht Buchprüfung und verlässliche Nachricht. Plan 2 berichtigt Unwahrheit vor ihren Zuhörern; bestätigten Termin mit Lehrkraft klären. Persönliche Gründe müssen nicht öffentlich allen Empfängern erzählt werden.</a:t>
            </a:r>
          </a:p>
          <a:p xmlns:a="http://schemas.openxmlformats.org/drawingml/2006/main">
            <a:r>
              <a:t>8. Bei wirklicher Lüge Berichtigung und machbare Hilfe wählen helfen. Keine öffentliche Beichte. Umkehr umfasst Hinwendung zu Gott und Veränderung der Handlungen; bei Fragen zur Beichte Gespräch mit Priester anbieten. Am Ende Erklärung der Halbwahrheit und konkreten ehrlichen Schritt prüfen.</a:t>
            </a:r>
          </a:p>
          <a:p xmlns:a="http://schemas.openxmlformats.org/drawingml/2006/main">
            <a:r>
              <a:t/>
            </a:r>
          </a:p>
          <a:p xmlns:a="http://schemas.openxmlformats.org/drawingml/2006/main">
            <a:r>
              <a:t>An den Zuhörer denken</a:t>
            </a:r>
          </a:p>
          <a:p xmlns:a="http://schemas.openxmlformats.org/drawingml/2006/main">
            <a:r>
              <a:t>Was versteht er aus meinen Worten? Mit welchen Handlungen wird er rechnen?</a:t>
            </a:r>
          </a:p>
          <a:p xmlns:a="http://schemas.openxmlformats.org/drawingml/2006/main">
            <a:r>
              <a:t/>
            </a:r>
          </a:p>
          <a:p xmlns:a="http://schemas.openxmlformats.org/drawingml/2006/main">
            <a:r>
              <a:t>Durch Handeln helfen</a:t>
            </a:r>
          </a:p>
          <a:p xmlns:a="http://schemas.openxmlformats.org/drawingml/2006/main">
            <a:r>
              <a:t>Machbare Hilfe anbieten und Vereinbarung erfüllen. Prüfen, ob frühere Worte berichtigt werden müssen.</a:t>
            </a:r>
          </a:p>
          <a:p xmlns:a="http://schemas.openxmlformats.org/drawingml/2006/main">
            <a:r>
              <a:t/>
            </a:r>
          </a:p>
          <a:p xmlns:a="http://schemas.openxmlformats.org/drawingml/2006/main">
            <a:r>
              <a:t>Fakten klären</a:t>
            </a:r>
          </a:p>
          <a:p xmlns:a="http://schemas.openxmlformats.org/drawingml/2006/main">
            <a:r>
              <a:t>Was weiß ich? Was vermute ich nur? Welche Informationen sind noch zu prüfen?</a:t>
            </a:r>
          </a:p>
          <a:p xmlns:a="http://schemas.openxmlformats.org/drawingml/2006/main">
            <a:r>
              <a:t/>
            </a:r>
          </a:p>
          <a:p xmlns:a="http://schemas.openxmlformats.org/drawingml/2006/main">
            <a:r>
              <a:t>Ehrlich antworten</a:t>
            </a:r>
          </a:p>
          <a:p xmlns:a="http://schemas.openxmlformats.org/drawingml/2006/main">
            <a:r>
              <a:t>Bekannte Fakten nennen. Unbekanntes oder Grenze des Persönlichen direkt sagen. Falschen Eindruck präzisieren.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Lüge, Halbwahrheit, ehrliche Antwort — 4 Minuten.</a:t>
            </a:r>
          </a:p>
          <a:p xmlns:a="http://schemas.openxmlformats.org/drawingml/2006/main">
            <a:r>
              <a:t/>
            </a:r>
          </a:p>
          <a:p xmlns:a="http://schemas.openxmlformats.org/drawingml/2006/main">
            <a:r>
              <a:t>Worte: Nicht jede kurze Antwort ist eine Halbwahrheit. Entscheidend sind der Grund meines Verschweigens und der Eindruck, den ich erzeuge. Ordnet sechs Sätze und erklärt mindestens einen.</a:t>
            </a:r>
          </a:p>
          <a:p xmlns:a="http://schemas.openxmlformats.org/drawingml/2006/main">
            <a:r>
              <a:t>Durchführung: Paare erhalten sechs Karten. Gruppen: „Lüge“, „Halbwahrheit“, „Ehrliche Antwort“. Bedingungen auf den Karten sind nötig: Derselbe Satz kann in anderer Situation etwas anderes bedeuten. In zwei Felder schreiben, was der Zuhörer denkt und wie die Antwort präzisiert wird.</a:t>
            </a:r>
          </a:p>
          <a:p xmlns:a="http://schemas.openxmlformats.org/drawingml/2006/main">
            <a:r>
              <a:t>Frage: Wie Persönliches bewahren, ohne vorzugeben, nichts zu wissen?</a:t>
            </a:r>
          </a:p>
          <a:p xmlns:a="http://schemas.openxmlformats.org/drawingml/2006/main">
            <a:r>
              <a:t>Orientierung: Direkt sagen: „Das ist persönlich, ich werde darüber nicht sprechen“. Behutsames Bewahren eines Geheimnisses unterscheidet sich vom absichtlichen Erzeugen eines falschen Eindrucks. Wenn du es nicht weißt, sage es so.</a:t>
            </a:r>
          </a:p>
          <a:p xmlns:a="http://schemas.openxmlformats.org/drawingml/2006/main">
            <a:r>
              <a:t>Rhythmus: 2 Minuten Sortieren; 1 Minute Erklärung; 1 Minute Schreiben.</a:t>
            </a:r>
          </a:p>
          <a:p xmlns:a="http://schemas.openxmlformats.org/drawingml/2006/main">
            <a:r>
              <a:t/>
            </a:r>
          </a:p>
          <a:p xmlns:a="http://schemas.openxmlformats.org/drawingml/2006/main">
            <a:r>
              <a:t>Vorbereitung</a:t>
            </a:r>
          </a:p>
          <a:p xmlns:a="http://schemas.openxmlformats.org/drawingml/2006/main">
            <a:r>
              <a:t>1. Zwölf Folien und Moderationsnotizen öffnen. Epheser 4,25–32 vollständig vorbereiten. Sofort nach dem Lesen das Rollenspiel; Besprechung nach allen drei Versionen.</a:t>
            </a:r>
          </a:p>
          <a:p xmlns:a="http://schemas.openxmlformats.org/drawingml/2006/main">
            <a:r>
              <a:t>2. Seite 1 pro Gruppe, Seiten 2,3,5 pro Paar, Seite 4 pro Viererteam, Seite 6 für jeden drucken. Alle Karten und Aufgaben illustriert; Graustufendruck möglich.</a:t>
            </a:r>
          </a:p>
          <a:p xmlns:a="http://schemas.openxmlformats.org/drawingml/2006/main">
            <a:r>
              <a:t>3. Karten vorab ausschneiden; Schreibfelder auf Seiten 3 und 4 zusammenlassen. Stifte. Unfertiges Schulprojekt aus Papier für das Spiel. Neue Wendung erst in Phase 9 mitteilen.</a:t>
            </a:r>
          </a:p>
          <a:p xmlns:a="http://schemas.openxmlformats.org/drawingml/2006/main">
            <a:r>
              <a:t>4. Vier Rollen wählen; Einleitungen liest die Lehrkraft. Vor jeder Version zurück zum Ausgangspunkt: Projekt nicht fertig. Drei alternative Antworten, keine drei aufeinanderfolgenden Ereignisse.</a:t>
            </a:r>
          </a:p>
          <a:p xmlns:a="http://schemas.openxmlformats.org/drawingml/2006/main">
            <a:r>
              <a:t>5. Paare und Viererteams bilden. In unvollständigem Team liest einer zwei Informationen. Persönliches Blatt bleibt beim Teilnehmer. Jeder Übung darf ein erfundener Fall zugrunde liegen.</a:t>
            </a:r>
          </a:p>
          <a:p xmlns:a="http://schemas.openxmlformats.org/drawingml/2006/main">
            <a:r>
              <a:t>Zentrale Hinweise</a:t>
            </a:r>
          </a:p>
          <a:p xmlns:a="http://schemas.openxmlformats.org/drawingml/2006/main">
            <a:r>
              <a:t>1. Grundlage Epheser 4,25. Verse 25–32 zusammen lesen: Wahrheit, gute Rede und Mitgefühl gehören zu demselben Leben in Christus. Keine Debatte, in der Grausamkeit oder Täuschung gewählt werden müssen.</a:t>
            </a:r>
          </a:p>
          <a:p xmlns:a="http://schemas.openxmlformats.org/drawingml/2006/main">
            <a:r>
              <a:t>2. Brief ist Weisung, heutiges Spiel ein eigens verfasstes Beispiel. Sascha, Mischa und Schulprojekt gehören nicht zum biblischen Bericht. Keine im Vers fehlenden Versprechen sofortigen Erfolgs ergänzen.</a:t>
            </a:r>
          </a:p>
          <a:p xmlns:a="http://schemas.openxmlformats.org/drawingml/2006/main">
            <a:r>
              <a:t>3. Lüge ist hier bewusst falsche Mitteilung. Halbwahrheit ist absichtliches Verschweigen, das eine falsche Vorstellung erzeugt. Nicht jede kurze Antwort täuscht; Kartenbedingung und Schluss des Zuhörers beachten.</a:t>
            </a:r>
          </a:p>
          <a:p xmlns:a="http://schemas.openxmlformats.org/drawingml/2006/main">
            <a:r>
              <a:t>4. Sechs Sätze: Lüge Karten 1 und 3, Halbwahrheit 2 und 4, ehrliche Antwort 5 und 6, von links nach rechts, oben nach unten. Schritte Seite 2: 3,1,4,2; Zusammenhänge erklären ist wichtiger als Zahlen raten.</a:t>
            </a:r>
          </a:p>
          <a:p xmlns:a="http://schemas.openxmlformats.org/drawingml/2006/main">
            <a:r>
              <a:t>5. Wahrhaftigkeit verlangt nicht, jedem alle persönlichen Details mitzuteilen. Direkte Weigerung, fremdes Persönliches zu besprechen, und „Ich weiß es noch nicht“ sind ehrlich. Überraschung als „Das ist noch geheim“ benennen. Bei Gefahr oder Schaden Hilfe eines vertrauenswürdigen Erwachsenen suchen.</a:t>
            </a:r>
          </a:p>
          <a:p xmlns:a="http://schemas.openxmlformats.org/drawingml/2006/main">
            <a:r>
              <a:t>6. Wahrheit über konkrete Arbeit braucht keine Etiketten für Menschen. Statt „Du kannst nichts“ sagen, was noch zu tun ist. Reale gelungene Einzelheit und machbare Verbesserung nennen. Zuhörer darf enttäuscht sein; kein Grund, Fakten zu erfinden.</a:t>
            </a:r>
          </a:p>
          <a:p xmlns:a="http://schemas.openxmlformats.org/drawingml/2006/main">
            <a:r>
              <a:t>7. Teamaufgabe braucht Buchprüfung und verlässliche Nachricht. Plan 2 berichtigt Unwahrheit vor ihren Zuhörern; bestätigten Termin mit Lehrkraft klären. Persönliche Gründe müssen nicht öffentlich allen Empfängern erzählt werden.</a:t>
            </a:r>
          </a:p>
          <a:p xmlns:a="http://schemas.openxmlformats.org/drawingml/2006/main">
            <a:r>
              <a:t>8. Bei wirklicher Lüge Berichtigung und machbare Hilfe wählen helfen. Keine öffentliche Beichte. Umkehr umfasst Hinwendung zu Gott und Veränderung der Handlungen; bei Fragen zur Beichte Gespräch mit Priester anbieten. Am Ende Erklärung der Halbwahrheit und konkreten ehrlichen Schritt prüfen.</a:t>
            </a:r>
          </a:p>
          <a:p xmlns:a="http://schemas.openxmlformats.org/drawingml/2006/main">
            <a:r>
              <a:t/>
            </a:r>
          </a:p>
          <a:p xmlns:a="http://schemas.openxmlformats.org/drawingml/2006/main">
            <a:r>
              <a:t>„Ja, alles ist fertig“</a:t>
            </a:r>
          </a:p>
          <a:p xmlns:a="http://schemas.openxmlformats.org/drawingml/2006/main">
            <a:r>
              <a:t>Du weißt, dass das ganze Projekt nicht fertig ist. Du antwortest „ja“, um Unvollständigkeit zu verstecken.</a:t>
            </a:r>
          </a:p>
          <a:p xmlns:a="http://schemas.openxmlformats.org/drawingml/2006/main">
            <a:r>
              <a:t/>
            </a:r>
          </a:p>
          <a:p xmlns:a="http://schemas.openxmlformats.org/drawingml/2006/main">
            <a:r>
              <a:t>„Den ganzen Abend gearbeitet“</a:t>
            </a:r>
          </a:p>
          <a:p xmlns:a="http://schemas.openxmlformats.org/drawingml/2006/main">
            <a:r>
              <a:t>Das ist wahr. Doch auf die Frage zur Bereitschaft antwortest du absichtlich nur zum Bemühen, damit der Zuhörer denkt: Alles ist fertig.</a:t>
            </a:r>
          </a:p>
          <a:p xmlns:a="http://schemas.openxmlformats.org/drawingml/2006/main">
            <a:r>
              <a:t/>
            </a:r>
          </a:p>
          <a:p xmlns:a="http://schemas.openxmlformats.org/drawingml/2006/main">
            <a:r>
              <a:t>„Ich habe alles geprüft“</a:t>
            </a:r>
          </a:p>
          <a:p xmlns:a="http://schemas.openxmlformats.org/drawingml/2006/main">
            <a:r>
              <a:t>Du hast nicht alle Bücher geprüft, meldest aber, die Prüfung sei fertig.</a:t>
            </a:r>
          </a:p>
          <a:p xmlns:a="http://schemas.openxmlformats.org/drawingml/2006/main">
            <a:r>
              <a:t/>
            </a:r>
          </a:p>
          <a:p xmlns:a="http://schemas.openxmlformats.org/drawingml/2006/main">
            <a:r>
              <a:t>„Die Bücher sind schon gesammelt“</a:t>
            </a:r>
          </a:p>
          <a:p xmlns:a="http://schemas.openxmlformats.org/drawingml/2006/main">
            <a:r>
              <a:t>Die Sammlung hat begonnen. Auf „Sind alle Bücher zur Übergabe bereit?“ verschweigst du Schäden und erzeugst absichtlich den Eindruck der Bereitschaft.</a:t>
            </a:r>
          </a:p>
          <a:p xmlns:a="http://schemas.openxmlformats.org/drawingml/2006/main">
            <a:r>
              <a:t/>
            </a:r>
          </a:p>
          <a:p xmlns:a="http://schemas.openxmlformats.org/drawingml/2006/main">
            <a:r>
              <a:t>„Noch nicht fertig“</a:t>
            </a:r>
          </a:p>
          <a:p xmlns:a="http://schemas.openxmlformats.org/drawingml/2006/main">
            <a:r>
              <a:t>Du sagst ehrlich: Ein Teil ist fertig, der Rest muss noch gemacht werden. Du bietest Hilfe und ein realistisches Gespräch zum Termin.</a:t>
            </a:r>
          </a:p>
          <a:p xmlns:a="http://schemas.openxmlformats.org/drawingml/2006/main">
            <a:r>
              <a:t/>
            </a:r>
          </a:p>
          <a:p xmlns:a="http://schemas.openxmlformats.org/drawingml/2006/main">
            <a:r>
              <a:t>„Das ist persönlich“</a:t>
            </a:r>
          </a:p>
          <a:p xmlns:a="http://schemas.openxmlformats.org/drawingml/2006/main">
            <a:r>
              <a:t>Du kennst die persönliche Geschichte eines anderen, sagst aber direkt: „Ich werde darüber nicht sprechen“. Du gibst nicht vor, nichts zu wissen.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 Wahrheit ohne verletzende Worte — 4 Minuten.</a:t>
            </a:r>
          </a:p>
          <a:p xmlns:a="http://schemas.openxmlformats.org/drawingml/2006/main">
            <a:r>
              <a:t/>
            </a:r>
          </a:p>
          <a:p xmlns:a="http://schemas.openxmlformats.org/drawingml/2006/main">
            <a:r>
              <a:t>Worte: Eine ehrliche Antwort kann behutsam sein. Einen Fakt ohne Etikett benennen, sagen, was wir nicht wissen, oder eine persönliche Grenze direkt nennen. Dann machbare Hilfe anbieten.</a:t>
            </a:r>
          </a:p>
          <a:p xmlns:a="http://schemas.openxmlformats.org/drawingml/2006/main">
            <a:r>
              <a:t>Durchführung: Paare wählen einen von vier Fällen. Einer fragt, der andere antwortet mit eigenen Worten. Dann Rollen wechseln und anderen Fall nehmen. Der zweite wiederholt, wie er die Antwort verstand; der erste präzisiert gegebenenfalls.</a:t>
            </a:r>
          </a:p>
          <a:p xmlns:a="http://schemas.openxmlformats.org/drawingml/2006/main">
            <a:r>
              <a:t>Frage: Kann man die Wahrheit sagen, ohne einen Menschen zu erniedrigen?</a:t>
            </a:r>
          </a:p>
          <a:p xmlns:a="http://schemas.openxmlformats.org/drawingml/2006/main">
            <a:r>
              <a:t>Orientierung: Ja: Von konkreter Arbeit oder einem Fakt sprechen, ohne „du immer“ oder „du kannst nichts“. Beim Bild eine wirklich gelungene Einzelheit und eine machbare Verbesserung nennen. Kein Lob erfinden.</a:t>
            </a:r>
          </a:p>
          <a:p xmlns:a="http://schemas.openxmlformats.org/drawingml/2006/main">
            <a:r>
              <a:t>Rhythmus: 2 Minuten erstes Gespräch; 2 Minuten Rollenwechsel.</a:t>
            </a:r>
          </a:p>
          <a:p xmlns:a="http://schemas.openxmlformats.org/drawingml/2006/main">
            <a:r>
              <a:t/>
            </a:r>
          </a:p>
          <a:p xmlns:a="http://schemas.openxmlformats.org/drawingml/2006/main">
            <a:r>
              <a:t>Vorbereitung</a:t>
            </a:r>
          </a:p>
          <a:p xmlns:a="http://schemas.openxmlformats.org/drawingml/2006/main">
            <a:r>
              <a:t>1. Zwölf Folien und Moderationsnotizen öffnen. Epheser 4,25–32 vollständig vorbereiten. Sofort nach dem Lesen das Rollenspiel; Besprechung nach allen drei Versionen.</a:t>
            </a:r>
          </a:p>
          <a:p xmlns:a="http://schemas.openxmlformats.org/drawingml/2006/main">
            <a:r>
              <a:t>2. Seite 1 pro Gruppe, Seiten 2,3,5 pro Paar, Seite 4 pro Viererteam, Seite 6 für jeden drucken. Alle Karten und Aufgaben illustriert; Graustufendruck möglich.</a:t>
            </a:r>
          </a:p>
          <a:p xmlns:a="http://schemas.openxmlformats.org/drawingml/2006/main">
            <a:r>
              <a:t>3. Karten vorab ausschneiden; Schreibfelder auf Seiten 3 und 4 zusammenlassen. Stifte. Unfertiges Schulprojekt aus Papier für das Spiel. Neue Wendung erst in Phase 9 mitteilen.</a:t>
            </a:r>
          </a:p>
          <a:p xmlns:a="http://schemas.openxmlformats.org/drawingml/2006/main">
            <a:r>
              <a:t>4. Vier Rollen wählen; Einleitungen liest die Lehrkraft. Vor jeder Version zurück zum Ausgangspunkt: Projekt nicht fertig. Drei alternative Antworten, keine drei aufeinanderfolgenden Ereignisse.</a:t>
            </a:r>
          </a:p>
          <a:p xmlns:a="http://schemas.openxmlformats.org/drawingml/2006/main">
            <a:r>
              <a:t>5. Paare und Viererteams bilden. In unvollständigem Team liest einer zwei Informationen. Persönliches Blatt bleibt beim Teilnehmer. Jeder Übung darf ein erfundener Fall zugrunde liegen.</a:t>
            </a:r>
          </a:p>
          <a:p xmlns:a="http://schemas.openxmlformats.org/drawingml/2006/main">
            <a:r>
              <a:t>Zentrale Hinweise</a:t>
            </a:r>
          </a:p>
          <a:p xmlns:a="http://schemas.openxmlformats.org/drawingml/2006/main">
            <a:r>
              <a:t>1. Grundlage Epheser 4,25. Verse 25–32 zusammen lesen: Wahrheit, gute Rede und Mitgefühl gehören zu demselben Leben in Christus. Keine Debatte, in der Grausamkeit oder Täuschung gewählt werden müssen.</a:t>
            </a:r>
          </a:p>
          <a:p xmlns:a="http://schemas.openxmlformats.org/drawingml/2006/main">
            <a:r>
              <a:t>2. Brief ist Weisung, heutiges Spiel ein eigens verfasstes Beispiel. Sascha, Mischa und Schulprojekt gehören nicht zum biblischen Bericht. Keine im Vers fehlenden Versprechen sofortigen Erfolgs ergänzen.</a:t>
            </a:r>
          </a:p>
          <a:p xmlns:a="http://schemas.openxmlformats.org/drawingml/2006/main">
            <a:r>
              <a:t>3. Lüge ist hier bewusst falsche Mitteilung. Halbwahrheit ist absichtliches Verschweigen, das eine falsche Vorstellung erzeugt. Nicht jede kurze Antwort täuscht; Kartenbedingung und Schluss des Zuhörers beachten.</a:t>
            </a:r>
          </a:p>
          <a:p xmlns:a="http://schemas.openxmlformats.org/drawingml/2006/main">
            <a:r>
              <a:t>4. Sechs Sätze: Lüge Karten 1 und 3, Halbwahrheit 2 und 4, ehrliche Antwort 5 und 6, von links nach rechts, oben nach unten. Schritte Seite 2: 3,1,4,2; Zusammenhänge erklären ist wichtiger als Zahlen raten.</a:t>
            </a:r>
          </a:p>
          <a:p xmlns:a="http://schemas.openxmlformats.org/drawingml/2006/main">
            <a:r>
              <a:t>5. Wahrhaftigkeit verlangt nicht, jedem alle persönlichen Details mitzuteilen. Direkte Weigerung, fremdes Persönliches zu besprechen, und „Ich weiß es noch nicht“ sind ehrlich. Überraschung als „Das ist noch geheim“ benennen. Bei Gefahr oder Schaden Hilfe eines vertrauenswürdigen Erwachsenen suchen.</a:t>
            </a:r>
          </a:p>
          <a:p xmlns:a="http://schemas.openxmlformats.org/drawingml/2006/main">
            <a:r>
              <a:t>6. Wahrheit über konkrete Arbeit braucht keine Etiketten für Menschen. Statt „Du kannst nichts“ sagen, was noch zu tun ist. Reale gelungene Einzelheit und machbare Verbesserung nennen. Zuhörer darf enttäuscht sein; kein Grund, Fakten zu erfinden.</a:t>
            </a:r>
          </a:p>
          <a:p xmlns:a="http://schemas.openxmlformats.org/drawingml/2006/main">
            <a:r>
              <a:t>7. Teamaufgabe braucht Buchprüfung und verlässliche Nachricht. Plan 2 berichtigt Unwahrheit vor ihren Zuhörern; bestätigten Termin mit Lehrkraft klären. Persönliche Gründe müssen nicht öffentlich allen Empfängern erzählt werden.</a:t>
            </a:r>
          </a:p>
          <a:p xmlns:a="http://schemas.openxmlformats.org/drawingml/2006/main">
            <a:r>
              <a:t>8. Bei wirklicher Lüge Berichtigung und machbare Hilfe wählen helfen. Keine öffentliche Beichte. Umkehr umfasst Hinwendung zu Gott und Veränderung der Handlungen; bei Fragen zur Beichte Gespräch mit Priester anbieten. Am Ende Erklärung der Halbwahrheit und konkreten ehrlichen Schritt prüfen.</a:t>
            </a:r>
          </a:p>
          <a:p xmlns:a="http://schemas.openxmlformats.org/drawingml/2006/main">
            <a:r>
              <a:t/>
            </a:r>
          </a:p>
          <a:p xmlns:a="http://schemas.openxmlformats.org/drawingml/2006/main">
            <a:r>
              <a:t>Unfertige Arbeit</a:t>
            </a:r>
          </a:p>
          <a:p xmlns:a="http://schemas.openxmlformats.org/drawingml/2006/main">
            <a:r>
              <a:t>Ein Freund bittet zu sagen, das Projekt sei fertig, obwohl dies nicht stimmt. Lehrkraft fragt nach Bereitschaft. Wahrheit ohne Erniedrigung sagen und Hilfe anbieten.</a:t>
            </a:r>
          </a:p>
          <a:p xmlns:a="http://schemas.openxmlformats.org/drawingml/2006/main">
            <a:r>
              <a:t/>
            </a:r>
          </a:p>
          <a:p xmlns:a="http://schemas.openxmlformats.org/drawingml/2006/main">
            <a:r>
              <a:t>Fremdes Persönliches</a:t>
            </a:r>
          </a:p>
          <a:p xmlns:a="http://schemas.openxmlformats.org/drawingml/2006/main">
            <a:r>
              <a:t>Man fragt dich nach der persönlichen Geschichte eines Freundes. Du kennst Details, versprachst aber sie zu bewahren. Grenze direkt nennen, ohne zu erfinden, du wüsstest nichts.</a:t>
            </a:r>
          </a:p>
          <a:p xmlns:a="http://schemas.openxmlformats.org/drawingml/2006/main">
            <a:r>
              <a:t/>
            </a:r>
          </a:p>
          <a:p xmlns:a="http://schemas.openxmlformats.org/drawingml/2006/main">
            <a:r>
              <a:t>Rückmeldung zum Bild</a:t>
            </a:r>
          </a:p>
          <a:p xmlns:a="http://schemas.openxmlformats.org/drawingml/2006/main">
            <a:r>
              <a:t>Freund fragt nach deiner Meinung zu seinem Bild. Farben gefallen dir, Komposition ließe sich verbessern. Konkrete ehrliche Rückmeldung ohne Spott und erfundenes Lob.</a:t>
            </a:r>
          </a:p>
          <a:p xmlns:a="http://schemas.openxmlformats.org/drawingml/2006/main">
            <a:r>
              <a:t/>
            </a:r>
          </a:p>
          <a:p xmlns:a="http://schemas.openxmlformats.org/drawingml/2006/main">
            <a:r>
              <a:t>Ungeprüftes Gerücht</a:t>
            </a:r>
          </a:p>
          <a:p xmlns:a="http://schemas.openxmlformats.org/drawingml/2006/main">
            <a:r>
              <a:t>Man fragt dich, ob eine unangenehme Geschichte über einen Mitschüler wahr sei. Du hast nur eine fremde Nachricht. Sage, was du nicht weißt; keine Vermutung als geprüften Fakt ausgeben.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Helfen ohne Täuschung — 6 Minuten.</a:t>
            </a:r>
          </a:p>
          <a:p xmlns:a="http://schemas.openxmlformats.org/drawingml/2006/main">
            <a:r>
              <a:t/>
            </a:r>
          </a:p>
          <a:p xmlns:a="http://schemas.openxmlformats.org/drawingml/2006/main">
            <a:r>
              <a:t>Worte: Die Klasse sammelt Bücher für Jüngere. Sascha versprach sie zu prüfen, doch die Prüfung ist nicht fertig. Mischa schlägt vor zu sagen, alles sei bereit, um niemanden zu enttäuschen. Jeder hat eine wichtige Information.</a:t>
            </a:r>
          </a:p>
          <a:p xmlns:a="http://schemas.openxmlformats.org/drawingml/2006/main">
            <a:r>
              <a:t>Durchführung: Viererteams lesen getrennte Informationen und verfassen Plan 1: Was bekannt ist, für wen es wichtig ist, was sagen und wie helfen. Jeden anhören. Ein Vertreter nennt die Lösung. Neue Bedingung bleibt bis Phase 9 bei der Lehrkraft.</a:t>
            </a:r>
          </a:p>
          <a:p xmlns:a="http://schemas.openxmlformats.org/drawingml/2006/main">
            <a:r>
              <a:t>Frage: Wie die gute Tat bewahren, ohne Bereitschaft von etwas Unfertigem zu melden?</a:t>
            </a:r>
          </a:p>
          <a:p xmlns:a="http://schemas.openxmlformats.org/drawingml/2006/main">
            <a:r>
              <a:t>Orientierung: Tatsächlichen Prüfstand mitteilen; ungeeignete Bücher trennen; übrige prüfen helfen und abstimmen, was übergeben werden kann. Für ein gutes Ziel mit ehrlichen Worten und hilfreichem Handeln einstehen.</a:t>
            </a:r>
          </a:p>
          <a:p xmlns:a="http://schemas.openxmlformats.org/drawingml/2006/main">
            <a:r>
              <a:t>Rhythmus: 1 Minute Informationen; 3 Minuten Plan; 2 Minuten Antwort und Klärung.</a:t>
            </a:r>
          </a:p>
          <a:p xmlns:a="http://schemas.openxmlformats.org/drawingml/2006/main">
            <a:r>
              <a:t/>
            </a:r>
          </a:p>
          <a:p xmlns:a="http://schemas.openxmlformats.org/drawingml/2006/main">
            <a:r>
              <a:t>Vorbereitung</a:t>
            </a:r>
          </a:p>
          <a:p xmlns:a="http://schemas.openxmlformats.org/drawingml/2006/main">
            <a:r>
              <a:t>1. Zwölf Folien und Moderationsnotizen öffnen. Epheser 4,25–32 vollständig vorbereiten. Sofort nach dem Lesen das Rollenspiel; Besprechung nach allen drei Versionen.</a:t>
            </a:r>
          </a:p>
          <a:p xmlns:a="http://schemas.openxmlformats.org/drawingml/2006/main">
            <a:r>
              <a:t>2. Seite 1 pro Gruppe, Seiten 2,3,5 pro Paar, Seite 4 pro Viererteam, Seite 6 für jeden drucken. Alle Karten und Aufgaben illustriert; Graustufendruck möglich.</a:t>
            </a:r>
          </a:p>
          <a:p xmlns:a="http://schemas.openxmlformats.org/drawingml/2006/main">
            <a:r>
              <a:t>3. Karten vorab ausschneiden; Schreibfelder auf Seiten 3 und 4 zusammenlassen. Stifte. Unfertiges Schulprojekt aus Papier für das Spiel. Neue Wendung erst in Phase 9 mitteilen.</a:t>
            </a:r>
          </a:p>
          <a:p xmlns:a="http://schemas.openxmlformats.org/drawingml/2006/main">
            <a:r>
              <a:t>4. Vier Rollen wählen; Einleitungen liest die Lehrkraft. Vor jeder Version zurück zum Ausgangspunkt: Projekt nicht fertig. Drei alternative Antworten, keine drei aufeinanderfolgenden Ereignisse.</a:t>
            </a:r>
          </a:p>
          <a:p xmlns:a="http://schemas.openxmlformats.org/drawingml/2006/main">
            <a:r>
              <a:t>5. Paare und Viererteams bilden. In unvollständigem Team liest einer zwei Informationen. Persönliches Blatt bleibt beim Teilnehmer. Jeder Übung darf ein erfundener Fall zugrunde liegen.</a:t>
            </a:r>
          </a:p>
          <a:p xmlns:a="http://schemas.openxmlformats.org/drawingml/2006/main">
            <a:r>
              <a:t>Zentrale Hinweise</a:t>
            </a:r>
          </a:p>
          <a:p xmlns:a="http://schemas.openxmlformats.org/drawingml/2006/main">
            <a:r>
              <a:t>1. Grundlage Epheser 4,25. Verse 25–32 zusammen lesen: Wahrheit, gute Rede und Mitgefühl gehören zu demselben Leben in Christus. Keine Debatte, in der Grausamkeit oder Täuschung gewählt werden müssen.</a:t>
            </a:r>
          </a:p>
          <a:p xmlns:a="http://schemas.openxmlformats.org/drawingml/2006/main">
            <a:r>
              <a:t>2. Brief ist Weisung, heutiges Spiel ein eigens verfasstes Beispiel. Sascha, Mischa und Schulprojekt gehören nicht zum biblischen Bericht. Keine im Vers fehlenden Versprechen sofortigen Erfolgs ergänzen.</a:t>
            </a:r>
          </a:p>
          <a:p xmlns:a="http://schemas.openxmlformats.org/drawingml/2006/main">
            <a:r>
              <a:t>3. Lüge ist hier bewusst falsche Mitteilung. Halbwahrheit ist absichtliches Verschweigen, das eine falsche Vorstellung erzeugt. Nicht jede kurze Antwort täuscht; Kartenbedingung und Schluss des Zuhörers beachten.</a:t>
            </a:r>
          </a:p>
          <a:p xmlns:a="http://schemas.openxmlformats.org/drawingml/2006/main">
            <a:r>
              <a:t>4. Sechs Sätze: Lüge Karten 1 und 3, Halbwahrheit 2 und 4, ehrliche Antwort 5 und 6, von links nach rechts, oben nach unten. Schritte Seite 2: 3,1,4,2; Zusammenhänge erklären ist wichtiger als Zahlen raten.</a:t>
            </a:r>
          </a:p>
          <a:p xmlns:a="http://schemas.openxmlformats.org/drawingml/2006/main">
            <a:r>
              <a:t>5. Wahrhaftigkeit verlangt nicht, jedem alle persönlichen Details mitzuteilen. Direkte Weigerung, fremdes Persönliches zu besprechen, und „Ich weiß es noch nicht“ sind ehrlich. Überraschung als „Das ist noch geheim“ benennen. Bei Gefahr oder Schaden Hilfe eines vertrauenswürdigen Erwachsenen suchen.</a:t>
            </a:r>
          </a:p>
          <a:p xmlns:a="http://schemas.openxmlformats.org/drawingml/2006/main">
            <a:r>
              <a:t>6. Wahrheit über konkrete Arbeit braucht keine Etiketten für Menschen. Statt „Du kannst nichts“ sagen, was noch zu tun ist. Reale gelungene Einzelheit und machbare Verbesserung nennen. Zuhörer darf enttäuscht sein; kein Grund, Fakten zu erfinden.</a:t>
            </a:r>
          </a:p>
          <a:p xmlns:a="http://schemas.openxmlformats.org/drawingml/2006/main">
            <a:r>
              <a:t>7. Teamaufgabe braucht Buchprüfung und verlässliche Nachricht. Plan 2 berichtigt Unwahrheit vor ihren Zuhörern; bestätigten Termin mit Lehrkraft klären. Persönliche Gründe müssen nicht öffentlich allen Empfängern erzählt werden.</a:t>
            </a:r>
          </a:p>
          <a:p xmlns:a="http://schemas.openxmlformats.org/drawingml/2006/main">
            <a:r>
              <a:t>8. Bei wirklicher Lüge Berichtigung und machbare Hilfe wählen helfen. Keine öffentliche Beichte. Umkehr umfasst Hinwendung zu Gott und Veränderung der Handlungen; bei Fragen zur Beichte Gespräch mit Priester anbieten. Am Ende Erklärung der Halbwahrheit und konkreten ehrlichen Schritt prüfen.</a:t>
            </a:r>
          </a:p>
          <a:p xmlns:a="http://schemas.openxmlformats.org/drawingml/2006/main">
            <a:r>
              <a:t/>
            </a:r>
          </a:p>
          <a:p xmlns:a="http://schemas.openxmlformats.org/drawingml/2006/main">
            <a:r>
              <a:t>1. Prüfung nicht abgeschlossen</a:t>
            </a:r>
          </a:p>
          <a:p xmlns:a="http://schemas.openxmlformats.org/drawingml/2006/main">
            <a:r>
              <a:t>Die Klasse sammelt Bücher für Jüngere. Sascha versprach sie zu prüfen, hat aber noch nicht alle angesehen. Er weiß, dass er die vollständige Bereitschaft nicht ehrlich bestätigen kann.</a:t>
            </a:r>
          </a:p>
          <a:p xmlns:a="http://schemas.openxmlformats.org/drawingml/2006/main">
            <a:r>
              <a:t/>
            </a:r>
          </a:p>
          <a:p xmlns:a="http://schemas.openxmlformats.org/drawingml/2006/main">
            <a:r>
              <a:t>2. Schäden gefunden</a:t>
            </a:r>
          </a:p>
          <a:p xmlns:a="http://schemas.openxmlformats.org/drawingml/2006/main">
            <a:r>
              <a:t>Anja sah Bücher mit zerrissenen oder fehlenden Seiten. Diese müssen aussortiert werden. Über die Bereitschaft der übrigen ist noch nichts bekannt.</a:t>
            </a:r>
          </a:p>
          <a:p xmlns:a="http://schemas.openxmlformats.org/drawingml/2006/main">
            <a:r>
              <a:t/>
            </a:r>
          </a:p>
          <a:p xmlns:a="http://schemas.openxmlformats.org/drawingml/2006/main">
            <a:r>
              <a:t>3. Rat des Freundes</a:t>
            </a:r>
          </a:p>
          <a:p xmlns:a="http://schemas.openxmlformats.org/drawingml/2006/main">
            <a:r>
              <a:t>Mischa schlägt vor, der Lehrkraft „Alle Bücher sind bereit“ zu sagen, um niemanden zu enttäuschen. Er will den Freund unterstützen und schlägt vor, danach alles zu prüfen.</a:t>
            </a:r>
          </a:p>
          <a:p xmlns:a="http://schemas.openxmlformats.org/drawingml/2006/main">
            <a:r>
              <a:t/>
            </a:r>
          </a:p>
          <a:p xmlns:a="http://schemas.openxmlformats.org/drawingml/2006/main">
            <a:r>
              <a:t>4. Mögliche Hilfe</a:t>
            </a:r>
          </a:p>
          <a:p xmlns:a="http://schemas.openxmlformats.org/drawingml/2006/main">
            <a:r>
              <a:t>Übergabe ist für morgen geplant. Heute kann das Team Bücher prüfen, ungeeignete trennen und mit der Lehrkraft realistischen Umfang und Termin abstimmen.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Eine Antwort, auf die man sich verlassen kann — 4 Minuten.</a:t>
            </a:r>
          </a:p>
          <a:p xmlns:a="http://schemas.openxmlformats.org/drawingml/2006/main">
            <a:r>
              <a:t/>
            </a:r>
          </a:p>
          <a:p xmlns:a="http://schemas.openxmlformats.org/drawingml/2006/main">
            <a:r>
              <a:t>Worte: Wir formulieren eine Nachricht an die Lehrkraft. Sie soll eine Entscheidung ermöglichen: Was fertig ist, was unbekannt ist und was wir als Nächstes tun. Nicht versprechen, alle Bücher seien geeignet, wenn dies ungeprüft ist.</a:t>
            </a:r>
          </a:p>
          <a:p xmlns:a="http://schemas.openxmlformats.org/drawingml/2006/main">
            <a:r>
              <a:t>Durchführung: Zwei Teams lesen ihre Nachrichten. Andere antworten nur: „Was habe ich über die Bereitschaft verstanden?“ und „Welche Entscheidung kann ich treffen?“ Zu den Fakten zurückführen, wenn ein schönes Versprechen Unvollständigkeit verdeckt.</a:t>
            </a:r>
          </a:p>
          <a:p xmlns:a="http://schemas.openxmlformats.org/drawingml/2006/main">
            <a:r>
              <a:t>Frage: Was muss der Empfänger wissen, um seinen Plan nicht auf eine falsche Grundlage zu stellen?</a:t>
            </a:r>
          </a:p>
          <a:p xmlns:a="http://schemas.openxmlformats.org/drawingml/2006/main">
            <a:r>
              <a:t>Orientierung: Prüfung nicht fertig, einige Bücher beschädigt. Team prüft übrige und meldet Ergebnis zur vereinbarten Zeit. Gründe mit Sascha persönlich besprechen; Bereitschaft allen Entscheidungsträgern ehrlich melden.</a:t>
            </a:r>
          </a:p>
          <a:p xmlns:a="http://schemas.openxmlformats.org/drawingml/2006/main">
            <a:r>
              <a:t>Rhythmus: 2 Minuten zwei Nachrichten; 2 Minuten Schlüsse der Zuhörer.</a:t>
            </a:r>
          </a:p>
          <a:p xmlns:a="http://schemas.openxmlformats.org/drawingml/2006/main">
            <a:r>
              <a:t/>
            </a:r>
          </a:p>
          <a:p xmlns:a="http://schemas.openxmlformats.org/drawingml/2006/main">
            <a:r>
              <a:t>Vorbereitung</a:t>
            </a:r>
          </a:p>
          <a:p xmlns:a="http://schemas.openxmlformats.org/drawingml/2006/main">
            <a:r>
              <a:t>1. Zwölf Folien und Moderationsnotizen öffnen. Epheser 4,25–32 vollständig vorbereiten. Sofort nach dem Lesen das Rollenspiel; Besprechung nach allen drei Versionen.</a:t>
            </a:r>
          </a:p>
          <a:p xmlns:a="http://schemas.openxmlformats.org/drawingml/2006/main">
            <a:r>
              <a:t>2. Seite 1 pro Gruppe, Seiten 2,3,5 pro Paar, Seite 4 pro Viererteam, Seite 6 für jeden drucken. Alle Karten und Aufgaben illustriert; Graustufendruck möglich.</a:t>
            </a:r>
          </a:p>
          <a:p xmlns:a="http://schemas.openxmlformats.org/drawingml/2006/main">
            <a:r>
              <a:t>3. Karten vorab ausschneiden; Schreibfelder auf Seiten 3 und 4 zusammenlassen. Stifte. Unfertiges Schulprojekt aus Papier für das Spiel. Neue Wendung erst in Phase 9 mitteilen.</a:t>
            </a:r>
          </a:p>
          <a:p xmlns:a="http://schemas.openxmlformats.org/drawingml/2006/main">
            <a:r>
              <a:t>4. Vier Rollen wählen; Einleitungen liest die Lehrkraft. Vor jeder Version zurück zum Ausgangspunkt: Projekt nicht fertig. Drei alternative Antworten, keine drei aufeinanderfolgenden Ereignisse.</a:t>
            </a:r>
          </a:p>
          <a:p xmlns:a="http://schemas.openxmlformats.org/drawingml/2006/main">
            <a:r>
              <a:t>5. Paare und Viererteams bilden. In unvollständigem Team liest einer zwei Informationen. Persönliches Blatt bleibt beim Teilnehmer. Jeder Übung darf ein erfundener Fall zugrunde liegen.</a:t>
            </a:r>
          </a:p>
          <a:p xmlns:a="http://schemas.openxmlformats.org/drawingml/2006/main">
            <a:r>
              <a:t>Zentrale Hinweise</a:t>
            </a:r>
          </a:p>
          <a:p xmlns:a="http://schemas.openxmlformats.org/drawingml/2006/main">
            <a:r>
              <a:t>1. Grundlage Epheser 4,25. Verse 25–32 zusammen lesen: Wahrheit, gute Rede und Mitgefühl gehören zu demselben Leben in Christus. Keine Debatte, in der Grausamkeit oder Täuschung gewählt werden müssen.</a:t>
            </a:r>
          </a:p>
          <a:p xmlns:a="http://schemas.openxmlformats.org/drawingml/2006/main">
            <a:r>
              <a:t>2. Brief ist Weisung, heutiges Spiel ein eigens verfasstes Beispiel. Sascha, Mischa und Schulprojekt gehören nicht zum biblischen Bericht. Keine im Vers fehlenden Versprechen sofortigen Erfolgs ergänzen.</a:t>
            </a:r>
          </a:p>
          <a:p xmlns:a="http://schemas.openxmlformats.org/drawingml/2006/main">
            <a:r>
              <a:t>3. Lüge ist hier bewusst falsche Mitteilung. Halbwahrheit ist absichtliches Verschweigen, das eine falsche Vorstellung erzeugt. Nicht jede kurze Antwort täuscht; Kartenbedingung und Schluss des Zuhörers beachten.</a:t>
            </a:r>
          </a:p>
          <a:p xmlns:a="http://schemas.openxmlformats.org/drawingml/2006/main">
            <a:r>
              <a:t>4. Sechs Sätze: Lüge Karten 1 und 3, Halbwahrheit 2 und 4, ehrliche Antwort 5 und 6, von links nach rechts, oben nach unten. Schritte Seite 2: 3,1,4,2; Zusammenhänge erklären ist wichtiger als Zahlen raten.</a:t>
            </a:r>
          </a:p>
          <a:p xmlns:a="http://schemas.openxmlformats.org/drawingml/2006/main">
            <a:r>
              <a:t>5. Wahrhaftigkeit verlangt nicht, jedem alle persönlichen Details mitzuteilen. Direkte Weigerung, fremdes Persönliches zu besprechen, und „Ich weiß es noch nicht“ sind ehrlich. Überraschung als „Das ist noch geheim“ benennen. Bei Gefahr oder Schaden Hilfe eines vertrauenswürdigen Erwachsenen suchen.</a:t>
            </a:r>
          </a:p>
          <a:p xmlns:a="http://schemas.openxmlformats.org/drawingml/2006/main">
            <a:r>
              <a:t>6. Wahrheit über konkrete Arbeit braucht keine Etiketten für Menschen. Statt „Du kannst nichts“ sagen, was noch zu tun ist. Reale gelungene Einzelheit und machbare Verbesserung nennen. Zuhörer darf enttäuscht sein; kein Grund, Fakten zu erfinden.</a:t>
            </a:r>
          </a:p>
          <a:p xmlns:a="http://schemas.openxmlformats.org/drawingml/2006/main">
            <a:r>
              <a:t>7. Teamaufgabe braucht Buchprüfung und verlässliche Nachricht. Plan 2 berichtigt Unwahrheit vor ihren Zuhörern; bestätigten Termin mit Lehrkraft klären. Persönliche Gründe müssen nicht öffentlich allen Empfängern erzählt werden.</a:t>
            </a:r>
          </a:p>
          <a:p xmlns:a="http://schemas.openxmlformats.org/drawingml/2006/main">
            <a:r>
              <a:t>8. Bei wirklicher Lüge Berichtigung und machbare Hilfe wählen helfen. Keine öffentliche Beichte. Umkehr umfasst Hinwendung zu Gott und Veränderung der Handlungen; bei Fragen zur Beichte Gespräch mit Priester anbieten. Am Ende Erklärung der Halbwahrheit und konkreten ehrlichen Schritt prüfen.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 Wenn die Unwahrheit schon verschickt ist — 4 Minuten.</a:t>
            </a:r>
          </a:p>
          <a:p xmlns:a="http://schemas.openxmlformats.org/drawingml/2006/main">
            <a:r>
              <a:t/>
            </a:r>
          </a:p>
          <a:p xmlns:a="http://schemas.openxmlformats.org/drawingml/2006/main">
            <a:r>
              <a:t>Worte: Neue Bedingung: Sascha schrieb schon in den Gruppenchat „Alle Bücher sind zur Übergabe bereit“. Die Lehrkraft bestätigte Übergabe morgen. Mischa bittet, die Nachricht nicht zu berichtigen, damit Sascha seinen guten Namen behält. Was ergänzen wir im Plan?</a:t>
            </a:r>
          </a:p>
          <a:p xmlns:a="http://schemas.openxmlformats.org/drawingml/2006/main">
            <a:r>
              <a:t>Durchführung: Teams behalten Plan 1 und ergänzen Plan 2. Nachricht vor derselben Gruppe berichtigen und gesondert die Lehrkraft kontaktieren, die Übergabe bestätigte. Zwei Vertreter nennen den ersten Schritt. Saschas persönliche Gesprächsdetails braucht nicht der ganze Chat.</a:t>
            </a:r>
          </a:p>
          <a:p xmlns:a="http://schemas.openxmlformats.org/drawingml/2006/main">
            <a:r>
              <a:t>Frage: Reicht es jetzt, die Bücher still zu sortieren?</a:t>
            </a:r>
          </a:p>
          <a:p xmlns:a="http://schemas.openxmlformats.org/drawingml/2006/main">
            <a:r>
              <a:t>Orientierung: Nein: Die falsche Erwartung besteht schon. Ungenauigkeit eingestehen und Lesern richtige Informationen geben. Reparatur oder Sortieren ersetzen keine Berichtigung der Worte. Ein Freund kann helfen, die Wahrheit zu sagen.</a:t>
            </a:r>
          </a:p>
          <a:p xmlns:a="http://schemas.openxmlformats.org/drawingml/2006/main">
            <a:r>
              <a:t>Rhythmus: 2 Minuten Plan 2; 2 Minuten zwei Antworten.</a:t>
            </a:r>
          </a:p>
          <a:p xmlns:a="http://schemas.openxmlformats.org/drawingml/2006/main">
            <a:r>
              <a:t/>
            </a:r>
          </a:p>
          <a:p xmlns:a="http://schemas.openxmlformats.org/drawingml/2006/main">
            <a:r>
              <a:t>Vorbereitung</a:t>
            </a:r>
          </a:p>
          <a:p xmlns:a="http://schemas.openxmlformats.org/drawingml/2006/main">
            <a:r>
              <a:t>1. Zwölf Folien und Moderationsnotizen öffnen. Epheser 4,25–32 vollständig vorbereiten. Sofort nach dem Lesen das Rollenspiel; Besprechung nach allen drei Versionen.</a:t>
            </a:r>
          </a:p>
          <a:p xmlns:a="http://schemas.openxmlformats.org/drawingml/2006/main">
            <a:r>
              <a:t>2. Seite 1 pro Gruppe, Seiten 2,3,5 pro Paar, Seite 4 pro Viererteam, Seite 6 für jeden drucken. Alle Karten und Aufgaben illustriert; Graustufendruck möglich.</a:t>
            </a:r>
          </a:p>
          <a:p xmlns:a="http://schemas.openxmlformats.org/drawingml/2006/main">
            <a:r>
              <a:t>3. Karten vorab ausschneiden; Schreibfelder auf Seiten 3 und 4 zusammenlassen. Stifte. Unfertiges Schulprojekt aus Papier für das Spiel. Neue Wendung erst in Phase 9 mitteilen.</a:t>
            </a:r>
          </a:p>
          <a:p xmlns:a="http://schemas.openxmlformats.org/drawingml/2006/main">
            <a:r>
              <a:t>4. Vier Rollen wählen; Einleitungen liest die Lehrkraft. Vor jeder Version zurück zum Ausgangspunkt: Projekt nicht fertig. Drei alternative Antworten, keine drei aufeinanderfolgenden Ereignisse.</a:t>
            </a:r>
          </a:p>
          <a:p xmlns:a="http://schemas.openxmlformats.org/drawingml/2006/main">
            <a:r>
              <a:t>5. Paare und Viererteams bilden. In unvollständigem Team liest einer zwei Informationen. Persönliches Blatt bleibt beim Teilnehmer. Jeder Übung darf ein erfundener Fall zugrunde liegen.</a:t>
            </a:r>
          </a:p>
          <a:p xmlns:a="http://schemas.openxmlformats.org/drawingml/2006/main">
            <a:r>
              <a:t>Zentrale Hinweise</a:t>
            </a:r>
          </a:p>
          <a:p xmlns:a="http://schemas.openxmlformats.org/drawingml/2006/main">
            <a:r>
              <a:t>1. Grundlage Epheser 4,25. Verse 25–32 zusammen lesen: Wahrheit, gute Rede und Mitgefühl gehören zu demselben Leben in Christus. Keine Debatte, in der Grausamkeit oder Täuschung gewählt werden müssen.</a:t>
            </a:r>
          </a:p>
          <a:p xmlns:a="http://schemas.openxmlformats.org/drawingml/2006/main">
            <a:r>
              <a:t>2. Brief ist Weisung, heutiges Spiel ein eigens verfasstes Beispiel. Sascha, Mischa und Schulprojekt gehören nicht zum biblischen Bericht. Keine im Vers fehlenden Versprechen sofortigen Erfolgs ergänzen.</a:t>
            </a:r>
          </a:p>
          <a:p xmlns:a="http://schemas.openxmlformats.org/drawingml/2006/main">
            <a:r>
              <a:t>3. Lüge ist hier bewusst falsche Mitteilung. Halbwahrheit ist absichtliches Verschweigen, das eine falsche Vorstellung erzeugt. Nicht jede kurze Antwort täuscht; Kartenbedingung und Schluss des Zuhörers beachten.</a:t>
            </a:r>
          </a:p>
          <a:p xmlns:a="http://schemas.openxmlformats.org/drawingml/2006/main">
            <a:r>
              <a:t>4. Sechs Sätze: Lüge Karten 1 und 3, Halbwahrheit 2 und 4, ehrliche Antwort 5 und 6, von links nach rechts, oben nach unten. Schritte Seite 2: 3,1,4,2; Zusammenhänge erklären ist wichtiger als Zahlen raten.</a:t>
            </a:r>
          </a:p>
          <a:p xmlns:a="http://schemas.openxmlformats.org/drawingml/2006/main">
            <a:r>
              <a:t>5. Wahrhaftigkeit verlangt nicht, jedem alle persönlichen Details mitzuteilen. Direkte Weigerung, fremdes Persönliches zu besprechen, und „Ich weiß es noch nicht“ sind ehrlich. Überraschung als „Das ist noch geheim“ benennen. Bei Gefahr oder Schaden Hilfe eines vertrauenswürdigen Erwachsenen suchen.</a:t>
            </a:r>
          </a:p>
          <a:p xmlns:a="http://schemas.openxmlformats.org/drawingml/2006/main">
            <a:r>
              <a:t>6. Wahrheit über konkrete Arbeit braucht keine Etiketten für Menschen. Statt „Du kannst nichts“ sagen, was noch zu tun ist. Reale gelungene Einzelheit und machbare Verbesserung nennen. Zuhörer darf enttäuscht sein; kein Grund, Fakten zu erfinden.</a:t>
            </a:r>
          </a:p>
          <a:p xmlns:a="http://schemas.openxmlformats.org/drawingml/2006/main">
            <a:r>
              <a:t>7. Teamaufgabe braucht Buchprüfung und verlässliche Nachricht. Plan 2 berichtigt Unwahrheit vor ihren Zuhörern; bestätigten Termin mit Lehrkraft klären. Persönliche Gründe müssen nicht öffentlich allen Empfängern erzählt werden.</a:t>
            </a:r>
          </a:p>
          <a:p xmlns:a="http://schemas.openxmlformats.org/drawingml/2006/main">
            <a:r>
              <a:t>8. Bei wirklicher Lüge Berichtigung und machbare Hilfe wählen helfen. Keine öffentliche Beichte. Umkehr umfasst Hinwendung zu Gott und Veränderung der Handlungen; bei Fragen zur Beichte Gespräch mit Priester anbieten. Am Ende Erklärung der Halbwahrheit und konkreten ehrlichen Schritt prüfen.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Worte berichtigen und helfen — 4 Minuten.</a:t>
            </a:r>
          </a:p>
          <a:p xmlns:a="http://schemas.openxmlformats.org/drawingml/2006/main">
            <a:r>
              <a:t/>
            </a:r>
          </a:p>
          <a:p xmlns:a="http://schemas.openxmlformats.org/drawingml/2006/main">
            <a:r>
              <a:t>Worte: Eine kurze Klarstellung ohne Ausrede schreiben: „Ich habe geschrieben, alles sei bereit, obwohl die Prüfung noch nicht abgeschlossen ist. Das war falsch. Ein Teil der Bücher ist beschädigt. Jetzt prüfen wir die übrigen und stimmen ab, was wir übergeben können“.</a:t>
            </a:r>
          </a:p>
          <a:p xmlns:a="http://schemas.openxmlformats.org/drawingml/2006/main">
            <a:r>
              <a:t>Durchführung: Jedes Paar spricht seine Klarstellung und bietet dann konkrete Hilfe. Partner sagt, was er verstand. Ruhige Antwort auf Vorwurf besprechen: Eigene Worte eingestehen und weiter berichtigen. Keine sofortige Wiederherstellung des Vertrauens garantieren.</a:t>
            </a:r>
          </a:p>
          <a:p xmlns:a="http://schemas.openxmlformats.org/drawingml/2006/main">
            <a:r>
              <a:t>Frage: Wie unterscheidet sich Berichtigung von „Ich wollte doch nur das Beste“?</a:t>
            </a:r>
          </a:p>
          <a:p xmlns:a="http://schemas.openxmlformats.org/drawingml/2006/main">
            <a:r>
              <a:t>Orientierung: Berichtigung nennt die eigene falsche Nachricht und Fakten. Dann ein realer nächster Schritt. Eine gute Absicht lässt sich erklären, hebt aber Verantwortung für Täuschung und Pläne anderer nicht auf.</a:t>
            </a:r>
          </a:p>
          <a:p xmlns:a="http://schemas.openxmlformats.org/drawingml/2006/main">
            <a:r>
              <a:t>Rhythmus: 2 Minuten Klarstellung in Paaren; 2 Minuten Hilfe und kurzer Schluss.</a:t>
            </a:r>
          </a:p>
          <a:p xmlns:a="http://schemas.openxmlformats.org/drawingml/2006/main">
            <a:r>
              <a:t/>
            </a:r>
          </a:p>
          <a:p xmlns:a="http://schemas.openxmlformats.org/drawingml/2006/main">
            <a:r>
              <a:t>Vorbereitung</a:t>
            </a:r>
          </a:p>
          <a:p xmlns:a="http://schemas.openxmlformats.org/drawingml/2006/main">
            <a:r>
              <a:t>1. Zwölf Folien und Moderationsnotizen öffnen. Epheser 4,25–32 vollständig vorbereiten. Sofort nach dem Lesen das Rollenspiel; Besprechung nach allen drei Versionen.</a:t>
            </a:r>
          </a:p>
          <a:p xmlns:a="http://schemas.openxmlformats.org/drawingml/2006/main">
            <a:r>
              <a:t>2. Seite 1 pro Gruppe, Seiten 2,3,5 pro Paar, Seite 4 pro Viererteam, Seite 6 für jeden drucken. Alle Karten und Aufgaben illustriert; Graustufendruck möglich.</a:t>
            </a:r>
          </a:p>
          <a:p xmlns:a="http://schemas.openxmlformats.org/drawingml/2006/main">
            <a:r>
              <a:t>3. Karten vorab ausschneiden; Schreibfelder auf Seiten 3 und 4 zusammenlassen. Stifte. Unfertiges Schulprojekt aus Papier für das Spiel. Neue Wendung erst in Phase 9 mitteilen.</a:t>
            </a:r>
          </a:p>
          <a:p xmlns:a="http://schemas.openxmlformats.org/drawingml/2006/main">
            <a:r>
              <a:t>4. Vier Rollen wählen; Einleitungen liest die Lehrkraft. Vor jeder Version zurück zum Ausgangspunkt: Projekt nicht fertig. Drei alternative Antworten, keine drei aufeinanderfolgenden Ereignisse.</a:t>
            </a:r>
          </a:p>
          <a:p xmlns:a="http://schemas.openxmlformats.org/drawingml/2006/main">
            <a:r>
              <a:t>5. Paare und Viererteams bilden. In unvollständigem Team liest einer zwei Informationen. Persönliches Blatt bleibt beim Teilnehmer. Jeder Übung darf ein erfundener Fall zugrunde liegen.</a:t>
            </a:r>
          </a:p>
          <a:p xmlns:a="http://schemas.openxmlformats.org/drawingml/2006/main">
            <a:r>
              <a:t>Zentrale Hinweise</a:t>
            </a:r>
          </a:p>
          <a:p xmlns:a="http://schemas.openxmlformats.org/drawingml/2006/main">
            <a:r>
              <a:t>1. Grundlage Epheser 4,25. Verse 25–32 zusammen lesen: Wahrheit, gute Rede und Mitgefühl gehören zu demselben Leben in Christus. Keine Debatte, in der Grausamkeit oder Täuschung gewählt werden müssen.</a:t>
            </a:r>
          </a:p>
          <a:p xmlns:a="http://schemas.openxmlformats.org/drawingml/2006/main">
            <a:r>
              <a:t>2. Brief ist Weisung, heutiges Spiel ein eigens verfasstes Beispiel. Sascha, Mischa und Schulprojekt gehören nicht zum biblischen Bericht. Keine im Vers fehlenden Versprechen sofortigen Erfolgs ergänzen.</a:t>
            </a:r>
          </a:p>
          <a:p xmlns:a="http://schemas.openxmlformats.org/drawingml/2006/main">
            <a:r>
              <a:t>3. Lüge ist hier bewusst falsche Mitteilung. Halbwahrheit ist absichtliches Verschweigen, das eine falsche Vorstellung erzeugt. Nicht jede kurze Antwort täuscht; Kartenbedingung und Schluss des Zuhörers beachten.</a:t>
            </a:r>
          </a:p>
          <a:p xmlns:a="http://schemas.openxmlformats.org/drawingml/2006/main">
            <a:r>
              <a:t>4. Sechs Sätze: Lüge Karten 1 und 3, Halbwahrheit 2 und 4, ehrliche Antwort 5 und 6, von links nach rechts, oben nach unten. Schritte Seite 2: 3,1,4,2; Zusammenhänge erklären ist wichtiger als Zahlen raten.</a:t>
            </a:r>
          </a:p>
          <a:p xmlns:a="http://schemas.openxmlformats.org/drawingml/2006/main">
            <a:r>
              <a:t>5. Wahrhaftigkeit verlangt nicht, jedem alle persönlichen Details mitzuteilen. Direkte Weigerung, fremdes Persönliches zu besprechen, und „Ich weiß es noch nicht“ sind ehrlich. Überraschung als „Das ist noch geheim“ benennen. Bei Gefahr oder Schaden Hilfe eines vertrauenswürdigen Erwachsenen suchen.</a:t>
            </a:r>
          </a:p>
          <a:p xmlns:a="http://schemas.openxmlformats.org/drawingml/2006/main">
            <a:r>
              <a:t>6. Wahrheit über konkrete Arbeit braucht keine Etiketten für Menschen. Statt „Du kannst nichts“ sagen, was noch zu tun ist. Reale gelungene Einzelheit und machbare Verbesserung nennen. Zuhörer darf enttäuscht sein; kein Grund, Fakten zu erfinden.</a:t>
            </a:r>
          </a:p>
          <a:p xmlns:a="http://schemas.openxmlformats.org/drawingml/2006/main">
            <a:r>
              <a:t>7. Teamaufgabe braucht Buchprüfung und verlässliche Nachricht. Plan 2 berichtigt Unwahrheit vor ihren Zuhörern; bestätigten Termin mit Lehrkraft klären. Persönliche Gründe müssen nicht öffentlich allen Empfängern erzählt werden.</a:t>
            </a:r>
          </a:p>
          <a:p xmlns:a="http://schemas.openxmlformats.org/drawingml/2006/main">
            <a:r>
              <a:t>8. Bei wirklicher Lüge Berichtigung und machbare Hilfe wählen helfen. Keine öffentliche Beichte. Umkehr umfasst Hinwendung zu Gott und Veränderung der Handlungen; bei Fragen zur Beichte Gespräch mit Priester anbieten. Am Ende Erklärung der Halbwahrheit und konkreten ehrlichen Schritt prüfen.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 Mein ehrlicher Schritt — 3 Minuten.</a:t>
            </a:r>
          </a:p>
          <a:p xmlns:a="http://schemas.openxmlformats.org/drawingml/2006/main">
            <a:r>
              <a:t/>
            </a:r>
          </a:p>
          <a:p xmlns:a="http://schemas.openxmlformats.org/drawingml/2006/main">
            <a:r>
              <a:t>Worte: Wähle einen echten oder erfundenen Fall. Welche Informationen kennst du, was könnte der Zuhörer verstehen und wie ehrlich antworten? Wenn Unwahrheit schon gesagt wurde, schreibe, wem du sie berichtigst. Blatt bleibt bei dir.</a:t>
            </a:r>
          </a:p>
          <a:p xmlns:a="http://schemas.openxmlformats.org/drawingml/2006/main">
            <a:r>
              <a:t>Durchführung: Sechs Felder ausfüllen. Nur gewählten Satz vorlesen ist möglich. Dann kurze Stille und eigens verfasstes Gebet. Persönliche Details nicht in der Gruppe besprechen.</a:t>
            </a:r>
          </a:p>
          <a:p xmlns:a="http://schemas.openxmlformats.org/drawingml/2006/main">
            <a:r>
              <a:t>Frage: Welche Worte und welche Handlung wähle ich in der nächsten ähnlichen Situation?</a:t>
            </a:r>
          </a:p>
          <a:p xmlns:a="http://schemas.openxmlformats.org/drawingml/2006/main">
            <a:r>
              <a:t>Orientierung: Fakt prüfen; „Ich weiß es nicht“ sagen; Persönliches benennen; Unfertigkeit ehrlich nennen; frühere Nachricht berichtigen und Hilfe anbieten. Hinwendung zu Gott und Umkehr unterstützen den Beginn der Berichtigung.</a:t>
            </a:r>
          </a:p>
          <a:p xmlns:a="http://schemas.openxmlformats.org/drawingml/2006/main">
            <a:r>
              <a:t>Rhythmus: 2 Minuten persönliches Blatt; 1 Minute Stille und Gebet.</a:t>
            </a:r>
          </a:p>
          <a:p xmlns:a="http://schemas.openxmlformats.org/drawingml/2006/main">
            <a:r>
              <a:t/>
            </a:r>
          </a:p>
          <a:p xmlns:a="http://schemas.openxmlformats.org/drawingml/2006/main">
            <a:r>
              <a:t>Vorbereitung</a:t>
            </a:r>
          </a:p>
          <a:p xmlns:a="http://schemas.openxmlformats.org/drawingml/2006/main">
            <a:r>
              <a:t>1. Zwölf Folien und Moderationsnotizen öffnen. Epheser 4,25–32 vollständig vorbereiten. Sofort nach dem Lesen das Rollenspiel; Besprechung nach allen drei Versionen.</a:t>
            </a:r>
          </a:p>
          <a:p xmlns:a="http://schemas.openxmlformats.org/drawingml/2006/main">
            <a:r>
              <a:t>2. Seite 1 pro Gruppe, Seiten 2,3,5 pro Paar, Seite 4 pro Viererteam, Seite 6 für jeden drucken. Alle Karten und Aufgaben illustriert; Graustufendruck möglich.</a:t>
            </a:r>
          </a:p>
          <a:p xmlns:a="http://schemas.openxmlformats.org/drawingml/2006/main">
            <a:r>
              <a:t>3. Karten vorab ausschneiden; Schreibfelder auf Seiten 3 und 4 zusammenlassen. Stifte. Unfertiges Schulprojekt aus Papier für das Spiel. Neue Wendung erst in Phase 9 mitteilen.</a:t>
            </a:r>
          </a:p>
          <a:p xmlns:a="http://schemas.openxmlformats.org/drawingml/2006/main">
            <a:r>
              <a:t>4. Vier Rollen wählen; Einleitungen liest die Lehrkraft. Vor jeder Version zurück zum Ausgangspunkt: Projekt nicht fertig. Drei alternative Antworten, keine drei aufeinanderfolgenden Ereignisse.</a:t>
            </a:r>
          </a:p>
          <a:p xmlns:a="http://schemas.openxmlformats.org/drawingml/2006/main">
            <a:r>
              <a:t>5. Paare und Viererteams bilden. In unvollständigem Team liest einer zwei Informationen. Persönliches Blatt bleibt beim Teilnehmer. Jeder Übung darf ein erfundener Fall zugrunde liegen.</a:t>
            </a:r>
          </a:p>
          <a:p xmlns:a="http://schemas.openxmlformats.org/drawingml/2006/main">
            <a:r>
              <a:t>Zentrale Hinweise</a:t>
            </a:r>
          </a:p>
          <a:p xmlns:a="http://schemas.openxmlformats.org/drawingml/2006/main">
            <a:r>
              <a:t>1. Grundlage Epheser 4,25. Verse 25–32 zusammen lesen: Wahrheit, gute Rede und Mitgefühl gehören zu demselben Leben in Christus. Keine Debatte, in der Grausamkeit oder Täuschung gewählt werden müssen.</a:t>
            </a:r>
          </a:p>
          <a:p xmlns:a="http://schemas.openxmlformats.org/drawingml/2006/main">
            <a:r>
              <a:t>2. Brief ist Weisung, heutiges Spiel ein eigens verfasstes Beispiel. Sascha, Mischa und Schulprojekt gehören nicht zum biblischen Bericht. Keine im Vers fehlenden Versprechen sofortigen Erfolgs ergänzen.</a:t>
            </a:r>
          </a:p>
          <a:p xmlns:a="http://schemas.openxmlformats.org/drawingml/2006/main">
            <a:r>
              <a:t>3. Lüge ist hier bewusst falsche Mitteilung. Halbwahrheit ist absichtliches Verschweigen, das eine falsche Vorstellung erzeugt. Nicht jede kurze Antwort täuscht; Kartenbedingung und Schluss des Zuhörers beachten.</a:t>
            </a:r>
          </a:p>
          <a:p xmlns:a="http://schemas.openxmlformats.org/drawingml/2006/main">
            <a:r>
              <a:t>4. Sechs Sätze: Lüge Karten 1 und 3, Halbwahrheit 2 und 4, ehrliche Antwort 5 und 6, von links nach rechts, oben nach unten. Schritte Seite 2: 3,1,4,2; Zusammenhänge erklären ist wichtiger als Zahlen raten.</a:t>
            </a:r>
          </a:p>
          <a:p xmlns:a="http://schemas.openxmlformats.org/drawingml/2006/main">
            <a:r>
              <a:t>5. Wahrhaftigkeit verlangt nicht, jedem alle persönlichen Details mitzuteilen. Direkte Weigerung, fremdes Persönliches zu besprechen, und „Ich weiß es noch nicht“ sind ehrlich. Überraschung als „Das ist noch geheim“ benennen. Bei Gefahr oder Schaden Hilfe eines vertrauenswürdigen Erwachsenen suchen.</a:t>
            </a:r>
          </a:p>
          <a:p xmlns:a="http://schemas.openxmlformats.org/drawingml/2006/main">
            <a:r>
              <a:t>6. Wahrheit über konkrete Arbeit braucht keine Etiketten für Menschen. Statt „Du kannst nichts“ sagen, was noch zu tun ist. Reale gelungene Einzelheit und machbare Verbesserung nennen. Zuhörer darf enttäuscht sein; kein Grund, Fakten zu erfinden.</a:t>
            </a:r>
          </a:p>
          <a:p xmlns:a="http://schemas.openxmlformats.org/drawingml/2006/main">
            <a:r>
              <a:t>7. Teamaufgabe braucht Buchprüfung und verlässliche Nachricht. Plan 2 berichtigt Unwahrheit vor ihren Zuhörern; bestätigten Termin mit Lehrkraft klären. Persönliche Gründe müssen nicht öffentlich allen Empfängern erzählt werden.</a:t>
            </a:r>
          </a:p>
          <a:p xmlns:a="http://schemas.openxmlformats.org/drawingml/2006/main">
            <a:r>
              <a:t>8. Bei wirklicher Lüge Berichtigung und machbare Hilfe wählen helfen. Keine öffentliche Beichte. Umkehr umfasst Hinwendung zu Gott und Veränderung der Handlungen; bei Fragen zur Beichte Gespräch mit Priester anbieten. Am Ende Erklärung der Halbwahrheit und konkreten ehrlichen Schritt prüfen.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 Wahrheit und eine gute Tat — 2 Minuten.</a:t>
            </a:r>
          </a:p>
          <a:p xmlns:a="http://schemas.openxmlformats.org/drawingml/2006/main">
            <a:r>
              <a:t/>
            </a:r>
          </a:p>
          <a:p xmlns:a="http://schemas.openxmlformats.org/drawingml/2006/main">
            <a:r>
              <a:t>Worte: Zwei Sätze beenden: „Eine Halbwahrheit führt in die Irre, wenn…“ und „Statt für einen Freund zu täuschen, kann ich…“. Konkrete Hilfe nennen.</a:t>
            </a:r>
          </a:p>
          <a:p xmlns:a="http://schemas.openxmlformats.org/drawingml/2006/main">
            <a:r>
              <a:t>Durchführung: Zwei kurze Antworten hören. Jeder notiert ersten Schritt und Zeitpunkt. Beim nächsten Treffen freiwillig erzählen lassen, ob Wahrheit sagen gelang und wo noch Hilfe nötig ist.</a:t>
            </a:r>
          </a:p>
          <a:p xmlns:a="http://schemas.openxmlformats.org/drawingml/2006/main">
            <a:r>
              <a:t>Frage: Wie sind Wahrheit und Sorge für den Nächsten verbunden?</a:t>
            </a:r>
          </a:p>
          <a:p xmlns:a="http://schemas.openxmlformats.org/drawingml/2006/main">
            <a:r>
              <a:t>Orientierung: Der andere braucht wahrheitsgemäße Informationen und behutsamen Umgang. Ihn unterstützen, durch Handeln helfen und Persönliches bewahren, indem die Grenze direkt genannt wird. Nach einer Lüge steht der Weg zur Berichtigung offen.</a:t>
            </a:r>
          </a:p>
          <a:p xmlns:a="http://schemas.openxmlformats.org/drawingml/2006/main">
            <a:r>
              <a:t>Rhythmus: 1 Minute zwei Antworten; 1 Minute Schritt und Abschluss.</a:t>
            </a:r>
          </a:p>
          <a:p xmlns:a="http://schemas.openxmlformats.org/drawingml/2006/main">
            <a:r>
              <a:t/>
            </a:r>
          </a:p>
          <a:p xmlns:a="http://schemas.openxmlformats.org/drawingml/2006/main">
            <a:r>
              <a:t>Vorbereitung</a:t>
            </a:r>
          </a:p>
          <a:p xmlns:a="http://schemas.openxmlformats.org/drawingml/2006/main">
            <a:r>
              <a:t>1. Zwölf Folien und Moderationsnotizen öffnen. Epheser 4,25–32 vollständig vorbereiten. Sofort nach dem Lesen das Rollenspiel; Besprechung nach allen drei Versionen.</a:t>
            </a:r>
          </a:p>
          <a:p xmlns:a="http://schemas.openxmlformats.org/drawingml/2006/main">
            <a:r>
              <a:t>2. Seite 1 pro Gruppe, Seiten 2,3,5 pro Paar, Seite 4 pro Viererteam, Seite 6 für jeden drucken. Alle Karten und Aufgaben illustriert; Graustufendruck möglich.</a:t>
            </a:r>
          </a:p>
          <a:p xmlns:a="http://schemas.openxmlformats.org/drawingml/2006/main">
            <a:r>
              <a:t>3. Karten vorab ausschneiden; Schreibfelder auf Seiten 3 und 4 zusammenlassen. Stifte. Unfertiges Schulprojekt aus Papier für das Spiel. Neue Wendung erst in Phase 9 mitteilen.</a:t>
            </a:r>
          </a:p>
          <a:p xmlns:a="http://schemas.openxmlformats.org/drawingml/2006/main">
            <a:r>
              <a:t>4. Vier Rollen wählen; Einleitungen liest die Lehrkraft. Vor jeder Version zurück zum Ausgangspunkt: Projekt nicht fertig. Drei alternative Antworten, keine drei aufeinanderfolgenden Ereignisse.</a:t>
            </a:r>
          </a:p>
          <a:p xmlns:a="http://schemas.openxmlformats.org/drawingml/2006/main">
            <a:r>
              <a:t>5. Paare und Viererteams bilden. In unvollständigem Team liest einer zwei Informationen. Persönliches Blatt bleibt beim Teilnehmer. Jeder Übung darf ein erfundener Fall zugrunde liegen.</a:t>
            </a:r>
          </a:p>
          <a:p xmlns:a="http://schemas.openxmlformats.org/drawingml/2006/main">
            <a:r>
              <a:t>Zentrale Hinweise</a:t>
            </a:r>
          </a:p>
          <a:p xmlns:a="http://schemas.openxmlformats.org/drawingml/2006/main">
            <a:r>
              <a:t>1. Grundlage Epheser 4,25. Verse 25–32 zusammen lesen: Wahrheit, gute Rede und Mitgefühl gehören zu demselben Leben in Christus. Keine Debatte, in der Grausamkeit oder Täuschung gewählt werden müssen.</a:t>
            </a:r>
          </a:p>
          <a:p xmlns:a="http://schemas.openxmlformats.org/drawingml/2006/main">
            <a:r>
              <a:t>2. Brief ist Weisung, heutiges Spiel ein eigens verfasstes Beispiel. Sascha, Mischa und Schulprojekt gehören nicht zum biblischen Bericht. Keine im Vers fehlenden Versprechen sofortigen Erfolgs ergänzen.</a:t>
            </a:r>
          </a:p>
          <a:p xmlns:a="http://schemas.openxmlformats.org/drawingml/2006/main">
            <a:r>
              <a:t>3. Lüge ist hier bewusst falsche Mitteilung. Halbwahrheit ist absichtliches Verschweigen, das eine falsche Vorstellung erzeugt. Nicht jede kurze Antwort täuscht; Kartenbedingung und Schluss des Zuhörers beachten.</a:t>
            </a:r>
          </a:p>
          <a:p xmlns:a="http://schemas.openxmlformats.org/drawingml/2006/main">
            <a:r>
              <a:t>4. Sechs Sätze: Lüge Karten 1 und 3, Halbwahrheit 2 und 4, ehrliche Antwort 5 und 6, von links nach rechts, oben nach unten. Schritte Seite 2: 3,1,4,2; Zusammenhänge erklären ist wichtiger als Zahlen raten.</a:t>
            </a:r>
          </a:p>
          <a:p xmlns:a="http://schemas.openxmlformats.org/drawingml/2006/main">
            <a:r>
              <a:t>5. Wahrhaftigkeit verlangt nicht, jedem alle persönlichen Details mitzuteilen. Direkte Weigerung, fremdes Persönliches zu besprechen, und „Ich weiß es noch nicht“ sind ehrlich. Überraschung als „Das ist noch geheim“ benennen. Bei Gefahr oder Schaden Hilfe eines vertrauenswürdigen Erwachsenen suchen.</a:t>
            </a:r>
          </a:p>
          <a:p xmlns:a="http://schemas.openxmlformats.org/drawingml/2006/main">
            <a:r>
              <a:t>6. Wahrheit über konkrete Arbeit braucht keine Etiketten für Menschen. Statt „Du kannst nichts“ sagen, was noch zu tun ist. Reale gelungene Einzelheit und machbare Verbesserung nennen. Zuhörer darf enttäuscht sein; kein Grund, Fakten zu erfinden.</a:t>
            </a:r>
          </a:p>
          <a:p xmlns:a="http://schemas.openxmlformats.org/drawingml/2006/main">
            <a:r>
              <a:t>7. Teamaufgabe braucht Buchprüfung und verlässliche Nachricht. Plan 2 berichtigt Unwahrheit vor ihren Zuhörern; bestätigten Termin mit Lehrkraft klären. Persönliche Gründe müssen nicht öffentlich allen Empfängern erzählt werden.</a:t>
            </a:r>
          </a:p>
          <a:p xmlns:a="http://schemas.openxmlformats.org/drawingml/2006/main">
            <a:r>
              <a:t>8. Bei wirklicher Lüge Berichtigung und machbare Hilfe wählen helfen. Keine öffentliche Beichte. Umkehr umfasst Hinwendung zu Gott und Veränderung der Handlungen; bei Fragen zur Beichte Gespräch mit Priester anbieten. Am Ende Erklärung der Halbwahrheit und konkreten ehrlichen Schritt prüfen.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13fbbbc61a64ed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d3409cf486b4cf5" /><Relationship Type="http://schemas.openxmlformats.org/officeDocument/2006/relationships/slideLayout" Target="/ppt/slideLayouts/slideLayout1.xml" Id="Rc62f92c096a24c8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62f92c096a24c8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29fe98b787a4275" /><Relationship Type="http://schemas.openxmlformats.org/officeDocument/2006/relationships/image" Target="/ppt/media/image.jpeg" Id="Rafe8dddabde64b7c" /><Relationship Type="http://schemas.openxmlformats.org/officeDocument/2006/relationships/notesSlide" Target="/ppt/notesSlides/notesSlide1.xml" Id="R036c160fb0034ec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d9fb97d056940ac" /><Relationship Type="http://schemas.openxmlformats.org/officeDocument/2006/relationships/image" Target="/ppt/media/image2.jpeg" Id="Rd14de083124f4506" /><Relationship Type="http://schemas.openxmlformats.org/officeDocument/2006/relationships/notesSlide" Target="/ppt/notesSlides/notesSlide2.xml" Id="Rd33c2e4716b741a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ad9a821f3d54013" /><Relationship Type="http://schemas.openxmlformats.org/officeDocument/2006/relationships/image" Target="/ppt/media/image3.jpeg" Id="R504b03a2f1c34427" /><Relationship Type="http://schemas.openxmlformats.org/officeDocument/2006/relationships/notesSlide" Target="/ppt/notesSlides/notesSlide3.xml" Id="R345b928f132646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f50778e10604571" /><Relationship Type="http://schemas.openxmlformats.org/officeDocument/2006/relationships/image" Target="/ppt/media/image4.jpeg" Id="R7f37a6d495444330" /><Relationship Type="http://schemas.openxmlformats.org/officeDocument/2006/relationships/notesSlide" Target="/ppt/notesSlides/notesSlide4.xml" Id="R3dce93158321421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1d59980d2464738" /><Relationship Type="http://schemas.openxmlformats.org/officeDocument/2006/relationships/image" Target="/ppt/media/image5.jpeg" Id="R49afee987e93418d" /><Relationship Type="http://schemas.openxmlformats.org/officeDocument/2006/relationships/notesSlide" Target="/ppt/notesSlides/notesSlide5.xml" Id="R675fc22c1b094bc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f36924498744bc7" /><Relationship Type="http://schemas.openxmlformats.org/officeDocument/2006/relationships/image" Target="/ppt/media/image6.jpeg" Id="Rf1639fb7a58a46b3" /><Relationship Type="http://schemas.openxmlformats.org/officeDocument/2006/relationships/notesSlide" Target="/ppt/notesSlides/notesSlide6.xml" Id="R733e0dc4d21341b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17d55766cb94d11" /><Relationship Type="http://schemas.openxmlformats.org/officeDocument/2006/relationships/image" Target="/ppt/media/image7.jpeg" Id="R3957d5cc53184d7e" /><Relationship Type="http://schemas.openxmlformats.org/officeDocument/2006/relationships/notesSlide" Target="/ppt/notesSlides/notesSlide7.xml" Id="R27802d1b73d04f7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e1116d57ead48e5" /><Relationship Type="http://schemas.openxmlformats.org/officeDocument/2006/relationships/image" Target="/ppt/media/image8.jpeg" Id="R7f790dc246db4c46" /><Relationship Type="http://schemas.openxmlformats.org/officeDocument/2006/relationships/notesSlide" Target="/ppt/notesSlides/notesSlide8.xml" Id="Re6c3c521e8ff41f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1fd5c2c1e1945e1" /><Relationship Type="http://schemas.openxmlformats.org/officeDocument/2006/relationships/image" Target="/ppt/media/image9.jpeg" Id="Racdf2ad5463246b9" /><Relationship Type="http://schemas.openxmlformats.org/officeDocument/2006/relationships/notesSlide" Target="/ppt/notesSlides/notesSlide9.xml" Id="R5732235bdf2b48f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34ecbbf2487434e" /><Relationship Type="http://schemas.openxmlformats.org/officeDocument/2006/relationships/image" Target="/ppt/media/image10.jpeg" Id="R219e775b865c4c2d" /><Relationship Type="http://schemas.openxmlformats.org/officeDocument/2006/relationships/notesSlide" Target="/ppt/notesSlides/notesSlide10.xml" Id="Rcd3a2aecedda4ef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1140bc701c84146" /><Relationship Type="http://schemas.openxmlformats.org/officeDocument/2006/relationships/image" Target="/ppt/media/image11.jpeg" Id="R9c223b96b81f4ca4" /><Relationship Type="http://schemas.openxmlformats.org/officeDocument/2006/relationships/notesSlide" Target="/ppt/notesSlides/notesSlide11.xml" Id="Rc3a3fc9a3d4b4ab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4e8879de67a42cb" /><Relationship Type="http://schemas.openxmlformats.org/officeDocument/2006/relationships/image" Target="/ppt/media/image12.jpeg" Id="R434146a886bb427a" /><Relationship Type="http://schemas.openxmlformats.org/officeDocument/2006/relationships/notesSlide" Target="/ppt/notesSlides/notesSlide12.xml" Id="R90e50f15a3af4838" /></Relationships>
</file>

<file path=ppt/slides/slide1.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FC077E8-6B12-41C9-903A-A72F209CDA3F}"/>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Darf man für etwas Gutes lügen?</a:t>
            </a:r>
          </a:p>
        </p:txBody>
      </p:sp>
      <p:sp>
        <p:nvSpPr>
          <p:cNvPr id="2" name="">
            <a:extLst xmlns:a="http://schemas.openxmlformats.org/drawingml/2006/main">
              <a:ext uri="{FF2B5EF4-FFF2-40B4-BE49-F238E27FC236}">
                <a16:creationId xmlns:a16="http://schemas.microsoft.com/office/drawing/2014/main" id="{8E7740C5-5BE7-40CF-9C1A-FD75F8C9FC20}"/>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Lüge und Halbwahrheit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Wahrheit und Verantwortung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12–15 Jahre · 45 Minuten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fe8dddabde64b7c"/>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2C043E1-5E87-4E30-A102-B3897A5FC249}"/>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Epheser 4,25–32</a:t>
            </a:r>
          </a:p>
        </p:txBody>
      </p:sp>
      <p:sp>
        <p:nvSpPr>
          <p:cNvPr id="5" name="">
            <a:extLst xmlns:a="http://schemas.openxmlformats.org/drawingml/2006/main">
              <a:ext uri="{FF2B5EF4-FFF2-40B4-BE49-F238E27FC236}">
                <a16:creationId xmlns:a16="http://schemas.microsoft.com/office/drawing/2014/main" id="{F9ECB6CD-03ED-4AFC-BD04-7BC04C81BA89}"/>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 / 12</a:t>
            </a:r>
          </a:p>
        </p:txBody>
      </p:sp>
    </p:spTree>
    <p:extLst>
      <p:ext uri="{BB962C8B-B14F-4D97-AF65-F5344CB8AC3E}">
        <p14:creationId xmlns:p14="http://schemas.microsoft.com/office/powerpoint/2010/main" val="309157063"/>
      </p:ext>
    </p:extLst>
  </p:cSld>
</p:sld>
</file>

<file path=ppt/slides/slide2.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1747E5C-F2D8-4268-BBA4-48F677EF4000}"/>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Sprecht die Wahrheit mit eurem Nächsten</a:t>
            </a:r>
          </a:p>
        </p:txBody>
      </p:sp>
      <p:sp>
        <p:nvSpPr>
          <p:cNvPr id="2" name="">
            <a:extLst xmlns:a="http://schemas.openxmlformats.org/drawingml/2006/main">
              <a:ext uri="{FF2B5EF4-FFF2-40B4-BE49-F238E27FC236}">
                <a16:creationId xmlns:a16="http://schemas.microsoft.com/office/drawing/2014/main" id="{98AB3A90-9F8E-4F1B-ACFC-C7207FA793DE}"/>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„Darum legt die Lüge ab und sprecht die Wahrheit, jeder mit seinem Nächsten, denn wir sind Glieder voneinander“.</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Epheser 4,25</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Wir lesen Epheser 4,25–32.</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Sofort nach allen acht Versen folgt das Rollenspiel.</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14de083124f4506"/>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69F9835-5922-4358-8E03-45D97A987A1F}"/>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2 / 12</a:t>
            </a:r>
          </a:p>
        </p:txBody>
      </p:sp>
    </p:spTree>
    <p:extLst>
      <p:ext uri="{BB962C8B-B14F-4D97-AF65-F5344CB8AC3E}">
        <p14:creationId xmlns:p14="http://schemas.microsoft.com/office/powerpoint/2010/main" val="1977588333"/>
      </p:ext>
    </p:extLst>
  </p:cSld>
</p:sld>
</file>

<file path=ppt/slides/slide3.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84E626A-9899-4DC1-AED8-A81C14D34B89}"/>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Eine Situation, drei Antworten</a:t>
            </a:r>
          </a:p>
        </p:txBody>
      </p:sp>
      <p:sp>
        <p:nvSpPr>
          <p:cNvPr id="2" name="">
            <a:extLst xmlns:a="http://schemas.openxmlformats.org/drawingml/2006/main">
              <a:ext uri="{FF2B5EF4-FFF2-40B4-BE49-F238E27FC236}">
                <a16:creationId xmlns:a16="http://schemas.microsoft.com/office/drawing/2014/main" id="{8D76B0BF-48A8-44B1-830C-C66A4945CC52}"/>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Dasselbe Projekt ist noch nicht fertig.</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„Ja, alles ist fertig“.</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„Er hat den ganzen Abend gearbeitet“.</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„Es ist noch nicht fertig.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Ich helfe“.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Vier Rollen. Besprechung nach der dritten Version.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04b03a2f1c34427"/>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8BE4342-C9FC-4A1E-A272-9AA81B00BC68}"/>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3 / 12</a:t>
            </a:r>
          </a:p>
        </p:txBody>
      </p:sp>
    </p:spTree>
    <p:extLst>
      <p:ext uri="{BB962C8B-B14F-4D97-AF65-F5344CB8AC3E}">
        <p14:creationId xmlns:p14="http://schemas.microsoft.com/office/powerpoint/2010/main" val="1945439271"/>
      </p:ext>
    </p:extLst>
  </p:cSld>
</p:sld>
</file>

<file path=ppt/slides/slide4.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6CDDA79-B9B3-4CED-918D-FEB4BD4CB860}"/>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Absicht und Folgen</a:t>
            </a:r>
          </a:p>
        </p:txBody>
      </p:sp>
      <p:sp>
        <p:nvSpPr>
          <p:cNvPr id="2" name="">
            <a:extLst xmlns:a="http://schemas.openxmlformats.org/drawingml/2006/main">
              <a:ext uri="{FF2B5EF4-FFF2-40B4-BE49-F238E27FC236}">
                <a16:creationId xmlns:a16="http://schemas.microsoft.com/office/drawing/2014/main" id="{3E9B9BE7-E6C3-42DB-AC58-50D75A1BACF8}"/>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wollte Mischa?</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verstand Anja?</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begann sie zu planen?</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Sind die Worte wahr?</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Welchen Eindruck</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erzeugen sie?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Eine ehrliche Antwort hilft dem anderen, eine Entscheidung zu treffen.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f37a6d495444330"/>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2FEFCCE-5E14-4BD9-985A-EFD28DC4FA87}"/>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4 / 12</a:t>
            </a:r>
          </a:p>
        </p:txBody>
      </p:sp>
    </p:spTree>
    <p:extLst>
      <p:ext uri="{BB962C8B-B14F-4D97-AF65-F5344CB8AC3E}">
        <p14:creationId xmlns:p14="http://schemas.microsoft.com/office/powerpoint/2010/main" val="2091167220"/>
      </p:ext>
    </p:extLst>
  </p:cSld>
</p:sld>
</file>

<file path=ppt/slides/slide5.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B9F148A-B385-4C83-B024-8E23616E1788}"/>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Lüge, Halbwahrheit, ehrliche Antwort</a:t>
            </a:r>
          </a:p>
        </p:txBody>
      </p:sp>
      <p:sp>
        <p:nvSpPr>
          <p:cNvPr id="2" name="">
            <a:extLst xmlns:a="http://schemas.openxmlformats.org/drawingml/2006/main">
              <a:ext uri="{FF2B5EF4-FFF2-40B4-BE49-F238E27FC236}">
                <a16:creationId xmlns:a16="http://schemas.microsoft.com/office/drawing/2014/main" id="{E373E1EF-25D1-4322-917F-5E5A3E0076D0}"/>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Lüge.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Halbwahrheit.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Ehrliche Antwort.</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„Das ist persönlich.</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Ich werde darüber nicht sprechen“.</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wird der Zuhörer verstehen?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Beachtet die Bedingung der Karte und die Absicht des Sprechers.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9afee987e93418d"/>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64F68FD-F58F-491A-ABC3-C3183684601C}"/>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5 / 12</a:t>
            </a:r>
          </a:p>
        </p:txBody>
      </p:sp>
    </p:spTree>
    <p:extLst>
      <p:ext uri="{BB962C8B-B14F-4D97-AF65-F5344CB8AC3E}">
        <p14:creationId xmlns:p14="http://schemas.microsoft.com/office/powerpoint/2010/main" val="1474603184"/>
      </p:ext>
    </p:extLst>
  </p:cSld>
</p:sld>
</file>

<file path=ppt/slides/slide6.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F08A4D4-171B-4FD4-AF7B-83FAE9CE4669}"/>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Wahrheit ohne verletzende Worte</a:t>
            </a:r>
          </a:p>
        </p:txBody>
      </p:sp>
      <p:sp>
        <p:nvSpPr>
          <p:cNvPr id="2" name="">
            <a:extLst xmlns:a="http://schemas.openxmlformats.org/drawingml/2006/main">
              <a:ext uri="{FF2B5EF4-FFF2-40B4-BE49-F238E27FC236}">
                <a16:creationId xmlns:a16="http://schemas.microsoft.com/office/drawing/2014/main" id="{F3E71B5E-359B-4689-A790-020FD5B875C9}"/>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Fakt: Ein Teil ist noch nicht fertig.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Antwort: „Noch nicht fertig“.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Hilfe: „Ich kann…“.</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Sage es mit eigenen Worten.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Der Partner wiederholt,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wie er die Antwort verstanden hat.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Konkreter Fakt, behutsame Worte, machbare Hilfe.</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1639fb7a58a46b3"/>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B7A14DA-CC76-4193-8332-97610C54E704}"/>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6 / 12</a:t>
            </a:r>
          </a:p>
        </p:txBody>
      </p:sp>
    </p:spTree>
    <p:extLst>
      <p:ext uri="{BB962C8B-B14F-4D97-AF65-F5344CB8AC3E}">
        <p14:creationId xmlns:p14="http://schemas.microsoft.com/office/powerpoint/2010/main" val="1491562470"/>
      </p:ext>
    </p:extLst>
  </p:cSld>
</p:sld>
</file>

<file path=ppt/slides/slide7.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2B6D635-89E6-434D-BCA6-B398FEC61F02}"/>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Helfen ohne Täuschung</a:t>
            </a:r>
          </a:p>
        </p:txBody>
      </p:sp>
      <p:sp>
        <p:nvSpPr>
          <p:cNvPr id="2" name="">
            <a:extLst xmlns:a="http://schemas.openxmlformats.org/drawingml/2006/main">
              <a:ext uri="{FF2B5EF4-FFF2-40B4-BE49-F238E27FC236}">
                <a16:creationId xmlns:a16="http://schemas.microsoft.com/office/drawing/2014/main" id="{8D19C6EF-DDE6-4813-880E-423AE7FC1A55}"/>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Bücher für die Jüngeren.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Die Prüfung ist noch nicht abgeschlossen.</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 Freund schlägt vor zu sagen: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„Alles ist fertig“.</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Jeder hat eine Information.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Hört alle an.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Erster Plan. Die neue Bedingung kommt später.</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957d5cc53184d7e"/>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03B19CA-2AEB-4E26-B680-A0E63152EE0C}"/>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7 / 12</a:t>
            </a:r>
          </a:p>
        </p:txBody>
      </p:sp>
    </p:spTree>
    <p:extLst>
      <p:ext uri="{BB962C8B-B14F-4D97-AF65-F5344CB8AC3E}">
        <p14:creationId xmlns:p14="http://schemas.microsoft.com/office/powerpoint/2010/main" val="1221045390"/>
      </p:ext>
    </p:extLst>
  </p:cSld>
</p:sld>
</file>

<file path=ppt/slides/slide8.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B6D46BE-FA59-41C1-AF9C-D024AADF05E4}"/>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Eine Antwort, auf die man sich verlassen kann</a:t>
            </a:r>
          </a:p>
        </p:txBody>
      </p:sp>
      <p:sp>
        <p:nvSpPr>
          <p:cNvPr id="2" name="">
            <a:extLst xmlns:a="http://schemas.openxmlformats.org/drawingml/2006/main">
              <a:ext uri="{FF2B5EF4-FFF2-40B4-BE49-F238E27FC236}">
                <a16:creationId xmlns:a16="http://schemas.microsoft.com/office/drawing/2014/main" id="{57BC463D-2139-4530-995D-0DF53228DA2A}"/>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Die Prüfung ist noch nicht abgeschlossen.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Es gibt beschädigte Bücher.</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der Lehrkraft mitteilen?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ist noch unbekannt?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Welche Hilfe anbieten?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Trennt Bekanntes von Ungeprüftem.</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f790dc246db4c46"/>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2BBF807-CEBE-4147-BC74-922B823CEADF}"/>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8 / 12</a:t>
            </a:r>
          </a:p>
        </p:txBody>
      </p:sp>
    </p:spTree>
    <p:extLst>
      <p:ext uri="{BB962C8B-B14F-4D97-AF65-F5344CB8AC3E}">
        <p14:creationId xmlns:p14="http://schemas.microsoft.com/office/powerpoint/2010/main" val="327177991"/>
      </p:ext>
    </p:extLst>
  </p:cSld>
</p:sld>
</file>

<file path=ppt/slides/slide9.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35F6C4B-0EEC-408F-BC39-2848F814D52D}"/>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Wenn die Unwahrheit schon verschickt ist</a:t>
            </a:r>
          </a:p>
        </p:txBody>
      </p:sp>
      <p:sp>
        <p:nvSpPr>
          <p:cNvPr id="2" name="">
            <a:extLst xmlns:a="http://schemas.openxmlformats.org/drawingml/2006/main">
              <a:ext uri="{FF2B5EF4-FFF2-40B4-BE49-F238E27FC236}">
                <a16:creationId xmlns:a16="http://schemas.microsoft.com/office/drawing/2014/main" id="{745A8402-FF7A-4989-8A4C-29E897ECE2EC}"/>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Im Chat wurde schon geschrieben: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„Alle Bücher sind bereit“.</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Die Lehrkraft hat die Übergabe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für morgen bestätigt.</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 Freund bittet zu schweigen.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ergänzen wir im Plan?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Den ersten Plan behalten. Den zweiten ergänzen.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cdf2ad5463246b9"/>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B6CECC1-11B1-4A70-9D43-FC3015AADC95}"/>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9 / 12</a:t>
            </a:r>
          </a:p>
        </p:txBody>
      </p:sp>
    </p:spTree>
    <p:extLst>
      <p:ext uri="{BB962C8B-B14F-4D97-AF65-F5344CB8AC3E}">
        <p14:creationId xmlns:p14="http://schemas.microsoft.com/office/powerpoint/2010/main" val="1432192795"/>
      </p:ext>
    </p:extLst>
  </p:cSld>
</p:sld>
</file>

<file path=ppt/slides/slide10.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A54CC87-724B-4087-A3F7-EE05F9BF4A15}"/>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Worte berichtigen und helfen</a:t>
            </a:r>
          </a:p>
        </p:txBody>
      </p:sp>
      <p:sp>
        <p:nvSpPr>
          <p:cNvPr id="2" name="">
            <a:extLst xmlns:a="http://schemas.openxmlformats.org/drawingml/2006/main">
              <a:ext uri="{FF2B5EF4-FFF2-40B4-BE49-F238E27FC236}">
                <a16:creationId xmlns:a16="http://schemas.microsoft.com/office/drawing/2014/main" id="{0BF1EC85-35EC-480D-AD79-4ECACB03A780}"/>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„Ich habe geschrieben, alles sei bereit,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obwohl die Prüfung noch nicht abgeschlossen ist.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Das war falsch.</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 Teil der Bücher ist beschädigt.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Jetzt prüfen wir die übrigen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und stimmen ab,</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wir übergeben können“.</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Wie helfe ich durch Handeln?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Berichtigt die Nachricht vor denen, die sie erhalten haben.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19e775b865c4c2d"/>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EC71B50-E7DD-475D-9254-B9CAEB475299}"/>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10 / 12</a:t>
            </a:r>
          </a:p>
        </p:txBody>
      </p:sp>
    </p:spTree>
    <p:extLst>
      <p:ext uri="{BB962C8B-B14F-4D97-AF65-F5344CB8AC3E}">
        <p14:creationId xmlns:p14="http://schemas.microsoft.com/office/powerpoint/2010/main" val="856225515"/>
      </p:ext>
    </p:extLst>
  </p:cSld>
</p:sld>
</file>

<file path=ppt/slides/slide11.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3A615DB-0685-4FE5-A1DC-F808FF2661E1}"/>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Mein ehrlicher Schritt</a:t>
            </a:r>
          </a:p>
        </p:txBody>
      </p:sp>
      <p:sp>
        <p:nvSpPr>
          <p:cNvPr id="2" name="">
            <a:extLst xmlns:a="http://schemas.openxmlformats.org/drawingml/2006/main">
              <a:ext uri="{FF2B5EF4-FFF2-40B4-BE49-F238E27FC236}">
                <a16:creationId xmlns:a16="http://schemas.microsoft.com/office/drawing/2014/main" id="{7F98EC9C-41B5-415A-94FD-52972E0E4985}"/>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Fakt und Unbekanntes.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Schluss des Zuhörers.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Grenze des Persönlichen.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Meine ehrliche Antwort.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Frühere Worte berichtigen.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Hilfe und Zeitpunkt.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Herr Jesus Christus, vergib meine Unwahrheit.</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c223b96b81f4ca4"/>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52D5B11-7B99-4DE8-8AFC-E42A5444F052}"/>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11 / 12</a:t>
            </a:r>
          </a:p>
        </p:txBody>
      </p:sp>
    </p:spTree>
    <p:extLst>
      <p:ext uri="{BB962C8B-B14F-4D97-AF65-F5344CB8AC3E}">
        <p14:creationId xmlns:p14="http://schemas.microsoft.com/office/powerpoint/2010/main" val="65871051"/>
      </p:ext>
    </p:extLst>
  </p:cSld>
</p:sld>
</file>

<file path=ppt/slides/slide12.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4E7D168-0025-4D80-8E0E-CAD4686A1F97}"/>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Wahrheit und eine gute Tat</a:t>
            </a:r>
          </a:p>
        </p:txBody>
      </p:sp>
      <p:sp>
        <p:nvSpPr>
          <p:cNvPr id="2" name="">
            <a:extLst xmlns:a="http://schemas.openxmlformats.org/drawingml/2006/main">
              <a:ext uri="{FF2B5EF4-FFF2-40B4-BE49-F238E27FC236}">
                <a16:creationId xmlns:a16="http://schemas.microsoft.com/office/drawing/2014/main" id="{22F1E650-78DC-4E3A-A70F-9A5E60198589}"/>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„Eine Halbwahrheit führt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in die Irre, wenn…“</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„Statt für einen Freund zu täuschen,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kann ich…“</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Nenne konkrete Hilfe.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Wahrheit und Sorge für den Nächsten unterstützen einander.</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34146a886bb427a"/>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1C7A688-43E2-4B5C-98F3-E1858ACE664C}"/>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12 / 12</a:t>
            </a:r>
          </a:p>
        </p:txBody>
      </p:sp>
    </p:spTree>
    <p:extLst>
      <p:ext uri="{BB962C8B-B14F-4D97-AF65-F5344CB8AC3E}">
        <p14:creationId xmlns:p14="http://schemas.microsoft.com/office/powerpoint/2010/main" val="11888063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2026-10-03T22:19:35.6590000Z</dcterms:created>
  <dcterms:modified xsi:type="dcterms:W3CDTF">2026-10-03T22:19:35.6590000Z</dcterms:modified>
</coreProperties>
</file>