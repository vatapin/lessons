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0afc0c6f24e73" /><Relationship Type="http://schemas.openxmlformats.org/officeDocument/2006/relationships/extended-properties" Target="/docProps/app.xml" Id="R53de4a3ac59b49ee" /><Relationship Type="http://schemas.openxmlformats.org/officeDocument/2006/relationships/officeDocument" Target="/ppt/presentation.xml" Id="Rd9f30aabd0924f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a804342cf54f14"/>
  </p:sldMasterIdLst>
  <p:notesMasterIdLst>
    <p:notesMasterId xmlns:r="http://schemas.openxmlformats.org/officeDocument/2006/relationships" r:id="R9b675b6f549d4eab"/>
  </p:notesMasterIdLst>
  <p:sldIdLst>
    <p:sldId xmlns:r="http://schemas.openxmlformats.org/officeDocument/2006/relationships" id="256" r:id="R9573ead7508444e7"/>
    <p:sldId xmlns:r="http://schemas.openxmlformats.org/officeDocument/2006/relationships" id="257" r:id="Rb8a56091e00641fc"/>
    <p:sldId xmlns:r="http://schemas.openxmlformats.org/officeDocument/2006/relationships" id="258" r:id="R14a65e05a6a64be1"/>
    <p:sldId xmlns:r="http://schemas.openxmlformats.org/officeDocument/2006/relationships" id="259" r:id="Re65cf283f89f4ee8"/>
    <p:sldId xmlns:r="http://schemas.openxmlformats.org/officeDocument/2006/relationships" id="260" r:id="R5bb507a9365c4d96"/>
    <p:sldId xmlns:r="http://schemas.openxmlformats.org/officeDocument/2006/relationships" id="261" r:id="R2ab942801eea4805"/>
    <p:sldId xmlns:r="http://schemas.openxmlformats.org/officeDocument/2006/relationships" id="262" r:id="Rd954200d4df84cf7"/>
    <p:sldId xmlns:r="http://schemas.openxmlformats.org/officeDocument/2006/relationships" id="263" r:id="R3ff7c6900a7c4333"/>
    <p:sldId xmlns:r="http://schemas.openxmlformats.org/officeDocument/2006/relationships" id="264" r:id="Ra488c1efb7f74719"/>
    <p:sldId xmlns:r="http://schemas.openxmlformats.org/officeDocument/2006/relationships" id="265" r:id="R93a144b9fece4c0e"/>
    <p:sldId xmlns:r="http://schemas.openxmlformats.org/officeDocument/2006/relationships" id="266" r:id="R26a4300f8a7240e5"/>
    <p:sldId xmlns:r="http://schemas.openxmlformats.org/officeDocument/2006/relationships" id="267" r:id="R98c9f96008ba4e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2ee5ec219e4497" /><Relationship Type="http://schemas.openxmlformats.org/officeDocument/2006/relationships/slideMaster" Target="/ppt/slideMasters/slideMaster1.xml" Id="R13a804342cf54f14" /><Relationship Type="http://schemas.openxmlformats.org/officeDocument/2006/relationships/notesMaster" Target="/ppt/notesMasters/notesMaster1.xml" Id="R9b675b6f549d4eab" /><Relationship Type="http://schemas.openxmlformats.org/officeDocument/2006/relationships/presProps" Target="/ppt/presProps.xml" Id="R127921a611024b06" /><Relationship Type="http://schemas.openxmlformats.org/officeDocument/2006/relationships/tableStyles" Target="/ppt/tableStyles.xml" Id="R0fc2f9300e7b4f69" /><Relationship Type="http://schemas.openxmlformats.org/officeDocument/2006/relationships/slide" Target="/ppt/slides/slide1.xml" Id="R9573ead7508444e7" /><Relationship Type="http://schemas.openxmlformats.org/officeDocument/2006/relationships/slide" Target="/ppt/slides/slide2.xml" Id="Rb8a56091e00641fc" /><Relationship Type="http://schemas.openxmlformats.org/officeDocument/2006/relationships/slide" Target="/ppt/slides/slide3.xml" Id="R14a65e05a6a64be1" /><Relationship Type="http://schemas.openxmlformats.org/officeDocument/2006/relationships/slide" Target="/ppt/slides/slide4.xml" Id="Re65cf283f89f4ee8" /><Relationship Type="http://schemas.openxmlformats.org/officeDocument/2006/relationships/slide" Target="/ppt/slides/slide5.xml" Id="R5bb507a9365c4d96" /><Relationship Type="http://schemas.openxmlformats.org/officeDocument/2006/relationships/slide" Target="/ppt/slides/slide6.xml" Id="R2ab942801eea4805" /><Relationship Type="http://schemas.openxmlformats.org/officeDocument/2006/relationships/slide" Target="/ppt/slides/slide7.xml" Id="Rd954200d4df84cf7" /><Relationship Type="http://schemas.openxmlformats.org/officeDocument/2006/relationships/slide" Target="/ppt/slides/slide8.xml" Id="R3ff7c6900a7c4333" /><Relationship Type="http://schemas.openxmlformats.org/officeDocument/2006/relationships/slide" Target="/ppt/slides/slide9.xml" Id="Ra488c1efb7f74719" /><Relationship Type="http://schemas.openxmlformats.org/officeDocument/2006/relationships/slide" Target="/ppt/slides/slide10.xml" Id="R93a144b9fece4c0e" /><Relationship Type="http://schemas.openxmlformats.org/officeDocument/2006/relationships/slide" Target="/ppt/slides/slide11.xml" Id="R26a4300f8a7240e5" /><Relationship Type="http://schemas.openxmlformats.org/officeDocument/2006/relationships/slide" Target="/ppt/slides/slide12.xml" Id="R98c9f96008ba4e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26f52df3694e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efc7e2fc8c4bd8" /><Relationship Type="http://schemas.openxmlformats.org/officeDocument/2006/relationships/notesMaster" Target="/ppt/notesMasters/notesMaster1.xml" Id="R09d0a293057e4c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cbca980d7a4c8d" /><Relationship Type="http://schemas.openxmlformats.org/officeDocument/2006/relationships/notesMaster" Target="/ppt/notesMasters/notesMaster1.xml" Id="Rc918f9c90c6844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6687fc8f124b3f" /><Relationship Type="http://schemas.openxmlformats.org/officeDocument/2006/relationships/notesMaster" Target="/ppt/notesMasters/notesMaster1.xml" Id="R66176e7e4d1e41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3bd242b67744e7" /><Relationship Type="http://schemas.openxmlformats.org/officeDocument/2006/relationships/notesMaster" Target="/ppt/notesMasters/notesMaster1.xml" Id="R0319895c198d4c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f9b52d4d3d4fac" /><Relationship Type="http://schemas.openxmlformats.org/officeDocument/2006/relationships/notesMaster" Target="/ppt/notesMasters/notesMaster1.xml" Id="R3d8cd63182654a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de172b86b74444" /><Relationship Type="http://schemas.openxmlformats.org/officeDocument/2006/relationships/notesMaster" Target="/ppt/notesMasters/notesMaster1.xml" Id="R0bc6742d56794a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55df259cc044c2" /><Relationship Type="http://schemas.openxmlformats.org/officeDocument/2006/relationships/notesMaster" Target="/ppt/notesMasters/notesMaster1.xml" Id="Re3cb3d0ffa3041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350f7d5c034c41" /><Relationship Type="http://schemas.openxmlformats.org/officeDocument/2006/relationships/notesMaster" Target="/ppt/notesMasters/notesMaster1.xml" Id="R588f9b51605545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6809a7e18340e8" /><Relationship Type="http://schemas.openxmlformats.org/officeDocument/2006/relationships/notesMaster" Target="/ppt/notesMasters/notesMaster1.xml" Id="R8218a977c8d640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765174f212442f" /><Relationship Type="http://schemas.openxmlformats.org/officeDocument/2006/relationships/notesMaster" Target="/ppt/notesMasters/notesMaster1.xml" Id="Rdb7a37466e4f4e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ab4c8072214681" /><Relationship Type="http://schemas.openxmlformats.org/officeDocument/2006/relationships/notesMaster" Target="/ppt/notesMasters/notesMaster1.xml" Id="Rf995e5fd9d9f4d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0fd68b87e84789" /><Relationship Type="http://schemas.openxmlformats.org/officeDocument/2006/relationships/notesMaster" Target="/ppt/notesMasters/notesMaster1.xml" Id="Rdba07666eb7d4d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Иногда кажется: если сказать неправду, другу будет легче. Но что произойдёт с тем, кто поверит нашим словам? Сегодня попробуем найти помощь, которая сохраняет правду.</a:t>
            </a:r>
          </a:p>
          <a:p xmlns:a="http://schemas.openxmlformats.org/drawingml/2006/main">
            <a:r>
              <a:t>Как провести: Предложите вымышленный случай: друг не закончил общий проект и просит сказать, что всё готово. Каждый молча выбирает, что ответил бы. Личные истории пока не собирайте. Переходите к чтению.</a:t>
            </a:r>
          </a:p>
          <a:p xmlns:a="http://schemas.openxmlformats.org/drawingml/2006/main">
            <a:r>
              <a:t>Вопрос: Какую помощь мы хотим оказать другу?</a:t>
            </a:r>
          </a:p>
          <a:p xmlns:a="http://schemas.openxmlformats.org/drawingml/2006/main">
            <a:r>
              <a:t>Ориентир: Поддержать его и помочь закончить работу. Нужно проверить, не перекладываем ли мы трудность на того, кто поверит обещанию готовности.</a:t>
            </a:r>
          </a:p>
          <a:p xmlns:a="http://schemas.openxmlformats.org/drawingml/2006/main">
            <a:r>
              <a:t>Ритм: 1 минута — случай; 1 минута — личный выбор и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2 мин.</a:t>
            </a:r>
          </a:p>
          <a:p xmlns:a="http://schemas.openxmlformats.org/drawingml/2006/main">
            <a:r>
              <a:t>Реплика: Прочитаем Еф. 4:25–32 целиком. Заметим призыв говорить истину и слова о доброй речи и сострадании. Сразу после чтения сыграем современную ситуацию.</a:t>
            </a:r>
          </a:p>
          <a:p xmlns:a="http://schemas.openxmlformats.org/drawingml/2006/main">
            <a:r>
              <a:t>Как провести: Прочитайте все восемь стихов без промежуточного обсуждения. Четыре участника заранее получают роли: учитель, Саша, Миша, Аня. Затем сразу начинайте сценку.</a:t>
            </a:r>
          </a:p>
          <a:p xmlns:a="http://schemas.openxmlformats.org/drawingml/2006/main">
            <a:r>
              <a:t>Вопрос: Задание слушателям: услышать, как истина связана с отношением к другому.</a:t>
            </a:r>
          </a:p>
          <a:p xmlns:a="http://schemas.openxmlformats.org/drawingml/2006/main">
            <a:r>
              <a:t>Ориентир: Ст. 25 связывает правду с тем, что мы члены друг другу. Ст. 29 и 32 обращают к полезной речи, доброте и прощению. Это наставление апостола; сценка далее — вымышленный пример.</a:t>
            </a:r>
          </a:p>
          <a:p xmlns:a="http://schemas.openxmlformats.org/drawingml/2006/main">
            <a:r>
              <a:t>Ритм: До 1,5 минуты — чтение; 30 секунд — переход к сценке.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выбранный отрывок Еф. 4:25–32. Синодальный перевод.</a:t>
            </a:r>
          </a:p>
          <a:p xmlns:a="http://schemas.openxmlformats.org/drawingml/2006/main">
            <a:r>
              <a:t>25. Посему, отвергнув ложь, говорите истину каждый ближнему своему, потому что мы члены друг другу.</a:t>
            </a:r>
          </a:p>
          <a:p xmlns:a="http://schemas.openxmlformats.org/drawingml/2006/main">
            <a:r>
              <a:t>26. Гневаясь, не согрешайте: солнце да не зайдёт во гневе вашем;</a:t>
            </a:r>
          </a:p>
          <a:p xmlns:a="http://schemas.openxmlformats.org/drawingml/2006/main">
            <a:r>
              <a:t>27. и не давайте места диаволу.</a:t>
            </a:r>
          </a:p>
          <a:p xmlns:a="http://schemas.openxmlformats.org/drawingml/2006/main">
            <a:r>
              <a:t>28. Кто крал, вперёд не кради, а лучше трудись, делая своими руками полезное, чтобы было из чего уделять нуждающемуся.</a:t>
            </a:r>
          </a:p>
          <a:p xmlns:a="http://schemas.openxmlformats.org/drawingml/2006/main">
            <a:r>
              <a:t>29. Никакое гнилое слово да не исходит из уст ваших, а только доброе для назидания в вере, дабы оно доставляло благодать слушающим.</a:t>
            </a:r>
          </a:p>
          <a:p xmlns:a="http://schemas.openxmlformats.org/drawingml/2006/main">
            <a:r>
              <a:t>30. И не оскорбляйте Святого Духа Божия, Которым вы запечатлены в день искупления.</a:t>
            </a:r>
          </a:p>
          <a:p xmlns:a="http://schemas.openxmlformats.org/drawingml/2006/main">
            <a:r>
              <a:t>31. Всякое раздражение и ярость, и гнев, и крик, и злоречие со всякою злобою да будут удалены от вас;</a:t>
            </a:r>
          </a:p>
          <a:p xmlns:a="http://schemas.openxmlformats.org/drawingml/2006/main">
            <a:r>
              <a:t>32. но будьте друг ко другу добры, сострадательны, прощайте друг друга, как и Бог во Христе простил вас.</a:t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6 мин.</a:t>
            </a:r>
          </a:p>
          <a:p xmlns:a="http://schemas.openxmlformats.org/drawingml/2006/main">
            <a:r>
              <a:t>Реплика: Саша не закончил проект. Учитель спрашивает, готов ли весь проект. Миша хочет защитить друга. Сыграем три ответа и посмотрим, что Аня и учитель станут делать после каждого.</a:t>
            </a:r>
          </a:p>
          <a:p xmlns:a="http://schemas.openxmlformats.org/drawingml/2006/main">
            <a:r>
              <a:t>Как провести: Разыграйте все три версии по приложению с теми же четырьмя ролями. Перед каждой возвращайтесь к исходному условию: проект не готов. Сначала прямая ложь, затем полуправда, затем честный ответ с помощью. Обсуждение — после третьего финала.</a:t>
            </a:r>
          </a:p>
          <a:p xmlns:a="http://schemas.openxmlformats.org/drawingml/2006/main">
            <a:r>
              <a:t>Вопрос: Наблюдаем: какой вывод сделал слушатель и что он стал планировать?</a:t>
            </a:r>
          </a:p>
          <a:p xmlns:a="http://schemas.openxmlformats.org/drawingml/2006/main">
            <a:r>
              <a:t>Ориентир: В первых двух версиях Аня рассчитывает на готовую работу и теряет время. В третьей получает верные сведения и может согласовать реальный план. Третья версия не обещает мгновенно законченный проект.</a:t>
            </a:r>
          </a:p>
          <a:p xmlns:a="http://schemas.openxmlformats.org/drawingml/2006/main">
            <a:r>
              <a:t>Ритм: По 2 минуты на каждую версию, включая короткий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Современная сценка, четыре роли и три альтернативных ответа:</a:t>
            </a:r>
          </a:p>
          <a:p xmlns:a="http://schemas.openxmlformats.org/drawingml/2006/main">
            <a:r>
              <a:t>Общее начало: Четыре роли: учитель, Саша, Миша, Аня. Ведущий читает вступления. Современный вымышленный пример. Саша вчера работал над общим проектом, но он не закончен. Аня готовит оформление и рассчитывает получить весь проект сегодня. Учитель каждый раз спрашивает: «Весь проект готов?» Саша тихо Мише: «Не говори, что я не закончил. Не хочу подвести класс». Перед каждой версией возвращаемся к этому условию.</a:t>
            </a:r>
          </a:p>
          <a:p xmlns:a="http://schemas.openxmlformats.org/drawingml/2006/main">
            <a:r>
              <a:t>Версия 1 — прямая ложь: Учитель: «Весь проект готов?» Миша, зная, что это не так: «Да, всё готово». Учитель: «Тогда Аня сегодня подготовит оформление, а завтра покажем работу». Аня подходит к Саше: «Давай готовую работу». Саша: «Она ещё не закончена». Аня: «Я уже начала оформление и рассчитывала на неё. Теперь надо менять план». Ведущий: первую версию закончили; возвращаемся к исходному условию.</a:t>
            </a:r>
          </a:p>
          <a:p xmlns:a="http://schemas.openxmlformats.org/drawingml/2006/main">
            <a:r>
              <a:t>Версия 2 — полуправда: Учитель: «Весь проект готов?» Миша: «Саша работал над ним вчера весь вечер». Это верный факт, но Миша намеренно не отвечает о незавершённости, чтобы учитель решил, что всё готово. Учитель: «Хорошо, значит Аня займётся оформлением». Миша слышит неверный вывод и не уточняет. Аня подходит к Саше и повторяет разговор первой версии: работа не готова, её план пришлось менять. Ведущий: вторую версию закончили; снова исходное условие.</a:t>
            </a:r>
          </a:p>
          <a:p xmlns:a="http://schemas.openxmlformats.org/drawingml/2006/main">
            <a:r>
              <a:t>Версия 3 — честный ответ с помощью: Учитель: «Весь проект готов?» Миша: «Часть готова, весь проект пока не закончен. Саша сам объяснит, что осталось. Я могу помочь сегодня». Саша: «Мне осталось закончить один раздел. Я не предупредил вовремя. Простите. Давайте согласуем, что успеем». Аня: «Тогда начну с готовой части. Мне нужно знать, когда будет остальное». Учитель: «После разговора уточним объём и срок. Обещать готовность будем по результату». Миша и Саша договариваются о помощи. Ведущий: третья версия закончена; теперь обсуждение.</a:t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</a:t>
            </a:r>
          </a:p>
          <a:p xmlns:a="http://schemas.openxmlformats.org/drawingml/2006/main">
            <a:r>
              <a:t>Реплика: Миша хотел помочь. Но как его слова повлияли на Аню? Почему правдивое предложение «Саша работал вчера» может обмануть? Восстановим путь к честному ответу.</a:t>
            </a:r>
          </a:p>
          <a:p xmlns:a="http://schemas.openxmlformats.org/drawingml/2006/main">
            <a:r>
              <a:t>Как провести: Выслушайте два коротких ответа о сценке. Затем пары раскладывают четыре карточки шагов: выяснить факты, подумать о слушателе, ответить честно, помочь делом. Одна пара объясняет порядок.</a:t>
            </a:r>
          </a:p>
          <a:p xmlns:a="http://schemas.openxmlformats.org/drawingml/2006/main">
            <a:r>
              <a:t>Вопрос: Достаточно ли доброго намерения, если человек получает неверное представление?</a:t>
            </a:r>
          </a:p>
          <a:p xmlns:a="http://schemas.openxmlformats.org/drawingml/2006/main">
            <a:r>
              <a:t>Ориентир: Нужно учитывать и содержание, и ожидаемый вывод слушателя. В сценке Миша знает, что работа не готова, и намеренно скрывает это за верной фразой. Доброе намерение само по себе не делает такой ответ честным.</a:t>
            </a:r>
          </a:p>
          <a:p xmlns:a="http://schemas.openxmlformats.org/drawingml/2006/main">
            <a:r>
              <a:t>Ритм: 2 минуты — разговор; 1 минута — карточки; 1 минута — объяснение.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Реплика: Не всякий короткий ответ — полуправда. Важно, зачем я умалчиваю и какое впечатление создаю. Разложите шесть фраз и объясните хотя бы одну.</a:t>
            </a:r>
          </a:p>
          <a:p xmlns:a="http://schemas.openxmlformats.org/drawingml/2006/main">
            <a:r>
              <a:t>Как провести: Пары получают шесть карточек. Группы: «Ложь», «Полуправда», «Честный ответ». Условия на карточках обязательны: одна и та же фраза в другой ситуации может иметь иной смысл. В двух полях запишите, что подумает слушатель и как уточнить ответ.</a:t>
            </a:r>
          </a:p>
          <a:p xmlns:a="http://schemas.openxmlformats.org/drawingml/2006/main">
            <a:r>
              <a:t>Вопрос: Как сохранить личное, не притворяясь, что я ничего не знаю?</a:t>
            </a:r>
          </a:p>
          <a:p xmlns:a="http://schemas.openxmlformats.org/drawingml/2006/main">
            <a:r>
              <a:t>Ориентир: Сказать прямо: «Это личное, я не буду это обсуждать». Умолчание ради бережного сохранения тайны отличается от намеренного создания ложного впечатления. Если не знаешь — так и скажи.</a:t>
            </a:r>
          </a:p>
          <a:p xmlns:a="http://schemas.openxmlformats.org/drawingml/2006/main">
            <a:r>
              <a:t>Ритм: 2 минуты — сортировка; 1 минута — объяснение; 1 минута — запись.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Честный ответ может быть бережным. Попробуем назвать факт без ярлыка, сказать, чего не знаем, или прямо обозначить границу личного. Затем предложим посильную помощь.</a:t>
            </a:r>
          </a:p>
          <a:p xmlns:a="http://schemas.openxmlformats.org/drawingml/2006/main">
            <a:r>
              <a:t>Как провести: Пары выбирают один из четырёх случаев. Один задаёт вопрос, другой отвечает своими словами. Затем поменяйтесь ролями и возьмите другой случай. Второй участник повторяет, как понял ответ; первый уточняет при необходимости.</a:t>
            </a:r>
          </a:p>
          <a:p xmlns:a="http://schemas.openxmlformats.org/drawingml/2006/main">
            <a:r>
              <a:t>Вопрос: Можно ли сказать правду и не унижать человека?</a:t>
            </a:r>
          </a:p>
          <a:p xmlns:a="http://schemas.openxmlformats.org/drawingml/2006/main">
            <a:r>
              <a:t>Ориентир: Да: говорить о конкретной работе или факте, без «ты всегда» и «ты ни на что не способен». Для отзыва о рисунке назвать то, что действительно понравилось, и одну посильную доработку. Не выдумывать похвалу.</a:t>
            </a:r>
          </a:p>
          <a:p xmlns:a="http://schemas.openxmlformats.org/drawingml/2006/main">
            <a:r>
              <a:t>Ритм: 2 минуты — первый разговор; 2 минуты — смена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6 мин.</a:t>
            </a:r>
          </a:p>
          <a:p xmlns:a="http://schemas.openxmlformats.org/drawingml/2006/main">
            <a:r>
              <a:t>Реплика: Класс собирает книги для младших. Саша обещал проверить их, но проверка не закончена. Миша предлагает сказать, что всё готово, чтобы никого не огорчить. У каждого из вас есть одно важное сведение.</a:t>
            </a:r>
          </a:p>
          <a:p xmlns:a="http://schemas.openxmlformats.org/drawingml/2006/main">
            <a:r>
              <a:t>Как провести: Команды по четыре читают отдельные сведения и составляют первый план: что известно, кому это важно, что сказать и как помочь. Выслушайте каждого. Один представитель сообщает решение. Новое условие остаётся у ведущего до этапа 9.</a:t>
            </a:r>
          </a:p>
          <a:p xmlns:a="http://schemas.openxmlformats.org/drawingml/2006/main">
            <a:r>
              <a:t>Вопрос: Как сохранить доброе дело, не сообщая о готовности того, что ещё не готово?</a:t>
            </a:r>
          </a:p>
          <a:p xmlns:a="http://schemas.openxmlformats.org/drawingml/2006/main">
            <a:r>
              <a:t>Ориентир: Сообщить реальное состояние проверки; отделить непригодные книги; помочь проверить остальные и согласовать, что возможно передать. За благую цель отвечают честными словами и полезными действиями.</a:t>
            </a:r>
          </a:p>
          <a:p xmlns:a="http://schemas.openxmlformats.org/drawingml/2006/main">
            <a:r>
              <a:t>Ритм: 1 минута — сведения; 3 минуты — план; 2 минуты — ответ 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командных сведения:</a:t>
            </a:r>
          </a:p>
          <a:p xmlns:a="http://schemas.openxmlformats.org/drawingml/2006/main">
            <a:r>
              <a:t>1. Проверка не закончена: Класс собирает книги для младших. Саша обещал проверить их, но ещё не просмотрел все. Он знает, что не может честно подтвердить общую готовность.</a:t>
            </a:r>
          </a:p>
          <a:p xmlns:a="http://schemas.openxmlformats.org/drawingml/2006/main">
            <a:r>
              <a:t>2. Найдены повреждения: Аня увидела книги с порванными или отсутствующими страницами. Их надо отложить. О готовности остальных пока неизвестно.</a:t>
            </a:r>
          </a:p>
          <a:p xmlns:a="http://schemas.openxmlformats.org/drawingml/2006/main">
            <a:r>
              <a:t>3. Совет друга: Миша предлагает сказать учителю «Все книги готовы», чтобы никого не огорчить. Он хочет поддержать друга и предлагает после этого всё проверить.</a:t>
            </a:r>
          </a:p>
          <a:p xmlns:a="http://schemas.openxmlformats.org/drawingml/2006/main">
            <a:r>
              <a:t>4. Возможная помощь: Передача намечена на завтра. Сегодня команда может проверить книги, отделить неподходящие и вместе с учителем согласовать реальный объём и срок.</a:t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</a:t>
            </a:r>
          </a:p>
          <a:p xmlns:a="http://schemas.openxmlformats.org/drawingml/2006/main">
            <a:r>
              <a:t>Реплика: Сформулируем сообщение учителю. Оно должно помочь принять решение: что готово, что ещё неизвестно и что мы сделаем дальше. Нельзя обещать, что все книги уже подходят, если это не проверено.</a:t>
            </a:r>
          </a:p>
          <a:p xmlns:a="http://schemas.openxmlformats.org/drawingml/2006/main">
            <a:r>
              <a:t>Как провести: Две команды читают свои сообщения. Остальные отвечают только: «Что я понял о готовности?» и «Какое решение я могу принять?» Ведущий возвращает к фактам, если красивое обещание скрывает незавершённость.</a:t>
            </a:r>
          </a:p>
          <a:p xmlns:a="http://schemas.openxmlformats.org/drawingml/2006/main">
            <a:r>
              <a:t>Вопрос: Что нужно знать получателю, чтобы он не строил план на неверном основании?</a:t>
            </a:r>
          </a:p>
          <a:p xmlns:a="http://schemas.openxmlformats.org/drawingml/2006/main">
            <a:r>
              <a:t>Ориентир: Проверка не завершена, у части книг повреждения. Команда проверяет остальные и сообщает результат в согласованное время. О причинах можно поговорить с Сашей лично; о готовности честно сообщить всем, кто принимает решение.</a:t>
            </a:r>
          </a:p>
          <a:p xmlns:a="http://schemas.openxmlformats.org/drawingml/2006/main">
            <a:r>
              <a:t>Ритм: 2 минуты — два сообщения; 2 минуты — вывод слушателей.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Реплика: Новое условие: Саша уже написал в общий чат «Все книги готовы к передаче». Учитель подтвердил передачу завтра. Миша просит не исправлять сообщение, чтобы Саша не потерял доброе имя. Что добавим в план?</a:t>
            </a:r>
          </a:p>
          <a:p xmlns:a="http://schemas.openxmlformats.org/drawingml/2006/main">
            <a:r>
              <a:t>Как провести: Команды сохраняют первый план и дописывают второй. Нужно исправить сообщение перед той же группой и отдельно связаться с учителем, который подтвердил передачу. Два представителя называют первый шаг. Подробности личного разговора Саши не нужны всему чату.</a:t>
            </a:r>
          </a:p>
          <a:p xmlns:a="http://schemas.openxmlformats.org/drawingml/2006/main">
            <a:r>
              <a:t>Вопрос: Достаточно ли теперь молча перебрать книги?</a:t>
            </a:r>
          </a:p>
          <a:p xmlns:a="http://schemas.openxmlformats.org/drawingml/2006/main">
            <a:r>
              <a:t>Ориентир: Нет: неверное ожидание уже возникло. Нужно признать неточность и дать верные сведения тем, кто прочитал сообщение. Ремонт или сортировка не заменяют исправления слов. Можно попросить друга помочь сказать правду.</a:t>
            </a:r>
          </a:p>
          <a:p xmlns:a="http://schemas.openxmlformats.org/drawingml/2006/main">
            <a:r>
              <a:t>Ритм: 2 минуты — второй план; 2 минуты — два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Реплика: Напишем короткое уточнение без оправдания: «Я написал, что всё готово, хотя проверка не закончена. Это было неверно. Часть книг повреждена. Сейчас проверяем остальные и согласуем, что можем передать».</a:t>
            </a:r>
          </a:p>
          <a:p xmlns:a="http://schemas.openxmlformats.org/drawingml/2006/main">
            <a:r>
              <a:t>Как провести: Каждая пара произносит своё уточнение, затем конкретное предложение помощи. Партнёр говорит, что понял. Обсудите, как отвечать на упрёк спокойно: признать свои слова и продолжить исправление. Не гарантируйте мгновенного восстановления доверия.</a:t>
            </a:r>
          </a:p>
          <a:p xmlns:a="http://schemas.openxmlformats.org/drawingml/2006/main">
            <a:r>
              <a:t>Вопрос: Как отличить исправление от объяснения «я же хотел как лучше»?</a:t>
            </a:r>
          </a:p>
          <a:p xmlns:a="http://schemas.openxmlformats.org/drawingml/2006/main">
            <a:r>
              <a:t>Ориентир: Исправление называет собственное неверное сообщение и сообщает факты. Затем нужен реальный следующий шаг. Добрый замысел можно объяснить, но он не отменяет ответственности за обман и планы других.</a:t>
            </a:r>
          </a:p>
          <a:p xmlns:a="http://schemas.openxmlformats.org/drawingml/2006/main">
            <a:r>
              <a:t>Ритм: 2 минуты — уточнение в парах; 2 минуты — помощь и короткий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</a:t>
            </a:r>
          </a:p>
          <a:p xmlns:a="http://schemas.openxmlformats.org/drawingml/2006/main">
            <a:r>
              <a:t>Реплика: Выбери настоящий или вымышленный случай. Какие сведения ты знаешь, что может понять слушатель и как ответить честно? Если неправда уже сказана, запиши, кому её исправишь. Лист остаётся у тебя.</a:t>
            </a:r>
          </a:p>
          <a:p xmlns:a="http://schemas.openxmlformats.org/drawingml/2006/main">
            <a:r>
              <a:t>Как провести: Участники заполняют шесть полей. Можно прочитать только выбранную фразу. Затем короткая тишина и авторская молитва. Личные подробности группа не обсуждает.</a:t>
            </a:r>
          </a:p>
          <a:p xmlns:a="http://schemas.openxmlformats.org/drawingml/2006/main">
            <a:r>
              <a:t>Вопрос: Какие слова и какое действие я выберу в ближайшей похожей ситуации?</a:t>
            </a:r>
          </a:p>
          <a:p xmlns:a="http://schemas.openxmlformats.org/drawingml/2006/main">
            <a:r>
              <a:t>Ориентир: Проверить факт; сказать «не знаю»; обозначить личное; честно назвать незавершённость; исправить прежнее сообщение и предложить помощь. Обращение к Богу и покаяние поддерживают начало исправления.</a:t>
            </a:r>
          </a:p>
          <a:p xmlns:a="http://schemas.openxmlformats.org/drawingml/2006/main">
            <a:r>
              <a:t>Ритм: 2 минуты — личный лист; 1 минута — тишина и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Авторская молитва: Господи Иисусе Христе, прости мою неправду. Помоги мне говорить истину с любовью, беречь чужое доверие и отвечать за свои слова. Дай мне смелость исправить обман и помочь делом. Аминь.</a:t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Реплика: Заверши две фразы: «Полуправда вводит в заблуждение, когда…» и «Вместо обмана ради друга я могу…». Назови конкретную помощь.</a:t>
            </a:r>
          </a:p>
          <a:p xmlns:a="http://schemas.openxmlformats.org/drawingml/2006/main">
            <a:r>
              <a:t>Как провести: Выслушайте два коротких ответа. Каждый отмечает свой первый шаг и время. На следующей встрече предложите добровольно рассказать, получилось ли сказать правду и чем ещё нужна помощь.</a:t>
            </a:r>
          </a:p>
          <a:p xmlns:a="http://schemas.openxmlformats.org/drawingml/2006/main">
            <a:r>
              <a:t>Вопрос: Как связаны истина и забота о ближнем?</a:t>
            </a:r>
          </a:p>
          <a:p xmlns:a="http://schemas.openxmlformats.org/drawingml/2006/main">
            <a:r>
              <a:t>Ориентир: Другой человек нуждается в правдивых сведениях и бережном отношении. Можно поддержать его, помочь делом и сохранить личное, прямо обозначив границу. Если солгал, путь к исправлению открыт.</a:t>
            </a:r>
          </a:p>
          <a:p xmlns:a="http://schemas.openxmlformats.org/drawingml/2006/main">
            <a:r>
              <a:t>Ритм: 1 минута — два ответа; 1 минута — шаг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https://bible.by/syn/56/4/. Синодальный перевод — общественное достояние. Современные случаи, сценка и молитва авторские. Еф. 4:25 читается вместе со ст. 29 и 32. Полуправда в задании — намеренное создание неверного впечатления, а не любой краткий ответ. Честный отказ раскрывать личное отличается от обмана. Крест православный восьмиконечный, иконы не изображены. Иллюстрации созданы для урока.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f896b0f234e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feb1cc9734c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718fe90424e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e2956f9c348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b8d84dd174f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2b30a482847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22AC9EB-33B9-4C5A-92CF-81D469B3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29A2AA-33EA-4A4D-BA25-586EF0E02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F5E1F59-F92A-4C09-AA93-AEF49244C9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EC90713-9778-4A90-8AA5-38F9B7AD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A52B5D-31D7-4686-BFBD-529EE8A409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116575E-9D13-4260-A3A3-E2A5A713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342059-F923-4FC3-AD5D-B0B77BF18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61CF06C-91C4-4BFD-8669-716165848B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02ADC53-9FBE-40FA-AC4B-DFF41BCF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6A92B4-D919-4AD3-B5F1-08EE34703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7F1860-7121-49EE-B22A-F331F0D3EE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0930E3-D1D5-495C-8535-DE7C2D2929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BE563EE-2947-4122-B1E0-14DF9DD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BE79A0-634C-4D42-B592-4B2D1CCDF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133B4F-A9E3-48B0-A451-822F25B51E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957731628348d4" /><Relationship Type="http://schemas.openxmlformats.org/officeDocument/2006/relationships/slideLayout" Target="/ppt/slideLayouts/slideLayout1.xml" Id="R8c2cd24dcadf4fff" /><Relationship Type="http://schemas.openxmlformats.org/officeDocument/2006/relationships/slideLayout" Target="/ppt/slideLayouts/slideLayout2.xml" Id="R1d283f41030c4346" /><Relationship Type="http://schemas.openxmlformats.org/officeDocument/2006/relationships/slideLayout" Target="/ppt/slideLayouts/slideLayout3.xml" Id="Red20accc63da4a34" /><Relationship Type="http://schemas.openxmlformats.org/officeDocument/2006/relationships/slideLayout" Target="/ppt/slideLayouts/slideLayout4.xml" Id="Rc9938375c95c4818" /><Relationship Type="http://schemas.openxmlformats.org/officeDocument/2006/relationships/slideLayout" Target="/ppt/slideLayouts/slideLayout5.xml" Id="Re754381520244e0b" /><Relationship Type="http://schemas.openxmlformats.org/officeDocument/2006/relationships/slideLayout" Target="/ppt/slideLayouts/slideLayout6.xml" Id="Rce1109ca4aed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2cd24dcadf4fff"/>
    <p:sldLayoutId xmlns:r="http://schemas.openxmlformats.org/officeDocument/2006/relationships" id="2147483650" r:id="R1d283f41030c4346"/>
    <p:sldLayoutId xmlns:r="http://schemas.openxmlformats.org/officeDocument/2006/relationships" id="2147483651" r:id="Red20accc63da4a34"/>
    <p:sldLayoutId xmlns:r="http://schemas.openxmlformats.org/officeDocument/2006/relationships" id="2147483652" r:id="Rc9938375c95c4818"/>
    <p:sldLayoutId xmlns:r="http://schemas.openxmlformats.org/officeDocument/2006/relationships" id="2147483653" r:id="Re754381520244e0b"/>
    <p:sldLayoutId xmlns:r="http://schemas.openxmlformats.org/officeDocument/2006/relationships" id="2147483654" r:id="Rce1109ca4aed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d1f6c319849c9" /><Relationship Type="http://schemas.openxmlformats.org/officeDocument/2006/relationships/image" Target="/ppt/media/image.jpeg" Id="Rf8d91d1afb1d44c6" /><Relationship Type="http://schemas.openxmlformats.org/officeDocument/2006/relationships/notesSlide" Target="/ppt/notesSlides/notesSlide1.xml" Id="R9b2a72949a6d4c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9695b8cb34707" /><Relationship Type="http://schemas.openxmlformats.org/officeDocument/2006/relationships/image" Target="/ppt/media/image2.jpeg" Id="R38ab6fce8d7f432c" /><Relationship Type="http://schemas.openxmlformats.org/officeDocument/2006/relationships/notesSlide" Target="/ppt/notesSlides/notesSlide2.xml" Id="Rff4644f26d2946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ed6311efd4962" /><Relationship Type="http://schemas.openxmlformats.org/officeDocument/2006/relationships/image" Target="/ppt/media/image3.jpeg" Id="Rdefb005cc520469b" /><Relationship Type="http://schemas.openxmlformats.org/officeDocument/2006/relationships/notesSlide" Target="/ppt/notesSlides/notesSlide3.xml" Id="Rf073cf6b25444f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28a01cd284f6f" /><Relationship Type="http://schemas.openxmlformats.org/officeDocument/2006/relationships/image" Target="/ppt/media/image4.jpeg" Id="Rdf7829bc7a764e1c" /><Relationship Type="http://schemas.openxmlformats.org/officeDocument/2006/relationships/notesSlide" Target="/ppt/notesSlides/notesSlide4.xml" Id="R8c622f5f140341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8cb41c2db4e9f" /><Relationship Type="http://schemas.openxmlformats.org/officeDocument/2006/relationships/image" Target="/ppt/media/image5.jpeg" Id="R2f9630415d334084" /><Relationship Type="http://schemas.openxmlformats.org/officeDocument/2006/relationships/notesSlide" Target="/ppt/notesSlides/notesSlide5.xml" Id="Reee4741c795947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9acede5f44c56" /><Relationship Type="http://schemas.openxmlformats.org/officeDocument/2006/relationships/image" Target="/ppt/media/image6.jpeg" Id="Rfd44db0109304d0d" /><Relationship Type="http://schemas.openxmlformats.org/officeDocument/2006/relationships/notesSlide" Target="/ppt/notesSlides/notesSlide6.xml" Id="Rcdacb4a66d474e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04fc592a8d408f" /><Relationship Type="http://schemas.openxmlformats.org/officeDocument/2006/relationships/image" Target="/ppt/media/image7.jpeg" Id="R4532fa0c9a7a48f5" /><Relationship Type="http://schemas.openxmlformats.org/officeDocument/2006/relationships/notesSlide" Target="/ppt/notesSlides/notesSlide7.xml" Id="Rc253891f16bc47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9a03acec745e3" /><Relationship Type="http://schemas.openxmlformats.org/officeDocument/2006/relationships/image" Target="/ppt/media/image8.jpeg" Id="R85463de27277422a" /><Relationship Type="http://schemas.openxmlformats.org/officeDocument/2006/relationships/notesSlide" Target="/ppt/notesSlides/notesSlide8.xml" Id="R29434d16a77a44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2617b84c174b64" /><Relationship Type="http://schemas.openxmlformats.org/officeDocument/2006/relationships/image" Target="/ppt/media/image9.jpeg" Id="R04e5ab467d7b41ba" /><Relationship Type="http://schemas.openxmlformats.org/officeDocument/2006/relationships/notesSlide" Target="/ppt/notesSlides/notesSlide9.xml" Id="R775573a017d642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bb8ae945f4a07" /><Relationship Type="http://schemas.openxmlformats.org/officeDocument/2006/relationships/image" Target="/ppt/media/image10.jpeg" Id="Rbe703ff906674457" /><Relationship Type="http://schemas.openxmlformats.org/officeDocument/2006/relationships/notesSlide" Target="/ppt/notesSlides/notesSlide10.xml" Id="R9459d881c0264b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6230e5e394b9d" /><Relationship Type="http://schemas.openxmlformats.org/officeDocument/2006/relationships/image" Target="/ppt/media/image11.jpeg" Id="R006cf20dfc284cb9" /><Relationship Type="http://schemas.openxmlformats.org/officeDocument/2006/relationships/notesSlide" Target="/ppt/notesSlides/notesSlide11.xml" Id="R01378e076e5045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3dd99bc0144fa" /><Relationship Type="http://schemas.openxmlformats.org/officeDocument/2006/relationships/image" Target="/ppt/media/image12.jpeg" Id="R299dff110e15439a" /><Relationship Type="http://schemas.openxmlformats.org/officeDocument/2006/relationships/notesSlide" Target="/ppt/notesSlides/notesSlide12.xml" Id="R8880755dc06145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91d1afb1d44c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922F8-2134-48E7-BA6E-00D482D4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5048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Можно ли</a:t>
            </a:r>
          </a:p>
          <a:p xmlns:a="http://schemas.openxmlformats.org/drawingml/2006/main">
            <a:pPr>
              <a:def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соврать ради</a:t>
            </a:r>
          </a:p>
          <a:p xmlns:a="http://schemas.openxmlformats.org/drawingml/2006/main">
            <a:pPr>
              <a:def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добра?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E6882-6209-4854-B5D0-051CB7A6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4838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Ложь и полуправда</a:t>
            </a:r>
          </a:p>
          <a:p xmlns:a="http://schemas.openxmlformats.org/drawingml/2006/main">
            <a:pPr>
              <a:def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Истина и ответственность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0851F-2F19-48C7-A95F-C516992A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2CD12-C7B1-476C-B52F-9267165C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Еф. 4:25–32</a:t>
            </a:r>
          </a:p>
        </p:txBody>
      </p:sp>
    </p:spTree>
    <p:extLst>
      <p:ext uri="{BB962C8B-B14F-4D97-AF65-F5344CB8AC3E}">
        <p14:creationId xmlns:p14="http://schemas.microsoft.com/office/powerpoint/2010/main" val="1004835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3062B-47AE-438D-B978-F1D1FEE9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Говорите истину ближнему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b6fce8d7f432c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C2B27-C5C3-4F0B-923E-CB52CD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«Посему, отвергнув ложь,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говорите истину каждый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ближнему своему,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потому что мы члены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друг другу».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Еф. 4:25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Еф. 4:25–32.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8463E-2165-4B40-B91A-5087C3F1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После всех восьми стихов сразу сценка.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B8603-D09B-48BF-BF6B-76048E97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8892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C840B-FD61-4ECF-A3C2-69609EC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Одна ситуация, три ответа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b005cc520469b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95448-1612-4FBB-ABE0-2A8CDE7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Тот же проект не готов.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«Да, всё готово».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«Работал весь вечер».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«Пока не закончен.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помогу».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21E03-ED59-45E1-B00D-FCF801AB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Четыре роли. Обсуждение после третьей версии.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493DB-7766-45A3-B763-12573031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3852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71E3F-35DA-436B-B5BB-9710A1CD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Намерение и последствия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829bc7a764e1c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52BA1-9E0D-4046-978D-32086CCD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Миша хотел?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поняла Аня?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стала планировать?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Верны ли слова?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Какое впечатление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они создают?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71987-9FB8-450E-AFDE-AEFCDF44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Честный ответ помогает другому принять решение.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D93B0-D375-4BF7-BCFE-95A6D8B9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8033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42F80-1046-4636-9A44-0F107CB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Ложь, полуправда, честный ответ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630415d334084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565D8-38CB-4773-B33B-46D522D4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Ложь.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Полуправда.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Честный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«Это личное.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не буду это обсуждать».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поймёт слушатель?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C4093-0E66-4039-9F7B-AD38CEF1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Учитывайте условие карточки и намерение говорящего.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D010A-8F07-45D8-AE00-FE532E02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9047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6B646-5290-4121-BCC6-636B129C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Правда без укола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4db0109304d0d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E4745-0E4A-4BCD-B393-FB4EB07E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Факт: часть не готова.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Ответ: «Пока не закончен».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Помощь: «Я могу…».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Скажи своими словами.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Партнёр повторит,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понял ответ.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80DC3-7E20-4B6B-B1B9-AFDAE568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Конкретный факт, бережные слова, посильная помощь.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4AA8A-A875-4535-9008-4412596C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1002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9CE3F-8A32-4FC0-8F09-DD0A86D4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Помочь без обмана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2fa0c9a7a48f5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B00EF-0E4B-4FE9-AF71-549C89B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Книги для младших.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Проверка не закончена.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Друг предлагает сказать: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«Всё готово».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 каждого одно сведение.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Услышьте всех.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AF964-9359-49AC-B0FF-FF1793B0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план. Новое условие прозвучит позже.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28906-8CBC-4B8C-8477-6B917D5E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8038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EE30D-05F7-49E0-9B4D-A907928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Ответ, на который можно опереться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63de27277422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BE662-46D7-4F68-A3E6-FE51E704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Проверка не закончена.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Есть повреждённые книги.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сообщить учителю?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ещё неизвестно?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Какую помощь предложить?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9501E-436D-467A-AB14-F0704CC9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Отделяйте известное от непроверенного.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70C34-1F1D-4C39-9C93-DEC16B6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34839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ADFC4-3484-4EBE-B4F6-9C78A879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неправда уже отправлена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5ab467d7b41b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58E48-C2C0-4954-9335-33E4AA3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чат уже написали: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«Все книги готовы».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Учитель подтвердил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передачу завтра.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Друг просит промолчать.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добавим в план?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2373E-E9FB-4AC8-9352-4F62733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 сохраните. Допишите второй.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63924-2C2F-40FA-9224-C33EC250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7055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50163-73D7-4A3A-9575-C7FFD59E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Исправление слов и помощь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03ff906674457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E3B0C-BBD5-4AC5-A93C-81638DE2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написал, что всё готово,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хотя проверка не закончена.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Это было неверно.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Часть книг повреждена.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Сейчас проверяем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остальные и согласуем,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можем передать».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я помогу делом?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27F1D-6C01-487C-ADBC-921FB3C2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Исправьте сообщение перед теми, кто его получил.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6F54E-DA58-4A60-98EE-85C8A400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2255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7D26D-DEBA-4C74-8C66-C6B1B98D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честный шаг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cf20dfc284cb9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BC995-7D90-494D-A2F0-BD05AB91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Факт и неизвестное.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Вывод слушателя.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Граница личного.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честный ответ.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Исправление прежних слов.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Помощь и время.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D09AC-CDFC-452A-B91D-AAC57B75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Господи Иисусе Христе, прости мою неправду.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BB533-9CD5-48FA-8541-A35520FB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15931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19A8C-E6AA-4603-A2AC-48DE21A7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Правда и доброе дело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dff110e15439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D0F83-3E8E-42E7-BE85-12C5895F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«Полуправда вводит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 заблуждение, когда…»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«Вместо обмана ради друга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я могу…»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Назови конкретную помощь.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89C89-DEEE-4537-86BB-1B4F091C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Правда и забота о ближнем поддерживают друг друга.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00DC7-74F8-4777-8FBC-3DBB915B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53243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2026-10-03T18:59:39.3710000Z</dcterms:created>
  <dcterms:modified xsi:type="dcterms:W3CDTF">2026-10-03T18:59:39.3710000Z</dcterms:modified>
</coreProperties>
</file>