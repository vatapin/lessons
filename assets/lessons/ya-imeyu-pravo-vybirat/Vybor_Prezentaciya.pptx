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c0f44cede3b4775" /><Relationship Type="http://schemas.openxmlformats.org/officeDocument/2006/relationships/extended-properties" Target="/docProps/app.xml" Id="R4a7b867078b842f5" /><Relationship Type="http://schemas.openxmlformats.org/officeDocument/2006/relationships/officeDocument" Target="/ppt/presentation.xml" Id="R9369b2bd57014ba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256b79effb842a3"/>
  </p:sldMasterIdLst>
  <p:notesMasterIdLst>
    <p:notesMasterId xmlns:r="http://schemas.openxmlformats.org/officeDocument/2006/relationships" r:id="R90707cbe95bc45ae"/>
  </p:notesMasterIdLst>
  <p:sldIdLst>
    <p:sldId xmlns:r="http://schemas.openxmlformats.org/officeDocument/2006/relationships" id="256" r:id="Rb1c8a55bdb15493c"/>
    <p:sldId xmlns:r="http://schemas.openxmlformats.org/officeDocument/2006/relationships" id="257" r:id="Rdcf95a000f5e4728"/>
    <p:sldId xmlns:r="http://schemas.openxmlformats.org/officeDocument/2006/relationships" id="258" r:id="Re9c1dbdf19994378"/>
    <p:sldId xmlns:r="http://schemas.openxmlformats.org/officeDocument/2006/relationships" id="259" r:id="R38a5d250cae8464d"/>
    <p:sldId xmlns:r="http://schemas.openxmlformats.org/officeDocument/2006/relationships" id="260" r:id="Rf1961d1eaead4caf"/>
    <p:sldId xmlns:r="http://schemas.openxmlformats.org/officeDocument/2006/relationships" id="261" r:id="R06c8f957092e48aa"/>
    <p:sldId xmlns:r="http://schemas.openxmlformats.org/officeDocument/2006/relationships" id="262" r:id="R91ea4ee2b78c4ff4"/>
    <p:sldId xmlns:r="http://schemas.openxmlformats.org/officeDocument/2006/relationships" id="263" r:id="R81fe4b0b32d8444d"/>
    <p:sldId xmlns:r="http://schemas.openxmlformats.org/officeDocument/2006/relationships" id="264" r:id="R4e7f977f3a8a436b"/>
    <p:sldId xmlns:r="http://schemas.openxmlformats.org/officeDocument/2006/relationships" id="265" r:id="R27f80298fa224ec2"/>
    <p:sldId xmlns:r="http://schemas.openxmlformats.org/officeDocument/2006/relationships" id="266" r:id="R8f6f5741f04d43b8"/>
    <p:sldId xmlns:r="http://schemas.openxmlformats.org/officeDocument/2006/relationships" id="267" r:id="R19b3aeeccfa94a3f"/>
    <p:sldId xmlns:r="http://schemas.openxmlformats.org/officeDocument/2006/relationships" id="268" r:id="R0d9ef5006df74924"/>
    <p:sldId xmlns:r="http://schemas.openxmlformats.org/officeDocument/2006/relationships" id="269" r:id="R923e42dde36c420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b23ff5a26cb450a" /><Relationship Type="http://schemas.openxmlformats.org/officeDocument/2006/relationships/slideMaster" Target="/ppt/slideMasters/slideMaster1.xml" Id="R0256b79effb842a3" /><Relationship Type="http://schemas.openxmlformats.org/officeDocument/2006/relationships/notesMaster" Target="/ppt/notesMasters/notesMaster1.xml" Id="R90707cbe95bc45ae" /><Relationship Type="http://schemas.openxmlformats.org/officeDocument/2006/relationships/presProps" Target="/ppt/presProps.xml" Id="R0bbb07fdbb4641d7" /><Relationship Type="http://schemas.openxmlformats.org/officeDocument/2006/relationships/tableStyles" Target="/ppt/tableStyles.xml" Id="R2b7f63caa7d04bc0" /><Relationship Type="http://schemas.openxmlformats.org/officeDocument/2006/relationships/slide" Target="/ppt/slides/slide1.xml" Id="Rb1c8a55bdb15493c" /><Relationship Type="http://schemas.openxmlformats.org/officeDocument/2006/relationships/slide" Target="/ppt/slides/slide2.xml" Id="Rdcf95a000f5e4728" /><Relationship Type="http://schemas.openxmlformats.org/officeDocument/2006/relationships/slide" Target="/ppt/slides/slide3.xml" Id="Re9c1dbdf19994378" /><Relationship Type="http://schemas.openxmlformats.org/officeDocument/2006/relationships/slide" Target="/ppt/slides/slide4.xml" Id="R38a5d250cae8464d" /><Relationship Type="http://schemas.openxmlformats.org/officeDocument/2006/relationships/slide" Target="/ppt/slides/slide5.xml" Id="Rf1961d1eaead4caf" /><Relationship Type="http://schemas.openxmlformats.org/officeDocument/2006/relationships/slide" Target="/ppt/slides/slide6.xml" Id="R06c8f957092e48aa" /><Relationship Type="http://schemas.openxmlformats.org/officeDocument/2006/relationships/slide" Target="/ppt/slides/slide7.xml" Id="R91ea4ee2b78c4ff4" /><Relationship Type="http://schemas.openxmlformats.org/officeDocument/2006/relationships/slide" Target="/ppt/slides/slide8.xml" Id="R81fe4b0b32d8444d" /><Relationship Type="http://schemas.openxmlformats.org/officeDocument/2006/relationships/slide" Target="/ppt/slides/slide9.xml" Id="R4e7f977f3a8a436b" /><Relationship Type="http://schemas.openxmlformats.org/officeDocument/2006/relationships/slide" Target="/ppt/slides/slide10.xml" Id="R27f80298fa224ec2" /><Relationship Type="http://schemas.openxmlformats.org/officeDocument/2006/relationships/slide" Target="/ppt/slides/slide11.xml" Id="R8f6f5741f04d43b8" /><Relationship Type="http://schemas.openxmlformats.org/officeDocument/2006/relationships/slide" Target="/ppt/slides/slide12.xml" Id="R19b3aeeccfa94a3f" /><Relationship Type="http://schemas.openxmlformats.org/officeDocument/2006/relationships/slide" Target="/ppt/slides/slide13.xml" Id="R0d9ef5006df74924" /><Relationship Type="http://schemas.openxmlformats.org/officeDocument/2006/relationships/slide" Target="/ppt/slides/slide14.xml" Id="R923e42dde36c420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7464ba15ab742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f6a0ab903844358" /><Relationship Type="http://schemas.openxmlformats.org/officeDocument/2006/relationships/notesMaster" Target="/ppt/notesMasters/notesMaster1.xml" Id="R8f69a0dc7c244d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d2affdc98bf4d9c" /><Relationship Type="http://schemas.openxmlformats.org/officeDocument/2006/relationships/notesMaster" Target="/ppt/notesMasters/notesMaster1.xml" Id="Rfa20acebfc9d480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dc0de31d03b4a2c" /><Relationship Type="http://schemas.openxmlformats.org/officeDocument/2006/relationships/notesMaster" Target="/ppt/notesMasters/notesMaster1.xml" Id="Rbe52d6c5dabd44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e44caaf01c3461b" /><Relationship Type="http://schemas.openxmlformats.org/officeDocument/2006/relationships/notesMaster" Target="/ppt/notesMasters/notesMaster1.xml" Id="Rb726da98ff0f4405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301a01acc78544c3" /><Relationship Type="http://schemas.openxmlformats.org/officeDocument/2006/relationships/notesMaster" Target="/ppt/notesMasters/notesMaster1.xml" Id="Rcd4de05b0ad54b7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0055a0851864af6" /><Relationship Type="http://schemas.openxmlformats.org/officeDocument/2006/relationships/notesMaster" Target="/ppt/notesMasters/notesMaster1.xml" Id="R6f2c3bb8141f4f6b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ff91ce0acef4d3a" /><Relationship Type="http://schemas.openxmlformats.org/officeDocument/2006/relationships/notesMaster" Target="/ppt/notesMasters/notesMaster1.xml" Id="Rdb279e58676e4d0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098ace2bb604dee" /><Relationship Type="http://schemas.openxmlformats.org/officeDocument/2006/relationships/notesMaster" Target="/ppt/notesMasters/notesMaster1.xml" Id="Rc04ee4351eab44a6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c97e4ffe24d047ef" /><Relationship Type="http://schemas.openxmlformats.org/officeDocument/2006/relationships/notesMaster" Target="/ppt/notesMasters/notesMaster1.xml" Id="R6a29ad6231c041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cfbd4271ed9d41db" /><Relationship Type="http://schemas.openxmlformats.org/officeDocument/2006/relationships/notesMaster" Target="/ppt/notesMasters/notesMaster1.xml" Id="R6edff0a34b16476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c4f2dfd6c31413f" /><Relationship Type="http://schemas.openxmlformats.org/officeDocument/2006/relationships/notesMaster" Target="/ppt/notesMasters/notesMaster1.xml" Id="R5447c4a5e684458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a14931102fd44ce0" /><Relationship Type="http://schemas.openxmlformats.org/officeDocument/2006/relationships/notesMaster" Target="/ppt/notesMasters/notesMaster1.xml" Id="R1c3fdfbf32b04be7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2748895e6ed4d5f" /><Relationship Type="http://schemas.openxmlformats.org/officeDocument/2006/relationships/notesMaster" Target="/ppt/notesMasters/notesMaster1.xml" Id="R79026abc4f1b40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74d132e383e43f8" /><Relationship Type="http://schemas.openxmlformats.org/officeDocument/2006/relationships/notesMaster" Target="/ppt/notesMasters/notesMaster1.xml" Id="R1d3fb693ee5e44c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1. 1 мин. Период 0–1 мин. Слайды 1.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Сегодня посмотрим, как выбор меняет отношения и что можно сделать после ошибки. Сначала послушаем притчу, затем покажем её.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Назовите тему. Роли предложите желающим до начала занятия. Здесь вопросов и обсуждения пока нет.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Вопросы отложены до сценки.</a:t>
            </a:r>
          </a:p>
          <a:p xmlns:a="http://schemas.openxmlformats.org/drawingml/2006/main">
            <a:r>
              <a:t>Ориентир: Задача вступления — направить внимание на весь рассказ, включая старшего сына.</a:t>
            </a:r>
          </a:p>
          <a:p xmlns:a="http://schemas.openxmlformats.org/drawingml/2006/main">
            <a:r>
              <a:t>Ритм: 1 мин на вступление.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2. 5 мин. Период 1–6 мин. Слайды 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 рассказе два сына. Послушайте, какие решения принимает каждый и как к ним обращается отец.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Лк. 15:11–32 целиком по страницам библейского текста. До чтения поясните: имение — имущество; наёмник — работник за плату; рожки — стручки рожкового дерева. После чтения сразу переходите к сценке.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Без вопросов между чтением и сценкой.</a:t>
            </a:r>
          </a:p>
          <a:p xmlns:a="http://schemas.openxmlformats.org/drawingml/2006/main">
            <a:r>
              <a:t>Ориентир: Полный рассказ включает уход, возвращение и разговор отца со старшим сыном.</a:t>
            </a:r>
          </a:p>
          <a:p xmlns:a="http://schemas.openxmlformats.org/drawingml/2006/main">
            <a:r>
              <a:t>Ритм: Около 30 сек на слова, 4,5 мин на чтение.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Полный текст для чтения:</a:t>
            </a:r>
          </a:p>
          <a:p xmlns:a="http://schemas.openxmlformats.org/drawingml/2006/main">
            <a:r>
              <a:t>11 Ещё сказал: у некоторого человека было два сына;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12 и сказал младший из них отцу: «отче! дай мне следующую мне часть имения». И отец разделил им имение.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13 По прошествии немногих дней младший сын, собрав всё, пошёл в дальнюю сторону и там расточил имение своё, живя распутно.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14 Когда же он прожил всё, настал великий голод в той стране, и он начал нуждаться;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15 и пошёл, пристал к одному из жителей страны той, а тот послал его на поля свои пасти свиней;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16 и он рад был наполнить чрево своё рожками, которые ели свиньи, но никто не давал ему.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17 Придя же в себя, сказал: «сколько наёмников у отца моего избыточествуют хлебом, а я умираю от голода;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18 встану, пойду к отцу моему и скажу ему: отче! я согрешил против неба и пред тобою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19 и уже недостоин называться сыном твоим; прими меня в число наёмников твоих».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20 Встал и пошёл к отцу своему. И когда он был ещё далеко, увидел его отец его и сжалился; и, побежав, пал ему на шею и целовал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21 Сын же сказал ему: «отче! я согрешил против неба и пред тобою и уже недостоин называться сыном твоим».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22 А отец сказал рабам своим: «принесите лучшую одежду и оденьте его, и дайте перстень на руку его и обувь на ноги;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23 и приведите откормленного телёнка, и заколите; станем есть и веселиться!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24 Ибо этот сын мой был мёртв и ожил, пропадал и нашёлся». И начали веселиться.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 Старший же сын его был на поле; и, возвращаясь, когда приблизился к дому, услышал пение и ликование;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26 и, призвав одного из слуг, спросил: «что это такое?»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27 Он сказал ему: «брат твой пришёл, и отец твой заколол откормленного телёнка, потому что принял его здоровым».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28 Он осердился и не хотел войти. Отец же его, выйдя, звал 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29 Но он сказал в ответ отцу: «вот, я столько лет служу тебе и никогда не преступал приказания твоего, но ты никогда не дал мне и козлёнка, чтобы мне повеселиться с друзьями моими;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30 а когда этот сын твой, расточивший имение своё с блудницами, пришёл, ты заколол для него откормленного телёнка».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31 Он же сказал ему: «сын мой! ты всегда со мною, и всё моё твоё,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32 а о том надобно было радоваться и веселиться, что брат твой сей был мёртв, и ожил, пропадал, и нашёлся».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3. 6 мин. Период 6–12 мин. Слайды 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Покажем услышанное. Зрители следят за моментами, когда герой делает выбор; поговорим после сцены.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Пять ролей: рассказчик, младший сын, отец, старший сын, слуга. Раздайте страницу 1. Используйте реплики ниже и полный текст. Сумка обозначает уход, два места — дальнюю страну и дом. Переходы объявляет рассказчик. Зрители отмечают один выбор мысленно. Финал не дописываем.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Обсуждение начинается на следующем этапе.</a:t>
            </a:r>
          </a:p>
          <a:p xmlns:a="http://schemas.openxmlformats.org/drawingml/2006/main">
            <a:r>
              <a:t>Ориентир: Актёры сохраняют слова притчи и открытый конец. На рисунке показан фрагмент с четырьмя актёрами; слуга появляется позже.</a:t>
            </a:r>
          </a:p>
          <a:p xmlns:a="http://schemas.openxmlformats.org/drawingml/2006/main">
            <a:r>
              <a:t>Ритм: 1 мин на роли, 5 мин на сценку.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Сценка:</a:t>
            </a:r>
          </a:p>
          <a:p xmlns:a="http://schemas.openxmlformats.org/drawingml/2006/main">
            <a:r>
              <a:t>Рассказчик: Кратко сообщает события стихов 11–17: сын просит долю, уходит, тратит имущество; наступает голод. Сын садится и затем встаёт.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Младший сын: «Встану, пойду к отцу моему» (ст. 18). Подходит к отцу: «Отче! я согрешил против неба и пред тобою и уже недостоин называться сыном твоим» (ст. 21).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Отец: Встречает сына открытыми руками. Читает стихи 22–24 по полному тексту; рассказчик сообщает о начале праздника.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Старший сын и слуга: Старший подходит с другой стороны: «Что это такое?» (ст. 26). Слуга читает ответ из стиха 27. Старший остаётся за порогом.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Рассказчик и старший сын: Рассказчик читает стих 28. Старший читает слова из стихов 29–30, выражая обиду.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Отец: Читает ответ из стихов 31–32. На этом сценка заканчивается; старший сын остаётся перед выбором.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4. 4 мин. Период 12–16 мин. Слайды 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Не всё случившееся человек выбирает. Отделим поступки героя от того, что произошло вокруг него.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Пары получают шесть карточек со страницы 2. Разделяют их на выбор младшего, выбор старшего и внешнее обстоятельство. Один раскладывает, другой проверяет по тексту, затем меняются. Разберите спорные места вместе.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Сам ли младший сын вызвал голод? Какой новый выбор он сделал в нужде?</a:t>
            </a:r>
          </a:p>
          <a:p xmlns:a="http://schemas.openxmlformats.org/drawingml/2006/main">
            <a:r>
              <a:t>Ориентир: Младший просит долю, тратит имущество, решает вернуться и идёт. Наступивший в стране голод — внешнее обстоятельство. Старший сердится и не хочет войти. Нужда связана и с растратой, и с голодом.</a:t>
            </a:r>
          </a:p>
          <a:p xmlns:a="http://schemas.openxmlformats.org/drawingml/2006/main">
            <a:r>
              <a:t>Ритм: 2 мин на сортировку и смену, 2 мин на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3 мин. Период 16–19 мин. Слайды 5–6.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Младший признаёт свою вину. Отец принимает его и выходит к старшему. Старшему тоже предстоит выбор.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В тройках каждый берёт одну точку зрения: младший, отец, старший. Назовите одну реплику из текста и стоящее за ней действие. Обсудите сначала приглашение старшему, затем возвращение младшего. Уточните, что рисунок 03 соединяет темы двух разных эпизодов.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может выбрать старший? Отменяет ли принятие сына всё, что произошло раньше?</a:t>
            </a:r>
          </a:p>
          <a:p xmlns:a="http://schemas.openxmlformats.org/drawingml/2006/main">
            <a:r>
              <a:t>Ориентир: Конец не сообщает, вошёл ли старший. Отец ищет отношений с обоими. Имущество уже растрачено; новая доля младшему в тексте не обещана. Образ милосердного отца помогает говорить о покаянии и возвращении к Богу.</a:t>
            </a:r>
          </a:p>
          <a:p xmlns:a="http://schemas.openxmlformats.org/drawingml/2006/main">
            <a:r>
              <a:t>Ритм: 1,5 мин на три голоса, 1,5 мин на общий разговор.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5. 3 мин. Период 16–19 мин. Слайды 5–6.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Младший признаёт свою вину. Отец принимает его и выходит к старшему. Старшему тоже предстоит выбор.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В тройках каждый берёт одну точку зрения: младший, отец, старший. Назовите одну реплику из текста и стоящее за ней действие. Обсудите сначала приглашение старшему, затем возвращение младшего. Уточните, что рисунок 03 соединяет темы двух разных эпизодов.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может выбрать старший? Отменяет ли принятие сына всё, что произошло раньше?</a:t>
            </a:r>
          </a:p>
          <a:p xmlns:a="http://schemas.openxmlformats.org/drawingml/2006/main">
            <a:r>
              <a:t>Ориентир: Конец не сообщает, вошёл ли старший. Отец ищет отношений с обоими. Имущество уже растрачено; новая доля младшему в тексте не обещана. Образ милосердного отца помогает говорить о покаянии и возвращении к Богу.</a:t>
            </a:r>
          </a:p>
          <a:p xmlns:a="http://schemas.openxmlformats.org/drawingml/2006/main">
            <a:r>
              <a:t>Ритм: 1,5 мин на три голоса, 1,5 мин на общий разговор.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6. 7 мин. Период 19–26 мин. Слайды 7.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Илья обещал часть общего макета. Он хочет пойти играть, но работа ещё не готова. Решение затронет всю команду. У каждого из вас своё условие.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страницу 3 по одному комплекту на четверых. Каждый получает одну карточку и сообщает условие. Команда сравнивает два варианта по вопросам «сейчас», «завтра», «кого затронет». Выбирает план с объёмом и сроком. Учитель отвечает от имени команды: «Как мы узнаем, что часть готова?» Уточните проверку. Все четыре условия должны войти в план.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изменилось решение после того, как вы услышали каждого?</a:t>
            </a:r>
          </a:p>
          <a:p xmlns:a="http://schemas.openxmlformats.org/drawingml/2006/main">
            <a:r>
              <a:t>Ориентир: Илья может закончить свою часть за 40 минут и передать до 19:00; на проверку нужны ещё 10 минут. Игра начинается в 18:30, выбирать можно и частичное участие после договорённости. Допустим другой выполнимый план с согласием команды. Прятать проблему или перекладывать работу без согласия — недостаточно.</a:t>
            </a:r>
          </a:p>
          <a:p xmlns:a="http://schemas.openxmlformats.org/drawingml/2006/main">
            <a:r>
              <a:t>Ритм: 1 мин на случай, 2 мин на обмен, 2 мин на сравнение, 2 мин на план и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Четыре условия:</a:t>
            </a:r>
          </a:p>
          <a:p xmlns:a="http://schemas.openxmlformats.org/drawingml/2006/main">
            <a:r>
              <a:t>Срок: Сейчас 18:00. Часть Ильи нужна к 19:00. Команде нужно 10 минут на общую проверку.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Объём: Илья может закончить свою часть за 40 минут. Без неё макет неполный.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Материалы: Готовые детали и материалы пока у Ильи. Передача и сообщение команде займут 5 минут.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Другие люди: Команда рассчитывает на договор. Игра с друзьями начинается в 18:30; позже можно присоединиться, если договориться.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7. 4 мин. Период 26–30 мин. Слайды 8.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Неожиданно Илье нужно уйти из дома в 18:20 и вернуться в 19:10. Это вымышленное новое обстоятельство. Пересмотрите решение.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Прочитайте новое условие только сейчас. Команды сохраняют первый план и рядом записывают второй. В 18:00 Илья может работать ещё 20 минут, но всей части за это время не завершит. Обсудите раннее сообщение, передачу доступной работы и просьбу о согласованном изменении. Отделите известные факты от прогнозов.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зависит от Ильи сейчас? Какие последствия возможны, но не гарантированы?</a:t>
            </a:r>
          </a:p>
          <a:p xmlns:a="http://schemas.openxmlformats.org/drawingml/2006/main">
            <a:r>
              <a:t>Ориентир: Сообщить сразу, объяснить остаток, передать материалы, предложить реалистичный срок или помощь с согласия других. Реакция команды неизвестна. Прогноз «могут не успеть» обоснован; «все перестанут дружить» текстом случая не подтверждён.</a:t>
            </a:r>
          </a:p>
          <a:p xmlns:a="http://schemas.openxmlformats.org/drawingml/2006/main">
            <a:r>
              <a:t>Ритм: 1 мин на условие, 2 мин на новый план, 1 мин на различение факта и прогноза.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8. 4 мин. Период 30–34 мин. Слайды 9.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Друг говорит: «Дай списать, иначе ты мне не друг». Можно сохранить дружелюбие и предложить честную помощь.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Пары берут одну ситуацию со страницы 4. А предлагает поспешный выбор, Б отвечает: граница и альтернатива. Затем меняются ролями и карточками. Нельзя требовать реальных признаний. Каждый слушатель повторяет, какую альтернативу услышал.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 ответить ясно и без унижения другого?</a:t>
            </a:r>
          </a:p>
          <a:p xmlns:a="http://schemas.openxmlformats.org/drawingml/2006/main">
            <a:r>
              <a:t>Ориентир: Например: «Списывать не дам. Могу объяснить один пример, дальше решишь сам». Для чужого фото: «Без согласия не пересылаю. Давай сначала спросим». Оцениваем ясность ответа и конкретность помощи.</a:t>
            </a:r>
          </a:p>
          <a:p xmlns:a="http://schemas.openxmlformats.org/drawingml/2006/main">
            <a:r>
              <a:t>Ритм: 30 сек на пример, по 1 мин на два разговора, 1,5 мин на обратную связь.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9. 3 мин. Период 34–37 мин. Слайды 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Личный снимок уже переслан без согласия. Какой следующий выбор может уменьшить вред?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На странице 5 пары раскладывают четыре шага и называют первое действие. Партнёр проверяет: остановлено ли распространение и есть ли конкретное исправление? Объясните, что удаление своей копии не гарантирует исчезновения всех копий.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Чем отличается извинение от оправдания? Что можно сделать сегодня?</a:t>
            </a:r>
          </a:p>
          <a:p xmlns:a="http://schemas.openxmlformats.org/drawingml/2006/main">
            <a:r>
              <a:t>Ориентир: Остановить дальнейшую пересылку, попросить получателей удалить; признать поступок перед человеком, спросить о нужной помощи, выполнить договор. «Я переслал без твоего согласия» — признание; «все пересылают» — оправдание. Немедленное восстановление доверия не обещаем.</a:t>
            </a:r>
          </a:p>
          <a:p xmlns:a="http://schemas.openxmlformats.org/drawingml/2006/main">
            <a:r>
              <a:t>Ритм: 1 мин на порядок, 1 мин на фразу, 1 мин на проверку действия.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Шаги исправления:</a:t>
            </a:r>
          </a:p>
          <a:p xmlns:a="http://schemas.openxmlformats.org/drawingml/2006/main">
            <a:r>
              <a:t>Остановить вред: Прекрати пересылку и попроси получателей удалить фото.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Признать поступок: Скажи человеку: «Я переслал без твоего согласия». Не оправдывайся.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Обсудить исправление: Спроси, что поможет. Договоритесь о посильном действии.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Сделать и проверить: Выполни договор. Проверь результат; доверие может возвращаться постепенно.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 Период 37–40 мин. Слайды 11–12.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Вернёмся к команде Ильи. Подготовьте сообщение, после которого будет понятно, что вы сделаете и когда.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Команда произносит сообщение из четырёх частей: факт, ответственность, выполнимое предложение, проверка. Соседняя команда задаёт один уточняющий вопрос. Исправьте сообщение после ответа. На слайде 12 напомните, что следующий шаг — выполнить договор.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срок и результат можно проверить?</a:t>
            </a:r>
          </a:p>
          <a:p xmlns:a="http://schemas.openxmlformats.org/drawingml/2006/main">
            <a:r>
              <a:t>Ориентир: «Я не закончил часть. До 18:20 передам готовые детали и список остатка. Сможем согласовать, что реально успеем? В 19:10 снова свяжусь». Новый срок принимают совместно. Действие важнее обещания «больше никогда».</a:t>
            </a:r>
          </a:p>
          <a:p xmlns:a="http://schemas.openxmlformats.org/drawingml/2006/main">
            <a:r>
              <a:t>Ритм: 1 мин на сообщение, 1 мин на вопрос, 1 мин на улучшение.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10. 3 мин. Период 37–40 мин. Слайды 11–12.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Вернёмся к команде Ильи. Подготовьте сообщение, после которого будет понятно, что вы сделаете и когда.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Команда произносит сообщение из четырёх частей: факт, ответственность, выполнимое предложение, проверка. Соседняя команда задаёт один уточняющий вопрос. Исправьте сообщение после ответа. На слайде 12 напомните, что следующий шаг — выполнить договор.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срок и результат можно проверить?</a:t>
            </a:r>
          </a:p>
          <a:p xmlns:a="http://schemas.openxmlformats.org/drawingml/2006/main">
            <a:r>
              <a:t>Ориентир: «Я не закончил часть. До 18:20 передам готовые детали и список остатка. Сможем согласовать, что реально успеем? В 19:10 снова свяжусь». Новый срок принимают совместно. Действие важнее обещания «больше никогда».</a:t>
            </a:r>
          </a:p>
          <a:p xmlns:a="http://schemas.openxmlformats.org/drawingml/2006/main">
            <a:r>
              <a:t>Ритм: 1 мин на сообщение, 1 мин на вопрос, 1 мин на улучшение.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11. 3 мин. Период 40–43 мин. Слайды 13.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Выбери одно решение, которое можно обдумать заранее. Можно продолжить вымышленную историю. Лист останется у тебя.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Раздайте страницу 6 каждому. Запишите действие, людей, возможные последствия, альтернативу, первый шаг и срок проверки. В паре по желанию проверьте только конкретность шага. На следующей встрече предложите рассказать, что получилось и что пришлось пересмотреть.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Что именно я сделаю первым и когда?</a:t>
            </a:r>
          </a:p>
          <a:p xmlns:a="http://schemas.openxmlformats.org/drawingml/2006/main">
            <a:r>
              <a:t>Ориентир: Личный план содержит действие и время. Человек различает свою ответственность, внешние обстоятельства и неизвестную реакцию других.</a:t>
            </a:r>
          </a:p>
          <a:p xmlns:a="http://schemas.openxmlformats.org/drawingml/2006/main">
            <a:r>
              <a:t>Ритм: 2 мин на личный лист, 1 мин на уточнение шага.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Этап 12. 2 мин. Период 43–45 мин. Слайды 14.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Реплика учителя: Назови партнёру один выбор героя и одно обстоятельство. Затем закончи: «Перед решением я спрошу себя…». Попросим Бога помочь нам выбирать добро и признавать ошибки.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Как провести: 30 сек на ответы партнёру, 30 сек на два общих ответа. Прочитайте авторскую молитву: «Господи Иисусе Христе, помоги мне видеть последствия своих поступков, признавать ошибки и выбирать добро. Дай смелость вернуться к Тебе и начать исправление. Аминь». Можно молча слушать.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Вопрос: Какой новый выбор остаётся после ошибки?</a:t>
            </a:r>
          </a:p>
          <a:p xmlns:a="http://schemas.openxmlformats.org/drawingml/2006/main">
            <a:r>
              <a:t>Ориентир: Признать ответственность, уменьшить вред, обратиться к Богу и человеку, начать посильное исправление. Милость открывает путь возвращения.</a:t>
            </a:r>
          </a:p>
          <a:p xmlns:a="http://schemas.openxmlformats.org/drawingml/2006/main">
            <a:r>
              <a:t>Ритм: 1 мин на обратную связь, 1 мин на молитву и завершение.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Источник: Лк. 15:11–32, Синодальный перевод, https://bible.by/syn/42/15/ . После полного чтения сразу сценка. Голод — внешнее обстоятельство. Текст не сообщает, вошёл ли старший сын. Рисунок 03 соединяет два последовательных эпизода притчи. Современные ситуации и герои вымышлены. Иллюстрации созданы для урока. Молитва — авторский пример.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d3ad03ae486455f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fcd56952cc4ee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5f53e6801da44a7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75f13bdb82e459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8952f8cae4447a5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b2825271144486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002D560-80A7-4A82-A7F7-BBA9FBED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2098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5A6CBADD-D17C-4DB2-85B0-E1BD89DB70C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Subtitle">
            <a:extLst xmlns:a="http://schemas.openxmlformats.org/drawingml/2006/main">
              <a:ext uri="{FF2B5EF4-FFF2-40B4-BE49-F238E27FC236}">
                <a16:creationId xmlns:a16="http://schemas.microsoft.com/office/drawing/2014/main" id="{EAAAE40C-2558-491F-A865-D1B880141C88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Accent rule">
            <a:extLst xmlns:a="http://schemas.openxmlformats.org/drawingml/2006/main">
              <a:ext uri="{FF2B5EF4-FFF2-40B4-BE49-F238E27FC236}">
                <a16:creationId xmlns:a16="http://schemas.microsoft.com/office/drawing/2014/main" id="{62B3D80F-FF52-4913-A3E1-6077BB48F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24765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2EB6399-C446-4BFD-BFB1-ECD4A9C1F534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738F838F-EB58-4271-B3EB-104A476785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C7CD62B3-61B9-46D6-9C13-41992251DBF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Body">
            <a:extLst xmlns:a="http://schemas.openxmlformats.org/drawingml/2006/main">
              <a:ext uri="{FF2B5EF4-FFF2-40B4-BE49-F238E27FC236}">
                <a16:creationId xmlns:a16="http://schemas.microsoft.com/office/drawing/2014/main" id="{E1E87D38-63D6-442F-8A21-C33CC53EEC5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Accent rule">
            <a:extLst xmlns:a="http://schemas.openxmlformats.org/drawingml/2006/main">
              <a:ext uri="{FF2B5EF4-FFF2-40B4-BE49-F238E27FC236}">
                <a16:creationId xmlns:a16="http://schemas.microsoft.com/office/drawing/2014/main" id="{21748D88-8CB9-4201-B25C-1CDC25BA1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B4F6672C-910F-4E78-9043-EB09C745A40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0C28C6A9-F2F5-41B3-9289-46DB139BC616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4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C7450691-FFCC-46F3-B0E6-E8DADF2D082B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Accent rule">
            <a:extLst xmlns:a="http://schemas.openxmlformats.org/drawingml/2006/main">
              <a:ext uri="{FF2B5EF4-FFF2-40B4-BE49-F238E27FC236}">
                <a16:creationId xmlns:a16="http://schemas.microsoft.com/office/drawing/2014/main" id="{DFF653F9-ED38-4637-8C48-A5F5237F9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524000"/>
            <a:ext cx="6096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1"/>
          </a:solidFill>
          <a:ln xmlns:a="http://schemas.openxmlformats.org/drawingml/2006/main">
            <a:noFill/>
            <a:prstDash val="solid"/>
          </a:ln>
        </p:spPr>
      </p:sp>
      <p:sp>
        <p:nvSpPr>
          <p:cNvPr id="2" name="Title">
            <a:extLst xmlns:a="http://schemas.openxmlformats.org/drawingml/2006/main">
              <a:ext uri="{FF2B5EF4-FFF2-40B4-BE49-F238E27FC236}">
                <a16:creationId xmlns:a16="http://schemas.microsoft.com/office/drawing/2014/main" id="{67C912EE-D511-4804-94CA-24D63CF5E2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3" name="Left column">
            <a:extLst xmlns:a="http://schemas.openxmlformats.org/drawingml/2006/main">
              <a:ext uri="{FF2B5EF4-FFF2-40B4-BE49-F238E27FC236}">
                <a16:creationId xmlns:a16="http://schemas.microsoft.com/office/drawing/2014/main" id="{2059A8E1-D482-4D08-9757-E0009C32658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cb639b40f4f42bc" /><Relationship Type="http://schemas.openxmlformats.org/officeDocument/2006/relationships/slideLayout" Target="/ppt/slideLayouts/slideLayout1.xml" Id="Rdf03f63b60e243f6" /><Relationship Type="http://schemas.openxmlformats.org/officeDocument/2006/relationships/slideLayout" Target="/ppt/slideLayouts/slideLayout2.xml" Id="R090eac04e00043fc" /><Relationship Type="http://schemas.openxmlformats.org/officeDocument/2006/relationships/slideLayout" Target="/ppt/slideLayouts/slideLayout3.xml" Id="R96d6d4316cb8480d" /><Relationship Type="http://schemas.openxmlformats.org/officeDocument/2006/relationships/slideLayout" Target="/ppt/slideLayouts/slideLayout4.xml" Id="R57978d57c8824412" /><Relationship Type="http://schemas.openxmlformats.org/officeDocument/2006/relationships/slideLayout" Target="/ppt/slideLayouts/slideLayout5.xml" Id="Recf21c0834b54a25" /><Relationship Type="http://schemas.openxmlformats.org/officeDocument/2006/relationships/slideLayout" Target="/ppt/slideLayouts/slideLayout6.xml" Id="R1da877c596c1480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f03f63b60e243f6"/>
    <p:sldLayoutId xmlns:r="http://schemas.openxmlformats.org/officeDocument/2006/relationships" id="2147483650" r:id="R090eac04e00043fc"/>
    <p:sldLayoutId xmlns:r="http://schemas.openxmlformats.org/officeDocument/2006/relationships" id="2147483651" r:id="R96d6d4316cb8480d"/>
    <p:sldLayoutId xmlns:r="http://schemas.openxmlformats.org/officeDocument/2006/relationships" id="2147483652" r:id="R57978d57c8824412"/>
    <p:sldLayoutId xmlns:r="http://schemas.openxmlformats.org/officeDocument/2006/relationships" id="2147483653" r:id="Recf21c0834b54a25"/>
    <p:sldLayoutId xmlns:r="http://schemas.openxmlformats.org/officeDocument/2006/relationships" id="2147483654" r:id="R1da877c596c1480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40ff43c59e04b0f" /><Relationship Type="http://schemas.openxmlformats.org/officeDocument/2006/relationships/image" Target="/ppt/media/image.jpeg" Id="Ra335d07555be4367" /><Relationship Type="http://schemas.openxmlformats.org/officeDocument/2006/relationships/notesSlide" Target="/ppt/notesSlides/notesSlide1.xml" Id="R012c7cfb179b43e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81f51c04380d47c0" /><Relationship Type="http://schemas.openxmlformats.org/officeDocument/2006/relationships/image" Target="/ppt/media/image2.jpeg" Id="R34aeeec085954578" /><Relationship Type="http://schemas.openxmlformats.org/officeDocument/2006/relationships/notesSlide" Target="/ppt/notesSlides/notesSlide2.xml" Id="R08117b0e76f94d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7436c25c1569456c" /><Relationship Type="http://schemas.openxmlformats.org/officeDocument/2006/relationships/image" Target="/ppt/media/image3.jpeg" Id="R7147d45ccd2b4118" /><Relationship Type="http://schemas.openxmlformats.org/officeDocument/2006/relationships/notesSlide" Target="/ppt/notesSlides/notesSlide3.xml" Id="R9875939ef0ed402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6c230955c8ac4020" /><Relationship Type="http://schemas.openxmlformats.org/officeDocument/2006/relationships/image" Target="/ppt/media/image4.jpeg" Id="R6315270b51694e67" /><Relationship Type="http://schemas.openxmlformats.org/officeDocument/2006/relationships/notesSlide" Target="/ppt/notesSlides/notesSlide4.xml" Id="R8be50064b524426e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05b706f507c4988" /><Relationship Type="http://schemas.openxmlformats.org/officeDocument/2006/relationships/image" Target="/ppt/media/image5.jpeg" Id="R127a11cfca4646c1" /><Relationship Type="http://schemas.openxmlformats.org/officeDocument/2006/relationships/notesSlide" Target="/ppt/notesSlides/notesSlide5.xml" Id="R31685c7a5de3416e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6e89e71ecec403c" /><Relationship Type="http://schemas.openxmlformats.org/officeDocument/2006/relationships/image" Target="/ppt/media/image6.jpeg" Id="Rc2ec0f8692354310" /><Relationship Type="http://schemas.openxmlformats.org/officeDocument/2006/relationships/notesSlide" Target="/ppt/notesSlides/notesSlide6.xml" Id="R6c5680be8c7f411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39864f167cfd4ef4" /><Relationship Type="http://schemas.openxmlformats.org/officeDocument/2006/relationships/image" Target="/ppt/media/image7.jpeg" Id="R1fff3ab28ba84942" /><Relationship Type="http://schemas.openxmlformats.org/officeDocument/2006/relationships/notesSlide" Target="/ppt/notesSlides/notesSlide7.xml" Id="R56b601293d744347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4ede9a5566964de3" /><Relationship Type="http://schemas.openxmlformats.org/officeDocument/2006/relationships/image" Target="/ppt/media/image8.jpeg" Id="R32e178fbbfba4d3a" /><Relationship Type="http://schemas.openxmlformats.org/officeDocument/2006/relationships/notesSlide" Target="/ppt/notesSlides/notesSlide8.xml" Id="R9416daf3a9fb479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b6b19ad5c4a4dad" /><Relationship Type="http://schemas.openxmlformats.org/officeDocument/2006/relationships/image" Target="/ppt/media/image9.jpeg" Id="R1a7eebbb2cf84f49" /><Relationship Type="http://schemas.openxmlformats.org/officeDocument/2006/relationships/notesSlide" Target="/ppt/notesSlides/notesSlide9.xml" Id="R23745246ee0543b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f5b048624d90464b" /><Relationship Type="http://schemas.openxmlformats.org/officeDocument/2006/relationships/image" Target="/ppt/media/image10.jpeg" Id="R699e41d72983465a" /><Relationship Type="http://schemas.openxmlformats.org/officeDocument/2006/relationships/notesSlide" Target="/ppt/notesSlides/notesSlide10.xml" Id="R7314cbb49cc742d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def21f0f5ec94823" /><Relationship Type="http://schemas.openxmlformats.org/officeDocument/2006/relationships/image" Target="/ppt/media/image11.jpeg" Id="Rf4def9bdbcc84161" /><Relationship Type="http://schemas.openxmlformats.org/officeDocument/2006/relationships/notesSlide" Target="/ppt/notesSlides/notesSlide11.xml" Id="R1061c1128a584b7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9a7d42156d6e42fd" /><Relationship Type="http://schemas.openxmlformats.org/officeDocument/2006/relationships/image" Target="/ppt/media/image12.jpeg" Id="R42e72d763d0c4f35" /><Relationship Type="http://schemas.openxmlformats.org/officeDocument/2006/relationships/notesSlide" Target="/ppt/notesSlides/notesSlide12.xml" Id="R252800a5937248e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973cf5942e94d07" /><Relationship Type="http://schemas.openxmlformats.org/officeDocument/2006/relationships/image" Target="/ppt/media/image13.jpeg" Id="Re51f2dd1ee744f9a" /><Relationship Type="http://schemas.openxmlformats.org/officeDocument/2006/relationships/notesSlide" Target="/ppt/notesSlides/notesSlide13.xml" Id="R3d34acd056cc463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be8cad63094045db" /><Relationship Type="http://schemas.openxmlformats.org/officeDocument/2006/relationships/image" Target="/ppt/media/image14.jpeg" Id="Rcb20f704b9a74cf3" /><Relationship Type="http://schemas.openxmlformats.org/officeDocument/2006/relationships/notesSlide" Target="/ppt/notesSlides/notesSlide14.xml" Id="R75e9a5e764fe4edc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335d07555be4367"/>
          <a:stretch xmlns:a="http://schemas.openxmlformats.org/drawingml/2006/main"/>
        </p:blipFill>
        <p:spPr>
          <a:xfrm xmlns:a="http://schemas.openxmlformats.org/drawingml/2006/main">
            <a:off x="3239" y="0"/>
            <a:ext cx="12185522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text-0">
            <a:extLst xmlns:a="http://schemas.openxmlformats.org/drawingml/2006/main">
              <a:ext uri="{FF2B5EF4-FFF2-40B4-BE49-F238E27FC236}">
                <a16:creationId xmlns:a16="http://schemas.microsoft.com/office/drawing/2014/main" id="{0D762CC0-98A9-49F8-884B-ED96E1593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200150"/>
            <a:ext cx="5048250" cy="2914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Я имею право</a:t>
            </a:r>
          </a:p>
          <a:p xmlns:a="http://schemas.openxmlformats.org/drawingml/2006/main">
            <a:pPr>
              <a:def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выбирать —</a:t>
            </a:r>
          </a:p>
          <a:p xmlns:a="http://schemas.openxmlformats.org/drawingml/2006/main">
            <a:pPr>
              <a:def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но что будет</a:t>
            </a:r>
          </a:p>
          <a:p xmlns:a="http://schemas.openxmlformats.org/drawingml/2006/main">
            <a:pPr>
              <a:def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6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потом?</a:t>
            </a:r>
          </a:p>
        </p:txBody>
      </p:sp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3AF39F4-A7AF-4920-B087-BE1D483AA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48250"/>
            <a:ext cx="4667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14–16 лет   45 минут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2D75B61-C169-4807-A14E-9D9003DAF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648325"/>
            <a:ext cx="4191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0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20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Лк. 15:11–32</a:t>
            </a:r>
          </a:p>
        </p:txBody>
      </p:sp>
    </p:spTree>
    <p:extLst>
      <p:ext uri="{BB962C8B-B14F-4D97-AF65-F5344CB8AC3E}">
        <p14:creationId xmlns:p14="http://schemas.microsoft.com/office/powerpoint/2010/main" val="111259577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A40FC861-A802-4BC0-8D61-258C09080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Слушаем всю притчу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4aeeec085954578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8E34B63-E9E2-4D47-8D84-958475749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Лк. 15:11–32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Слушаем весь текст.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Затем сразу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покажем сценку.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18599DA-9E30-4AE8-89B9-607C0864E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727737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568BB587-D7CB-4BD8-AD1D-9EDA689BA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Сценка Два сына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47d45ccd2b4118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521B613-57BE-4106-B57B-9671487A1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Младший сын.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Отец. Старший сын.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Какой выбор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ты заметишь?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09ECE82A-B6D3-4F1C-92EE-E03343048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Сначала сценка, после неё обсуждение.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5B41E7D0-86A9-4130-8C20-12BE2BD4CB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9575111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text-0">
            <a:extLst xmlns:a="http://schemas.openxmlformats.org/drawingml/2006/main">
              <a:ext uri="{FF2B5EF4-FFF2-40B4-BE49-F238E27FC236}">
                <a16:creationId xmlns:a16="http://schemas.microsoft.com/office/drawing/2014/main" id="{821ED7B1-7587-4586-9188-14B7B6525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Выбор или обстоятельство?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315270b51694e67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584DFA43-A2BA-491F-970D-43761E7B3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выбрал сын?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случилось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 стране?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Разделим события.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FEC81379-5908-4D55-B2EF-941C088070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857333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2B96B74-F9B0-4D8B-AD3A-8444F8579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Старший тоже выбирает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27a11cfca4646c1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13412CAD-6F5A-43DE-A1D0-67C9D314E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Отец выходит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 старшему сыну.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старший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может выбрать?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Лк. 15:28–32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85D2255A-96B7-4FFB-9BDB-9AD823799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Конец притчи остаётся открытым.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2075CAA-B33E-46ED-872D-8232D965C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676794187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E18802B1-89A2-43E7-863B-79265C909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Принятие и последствия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2ec0f8692354310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EE589CA2-D179-445B-8316-4690CC1BD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Сын принят домой.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уже произошло?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может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начаться заново?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DEDB6AF-4D6A-4E89-A678-8A6A32B6A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Рисунок соединяет два эпизода рассказа.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F08E731-1FCD-4E23-AA64-AF92F191E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0330589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DB314163-CB40-494A-AD56-37FD8B5C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Четыре условия одного решения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ff3ab28ba84942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C88927E-3521-442A-BC0C-BEE1AAC08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Сейчас 18:00.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Макет нужен к 19:00.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Выслушайте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все четыре условия.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Сравните 2 варианта.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E1A84C30-522C-40DE-B9E7-46C7380F5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Срок, работа, материалы, другие люди.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64E69D82-E4E6-474B-BAA1-3D3D748C6B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08592979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12D7CEB-DC88-4A3A-948F-2ACB58F46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Обстоятельства изменились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e178fbbfba4d3a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B9BA9EB4-12A1-4E7C-8A42-DF314FBA7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Илья уходит в 18:20.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Вернётся в 19:10.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изменим?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сообщим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команде сейчас?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ACEBB5C6-E362-4180-BFD8-AAE09814D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Сохраните первый план и составьте второй.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37592539-6084-4FD3-AF9C-2E4E8D157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38010359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0E887A08-4556-4FFD-9A20-921B9143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Разговор под давлением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a7eebbb2cf84f49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C6F66C6-BF20-4B9A-8AE7-74BC5853F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«Дай списать,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иначе ты не друг».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Обозначь границу.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Предложи помощь.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866709B-31B6-48FB-905A-886303A3B1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Затем меняемся ролями.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F831E40D-3273-4225-AFC0-18C04F6B1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151275734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81CC8ED9-9F8E-43DF-8F9A-9B8CDE67E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Ошибка уже сделана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99e41d72983465a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3E5D2866-F43E-4F6B-B198-024AB85B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Фото переслано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без согласия.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Как остановить вред?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признать?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исправить?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600BB5EC-9FD2-4342-92C1-6B9166822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Извинение продолжается действием.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B88A2A0C-5688-4E5D-9C8E-FBD6B6EA7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897166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36F8CE16-A93C-4DB8-A381-FEFB38730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скажешь команде?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4def9bdbcc84161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8FDBDA0C-C40E-4B11-AA4F-846D59B8C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произошло?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За что отвечаю?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могу сделать?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Когда проверим?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Назовите точный шаг.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3715F3D-C249-4CFB-9F2F-6C82FE68B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Уточняющий вопрос — затем доработка.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EE3D7D68-54BD-4295-A10E-0A9650EBA1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1888124170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409BC3A7-E28A-4C49-903C-10A78204D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Исправление начинается с дела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e72d763d0c4f35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AD3B0FC-EE22-483F-A6F2-737899AC1C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Признать поступок.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Договориться.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Выполнить договор.</a:t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Проверить результат.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77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Какой шаг первый?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581F66FB-7371-4167-BA31-ACF64970D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Доверие может возвращаться постепенно.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F54280C-DF3E-4A28-8A27-92E677FA6B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1006546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90A69207-0851-4653-8CCE-C55295A9A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Мой выбор на неделю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51f2dd1ee744f9a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D218B435-6EAC-4DEE-B859-6DE727D5C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выбираю?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Кого затронет?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Что возможно потом?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Когда начну?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Как проверю?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2E2BA14B-DB06-4F5A-9E12-150EECAD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Личный лист остаётся у тебя.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9B8511AE-A885-48D6-8666-2A3FD9BB2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24358849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AF6E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text-0">
            <a:extLst xmlns:a="http://schemas.openxmlformats.org/drawingml/2006/main">
              <a:ext uri="{FF2B5EF4-FFF2-40B4-BE49-F238E27FC236}">
                <a16:creationId xmlns:a16="http://schemas.microsoft.com/office/drawing/2014/main" id="{F74806C2-4934-4210-BBDB-105D1F4BC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7200"/>
            <a:ext cx="109728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3300" b="1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Могу изменить следующий шаг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b20f704b9a74cf3"/>
          <a:stretch xmlns:a="http://schemas.openxmlformats.org/drawingml/2006/main"/>
        </p:blipFill>
        <p:spPr>
          <a:xfrm xmlns:a="http://schemas.openxmlformats.org/drawingml/2006/main">
            <a:off x="5429250" y="2045169"/>
            <a:ext cx="6153150" cy="3462987"/>
          </a:xfrm>
          <a:prstGeom xmlns:a="http://schemas.openxmlformats.org/drawingml/2006/main" prst="rect">
            <a:avLst/>
          </a:prstGeom>
        </p:spPr>
      </p:pic>
      <p:sp>
        <p:nvSpPr>
          <p:cNvPr id="3" name="text-1">
            <a:extLst xmlns:a="http://schemas.openxmlformats.org/drawingml/2006/main">
              <a:ext uri="{FF2B5EF4-FFF2-40B4-BE49-F238E27FC236}">
                <a16:creationId xmlns:a16="http://schemas.microsoft.com/office/drawing/2014/main" id="{CFA1022C-961A-46A9-9D3C-9873EDB74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24050"/>
            <a:ext cx="4552950" cy="3924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Господи Иисусе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Христе, помоги мне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видеть последствия,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признавать ошибки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и выбирать добро.</a:t>
            </a:r>
          </a:p>
          <a:p xmlns:a="http://schemas.openxmlformats.org/drawingml/2006/main">
            <a:pPr>
              <a:def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defRPr>
            </a:pPr>
            <a:r>
              <a:rPr sz="2625" b="0">
                <a:solidFill>
                  <a:srgbClr val="49372E"/>
                </a:solidFill>
                <a:latin typeface="DejaVu Sans"/>
                <a:ea typeface="DejaVu Sans"/>
                <a:cs typeface="DejaVu Sans"/>
              </a:rPr>
              <a:t>Аминь.</a:t>
            </a:r>
          </a:p>
        </p:txBody>
      </p:sp>
      <p:sp>
        <p:nvSpPr>
          <p:cNvPr id="4" name="text-2">
            <a:extLst xmlns:a="http://schemas.openxmlformats.org/drawingml/2006/main">
              <a:ext uri="{FF2B5EF4-FFF2-40B4-BE49-F238E27FC236}">
                <a16:creationId xmlns:a16="http://schemas.microsoft.com/office/drawing/2014/main" id="{3A688C78-662B-4DCA-A851-D5E79CAFA2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0191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87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Авторский пример короткой молитвы</a:t>
            </a:r>
          </a:p>
        </p:txBody>
      </p:sp>
      <p:sp>
        <p:nvSpPr>
          <p:cNvPr id="5" name="text-3">
            <a:extLst xmlns:a="http://schemas.openxmlformats.org/drawingml/2006/main">
              <a:ext uri="{FF2B5EF4-FFF2-40B4-BE49-F238E27FC236}">
                <a16:creationId xmlns:a16="http://schemas.microsoft.com/office/drawing/2014/main" id="{074AAE33-13C8-4007-83D2-F4AAA455E5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19850"/>
            <a:ext cx="495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defRPr>
            </a:pPr>
            <a:r>
              <a:rPr sz="1425" b="0">
                <a:solidFill>
                  <a:srgbClr val="72594A"/>
                </a:solidFill>
                <a:latin typeface="DejaVu Sans"/>
                <a:ea typeface="DejaVu Sans"/>
                <a:cs typeface="DejaVu Sans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8092395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2026-10-02T21:45:36.2770000Z</dcterms:created>
  <dcterms:modified xsi:type="dcterms:W3CDTF">2026-10-02T21:45:36.2770000Z</dcterms:modified>
</coreProperties>
</file>