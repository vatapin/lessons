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69c890bc794d0f" /><Relationship Type="http://schemas.openxmlformats.org/officeDocument/2006/relationships/extended-properties" Target="/docProps/app.xml" Id="R9b1bd2dd355c4cdb" /><Relationship Type="http://schemas.openxmlformats.org/officeDocument/2006/relationships/officeDocument" Target="/ppt/presentation.xml" Id="R1c614f7ccc5c43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1f8523c7f8447e"/>
  </p:sldMasterIdLst>
  <p:notesMasterIdLst>
    <p:notesMasterId xmlns:r="http://schemas.openxmlformats.org/officeDocument/2006/relationships" r:id="R61736366145445e6"/>
  </p:notesMasterIdLst>
  <p:sldIdLst>
    <p:sldId xmlns:r="http://schemas.openxmlformats.org/officeDocument/2006/relationships" id="256" r:id="Rae3a1d58770f4095"/>
    <p:sldId xmlns:r="http://schemas.openxmlformats.org/officeDocument/2006/relationships" id="257" r:id="R808df004a62842ed"/>
    <p:sldId xmlns:r="http://schemas.openxmlformats.org/officeDocument/2006/relationships" id="258" r:id="R14c3c75de6c64c0c"/>
    <p:sldId xmlns:r="http://schemas.openxmlformats.org/officeDocument/2006/relationships" id="259" r:id="R8daf863a7ab94774"/>
    <p:sldId xmlns:r="http://schemas.openxmlformats.org/officeDocument/2006/relationships" id="260" r:id="Rfa710426828f4469"/>
    <p:sldId xmlns:r="http://schemas.openxmlformats.org/officeDocument/2006/relationships" id="261" r:id="R3fef0ccf5301494a"/>
    <p:sldId xmlns:r="http://schemas.openxmlformats.org/officeDocument/2006/relationships" id="262" r:id="Rcbb9f6a357c34f3a"/>
    <p:sldId xmlns:r="http://schemas.openxmlformats.org/officeDocument/2006/relationships" id="263" r:id="Rbc1c226c1eb04887"/>
    <p:sldId xmlns:r="http://schemas.openxmlformats.org/officeDocument/2006/relationships" id="264" r:id="R663363bf288b4cc9"/>
    <p:sldId xmlns:r="http://schemas.openxmlformats.org/officeDocument/2006/relationships" id="265" r:id="R5532068c7b634876"/>
    <p:sldId xmlns:r="http://schemas.openxmlformats.org/officeDocument/2006/relationships" id="266" r:id="R77fd5c44d2ed4dcc"/>
    <p:sldId xmlns:r="http://schemas.openxmlformats.org/officeDocument/2006/relationships" id="267" r:id="Rbb4fec453cdd426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6c868ac4ce4bc4" /><Relationship Type="http://schemas.openxmlformats.org/officeDocument/2006/relationships/slideMaster" Target="/ppt/slideMasters/slideMaster1.xml" Id="Rfa1f8523c7f8447e" /><Relationship Type="http://schemas.openxmlformats.org/officeDocument/2006/relationships/notesMaster" Target="/ppt/notesMasters/notesMaster1.xml" Id="R61736366145445e6" /><Relationship Type="http://schemas.openxmlformats.org/officeDocument/2006/relationships/presProps" Target="/ppt/presProps.xml" Id="R170b6af5c46449a7" /><Relationship Type="http://schemas.openxmlformats.org/officeDocument/2006/relationships/tableStyles" Target="/ppt/tableStyles.xml" Id="Re5ac08ce0cc44c33" /><Relationship Type="http://schemas.openxmlformats.org/officeDocument/2006/relationships/slide" Target="/ppt/slides/slide1.xml" Id="Rae3a1d58770f4095" /><Relationship Type="http://schemas.openxmlformats.org/officeDocument/2006/relationships/slide" Target="/ppt/slides/slide2.xml" Id="R808df004a62842ed" /><Relationship Type="http://schemas.openxmlformats.org/officeDocument/2006/relationships/slide" Target="/ppt/slides/slide3.xml" Id="R14c3c75de6c64c0c" /><Relationship Type="http://schemas.openxmlformats.org/officeDocument/2006/relationships/slide" Target="/ppt/slides/slide4.xml" Id="R8daf863a7ab94774" /><Relationship Type="http://schemas.openxmlformats.org/officeDocument/2006/relationships/slide" Target="/ppt/slides/slide5.xml" Id="Rfa710426828f4469" /><Relationship Type="http://schemas.openxmlformats.org/officeDocument/2006/relationships/slide" Target="/ppt/slides/slide6.xml" Id="R3fef0ccf5301494a" /><Relationship Type="http://schemas.openxmlformats.org/officeDocument/2006/relationships/slide" Target="/ppt/slides/slide7.xml" Id="Rcbb9f6a357c34f3a" /><Relationship Type="http://schemas.openxmlformats.org/officeDocument/2006/relationships/slide" Target="/ppt/slides/slide8.xml" Id="Rbc1c226c1eb04887" /><Relationship Type="http://schemas.openxmlformats.org/officeDocument/2006/relationships/slide" Target="/ppt/slides/slide9.xml" Id="R663363bf288b4cc9" /><Relationship Type="http://schemas.openxmlformats.org/officeDocument/2006/relationships/slide" Target="/ppt/slides/slide10.xml" Id="R5532068c7b634876" /><Relationship Type="http://schemas.openxmlformats.org/officeDocument/2006/relationships/slide" Target="/ppt/slides/slide11.xml" Id="R77fd5c44d2ed4dcc" /><Relationship Type="http://schemas.openxmlformats.org/officeDocument/2006/relationships/slide" Target="/ppt/slides/slide12.xml" Id="Rbb4fec453cdd42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0b15b8855243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87e8496c4c4e72" /><Relationship Type="http://schemas.openxmlformats.org/officeDocument/2006/relationships/notesMaster" Target="/ppt/notesMasters/notesMaster1.xml" Id="Refdeaf3f2dbc48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96e4fab405487b" /><Relationship Type="http://schemas.openxmlformats.org/officeDocument/2006/relationships/notesMaster" Target="/ppt/notesMasters/notesMaster1.xml" Id="R53f6760cab2b45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ba8853664c4d21" /><Relationship Type="http://schemas.openxmlformats.org/officeDocument/2006/relationships/notesMaster" Target="/ppt/notesMasters/notesMaster1.xml" Id="R30b685e1639344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119610e49148b1" /><Relationship Type="http://schemas.openxmlformats.org/officeDocument/2006/relationships/notesMaster" Target="/ppt/notesMasters/notesMaster1.xml" Id="Rabef0ce5c98342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12f502b287469c" /><Relationship Type="http://schemas.openxmlformats.org/officeDocument/2006/relationships/notesMaster" Target="/ppt/notesMasters/notesMaster1.xml" Id="R1cda3d2d63fc4b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be3dd93ec04e69" /><Relationship Type="http://schemas.openxmlformats.org/officeDocument/2006/relationships/notesMaster" Target="/ppt/notesMasters/notesMaster1.xml" Id="R44f30404e64244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90a804f5c743d5" /><Relationship Type="http://schemas.openxmlformats.org/officeDocument/2006/relationships/notesMaster" Target="/ppt/notesMasters/notesMaster1.xml" Id="Ra9e45bf93ee047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fbe6ed774242a7" /><Relationship Type="http://schemas.openxmlformats.org/officeDocument/2006/relationships/notesMaster" Target="/ppt/notesMasters/notesMaster1.xml" Id="Rd0c232b891e540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8e8e4631f74b65" /><Relationship Type="http://schemas.openxmlformats.org/officeDocument/2006/relationships/notesMaster" Target="/ppt/notesMasters/notesMaster1.xml" Id="R02e893f6100d4f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701e88a71c4d9c" /><Relationship Type="http://schemas.openxmlformats.org/officeDocument/2006/relationships/notesMaster" Target="/ppt/notesMasters/notesMaster1.xml" Id="R053279f6696741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c062706ffd44ea" /><Relationship Type="http://schemas.openxmlformats.org/officeDocument/2006/relationships/notesMaster" Target="/ppt/notesMasters/notesMaster1.xml" Id="R0b648df0d57942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8578ea86304b3c" /><Relationship Type="http://schemas.openxmlformats.org/officeDocument/2006/relationships/notesMaster" Target="/ppt/notesMasters/notesMaster1.xml" Id="R67c3f2a80e5540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минут. Прочитаю Лк 10:25–37 целиком. Сразу после чтения предложу разыграть притчу. Выберем путешественника, двух разбойников, священника, левита и самарянина.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минуты. Путешественник идёт с сумкой. Ещё раз прочитаю начало рассказа. Двое разбойников подходят, забирают сумку и уходят. Путешественник садится и остаётся на дороге.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минуты. Прочитаю о священнике. Ученик проходит мимо. Сразу спрошу: «Представь, что ты не хочешь помогать. Какую причину ты можешь себе придумать, чтобы пройти мимо?» Выслушаю ответ от лица героя. Не подсказываю оправдания.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минуты. Прочитаю о левите. Ученик проходит мимо. Предложу ему придумать своё объяснение. Сначала выслушаю участника, обсуждение с классом будет после появления самарянина.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минут. Прочитаю Лк 10:33–35. Участник подходит к пострадавшему, заботится о нём, помогает подняться и провожает в гостиницу. Дочитаю об оплате ухода. Затем спрошу, почему он решил помочь, хотя слышал оправдания других.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 минут. Вернёмся к ответам участников. Обсуждаем придуманные нами объяснения: Евангелие причин поступков священника и левита не называет. Спрошу, бывает ли так с нами, что помочь возможно, но жалко времени и сил. Подведём к мысли: эгоизм и лень могут прятаться за убедительным оправданием.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минуты. Попрошу восстановить действия по порядку и объяснить каждое слово. Самарянин сжалился, подошёл и перевязал раны, посадил пострадавшего на своего осла, привёз в гостиницу и ухаживал. На следующий день дал хозяину деньги и обещал возместить дополнительные расходы. При необходимости снова прочитаю отрывок.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минуты. Прочитаю Лк 10:36–37. Сопоставим вопрос в начале с вопросом Христа в конце. Выслушаю детей. Ближним стал тот, кто проявил милосердие, даже по отношению к незнакомому человеку. Прочитаю: «Иди, и ты поступай так же».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минуты. Пары выбирают одну из трёх школьных ситуаций. Сначала придумывают оправдание бездействию, затем конкретное действие помощи. Здесь: знакомство, разговор, приглашение провести перемену вместе. Готовые ответы заранее не предлагаю.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минуты. Выслушаю оправдание и конкретное действие. Попрошу сказать, с какими словами можно подойти, и что можно сделать, чтобы помочь.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 минуты. Обсудим, как помочь присоединиться к игре, не начиная ссоры. Выслушаю несколько пар. Если обсуждение затронет опасную ситуацию или серьёзную травму, напомню, что можно помочь, позвав взрослого.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минута. Каждый заканчивает для себя фразу «На этой неделе я могу помочь…» и выбирает один посильный поступок. Поделиться своим решением можно по желанию.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8960d09a142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9eafb98bb74704" /><Relationship Type="http://schemas.openxmlformats.org/officeDocument/2006/relationships/slideLayout" Target="/ppt/slideLayouts/slideLayout1.xml" Id="R6fbea5099ac34b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bea5099ac34b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609aa7ea74a57" /><Relationship Type="http://schemas.openxmlformats.org/officeDocument/2006/relationships/image" Target="/ppt/media/image.jpeg" Id="Re1b9d14902da4c79" /><Relationship Type="http://schemas.openxmlformats.org/officeDocument/2006/relationships/notesSlide" Target="/ppt/notesSlides/notesSlide1.xml" Id="R508613043f254b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2462e249f4c23" /><Relationship Type="http://schemas.openxmlformats.org/officeDocument/2006/relationships/image" Target="/ppt/media/image2.jpeg" Id="Rf496545459b74517" /><Relationship Type="http://schemas.openxmlformats.org/officeDocument/2006/relationships/notesSlide" Target="/ppt/notesSlides/notesSlide2.xml" Id="Rdb31d86ee75a46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d5906373440ac" /><Relationship Type="http://schemas.openxmlformats.org/officeDocument/2006/relationships/image" Target="/ppt/media/image3.jpeg" Id="R2574698706ad4222" /><Relationship Type="http://schemas.openxmlformats.org/officeDocument/2006/relationships/notesSlide" Target="/ppt/notesSlides/notesSlide3.xml" Id="Rdf37296ffe8b4a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022ce8cb842de" /><Relationship Type="http://schemas.openxmlformats.org/officeDocument/2006/relationships/image" Target="/ppt/media/image4.jpeg" Id="Rc4c6a4a2d5fb4e9a" /><Relationship Type="http://schemas.openxmlformats.org/officeDocument/2006/relationships/notesSlide" Target="/ppt/notesSlides/notesSlide4.xml" Id="R6866e222233445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f84b67a9a4f93" /><Relationship Type="http://schemas.openxmlformats.org/officeDocument/2006/relationships/image" Target="/ppt/media/image5.jpeg" Id="R88f6e7d399c14371" /><Relationship Type="http://schemas.openxmlformats.org/officeDocument/2006/relationships/notesSlide" Target="/ppt/notesSlides/notesSlide5.xml" Id="R179f7c7d6b4748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0bef912d24010" /><Relationship Type="http://schemas.openxmlformats.org/officeDocument/2006/relationships/image" Target="/ppt/media/image6.jpeg" Id="R1d6c1bc5a83d4e35" /><Relationship Type="http://schemas.openxmlformats.org/officeDocument/2006/relationships/notesSlide" Target="/ppt/notesSlides/notesSlide6.xml" Id="Rfc537f1a1fc94b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4d686944f4fc1" /><Relationship Type="http://schemas.openxmlformats.org/officeDocument/2006/relationships/image" Target="/ppt/media/image7.jpeg" Id="R51738e20bfb94d89" /><Relationship Type="http://schemas.openxmlformats.org/officeDocument/2006/relationships/notesSlide" Target="/ppt/notesSlides/notesSlide7.xml" Id="R95dfd959c38e47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6af887a6b4500" /><Relationship Type="http://schemas.openxmlformats.org/officeDocument/2006/relationships/image" Target="/ppt/media/image8.jpeg" Id="Rdea67ab5292f41ec" /><Relationship Type="http://schemas.openxmlformats.org/officeDocument/2006/relationships/notesSlide" Target="/ppt/notesSlides/notesSlide8.xml" Id="R7c2a8eb307454c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5a0b2be204eb7" /><Relationship Type="http://schemas.openxmlformats.org/officeDocument/2006/relationships/image" Target="/ppt/media/image9.jpeg" Id="R8754ba30cb5e4347" /><Relationship Type="http://schemas.openxmlformats.org/officeDocument/2006/relationships/notesSlide" Target="/ppt/notesSlides/notesSlide9.xml" Id="Rb1fc5aceb2c746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aa57d4ce74cc4" /><Relationship Type="http://schemas.openxmlformats.org/officeDocument/2006/relationships/image" Target="/ppt/media/image10.jpeg" Id="Re8fa643672c74097" /><Relationship Type="http://schemas.openxmlformats.org/officeDocument/2006/relationships/notesSlide" Target="/ppt/notesSlides/notesSlide10.xml" Id="Re688eb9c01c642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f9a3c8875414f" /><Relationship Type="http://schemas.openxmlformats.org/officeDocument/2006/relationships/image" Target="/ppt/media/image11.jpeg" Id="R296b3e603210468a" /><Relationship Type="http://schemas.openxmlformats.org/officeDocument/2006/relationships/notesSlide" Target="/ppt/notesSlides/notesSlide11.xml" Id="R6ca35b94d9bf41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bf37b5a5646ba" /><Relationship Type="http://schemas.openxmlformats.org/officeDocument/2006/relationships/image" Target="/ppt/media/image12.jpeg" Id="Rf0c945b540764d29" /><Relationship Type="http://schemas.openxmlformats.org/officeDocument/2006/relationships/notesSlide" Target="/ppt/notesSlides/notesSlide12.xml" Id="R34ba7dd805364e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9d14902da4c79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45749-6257-4581-8421-61DC26E8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905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3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73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Кто мой</a:t>
            </a:r>
          </a:p>
          <a:p xmlns:a="http://schemas.openxmlformats.org/drawingml/2006/main">
            <a:pPr>
              <a:buNone/>
              <a:defRPr sz="73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73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ближний?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38C09-69DC-4571-A3D0-E194AF0E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338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Притча о милосердном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самарянине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9E106-C8E2-4105-A28D-30219464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62635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62635A"/>
                </a:solidFill>
                <a:latin typeface="DejaVu Sans"/>
                <a:ea typeface="DejaVu Sans"/>
                <a:cs typeface="DejaVu Sans"/>
              </a:rPr>
              <a:t>Лк 10:25–37</a:t>
            </a:r>
          </a:p>
        </p:txBody>
      </p:sp>
    </p:spTree>
    <p:extLst>
      <p:ext uri="{BB962C8B-B14F-4D97-AF65-F5344CB8AC3E}">
        <p14:creationId xmlns:p14="http://schemas.microsoft.com/office/powerpoint/2010/main" val="18273575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8292A-67D1-49B8-9A83-930147AE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Человек на дороге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6545459b745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1914525"/>
            <a:ext cx="885825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686D6-AC36-4907-88BD-8B4AB72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8768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Из Иерусалима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в Иерихон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BB9D6-7954-4894-BDF2-545CDBF7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05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Разыграем притчу</a:t>
            </a:r>
          </a:p>
        </p:txBody>
      </p:sp>
    </p:spTree>
    <p:extLst>
      <p:ext uri="{BB962C8B-B14F-4D97-AF65-F5344CB8AC3E}">
        <p14:creationId xmlns:p14="http://schemas.microsoft.com/office/powerpoint/2010/main" val="271473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4E0B5-DE97-4512-B2F6-3BF6475F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Священник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4698706ad42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1914525"/>
            <a:ext cx="885825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A5D9-7B65-40F9-A730-5FE99F7E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8768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Какую причину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ты можешь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придумать, чтобы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пройти мимо?</a:t>
            </a:r>
          </a:p>
        </p:txBody>
      </p:sp>
    </p:spTree>
    <p:extLst>
      <p:ext uri="{BB962C8B-B14F-4D97-AF65-F5344CB8AC3E}">
        <p14:creationId xmlns:p14="http://schemas.microsoft.com/office/powerpoint/2010/main" val="1474470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662E7-E826-4B8B-B9FF-6BC48037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Левит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6a4a2d5fb4e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1914525"/>
            <a:ext cx="885825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2D9A1-B7F6-41C4-87A7-954486CA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8768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Как ты объяснишь,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почему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не остановился?</a:t>
            </a:r>
          </a:p>
        </p:txBody>
      </p:sp>
    </p:spTree>
    <p:extLst>
      <p:ext uri="{BB962C8B-B14F-4D97-AF65-F5344CB8AC3E}">
        <p14:creationId xmlns:p14="http://schemas.microsoft.com/office/powerpoint/2010/main" val="33958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BBE1D-3BE1-4E59-A2FD-917F43E3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Самарянин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6e7d399c143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1914525"/>
            <a:ext cx="885825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0470E-B20B-4078-8027-D82977BF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8768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Ты тоже мог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пройти мимо.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Почему ты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решил помочь?</a:t>
            </a:r>
          </a:p>
        </p:txBody>
      </p:sp>
    </p:spTree>
    <p:extLst>
      <p:ext uri="{BB962C8B-B14F-4D97-AF65-F5344CB8AC3E}">
        <p14:creationId xmlns:p14="http://schemas.microsoft.com/office/powerpoint/2010/main" val="9734210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13F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7473E-5EF0-4BEE-9D47-D4E40AD4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3906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FFF9EB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FFF9EB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C6086-6EED-4B69-92D0-27964510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1362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750" b="0">
                <a:solidFill>
                  <a:srgbClr val="FFF9EB"/>
                </a:solidFill>
                <a:latin typeface="DejaVu Sans"/>
                <a:ea typeface="DejaVu Sans"/>
                <a:cs typeface="DejaVu Sans"/>
              </a:defRPr>
            </a:pPr>
            <a:r>
              <a:rPr sz="3750" b="0">
                <a:solidFill>
                  <a:srgbClr val="FFF9EB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F5990-3719-4325-BC62-CCEB30BE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0">
                <a:solidFill>
                  <a:srgbClr val="EBC697"/>
                </a:solidFill>
                <a:latin typeface="DejaVu Sans"/>
                <a:ea typeface="DejaVu Sans"/>
                <a:cs typeface="DejaVu Sans"/>
              </a:defRPr>
            </a:pPr>
            <a:r>
              <a:rPr sz="3375" b="0">
                <a:solidFill>
                  <a:srgbClr val="EBC69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6E598-9F51-47B1-BFBF-B6FFD9C8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FFF9EB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FFF9EB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2210AB21-2124-4EBC-8023-F4475522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345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31" b="1">
                <a:solidFill>
                  <a:srgbClr val="FBF7EF"/>
                </a:solidFill>
                <a:latin typeface="DejaVu Sans"/>
                <a:ea typeface="DejaVu Sans"/>
                <a:cs typeface="DejaVu Sans"/>
              </a:defRPr>
            </a:pPr>
            <a:r>
              <a:rPr sz="4031" b="1">
                <a:solidFill>
                  <a:srgbClr val="FBF7EF"/>
                </a:solidFill>
                <a:latin typeface="DejaVu Sans"/>
                <a:ea typeface="DejaVu Sans"/>
                <a:cs typeface="DejaVu Sans"/>
              </a:rPr>
              <a:t>Что мешает помочь?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c1bc5a83d4e35"/>
          <a:stretch xmlns:a="http://schemas.openxmlformats.org/drawingml/2006/main"/>
        </p:blipFill>
        <p:spPr>
          <a:xfrm xmlns:a="http://schemas.openxmlformats.org/drawingml/2006/main">
            <a:off x="9882188" y="3004344"/>
            <a:ext cx="4595813" cy="306387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921C242E-C791-44EF-9ED1-B7130364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6938"/>
            <a:ext cx="8596313" cy="5464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rPr>
              <a:t>Действительно ли названные причины</a:t>
            </a:r>
          </a:p>
          <a:p xmlns:a="http://schemas.openxmlformats.org/drawingml/2006/main">
            <a:pPr>
              <a:def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rPr>
              <a:t>мешали остановиться?</a:t>
            </a:r>
          </a:p>
          <a:p xmlns:a="http://schemas.openxmlformats.org/drawingml/2006/main">
            <a:pPr>
              <a:def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rPr>
              <a:t>Что всё-таки можно было сделать?</a:t>
            </a:r>
          </a:p>
          <a:p xmlns:a="http://schemas.openxmlformats.org/drawingml/2006/main">
            <a:pPr>
              <a:def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rPr>
              <a:t>Мог ли самарянин найти такое же оправдание?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308F8B58-C38D-47A3-9C33-44B4178A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24813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81" b="0">
                <a:solidFill>
                  <a:srgbClr val="FBF7EF"/>
                </a:solidFill>
                <a:latin typeface="DejaVu Sans"/>
                <a:ea typeface="DejaVu Sans"/>
                <a:cs typeface="DejaVu Sans"/>
              </a:defRPr>
            </a:pPr>
            <a:r>
              <a:rPr sz="1781" b="0">
                <a:solidFill>
                  <a:srgbClr val="FBF7EF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471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C99A1-498C-4033-8368-B42EF488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381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154E2-3EDF-460B-A7E3-23D789B3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DA498-AED6-41F6-8DB1-F22DDC90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105025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4F0FB-0AF5-4E2F-A4B6-1D50A2CA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E93B3-11E0-48E1-A59E-08BE93A3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52775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527F7-28CD-4BD4-A86E-B58C1DCD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79A31-791D-4CF3-A03A-F5F6E8B7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200525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CDE6F-4A1E-46A2-B88F-BFE3EB9E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0801A-5C2A-462B-AA51-27AC2F90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248275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3A5B1-4156-4C4B-9CB6-343B0686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81750"/>
            <a:ext cx="68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D8599-4637-41BB-A4BB-462B714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296025"/>
            <a:ext cx="628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0AD07-5396-4E36-ABA7-A8868E1A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28900"/>
            <a:ext cx="542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8A95D-2B68-4BF8-B3BE-42699435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0060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illustrated-13">
            <a:extLst xmlns:a="http://schemas.openxmlformats.org/drawingml/2006/main">
              <a:ext uri="{FF2B5EF4-FFF2-40B4-BE49-F238E27FC236}">
                <a16:creationId xmlns:a16="http://schemas.microsoft.com/office/drawing/2014/main" id="{15C6EED5-AD43-42C0-BF6B-C28AB6DC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345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31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4031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Поступки самарянина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38e20bfb94d89"/>
          <a:stretch xmlns:a="http://schemas.openxmlformats.org/drawingml/2006/main"/>
        </p:blipFill>
        <p:spPr>
          <a:xfrm xmlns:a="http://schemas.openxmlformats.org/drawingml/2006/main">
            <a:off x="9882188" y="3004344"/>
            <a:ext cx="4595813" cy="3063875"/>
          </a:xfrm>
          <a:prstGeom xmlns:a="http://schemas.openxmlformats.org/drawingml/2006/main" prst="rect">
            <a:avLst/>
          </a:prstGeom>
        </p:spPr>
      </p:pic>
      <p:sp>
        <p:nvSpPr>
          <p:cNvPr id="17" name="illustrated-14">
            <a:extLst xmlns:a="http://schemas.openxmlformats.org/drawingml/2006/main">
              <a:ext uri="{FF2B5EF4-FFF2-40B4-BE49-F238E27FC236}">
                <a16:creationId xmlns:a16="http://schemas.microsoft.com/office/drawing/2014/main" id="{F869B16B-CAAF-42C6-AA09-559966F2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6938"/>
            <a:ext cx="8596313" cy="5464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1  Увидел</a:t>
            </a:r>
          </a:p>
          <a:p xmlns:a="http://schemas.openxmlformats.org/drawingml/2006/main">
            <a:pPr>
              <a:def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2  Подошёл</a:t>
            </a:r>
          </a:p>
          <a:p xmlns:a="http://schemas.openxmlformats.org/drawingml/2006/main">
            <a:pPr>
              <a:def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3  Помог</a:t>
            </a:r>
          </a:p>
          <a:p xmlns:a="http://schemas.openxmlformats.org/drawingml/2006/main">
            <a:pPr>
              <a:def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4  Привёз</a:t>
            </a:r>
          </a:p>
          <a:p xmlns:a="http://schemas.openxmlformats.org/drawingml/2006/main">
            <a:pPr>
              <a:def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5  Позаботился дальше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он сделал сам?</a:t>
            </a:r>
          </a:p>
          <a:p xmlns:a="http://schemas.openxmlformats.org/drawingml/2006/main">
            <a:pPr>
              <a:def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Как позаботился о человеке</a:t>
            </a:r>
          </a:p>
          <a:p xmlns:a="http://schemas.openxmlformats.org/drawingml/2006/main">
            <a:pPr>
              <a:def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после отъезда?</a:t>
            </a:r>
          </a:p>
        </p:txBody>
      </p:sp>
      <p:sp>
        <p:nvSpPr>
          <p:cNvPr id="18" name="illustrated-15">
            <a:extLst xmlns:a="http://schemas.openxmlformats.org/drawingml/2006/main">
              <a:ext uri="{FF2B5EF4-FFF2-40B4-BE49-F238E27FC236}">
                <a16:creationId xmlns:a16="http://schemas.microsoft.com/office/drawing/2014/main" id="{AE4044B2-3553-4944-8FD4-E48FB144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24813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81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781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42637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13F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37D4A-33A3-4493-9D54-332BCD94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13792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025" b="1">
                <a:solidFill>
                  <a:srgbClr val="FFF9EB"/>
                </a:solidFill>
                <a:latin typeface="DejaVu Sans"/>
                <a:ea typeface="DejaVu Sans"/>
                <a:cs typeface="DejaVu Sans"/>
              </a:defRPr>
            </a:pPr>
            <a:r>
              <a:rPr sz="5025" b="1">
                <a:solidFill>
                  <a:srgbClr val="FFF9EB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F2C8B-9AAF-4277-A4FE-F675D23F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362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425" b="0">
                <a:solidFill>
                  <a:srgbClr val="FFF9EB"/>
                </a:solidFill>
                <a:latin typeface="DejaVu Sans"/>
                <a:ea typeface="DejaVu Sans"/>
                <a:cs typeface="DejaVu Sans"/>
              </a:defRPr>
            </a:pPr>
            <a:r>
              <a:rPr sz="4425" b="0">
                <a:solidFill>
                  <a:srgbClr val="FFF9EB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CE945-201A-4DE4-93B1-730DE8A8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38825"/>
            <a:ext cx="1362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0">
                <a:solidFill>
                  <a:srgbClr val="EBC697"/>
                </a:solidFill>
                <a:latin typeface="DejaVu Sans"/>
                <a:ea typeface="DejaVu Sans"/>
                <a:cs typeface="DejaVu Sans"/>
              </a:defRPr>
            </a:pPr>
            <a:r>
              <a:rPr sz="3525" b="0">
                <a:solidFill>
                  <a:srgbClr val="EBC697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8FC86-6E58-4388-B611-CCEC0C7A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9E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9EB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6" name="illustrated-4">
            <a:extLst xmlns:a="http://schemas.openxmlformats.org/drawingml/2006/main">
              <a:ext uri="{FF2B5EF4-FFF2-40B4-BE49-F238E27FC236}">
                <a16:creationId xmlns:a16="http://schemas.microsoft.com/office/drawing/2014/main" id="{8D9B7071-EEAC-4106-8347-3DDD9AFA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716000" cy="1345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31" b="1">
                <a:solidFill>
                  <a:srgbClr val="FBF7EF"/>
                </a:solidFill>
                <a:latin typeface="DejaVu Sans"/>
                <a:ea typeface="DejaVu Sans"/>
                <a:cs typeface="DejaVu Sans"/>
              </a:defRPr>
            </a:pPr>
            <a:r>
              <a:rPr sz="4031" b="1">
                <a:solidFill>
                  <a:srgbClr val="FBF7EF"/>
                </a:solidFill>
                <a:latin typeface="DejaVu Sans"/>
                <a:ea typeface="DejaVu Sans"/>
                <a:cs typeface="DejaVu Sans"/>
              </a:rPr>
              <a:t>Кто оказался ближним?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67ab5292f41ec"/>
          <a:stretch xmlns:a="http://schemas.openxmlformats.org/drawingml/2006/main"/>
        </p:blipFill>
        <p:spPr>
          <a:xfrm xmlns:a="http://schemas.openxmlformats.org/drawingml/2006/main">
            <a:off x="9882188" y="3004344"/>
            <a:ext cx="4595813" cy="3063875"/>
          </a:xfrm>
          <a:prstGeom xmlns:a="http://schemas.openxmlformats.org/drawingml/2006/main" prst="rect">
            <a:avLst/>
          </a:prstGeom>
        </p:spPr>
      </p:pic>
      <p:sp>
        <p:nvSpPr>
          <p:cNvPr id="8" name="illustrated-5">
            <a:extLst xmlns:a="http://schemas.openxmlformats.org/drawingml/2006/main">
              <a:ext uri="{FF2B5EF4-FFF2-40B4-BE49-F238E27FC236}">
                <a16:creationId xmlns:a16="http://schemas.microsoft.com/office/drawing/2014/main" id="{ADDA749D-2A17-4275-B452-736D55F7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6938"/>
            <a:ext cx="8596313" cy="5464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rPr>
              <a:t>По каким поступкам</a:t>
            </a:r>
          </a:p>
          <a:p xmlns:a="http://schemas.openxmlformats.org/drawingml/2006/main">
            <a:pPr>
              <a:def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rPr>
              <a:t>мы это понимаем?</a:t>
            </a:r>
          </a:p>
          <a:p xmlns:a="http://schemas.openxmlformats.org/drawingml/2006/main">
            <a:pPr>
              <a:def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rPr>
              <a:t>«Иди, и ты поступай так же»</a:t>
            </a:r>
          </a:p>
          <a:p xmlns:a="http://schemas.openxmlformats.org/drawingml/2006/main">
            <a:pPr>
              <a:def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defRPr>
            </a:pPr>
            <a:r>
              <a:rPr sz="3094" b="0">
                <a:solidFill>
                  <a:srgbClr val="FBF7EF"/>
                </a:solidFill>
                <a:latin typeface="DejaVu Sans"/>
                <a:ea typeface="DejaVu Sans"/>
                <a:cs typeface="DejaVu Sans"/>
              </a:rPr>
              <a:t>Лк 10:37</a:t>
            </a:r>
          </a:p>
        </p:txBody>
      </p:sp>
      <p:sp>
        <p:nvSpPr>
          <p:cNvPr id="9" name="illustrated-6">
            <a:extLst xmlns:a="http://schemas.openxmlformats.org/drawingml/2006/main">
              <a:ext uri="{FF2B5EF4-FFF2-40B4-BE49-F238E27FC236}">
                <a16:creationId xmlns:a16="http://schemas.microsoft.com/office/drawing/2014/main" id="{FC8E4104-B194-421B-BFE9-46417261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24813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81" b="0">
                <a:solidFill>
                  <a:srgbClr val="FBF7EF"/>
                </a:solidFill>
                <a:latin typeface="DejaVu Sans"/>
                <a:ea typeface="DejaVu Sans"/>
                <a:cs typeface="DejaVu Sans"/>
              </a:defRPr>
            </a:pPr>
            <a:r>
              <a:rPr sz="1781" b="0">
                <a:solidFill>
                  <a:srgbClr val="FBF7EF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60613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43E03-70DF-4101-B8D2-FF8F2916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Новенький на перемене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4ba30cb5e43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1914525"/>
            <a:ext cx="885825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86036-880A-4E5D-AE52-EB36F96E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8768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Он сидит один.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Что можно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ему сказать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или предложить?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88A2E-2FC7-4FE1-9B37-89DA3313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05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Как оправдать бездействие?</a:t>
            </a:r>
          </a:p>
          <a:p xmlns:a="http://schemas.openxmlformats.org/drawingml/2006/main">
            <a:pPr>
              <a:buNone/>
              <a:def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А как всё-таки помочь?</a:t>
            </a:r>
          </a:p>
        </p:txBody>
      </p:sp>
    </p:spTree>
    <p:extLst>
      <p:ext uri="{BB962C8B-B14F-4D97-AF65-F5344CB8AC3E}">
        <p14:creationId xmlns:p14="http://schemas.microsoft.com/office/powerpoint/2010/main" val="9075634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BC0D9-FBD4-4C26-960C-2DEBC817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Рассыпавшиеся книги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a643672c740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1914525"/>
            <a:ext cx="885825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C7273-68D4-4033-8490-CA3A913F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8768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Младший ученик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уронил книги.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Как подойти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и предложить помощь?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DE67C-AE2D-41A5-B6D0-40B221BB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05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Как оправдать бездействие?</a:t>
            </a:r>
          </a:p>
          <a:p xmlns:a="http://schemas.openxmlformats.org/drawingml/2006/main">
            <a:pPr>
              <a:buNone/>
              <a:def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А как всё-таки помочь?</a:t>
            </a:r>
          </a:p>
        </p:txBody>
      </p:sp>
    </p:spTree>
    <p:extLst>
      <p:ext uri="{BB962C8B-B14F-4D97-AF65-F5344CB8AC3E}">
        <p14:creationId xmlns:p14="http://schemas.microsoft.com/office/powerpoint/2010/main" val="6565733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DBE94-9406-4727-8D94-D5E6C0A0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390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Не берут в игру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b3e60321046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1914525"/>
            <a:ext cx="8858250" cy="5905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351BB-2F1C-4AD8-A245-B9BFC10C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8768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Одноклассник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остался в стороне.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Как помочь ему</a:t>
            </a:r>
          </a:p>
          <a:p xmlns:a="http://schemas.openxmlformats.org/drawingml/2006/main">
            <a:pPr>
              <a:buNone/>
              <a:def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29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присоединиться?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53834-2112-4AF8-8765-0ACCDE9C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05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Как оправдать бездействие?</a:t>
            </a:r>
          </a:p>
          <a:p xmlns:a="http://schemas.openxmlformats.org/drawingml/2006/main">
            <a:pPr>
              <a:buNone/>
              <a:def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45739"/>
                </a:solidFill>
                <a:latin typeface="DejaVu Sans"/>
                <a:ea typeface="DejaVu Sans"/>
                <a:cs typeface="DejaVu Sans"/>
              </a:rPr>
              <a:t>А как всё-таки помочь?</a:t>
            </a:r>
          </a:p>
        </p:txBody>
      </p:sp>
    </p:spTree>
    <p:extLst>
      <p:ext uri="{BB962C8B-B14F-4D97-AF65-F5344CB8AC3E}">
        <p14:creationId xmlns:p14="http://schemas.microsoft.com/office/powerpoint/2010/main" val="4247692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945b540764d29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C9F0E-7238-442B-96EB-4BDC72F9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33475"/>
            <a:ext cx="10001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375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6375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Кому я могу</a:t>
            </a:r>
          </a:p>
          <a:p xmlns:a="http://schemas.openxmlformats.org/drawingml/2006/main">
            <a:pPr>
              <a:buNone/>
              <a:defRPr sz="6375" b="1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6375" b="1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помочь?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6F8C5-C20F-47C0-A421-D491DD32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1133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0">
                <a:solidFill>
                  <a:srgbClr val="213F42"/>
                </a:solidFill>
                <a:latin typeface="DejaVu Sans"/>
                <a:ea typeface="DejaVu Sans"/>
                <a:cs typeface="DejaVu Sans"/>
              </a:defRPr>
            </a:pPr>
            <a:r>
              <a:rPr sz="3525" b="0">
                <a:solidFill>
                  <a:srgbClr val="213F42"/>
                </a:solidFill>
                <a:latin typeface="DejaVu Sans"/>
                <a:ea typeface="DejaVu Sans"/>
                <a:cs typeface="DejaVu Sans"/>
              </a:rPr>
              <a:t>На этой неделе я могу…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FD48C-C7E7-4FE3-9D8E-E31B17BF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62635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62635A"/>
                </a:solidFill>
                <a:latin typeface="DejaVu Sans"/>
                <a:ea typeface="DejaVu Sans"/>
                <a:cs typeface="DejaVu Sans"/>
              </a:rPr>
              <a:t>Один посильный поступок</a:t>
            </a:r>
          </a:p>
        </p:txBody>
      </p:sp>
    </p:spTree>
    <p:extLst>
      <p:ext uri="{BB962C8B-B14F-4D97-AF65-F5344CB8AC3E}">
        <p14:creationId xmlns:p14="http://schemas.microsoft.com/office/powerpoint/2010/main" val="1511785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2026-10-02T20:36:57.6730000Z</dcterms:created>
  <dcterms:modified xsi:type="dcterms:W3CDTF">2026-10-02T20:36:57.6730000Z</dcterms:modified>
</coreProperties>
</file>