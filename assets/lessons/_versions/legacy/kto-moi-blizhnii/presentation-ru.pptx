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jpg" ContentType="image/jpeg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10dbef2f564d19" /><Relationship Type="http://schemas.openxmlformats.org/officeDocument/2006/relationships/extended-properties" Target="/docProps/app.xml" Id="Rf706fc87e5334a5f" /><Relationship Type="http://schemas.openxmlformats.org/officeDocument/2006/relationships/officeDocument" Target="/ppt/presentation.xml" Id="R7e47a07ac48045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1aa1e302b14039"/>
  </p:sldMasterIdLst>
  <p:notesMasterIdLst>
    <p:notesMasterId xmlns:r="http://schemas.openxmlformats.org/officeDocument/2006/relationships" r:id="Rbab89683461348be"/>
  </p:notesMasterIdLst>
  <p:sldIdLst>
    <p:sldId xmlns:r="http://schemas.openxmlformats.org/officeDocument/2006/relationships" id="256" r:id="Re253d5928df94a86"/>
    <p:sldId xmlns:r="http://schemas.openxmlformats.org/officeDocument/2006/relationships" id="257" r:id="R429b337e7a3e4954"/>
    <p:sldId xmlns:r="http://schemas.openxmlformats.org/officeDocument/2006/relationships" id="258" r:id="Rf5422a0720d3480d"/>
    <p:sldId xmlns:r="http://schemas.openxmlformats.org/officeDocument/2006/relationships" id="259" r:id="R3cf53f9df94c44e9"/>
    <p:sldId xmlns:r="http://schemas.openxmlformats.org/officeDocument/2006/relationships" id="260" r:id="R5a5dda0fc60a41ad"/>
    <p:sldId xmlns:r="http://schemas.openxmlformats.org/officeDocument/2006/relationships" id="261" r:id="Rc58029b34ce944dc"/>
    <p:sldId xmlns:r="http://schemas.openxmlformats.org/officeDocument/2006/relationships" id="262" r:id="R61e85bc11dbd456c"/>
    <p:sldId xmlns:r="http://schemas.openxmlformats.org/officeDocument/2006/relationships" id="263" r:id="Rdf573500903c4771"/>
    <p:sldId xmlns:r="http://schemas.openxmlformats.org/officeDocument/2006/relationships" id="264" r:id="R0feda44d23e84034"/>
    <p:sldId xmlns:r="http://schemas.openxmlformats.org/officeDocument/2006/relationships" id="265" r:id="R85948dee2a71436b"/>
    <p:sldId xmlns:r="http://schemas.openxmlformats.org/officeDocument/2006/relationships" id="266" r:id="R54471654d7ef499f"/>
    <p:sldId xmlns:r="http://schemas.openxmlformats.org/officeDocument/2006/relationships" id="267" r:id="Re6619b3c458944e1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b254aae0e846c1" /><Relationship Type="http://schemas.openxmlformats.org/officeDocument/2006/relationships/slideMaster" Target="/ppt/slideMasters/slideMaster1.xml" Id="R171aa1e302b14039" /><Relationship Type="http://schemas.openxmlformats.org/officeDocument/2006/relationships/notesMaster" Target="/ppt/notesMasters/notesMaster1.xml" Id="Rbab89683461348be" /><Relationship Type="http://schemas.openxmlformats.org/officeDocument/2006/relationships/presProps" Target="/ppt/presProps.xml" Id="R70749f3d91084ff7" /><Relationship Type="http://schemas.openxmlformats.org/officeDocument/2006/relationships/tableStyles" Target="/ppt/tableStyles.xml" Id="Re9cbd327e8d44053" /><Relationship Type="http://schemas.openxmlformats.org/officeDocument/2006/relationships/slide" Target="/ppt/slides/slide1.xml" Id="Re253d5928df94a86" /><Relationship Type="http://schemas.openxmlformats.org/officeDocument/2006/relationships/slide" Target="/ppt/slides/slide2.xml" Id="R429b337e7a3e4954" /><Relationship Type="http://schemas.openxmlformats.org/officeDocument/2006/relationships/slide" Target="/ppt/slides/slide3.xml" Id="Rf5422a0720d3480d" /><Relationship Type="http://schemas.openxmlformats.org/officeDocument/2006/relationships/slide" Target="/ppt/slides/slide4.xml" Id="R3cf53f9df94c44e9" /><Relationship Type="http://schemas.openxmlformats.org/officeDocument/2006/relationships/slide" Target="/ppt/slides/slide5.xml" Id="R5a5dda0fc60a41ad" /><Relationship Type="http://schemas.openxmlformats.org/officeDocument/2006/relationships/slide" Target="/ppt/slides/slide6.xml" Id="Rc58029b34ce944dc" /><Relationship Type="http://schemas.openxmlformats.org/officeDocument/2006/relationships/slide" Target="/ppt/slides/slide7.xml" Id="R61e85bc11dbd456c" /><Relationship Type="http://schemas.openxmlformats.org/officeDocument/2006/relationships/slide" Target="/ppt/slides/slide8.xml" Id="Rdf573500903c4771" /><Relationship Type="http://schemas.openxmlformats.org/officeDocument/2006/relationships/slide" Target="/ppt/slides/slide9.xml" Id="R0feda44d23e84034" /><Relationship Type="http://schemas.openxmlformats.org/officeDocument/2006/relationships/slide" Target="/ppt/slides/slide10.xml" Id="R85948dee2a71436b" /><Relationship Type="http://schemas.openxmlformats.org/officeDocument/2006/relationships/slide" Target="/ppt/slides/slide11.xml" Id="R54471654d7ef499f" /><Relationship Type="http://schemas.openxmlformats.org/officeDocument/2006/relationships/slide" Target="/ppt/slides/slide12.xml" Id="Re6619b3c458944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8c8ffbac1947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2b882913314426" /><Relationship Type="http://schemas.openxmlformats.org/officeDocument/2006/relationships/notesMaster" Target="/ppt/notesMasters/notesMaster1.xml" Id="R9cfc2fd9d8b84d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2f85d9482a4b81" /><Relationship Type="http://schemas.openxmlformats.org/officeDocument/2006/relationships/notesMaster" Target="/ppt/notesMasters/notesMaster1.xml" Id="Rc9fcee2bbe4941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e405ddbb384e28" /><Relationship Type="http://schemas.openxmlformats.org/officeDocument/2006/relationships/notesMaster" Target="/ppt/notesMasters/notesMaster1.xml" Id="R011c4283ddc44f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5efb5715454ca8" /><Relationship Type="http://schemas.openxmlformats.org/officeDocument/2006/relationships/notesMaster" Target="/ppt/notesMasters/notesMaster1.xml" Id="R29548585f2354b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338094020e40cb" /><Relationship Type="http://schemas.openxmlformats.org/officeDocument/2006/relationships/notesMaster" Target="/ppt/notesMasters/notesMaster1.xml" Id="Rb45c0dbbe3184b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1a1b536076406d" /><Relationship Type="http://schemas.openxmlformats.org/officeDocument/2006/relationships/notesMaster" Target="/ppt/notesMasters/notesMaster1.xml" Id="Reeb99b14260242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8bd98e682c439f" /><Relationship Type="http://schemas.openxmlformats.org/officeDocument/2006/relationships/notesMaster" Target="/ppt/notesMasters/notesMaster1.xml" Id="R8106b1262da148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23c6a7355e4c6d" /><Relationship Type="http://schemas.openxmlformats.org/officeDocument/2006/relationships/notesMaster" Target="/ppt/notesMasters/notesMaster1.xml" Id="Rf0fa448522ac453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92f68e094846e9" /><Relationship Type="http://schemas.openxmlformats.org/officeDocument/2006/relationships/notesMaster" Target="/ppt/notesMasters/notesMaster1.xml" Id="Rd44b5ae285d549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5ca715142114a5c" /><Relationship Type="http://schemas.openxmlformats.org/officeDocument/2006/relationships/notesMaster" Target="/ppt/notesMasters/notesMaster1.xml" Id="Raed3b500988747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8f25ad2eb3a405e" /><Relationship Type="http://schemas.openxmlformats.org/officeDocument/2006/relationships/notesMaster" Target="/ppt/notesMasters/notesMaster1.xml" Id="Rfc6b5d0abd6240b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0dc12f348e74773" /><Relationship Type="http://schemas.openxmlformats.org/officeDocument/2006/relationships/notesMaster" Target="/ppt/notesMasters/notesMaster1.xml" Id="Rbd47bb51b07e4a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 минут. Прочитаю Лк 10:25–37 целиком. Сразу после чтения предложу разыграть притчу. Выберем путешественника, двух разбойников, священника, левита и самарянина.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 минуты. Путешественник идёт с сумкой. Ещё раз прочитаю начало рассказа. Двое разбойников подходят, забирают сумку и уходят. Путешественник садится и остаётся на дороге.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 минуты. Прочитаю о священнике. Ученик проходит мимо. Сразу спрошу: «Представь, что ты не хочешь помогать. Какую причину ты можешь себе придумать, чтобы пройти мимо?» Выслушаю ответ от лица героя. Не подсказываю оправдания.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 минуты. Прочитаю о левите. Ученик проходит мимо. Предложу ему придумать своё объяснение. Сначала выслушаю участника, обсуждение с классом будет после появления самарянина.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 минут. Прочитаю Лк 10:33–35. Участник подходит к пострадавшему, заботится о нём, помогает подняться и провожает в гостиницу. Дочитаю об оплате ухода. Затем спрошу, почему он решил помочь, хотя слышал оправдания других.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 минут. Вернёмся к ответам участников. Обсуждаем придуманные нами объяснения: Евангелие причин поступков священника и левита не называет. Спрошу, бывает ли так с нами, что помочь возможно, но жалко времени и сил. Подведём к мысли: эгоизм и лень могут прятаться за убедительным оправданием.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 минуты. Попрошу восстановить действия по порядку и объяснить каждое слово. Самарянин сжалился, подошёл и перевязал раны, посадил пострадавшего на своего осла, привёз в гостиницу и ухаживал. На следующий день дал хозяину деньги и обещал возместить дополнительные расходы. При необходимости снова прочитаю отрывок.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 минуты. Прочитаю Лк 10:36–37. Сопоставим вопрос в начале с вопросом Христа в конце. Выслушаю детей. Ближним стал тот, кто проявил милосердие, даже по отношению к незнакомому человеку. Прочитаю: «Иди, и ты поступай так же».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 минуты. Пары выбирают одну из трёх школьных ситуаций. Сначала придумывают оправдание бездействию, затем конкретное действие помощи. Здесь: знакомство, разговор, приглашение провести перемену вместе. Готовые ответы заранее не предлагаю.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 минуты. Выслушаю оправдание и конкретное действие. Попрошу сказать, с какими словами можно подойти, и что можно сделать, чтобы помочь.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 минуты. Обсудим, как помочь присоединиться к игре, не начиная ссоры. Выслушаю несколько пар. Если обсуждение затронет опасную ситуацию или серьёзную травму, напомню, что можно помочь, позвав взрослого.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 минута. Каждый заканчивает для себя фразу «На этой неделе я могу помочь…» и выбирает один посильный поступок. Поделиться своим решением можно по желанию.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7c1353691847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da8303609c44c8" /><Relationship Type="http://schemas.openxmlformats.org/officeDocument/2006/relationships/slideLayout" Target="/ppt/slideLayouts/slideLayout1.xml" Id="R65680de8950e44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680de8950e44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b4222b133d48fc" /><Relationship Type="http://schemas.openxmlformats.org/officeDocument/2006/relationships/image" Target="/ppt/media/image.jpg" Id="R4f99a57c80ed4ce5" /><Relationship Type="http://schemas.openxmlformats.org/officeDocument/2006/relationships/notesSlide" Target="/ppt/notesSlides/notesSlide1.xml" Id="Re4251386204245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da745ec8b2497c" /><Relationship Type="http://schemas.openxmlformats.org/officeDocument/2006/relationships/image" Target="/ppt/media/image2.jpg" Id="Ra8adf18c00a64b07" /><Relationship Type="http://schemas.openxmlformats.org/officeDocument/2006/relationships/notesSlide" Target="/ppt/notesSlides/notesSlide2.xml" Id="R6c1da56c35f843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a543ad24d4493" /><Relationship Type="http://schemas.openxmlformats.org/officeDocument/2006/relationships/image" Target="/ppt/media/image3.jpg" Id="R1d94c235e52c4bb2" /><Relationship Type="http://schemas.openxmlformats.org/officeDocument/2006/relationships/notesSlide" Target="/ppt/notesSlides/notesSlide3.xml" Id="R310973f09fd34c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dc650f9ca41eb" /><Relationship Type="http://schemas.openxmlformats.org/officeDocument/2006/relationships/image" Target="/ppt/media/image4.jpg" Id="R101cc166ee4547db" /><Relationship Type="http://schemas.openxmlformats.org/officeDocument/2006/relationships/notesSlide" Target="/ppt/notesSlides/notesSlide4.xml" Id="Rdf593cd0975b45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5a19e14a6f4374" /><Relationship Type="http://schemas.openxmlformats.org/officeDocument/2006/relationships/image" Target="/ppt/media/image5.jpg" Id="R0be767caafa84d57" /><Relationship Type="http://schemas.openxmlformats.org/officeDocument/2006/relationships/notesSlide" Target="/ppt/notesSlides/notesSlide5.xml" Id="Re3bf12198aed45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758f7ff58468d" /><Relationship Type="http://schemas.openxmlformats.org/officeDocument/2006/relationships/notesSlide" Target="/ppt/notesSlides/notesSlide6.xml" Id="R07d2524cddda4c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39d4e4ca74787" /><Relationship Type="http://schemas.openxmlformats.org/officeDocument/2006/relationships/notesSlide" Target="/ppt/notesSlides/notesSlide7.xml" Id="R7f87a07d32d845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0f04b38934716" /><Relationship Type="http://schemas.openxmlformats.org/officeDocument/2006/relationships/notesSlide" Target="/ppt/notesSlides/notesSlide8.xml" Id="Ra0fafee475514c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c4dc3b8e2c4525" /><Relationship Type="http://schemas.openxmlformats.org/officeDocument/2006/relationships/image" Target="/ppt/media/image6.jpg" Id="R00653eb857f446d1" /><Relationship Type="http://schemas.openxmlformats.org/officeDocument/2006/relationships/notesSlide" Target="/ppt/notesSlides/notesSlide9.xml" Id="R2328069d6dcd46e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a7b9d3fdf45b6" /><Relationship Type="http://schemas.openxmlformats.org/officeDocument/2006/relationships/image" Target="/ppt/media/image7.jpg" Id="R85459f05b41c4590" /><Relationship Type="http://schemas.openxmlformats.org/officeDocument/2006/relationships/notesSlide" Target="/ppt/notesSlides/notesSlide10.xml" Id="Raf82bb627eb047e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bd72d594445fb" /><Relationship Type="http://schemas.openxmlformats.org/officeDocument/2006/relationships/image" Target="/ppt/media/image8.jpg" Id="Rd857c8cfb5894980" /><Relationship Type="http://schemas.openxmlformats.org/officeDocument/2006/relationships/notesSlide" Target="/ppt/notesSlides/notesSlide11.xml" Id="R4d06388260dc443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89ee720e2415f" /><Relationship Type="http://schemas.openxmlformats.org/officeDocument/2006/relationships/image" Target="/ppt/media/image9.jpg" Id="R63f95524037841a3" /><Relationship Type="http://schemas.openxmlformats.org/officeDocument/2006/relationships/notesSlide" Target="/ppt/notesSlides/notesSlide12.xml" Id="R6b7380fbf81747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99a57c80ed4ce5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45749-6257-4581-8421-61DC26E8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905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350" b="1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7350" b="1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Кто мой</a:t>
            </a:r>
          </a:p>
          <a:p xmlns:a="http://schemas.openxmlformats.org/drawingml/2006/main">
            <a:pPr>
              <a:defRPr sz="7350" b="1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7350" b="1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ближний?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638C09-69DC-4571-A3D0-E194AF0E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3380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Притча о милосердном</a:t>
            </a:r>
          </a:p>
          <a:p xmlns:a="http://schemas.openxmlformats.org/drawingml/2006/main">
            <a:pPr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самарянине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99E106-C8E2-4105-A28D-30219464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054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2635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62635A"/>
                </a:solidFill>
                <a:latin typeface="DejaVu Sans"/>
                <a:ea typeface="DejaVu Sans"/>
                <a:cs typeface="DejaVu Sans"/>
              </a:rPr>
              <a:t>Лк 10:25–37</a:t>
            </a:r>
          </a:p>
        </p:txBody>
      </p:sp>
    </p:spTree>
    <p:extLst>
      <p:ext uri="{BB962C8B-B14F-4D97-AF65-F5344CB8AC3E}">
        <p14:creationId xmlns:p14="http://schemas.microsoft.com/office/powerpoint/2010/main" val="18273575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B8292A-67D1-49B8-9A83-930147AE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Человек на дороге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adf18c00a64b07"/>
          <a:stretch xmlns:a="http://schemas.openxmlformats.org/drawingml/2006/main"/>
        </p:blipFill>
        <p:spPr>
          <a:xfrm xmlns:a="http://schemas.openxmlformats.org/drawingml/2006/main">
            <a:off x="5848350" y="1914525"/>
            <a:ext cx="8858250" cy="5905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686D6-AC36-4907-88BD-8B4AB72B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48768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Из Иерусалима</a:t>
            </a:r>
          </a:p>
          <a:p xmlns:a="http://schemas.openxmlformats.org/drawingml/2006/main">
            <a:pPr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в Иерихон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BB9D6-7954-4894-BDF2-545CDBF7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9053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A4573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A45739"/>
                </a:solidFill>
                <a:latin typeface="DejaVu Sans"/>
                <a:ea typeface="DejaVu Sans"/>
                <a:cs typeface="DejaVu Sans"/>
              </a:rPr>
              <a:t>Разыграем притчу</a:t>
            </a:r>
          </a:p>
        </p:txBody>
      </p:sp>
    </p:spTree>
    <p:extLst>
      <p:ext uri="{BB962C8B-B14F-4D97-AF65-F5344CB8AC3E}">
        <p14:creationId xmlns:p14="http://schemas.microsoft.com/office/powerpoint/2010/main" val="2714734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64E0B5-DE97-4512-B2F6-3BF6475F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Священник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94c235e52c4bb2"/>
          <a:stretch xmlns:a="http://schemas.openxmlformats.org/drawingml/2006/main"/>
        </p:blipFill>
        <p:spPr>
          <a:xfrm xmlns:a="http://schemas.openxmlformats.org/drawingml/2006/main">
            <a:off x="5848350" y="1914525"/>
            <a:ext cx="8858250" cy="5905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A5D9-7B65-40F9-A730-5FE99F7E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48768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Какую причину</a:t>
            </a:r>
          </a:p>
          <a:p xmlns:a="http://schemas.openxmlformats.org/drawingml/2006/main">
            <a:pPr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ты можешь</a:t>
            </a:r>
          </a:p>
          <a:p xmlns:a="http://schemas.openxmlformats.org/drawingml/2006/main">
            <a:pPr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придумать, чтобы</a:t>
            </a:r>
          </a:p>
          <a:p xmlns:a="http://schemas.openxmlformats.org/drawingml/2006/main">
            <a:pPr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пройти мимо?</a:t>
            </a:r>
          </a:p>
        </p:txBody>
      </p:sp>
    </p:spTree>
    <p:extLst>
      <p:ext uri="{BB962C8B-B14F-4D97-AF65-F5344CB8AC3E}">
        <p14:creationId xmlns:p14="http://schemas.microsoft.com/office/powerpoint/2010/main" val="14744707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662E7-E826-4B8B-B9FF-6BC48037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Левит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1cc166ee4547db"/>
          <a:stretch xmlns:a="http://schemas.openxmlformats.org/drawingml/2006/main"/>
        </p:blipFill>
        <p:spPr>
          <a:xfrm xmlns:a="http://schemas.openxmlformats.org/drawingml/2006/main">
            <a:off x="5848350" y="1914525"/>
            <a:ext cx="8858250" cy="5905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2D9A1-B7F6-41C4-87A7-954486CA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48768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Как ты объяснишь,</a:t>
            </a:r>
          </a:p>
          <a:p xmlns:a="http://schemas.openxmlformats.org/drawingml/2006/main">
            <a:pPr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почему</a:t>
            </a:r>
          </a:p>
          <a:p xmlns:a="http://schemas.openxmlformats.org/drawingml/2006/main">
            <a:pPr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не остановился?</a:t>
            </a:r>
          </a:p>
        </p:txBody>
      </p:sp>
    </p:spTree>
    <p:extLst>
      <p:ext uri="{BB962C8B-B14F-4D97-AF65-F5344CB8AC3E}">
        <p14:creationId xmlns:p14="http://schemas.microsoft.com/office/powerpoint/2010/main" val="339585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CBBE1D-3BE1-4E59-A2FD-917F43E3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Самарянин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e767caafa84d57"/>
          <a:stretch xmlns:a="http://schemas.openxmlformats.org/drawingml/2006/main"/>
        </p:blipFill>
        <p:spPr>
          <a:xfrm xmlns:a="http://schemas.openxmlformats.org/drawingml/2006/main">
            <a:off x="5848350" y="1914525"/>
            <a:ext cx="8858250" cy="5905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D0470E-B20B-4078-8027-D82977BF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48768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Ты тоже мог</a:t>
            </a:r>
          </a:p>
          <a:p xmlns:a="http://schemas.openxmlformats.org/drawingml/2006/main">
            <a:pPr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пройти мимо.</a:t>
            </a:r>
          </a:p>
          <a:p xmlns:a="http://schemas.openxmlformats.org/drawingml/2006/main">
            <a:pPr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Почему ты</a:t>
            </a:r>
          </a:p>
          <a:p xmlns:a="http://schemas.openxmlformats.org/drawingml/2006/main">
            <a:pPr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решил помочь?</a:t>
            </a:r>
          </a:p>
        </p:txBody>
      </p:sp>
    </p:spTree>
    <p:extLst>
      <p:ext uri="{BB962C8B-B14F-4D97-AF65-F5344CB8AC3E}">
        <p14:creationId xmlns:p14="http://schemas.microsoft.com/office/powerpoint/2010/main" val="9734210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13F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37473E-5EF0-4BEE-9D47-D4E40AD4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3906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9EB"/>
                </a:solidFill>
                <a:latin typeface="DejaVu Sans"/>
                <a:ea typeface="DejaVu Sans"/>
                <a:cs typeface="DejaVu Sans"/>
              </a:defRPr>
            </a:pPr>
            <a:r>
              <a:rPr sz="5100" b="1">
                <a:solidFill>
                  <a:srgbClr val="FFF9EB"/>
                </a:solidFill>
                <a:latin typeface="DejaVu Sans"/>
                <a:ea typeface="DejaVu Sans"/>
                <a:cs typeface="DejaVu Sans"/>
              </a:rPr>
              <a:t>Что мешает помочь?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0C6086-6EED-4B69-92D0-27964510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62225"/>
            <a:ext cx="13620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0">
                <a:solidFill>
                  <a:srgbClr val="FFF9EB"/>
                </a:solidFill>
                <a:latin typeface="DejaVu Sans"/>
                <a:ea typeface="DejaVu Sans"/>
                <a:cs typeface="DejaVu Sans"/>
              </a:defRPr>
            </a:pPr>
            <a:r>
              <a:rPr sz="3750" b="0">
                <a:solidFill>
                  <a:srgbClr val="FFF9EB"/>
                </a:solidFill>
                <a:latin typeface="DejaVu Sans"/>
                <a:ea typeface="DejaVu Sans"/>
                <a:cs typeface="DejaVu Sans"/>
              </a:rPr>
              <a:t>Действительно ли названные причины</a:t>
            </a:r>
          </a:p>
          <a:p xmlns:a="http://schemas.openxmlformats.org/drawingml/2006/main">
            <a:pPr>
              <a:defRPr sz="3750" b="0">
                <a:solidFill>
                  <a:srgbClr val="FFF9EB"/>
                </a:solidFill>
                <a:latin typeface="DejaVu Sans"/>
                <a:ea typeface="DejaVu Sans"/>
                <a:cs typeface="DejaVu Sans"/>
              </a:defRPr>
            </a:pPr>
            <a:r>
              <a:rPr sz="3750" b="0">
                <a:solidFill>
                  <a:srgbClr val="FFF9EB"/>
                </a:solidFill>
                <a:latin typeface="DejaVu Sans"/>
                <a:ea typeface="DejaVu Sans"/>
                <a:cs typeface="DejaVu Sans"/>
              </a:rPr>
              <a:t>мешали остановиться?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8F5990-3719-4325-BC62-CCEB30BE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0">
                <a:solidFill>
                  <a:srgbClr val="EBC697"/>
                </a:solidFill>
                <a:latin typeface="DejaVu Sans"/>
                <a:ea typeface="DejaVu Sans"/>
                <a:cs typeface="DejaVu Sans"/>
              </a:defRPr>
            </a:pPr>
            <a:r>
              <a:rPr sz="3375" b="0">
                <a:solidFill>
                  <a:srgbClr val="EBC697"/>
                </a:solidFill>
                <a:latin typeface="DejaVu Sans"/>
                <a:ea typeface="DejaVu Sans"/>
                <a:cs typeface="DejaVu Sans"/>
              </a:rPr>
              <a:t>Что всё-таки можно было сделать?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E6E598-9F51-47B1-BFBF-B6FFD9C8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8175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FFF9EB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FFF9EB"/>
                </a:solidFill>
                <a:latin typeface="DejaVu Sans"/>
                <a:ea typeface="DejaVu Sans"/>
                <a:cs typeface="DejaVu Sans"/>
              </a:rPr>
              <a:t>Мог ли самарянин найти такое же оправдание?</a:t>
            </a:r>
          </a:p>
        </p:txBody>
      </p:sp>
    </p:spTree>
    <p:extLst>
      <p:ext uri="{BB962C8B-B14F-4D97-AF65-F5344CB8AC3E}">
        <p14:creationId xmlns:p14="http://schemas.microsoft.com/office/powerpoint/2010/main" val="1864717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AC99A1-498C-4033-8368-B42EF488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381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4950" b="1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Поступки самарянина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5154E2-3EDF-460B-A7E3-23D789B3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685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A45739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A45739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DA498-AED6-41F6-8DB1-F22DDC90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105025"/>
            <a:ext cx="6286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Увидел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34F0FB-0AF5-4E2F-A4B6-1D50A2CA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685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A45739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A45739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E93B3-11E0-48E1-A59E-08BE93A3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152775"/>
            <a:ext cx="6286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Подошёл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5527F7-28CD-4BD4-A86E-B58C1DCD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685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A45739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A45739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079A31-791D-4CF3-A03A-F5F6E8B7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200525"/>
            <a:ext cx="6286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Помог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3CDE6F-4A1E-46A2-B88F-BFE3EB9E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685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A45739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A45739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30801A-5C2A-462B-AA51-27AC2F90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5248275"/>
            <a:ext cx="6286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Привёз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63A5B1-4156-4C4B-9CB6-343B0686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81750"/>
            <a:ext cx="685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A45739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A45739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FD8599-4637-41BB-A4BB-462B7142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6296025"/>
            <a:ext cx="6286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Позаботился дальше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60AD07-5396-4E36-ABA7-A8868E1A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28900"/>
            <a:ext cx="5429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Что он</a:t>
            </a:r>
          </a:p>
          <a:p xmlns:a="http://schemas.openxmlformats.org/drawingml/2006/main">
            <a:pPr>
              <a:defRPr sz="32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сделал сам?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58A95D-2B68-4BF8-B3BE-42699435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00600"/>
            <a:ext cx="542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A45739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A45739"/>
                </a:solidFill>
                <a:latin typeface="DejaVu Sans"/>
                <a:ea typeface="DejaVu Sans"/>
                <a:cs typeface="DejaVu Sans"/>
              </a:rPr>
              <a:t>Как позаботился</a:t>
            </a:r>
          </a:p>
          <a:p xmlns:a="http://schemas.openxmlformats.org/drawingml/2006/main">
            <a:pPr>
              <a:defRPr sz="3000" b="0">
                <a:solidFill>
                  <a:srgbClr val="A45739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A45739"/>
                </a:solidFill>
                <a:latin typeface="DejaVu Sans"/>
                <a:ea typeface="DejaVu Sans"/>
                <a:cs typeface="DejaVu Sans"/>
              </a:rPr>
              <a:t>о человеке</a:t>
            </a:r>
          </a:p>
          <a:p xmlns:a="http://schemas.openxmlformats.org/drawingml/2006/main">
            <a:pPr>
              <a:defRPr sz="3000" b="0">
                <a:solidFill>
                  <a:srgbClr val="A45739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A45739"/>
                </a:solidFill>
                <a:latin typeface="DejaVu Sans"/>
                <a:ea typeface="DejaVu Sans"/>
                <a:cs typeface="DejaVu Sans"/>
              </a:rPr>
              <a:t>после отъезда?</a:t>
            </a:r>
          </a:p>
        </p:txBody>
      </p:sp>
    </p:spTree>
    <p:extLst>
      <p:ext uri="{BB962C8B-B14F-4D97-AF65-F5344CB8AC3E}">
        <p14:creationId xmlns:p14="http://schemas.microsoft.com/office/powerpoint/2010/main" val="20542637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13F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D37D4A-33A3-4493-9D54-332BCD94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13792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FFF9EB"/>
                </a:solidFill>
                <a:latin typeface="DejaVu Sans"/>
                <a:ea typeface="DejaVu Sans"/>
                <a:cs typeface="DejaVu Sans"/>
              </a:defRPr>
            </a:pPr>
            <a:r>
              <a:rPr sz="5025" b="1">
                <a:solidFill>
                  <a:srgbClr val="FFF9EB"/>
                </a:solidFill>
                <a:latin typeface="DejaVu Sans"/>
                <a:ea typeface="DejaVu Sans"/>
                <a:cs typeface="DejaVu Sans"/>
              </a:rPr>
              <a:t>Кто оказался ближним?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F2C8B-9AAF-4277-A4FE-F675D23F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13620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425" b="0">
                <a:solidFill>
                  <a:srgbClr val="FFF9EB"/>
                </a:solidFill>
                <a:latin typeface="DejaVu Sans"/>
                <a:ea typeface="DejaVu Sans"/>
                <a:cs typeface="DejaVu Sans"/>
              </a:defRPr>
            </a:pPr>
            <a:r>
              <a:rPr sz="4425" b="0">
                <a:solidFill>
                  <a:srgbClr val="FFF9EB"/>
                </a:solidFill>
                <a:latin typeface="DejaVu Sans"/>
                <a:ea typeface="DejaVu Sans"/>
                <a:cs typeface="DejaVu Sans"/>
              </a:rPr>
              <a:t>По каким поступкам</a:t>
            </a:r>
          </a:p>
          <a:p xmlns:a="http://schemas.openxmlformats.org/drawingml/2006/main">
            <a:pPr>
              <a:defRPr sz="4425" b="0">
                <a:solidFill>
                  <a:srgbClr val="FFF9EB"/>
                </a:solidFill>
                <a:latin typeface="DejaVu Sans"/>
                <a:ea typeface="DejaVu Sans"/>
                <a:cs typeface="DejaVu Sans"/>
              </a:defRPr>
            </a:pPr>
            <a:r>
              <a:rPr sz="4425" b="0">
                <a:solidFill>
                  <a:srgbClr val="FFF9EB"/>
                </a:solidFill>
                <a:latin typeface="DejaVu Sans"/>
                <a:ea typeface="DejaVu Sans"/>
                <a:cs typeface="DejaVu Sans"/>
              </a:rPr>
              <a:t>мы это понимаем?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2CE945-201A-4DE4-93B1-730DE8A8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38825"/>
            <a:ext cx="1362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EBC697"/>
                </a:solidFill>
                <a:latin typeface="DejaVu Sans"/>
                <a:ea typeface="DejaVu Sans"/>
                <a:cs typeface="DejaVu Sans"/>
              </a:defRPr>
            </a:pPr>
            <a:r>
              <a:rPr sz="3525" b="0">
                <a:solidFill>
                  <a:srgbClr val="EBC697"/>
                </a:solidFill>
                <a:latin typeface="DejaVu Sans"/>
                <a:ea typeface="DejaVu Sans"/>
                <a:cs typeface="DejaVu Sans"/>
              </a:rPr>
              <a:t>«Иди, и ты поступай так же»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8FC86-6E58-4388-B611-CCEC0C7A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9E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FF9EB"/>
                </a:solidFill>
                <a:latin typeface="DejaVu Sans"/>
                <a:ea typeface="DejaVu Sans"/>
                <a:cs typeface="DejaVu Sans"/>
              </a:rPr>
              <a:t>Лк 10:37</a:t>
            </a:r>
          </a:p>
        </p:txBody>
      </p:sp>
    </p:spTree>
    <p:extLst>
      <p:ext uri="{BB962C8B-B14F-4D97-AF65-F5344CB8AC3E}">
        <p14:creationId xmlns:p14="http://schemas.microsoft.com/office/powerpoint/2010/main" val="7360613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843E03-70DF-4101-B8D2-FF8F2916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Новенький на перемене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653eb857f446d1"/>
          <a:stretch xmlns:a="http://schemas.openxmlformats.org/drawingml/2006/main"/>
        </p:blipFill>
        <p:spPr>
          <a:xfrm xmlns:a="http://schemas.openxmlformats.org/drawingml/2006/main">
            <a:off x="5848350" y="1914525"/>
            <a:ext cx="8858250" cy="5905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86036-880A-4E5D-AE52-EB36F96E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48768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Он сидит один.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Что можно</a:t>
            </a:r>
          </a:p>
          <a:p xmlns:a="http://schemas.openxmlformats.org/drawingml/2006/main">
            <a:pPr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ему сказать</a:t>
            </a:r>
          </a:p>
          <a:p xmlns:a="http://schemas.openxmlformats.org/drawingml/2006/main">
            <a:pPr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или предложить?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488A2E-2FC7-4FE1-9B37-89DA3313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9053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A4573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A45739"/>
                </a:solidFill>
                <a:latin typeface="DejaVu Sans"/>
                <a:ea typeface="DejaVu Sans"/>
                <a:cs typeface="DejaVu Sans"/>
              </a:rPr>
              <a:t>Как оправдать бездействие?</a:t>
            </a:r>
          </a:p>
          <a:p xmlns:a="http://schemas.openxmlformats.org/drawingml/2006/main">
            <a:pPr>
              <a:defRPr sz="1950" b="0">
                <a:solidFill>
                  <a:srgbClr val="A4573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A45739"/>
                </a:solidFill>
                <a:latin typeface="DejaVu Sans"/>
                <a:ea typeface="DejaVu Sans"/>
                <a:cs typeface="DejaVu Sans"/>
              </a:rPr>
              <a:t>А как всё-таки помочь?</a:t>
            </a:r>
          </a:p>
        </p:txBody>
      </p:sp>
    </p:spTree>
    <p:extLst>
      <p:ext uri="{BB962C8B-B14F-4D97-AF65-F5344CB8AC3E}">
        <p14:creationId xmlns:p14="http://schemas.microsoft.com/office/powerpoint/2010/main" val="9075634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DBC0D9-FBD4-4C26-960C-2DEBC817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Рассыпавшиеся книги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459f05b41c4590"/>
          <a:stretch xmlns:a="http://schemas.openxmlformats.org/drawingml/2006/main"/>
        </p:blipFill>
        <p:spPr>
          <a:xfrm xmlns:a="http://schemas.openxmlformats.org/drawingml/2006/main">
            <a:off x="5848350" y="1914525"/>
            <a:ext cx="8858250" cy="5905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0C7273-68D4-4033-8490-CA3A913F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48768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Младший ученик</a:t>
            </a:r>
          </a:p>
          <a:p xmlns:a="http://schemas.openxmlformats.org/drawingml/2006/main">
            <a:pPr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уронил книги.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Как подойти</a:t>
            </a:r>
          </a:p>
          <a:p xmlns:a="http://schemas.openxmlformats.org/drawingml/2006/main">
            <a:pPr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и предложить помощь?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8DE67C-AE2D-41A5-B6D0-40B221BB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9053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A4573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A45739"/>
                </a:solidFill>
                <a:latin typeface="DejaVu Sans"/>
                <a:ea typeface="DejaVu Sans"/>
                <a:cs typeface="DejaVu Sans"/>
              </a:rPr>
              <a:t>Как оправдать бездействие?</a:t>
            </a:r>
          </a:p>
          <a:p xmlns:a="http://schemas.openxmlformats.org/drawingml/2006/main">
            <a:pPr>
              <a:defRPr sz="1950" b="0">
                <a:solidFill>
                  <a:srgbClr val="A4573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A45739"/>
                </a:solidFill>
                <a:latin typeface="DejaVu Sans"/>
                <a:ea typeface="DejaVu Sans"/>
                <a:cs typeface="DejaVu Sans"/>
              </a:rPr>
              <a:t>А как всё-таки помочь?</a:t>
            </a:r>
          </a:p>
        </p:txBody>
      </p:sp>
    </p:spTree>
    <p:extLst>
      <p:ext uri="{BB962C8B-B14F-4D97-AF65-F5344CB8AC3E}">
        <p14:creationId xmlns:p14="http://schemas.microsoft.com/office/powerpoint/2010/main" val="6565733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9DBE94-9406-4727-8D94-D5E6C0A0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Не берут в игру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57c8cfb5894980"/>
          <a:stretch xmlns:a="http://schemas.openxmlformats.org/drawingml/2006/main"/>
        </p:blipFill>
        <p:spPr>
          <a:xfrm xmlns:a="http://schemas.openxmlformats.org/drawingml/2006/main">
            <a:off x="5848350" y="1914525"/>
            <a:ext cx="8858250" cy="5905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8351BB-2F1C-4AD8-A245-B9BFC10C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48768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Одноклассник</a:t>
            </a:r>
          </a:p>
          <a:p xmlns:a="http://schemas.openxmlformats.org/drawingml/2006/main">
            <a:pPr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остался в стороне.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Как помочь ему</a:t>
            </a:r>
          </a:p>
          <a:p xmlns:a="http://schemas.openxmlformats.org/drawingml/2006/main">
            <a:pPr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присоединиться?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53834-2112-4AF8-8765-0ACCDE9C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9053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A4573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A45739"/>
                </a:solidFill>
                <a:latin typeface="DejaVu Sans"/>
                <a:ea typeface="DejaVu Sans"/>
                <a:cs typeface="DejaVu Sans"/>
              </a:rPr>
              <a:t>Как оправдать бездействие?</a:t>
            </a:r>
          </a:p>
          <a:p xmlns:a="http://schemas.openxmlformats.org/drawingml/2006/main">
            <a:pPr>
              <a:defRPr sz="1950" b="0">
                <a:solidFill>
                  <a:srgbClr val="A4573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A45739"/>
                </a:solidFill>
                <a:latin typeface="DejaVu Sans"/>
                <a:ea typeface="DejaVu Sans"/>
                <a:cs typeface="DejaVu Sans"/>
              </a:rPr>
              <a:t>А как всё-таки помочь?</a:t>
            </a:r>
          </a:p>
        </p:txBody>
      </p:sp>
    </p:spTree>
    <p:extLst>
      <p:ext uri="{BB962C8B-B14F-4D97-AF65-F5344CB8AC3E}">
        <p14:creationId xmlns:p14="http://schemas.microsoft.com/office/powerpoint/2010/main" val="4247692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f95524037841a3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C9F0E-7238-442B-96EB-4BDC72F9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33475"/>
            <a:ext cx="100012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375" b="1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6375" b="1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Кому я могу</a:t>
            </a:r>
          </a:p>
          <a:p xmlns:a="http://schemas.openxmlformats.org/drawingml/2006/main">
            <a:pPr>
              <a:defRPr sz="6375" b="1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6375" b="1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помочь?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6F8C5-C20F-47C0-A421-D491DD32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6675"/>
            <a:ext cx="1133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35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На этой неделе я могу…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EFD48C-C7E7-4FE3-9D8E-E31B17BF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25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6263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62635A"/>
                </a:solidFill>
                <a:latin typeface="DejaVu Sans"/>
                <a:ea typeface="DejaVu Sans"/>
                <a:cs typeface="DejaVu Sans"/>
              </a:rPr>
              <a:t>Один посильный поступок</a:t>
            </a:r>
          </a:p>
        </p:txBody>
      </p:sp>
    </p:spTree>
    <p:extLst>
      <p:ext uri="{BB962C8B-B14F-4D97-AF65-F5344CB8AC3E}">
        <p14:creationId xmlns:p14="http://schemas.microsoft.com/office/powerpoint/2010/main" val="15117859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2026-09-29T14:51:16.7260000Z</dcterms:created>
  <dcterms:modified xsi:type="dcterms:W3CDTF">2026-09-29T14:51:16.7260000Z</dcterms:modified>
</coreProperties>
</file>