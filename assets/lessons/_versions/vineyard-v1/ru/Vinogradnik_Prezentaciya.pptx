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2ca392cd0047c6" /><Relationship Type="http://schemas.openxmlformats.org/officeDocument/2006/relationships/extended-properties" Target="/docProps/app.xml" Id="Ra795432dc97c4fa5" /><Relationship Type="http://schemas.openxmlformats.org/officeDocument/2006/relationships/officeDocument" Target="/ppt/presentation.xml" Id="R8a18b30d9aed4e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40da21f0f2459c"/>
  </p:sldMasterIdLst>
  <p:notesMasterIdLst>
    <p:notesMasterId xmlns:r="http://schemas.openxmlformats.org/officeDocument/2006/relationships" r:id="R69187252563f438e"/>
  </p:notesMasterIdLst>
  <p:sldIdLst>
    <p:sldId xmlns:r="http://schemas.openxmlformats.org/officeDocument/2006/relationships" id="256" r:id="R377be4bcacad4940"/>
    <p:sldId xmlns:r="http://schemas.openxmlformats.org/officeDocument/2006/relationships" id="257" r:id="R42bad913b7ac4dab"/>
    <p:sldId xmlns:r="http://schemas.openxmlformats.org/officeDocument/2006/relationships" id="258" r:id="Rd1a56206559e4de0"/>
    <p:sldId xmlns:r="http://schemas.openxmlformats.org/officeDocument/2006/relationships" id="259" r:id="R8cc2d55bb1074fa1"/>
    <p:sldId xmlns:r="http://schemas.openxmlformats.org/officeDocument/2006/relationships" id="260" r:id="R2438c8f79b4e4a74"/>
    <p:sldId xmlns:r="http://schemas.openxmlformats.org/officeDocument/2006/relationships" id="261" r:id="Ra77a379bb12648f8"/>
    <p:sldId xmlns:r="http://schemas.openxmlformats.org/officeDocument/2006/relationships" id="262" r:id="R7db743f083e44507"/>
    <p:sldId xmlns:r="http://schemas.openxmlformats.org/officeDocument/2006/relationships" id="263" r:id="Reade5dae87be4482"/>
    <p:sldId xmlns:r="http://schemas.openxmlformats.org/officeDocument/2006/relationships" id="264" r:id="Rc4acb42c56e64a87"/>
    <p:sldId xmlns:r="http://schemas.openxmlformats.org/officeDocument/2006/relationships" id="265" r:id="R64edb3efbee04218"/>
    <p:sldId xmlns:r="http://schemas.openxmlformats.org/officeDocument/2006/relationships" id="266" r:id="R7657f527a8d34ac0"/>
    <p:sldId xmlns:r="http://schemas.openxmlformats.org/officeDocument/2006/relationships" id="267" r:id="R91af51c1c4af49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527a557abe4317" /><Relationship Type="http://schemas.openxmlformats.org/officeDocument/2006/relationships/slideMaster" Target="/ppt/slideMasters/slideMaster1.xml" Id="R9c40da21f0f2459c" /><Relationship Type="http://schemas.openxmlformats.org/officeDocument/2006/relationships/notesMaster" Target="/ppt/notesMasters/notesMaster1.xml" Id="R69187252563f438e" /><Relationship Type="http://schemas.openxmlformats.org/officeDocument/2006/relationships/presProps" Target="/ppt/presProps.xml" Id="Re1ae117d71a044bc" /><Relationship Type="http://schemas.openxmlformats.org/officeDocument/2006/relationships/tableStyles" Target="/ppt/tableStyles.xml" Id="R0767a4d9d47b441c" /><Relationship Type="http://schemas.openxmlformats.org/officeDocument/2006/relationships/slide" Target="/ppt/slides/slide1.xml" Id="R377be4bcacad4940" /><Relationship Type="http://schemas.openxmlformats.org/officeDocument/2006/relationships/slide" Target="/ppt/slides/slide2.xml" Id="R42bad913b7ac4dab" /><Relationship Type="http://schemas.openxmlformats.org/officeDocument/2006/relationships/slide" Target="/ppt/slides/slide3.xml" Id="Rd1a56206559e4de0" /><Relationship Type="http://schemas.openxmlformats.org/officeDocument/2006/relationships/slide" Target="/ppt/slides/slide4.xml" Id="R8cc2d55bb1074fa1" /><Relationship Type="http://schemas.openxmlformats.org/officeDocument/2006/relationships/slide" Target="/ppt/slides/slide5.xml" Id="R2438c8f79b4e4a74" /><Relationship Type="http://schemas.openxmlformats.org/officeDocument/2006/relationships/slide" Target="/ppt/slides/slide6.xml" Id="Ra77a379bb12648f8" /><Relationship Type="http://schemas.openxmlformats.org/officeDocument/2006/relationships/slide" Target="/ppt/slides/slide7.xml" Id="R7db743f083e44507" /><Relationship Type="http://schemas.openxmlformats.org/officeDocument/2006/relationships/slide" Target="/ppt/slides/slide8.xml" Id="Reade5dae87be4482" /><Relationship Type="http://schemas.openxmlformats.org/officeDocument/2006/relationships/slide" Target="/ppt/slides/slide9.xml" Id="Rc4acb42c56e64a87" /><Relationship Type="http://schemas.openxmlformats.org/officeDocument/2006/relationships/slide" Target="/ppt/slides/slide10.xml" Id="R64edb3efbee04218" /><Relationship Type="http://schemas.openxmlformats.org/officeDocument/2006/relationships/slide" Target="/ppt/slides/slide11.xml" Id="R7657f527a8d34ac0" /><Relationship Type="http://schemas.openxmlformats.org/officeDocument/2006/relationships/slide" Target="/ppt/slides/slide12.xml" Id="R91af51c1c4af49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0fa84182a344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c0f237987a4c1b" /><Relationship Type="http://schemas.openxmlformats.org/officeDocument/2006/relationships/notesMaster" Target="/ppt/notesMasters/notesMaster1.xml" Id="R915034a6f8d54c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91027cdbef467d" /><Relationship Type="http://schemas.openxmlformats.org/officeDocument/2006/relationships/notesMaster" Target="/ppt/notesMasters/notesMaster1.xml" Id="R42efc48ca7fb4c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8f657afce14e0a" /><Relationship Type="http://schemas.openxmlformats.org/officeDocument/2006/relationships/notesMaster" Target="/ppt/notesMasters/notesMaster1.xml" Id="Rc08d32ba355c48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c58b3d3f0445de" /><Relationship Type="http://schemas.openxmlformats.org/officeDocument/2006/relationships/notesMaster" Target="/ppt/notesMasters/notesMaster1.xml" Id="Rcf4beac9a2414d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13c2e18c934c41" /><Relationship Type="http://schemas.openxmlformats.org/officeDocument/2006/relationships/notesMaster" Target="/ppt/notesMasters/notesMaster1.xml" Id="Re145093d6c844b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ad7abad6124dc4" /><Relationship Type="http://schemas.openxmlformats.org/officeDocument/2006/relationships/notesMaster" Target="/ppt/notesMasters/notesMaster1.xml" Id="R230d3305abeb48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b1695f12bd49ef" /><Relationship Type="http://schemas.openxmlformats.org/officeDocument/2006/relationships/notesMaster" Target="/ppt/notesMasters/notesMaster1.xml" Id="Rc144f79a6a744e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c6918c301d4410" /><Relationship Type="http://schemas.openxmlformats.org/officeDocument/2006/relationships/notesMaster" Target="/ppt/notesMasters/notesMaster1.xml" Id="R2b63e5e360bd49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ee7e0653ce4aca" /><Relationship Type="http://schemas.openxmlformats.org/officeDocument/2006/relationships/notesMaster" Target="/ppt/notesMasters/notesMaster1.xml" Id="Rc16e7cf9f98d47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90206db6cb4882" /><Relationship Type="http://schemas.openxmlformats.org/officeDocument/2006/relationships/notesMaster" Target="/ppt/notesMasters/notesMaster1.xml" Id="Rd932b11de49942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9b55fb4b204185" /><Relationship Type="http://schemas.openxmlformats.org/officeDocument/2006/relationships/notesMaster" Target="/ppt/notesMasters/notesMaster1.xml" Id="Rc11fe5fc7fc844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4bb0e2bf814905" /><Relationship Type="http://schemas.openxmlformats.org/officeDocument/2006/relationships/notesMaster" Target="/ppt/notesMasters/notesMaster1.xml" Id="R9114860b9e384a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1. 2 мин.</a:t>
            </a:r>
          </a:p>
          <a:p xmlns:a="http://schemas.openxmlformats.org/drawingml/2006/main">
            <a:r>
              <a:t>Реплика: Другому достался новый набор красок. Я смотрю на свой и думаю: почему ему больше? Что я сейчас знаю, а что только предполагаю? Послушаем историю, в которой первые работники ожидали большего.</a:t>
            </a:r>
          </a:p>
          <a:p xmlns:a="http://schemas.openxmlformats.org/drawingml/2006/main">
            <a:r>
              <a:t>Как провести: Назовите вымышленный случай с подарком. Каждый молча замечает первое чувство. Не собирайте личные признания; переходите к чтению.</a:t>
            </a:r>
          </a:p>
          <a:p xmlns:a="http://schemas.openxmlformats.org/drawingml/2006/main">
            <a:r>
              <a:t>Вопрос: О чём я думаю сначала: о своей нужде или о том, что получил другой?</a:t>
            </a:r>
          </a:p>
          <a:p xmlns:a="http://schemas.openxmlformats.org/drawingml/2006/main">
            <a:r>
              <a:t>Ориентир: Чувство можно заметить. Вывод «меня ценят меньше» требует проверки. Сегодня разбираем обещания, щедрость и сравнение.</a:t>
            </a:r>
          </a:p>
          <a:p xmlns:a="http://schemas.openxmlformats.org/drawingml/2006/main">
            <a:r>
              <a:t>Ритм: 1 минута — случай; 1 минута — личный выбор и переход.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https://bible.by/syn/40/20/. Синодальный перевод — общественное достояние. Полное Мф. 20:1–16. Сценка по притче, пять представителей не означают общее число работников. Пять приглашений, плата от последних к первым, каждому по динарию. Первым договор исполнили. Притча о Царстве Небесном и милости, не универсальное правило оплаты или оценок. Современные случаи и молитва авторские. Крест православный восьмиконечный, иконы не изображены. Учителю: https://azbyka.ru/otechnik/Feofilakt_Bolgarskij/tolkovanie-na-evangelie-ot-matfeja/20.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2. 3 мин.</a:t>
            </a:r>
          </a:p>
          <a:p xmlns:a="http://schemas.openxmlformats.org/drawingml/2006/main">
            <a:r>
              <a:t>Реплика: Прочитаем Мф. 20:1–16 целиком. Услышим все пять выходов хозяина и порядок выплаты. Сразу после чтения разыграем притчу.</a:t>
            </a:r>
          </a:p>
          <a:p xmlns:a="http://schemas.openxmlformats.org/drawingml/2006/main">
            <a:r>
              <a:t>Как провести: Прочитайте все 16 стихов без промежуточного обсуждения. Семь участников заранее получают роли. Ведущий читает слова рассказчика и заключение Христа. Затем сразу начинайте сценку.</a:t>
            </a:r>
          </a:p>
          <a:p xmlns:a="http://schemas.openxmlformats.org/drawingml/2006/main">
            <a:r>
              <a:t>Вопрос: Задание слушателям: запомнить договор, поздний ответ работников и порядок платы.</a:t>
            </a:r>
          </a:p>
          <a:p xmlns:a="http://schemas.openxmlformats.org/drawingml/2006/main">
            <a:r>
              <a:t>Ориентир: Рано утром договорились по динарию; затем были третий, шестой, девятый и одиннадцатый часы. Последних никто не нанял. Вечером платят от последних к первым.</a:t>
            </a:r>
          </a:p>
          <a:p xmlns:a="http://schemas.openxmlformats.org/drawingml/2006/main">
            <a:r>
              <a:t>Ритм: 2,5 минуты — чтение; 30 секунд — переход.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Полный выбранный отрывок Мф. 20:1–16. Синодальный перевод.</a:t>
            </a:r>
          </a:p>
          <a:p xmlns:a="http://schemas.openxmlformats.org/drawingml/2006/main">
            <a:r>
              <a:t>1. Ибо Царство Небесное подобно хозяину дома, который вышел рано поутру нанять работников в виноградник свой</a:t>
            </a:r>
          </a:p>
          <a:p xmlns:a="http://schemas.openxmlformats.org/drawingml/2006/main">
            <a:r>
              <a:t>2. и, договорившись с работниками по динарию на день, послал их в виноградник свой;</a:t>
            </a:r>
          </a:p>
          <a:p xmlns:a="http://schemas.openxmlformats.org/drawingml/2006/main">
            <a:r>
              <a:t>3. выйдя около третьего часа, он увидел других, стоящих на торжище праздно,</a:t>
            </a:r>
          </a:p>
          <a:p xmlns:a="http://schemas.openxmlformats.org/drawingml/2006/main">
            <a:r>
              <a:t>4. и им сказал: «идите и вы в виноградник мой, и что следовать будет, дам вам». Они пошли.</a:t>
            </a:r>
          </a:p>
          <a:p xmlns:a="http://schemas.openxmlformats.org/drawingml/2006/main">
            <a:r>
              <a:t>5. Опять выйдя около шестого и девятого часа, сделал то же.</a:t>
            </a:r>
          </a:p>
          <a:p xmlns:a="http://schemas.openxmlformats.org/drawingml/2006/main">
            <a:r>
              <a:t>6. Наконец, выйдя около одиннадцатого часа, он нашёл других, стоящих праздно, и говорит им: «что вы стоите здесь целый день праздно?»</a:t>
            </a:r>
          </a:p>
          <a:p xmlns:a="http://schemas.openxmlformats.org/drawingml/2006/main">
            <a:r>
              <a:t>7. Они говорят ему: «никто нас не нанял». Он говорит им: «идите и вы в виноградник мой, и что следовать будет, получите».</a:t>
            </a:r>
          </a:p>
          <a:p xmlns:a="http://schemas.openxmlformats.org/drawingml/2006/main">
            <a:r>
              <a:t>8. Когда же наступил вечер, говорит господин виноградника управителю своему: «позови работников и отдай им плату, начав с последних до первых».</a:t>
            </a:r>
          </a:p>
          <a:p xmlns:a="http://schemas.openxmlformats.org/drawingml/2006/main">
            <a:r>
              <a:t>9. И пришедшие около одиннадцатого часа получили по динарию.</a:t>
            </a:r>
          </a:p>
          <a:p xmlns:a="http://schemas.openxmlformats.org/drawingml/2006/main">
            <a:r>
              <a:t>10. Пришедшие же первыми думали, что они получат больше, но получили и они по динарию;</a:t>
            </a:r>
          </a:p>
          <a:p xmlns:a="http://schemas.openxmlformats.org/drawingml/2006/main">
            <a:r>
              <a:t>11. и, получив, стали роптать на хозяина дома</a:t>
            </a:r>
          </a:p>
          <a:p xmlns:a="http://schemas.openxmlformats.org/drawingml/2006/main">
            <a:r>
              <a:t>12. и говорили: «эти последние работали один час, и ты сравнял их с нами, перенёсшими тягость дня и зной».</a:t>
            </a:r>
          </a:p>
          <a:p xmlns:a="http://schemas.openxmlformats.org/drawingml/2006/main">
            <a:r>
              <a:t>13. Он же в ответ сказал одному из них: «друг! я не обижаю тебя; не за динарий ли ты договорился со мною?</a:t>
            </a:r>
          </a:p>
          <a:p xmlns:a="http://schemas.openxmlformats.org/drawingml/2006/main">
            <a:r>
              <a:t>14. возьми своё и пойди; я же хочу дать этому последнему то же, что и тебе;</a:t>
            </a:r>
          </a:p>
          <a:p xmlns:a="http://schemas.openxmlformats.org/drawingml/2006/main">
            <a:r>
              <a:t>15. разве я не властен в своём делать, что хочу? или глаз твой завистлив оттого, что я добр?»</a:t>
            </a:r>
          </a:p>
          <a:p xmlns:a="http://schemas.openxmlformats.org/drawingml/2006/main">
            <a:r>
              <a:t>16. Так будут последние первыми, и первые последними, ибо много званых, а мало избранных.</a:t>
            </a:r>
          </a:p>
          <a:p xmlns:a="http://schemas.openxmlformats.org/drawingml/2006/main">
            <a:r>
              <a:t>Источник: https://bible.by/syn/40/20/. Синодальный перевод — общественное достояние. Полное Мф. 20:1–16. Сценка по притче, пять представителей не означают общее число работников. Пять приглашений, плата от последних к первым, каждому по динарию. Первым договор исполнили. Притча о Царстве Небесном и милости, не универсальное правило оплаты или оценок. Современные случаи и молитва авторские. Крест православный восьмиконечный, иконы не изображены. Учителю: https://azbyka.ru/otechnik/Feofilakt_Bolgarskij/tolkovanie-na-evangelie-ot-matfeja/20.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3. 7 мин.</a:t>
            </a:r>
          </a:p>
          <a:p xmlns:a="http://schemas.openxmlformats.org/drawingml/2006/main">
            <a:r>
              <a:t>Реплика: Хозяин зовёт работников в разное время. Управитель платит начиная с последних. Первые ждут большего, хотя договорились на один динарий. Сыграем историю до ответа хозяина и заключения Христа.</a:t>
            </a:r>
          </a:p>
          <a:p xmlns:a="http://schemas.openxmlformats.org/drawingml/2006/main">
            <a:r>
              <a:t>Как провести: Семь ролей: хозяин, управитель, пять представителей времени найма. По приложению сыграйте все выходы, оплату, ропот и ответ. Пять работников представляют группы; текст не называет общего числа людей. Обсуждение после финала.</a:t>
            </a:r>
          </a:p>
          <a:p xmlns:a="http://schemas.openxmlformats.org/drawingml/2006/main">
            <a:r>
              <a:t>Вопрос: Наблюдаем: что обещали первым и как чужая плата изменила их ожидание?</a:t>
            </a:r>
          </a:p>
          <a:p xmlns:a="http://schemas.openxmlformats.org/drawingml/2006/main">
            <a:r>
              <a:t>Ориентир: Каждый представитель получает один одинаковый жетон. Первому не уменьшили договорённую плату. Последнему дали столько же. Не добавляйте примирение или наказание, о которых притча не рассказывает.</a:t>
            </a:r>
          </a:p>
          <a:p xmlns:a="http://schemas.openxmlformats.org/drawingml/2006/main">
            <a:r>
              <a:t>Ритм: 3 минуты — пять выходов; 2 минуты — плата; 2 минуты — ропот, ответ и заключение.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Сценка по притче: семь ролей, пять представителей времени найма:</a:t>
            </a:r>
          </a:p>
          <a:p xmlns:a="http://schemas.openxmlformats.org/drawingml/2006/main">
            <a:r>
              <a:t>Начало и утренний договор: Семь ролей: хозяин, управитель и пять работников по времени найма. Каждый работник представляет группу; всего работников в притче не подсчитываем. Ведущий читает повествование. Рано утром хозяин договаривается с первым по динарию на день и посылает в виноградник. Первый принимает договор и начинает работу.</a:t>
            </a:r>
          </a:p>
          <a:p xmlns:a="http://schemas.openxmlformats.org/drawingml/2006/main">
            <a:r>
              <a:t>Третий, шестой и девятый часы: Около третьего часа хозяин приглашает следующего: «идите и вы в виноградник мой, и что следовать будет, дам вам». Работник присоединяется. Ведущий объявляет шестой час, затем девятый: хозяин делает то же, каждый соответствующий представитель начинает работу. Между выходами показываем течение дня, не останавливая сценку для обсуждения.</a:t>
            </a:r>
          </a:p>
          <a:p xmlns:a="http://schemas.openxmlformats.org/drawingml/2006/main">
            <a:r>
              <a:t>Одиннадцатый час: Хозяин находит последнего: «что вы стоите здесь целый день праздно?» Представитель отвечает: «никто нас не нанял». Хозяин: «идите и вы в виноградник мой, и что следовать будет, получите». Последний идёт работать. Причину не подменяем ленью или опозданием.</a:t>
            </a:r>
          </a:p>
          <a:p xmlns:a="http://schemas.openxmlformats.org/drawingml/2006/main">
            <a:r>
              <a:t>Вечер и плата: Хозяин управителю: «позови работников и отдай им плату, начав с последних до первых». Управитель приглашает в порядке: одиннадцатый, девятый, шестой, третий, раннее утро. Каждый из пяти представителей получает один одинаковый жетон. Ведущий читает ст. 9–10: пришедшие около одиннадцатого часа получают по динарию; первые думают получить больше, но получают тоже по динарию.</a:t>
            </a:r>
          </a:p>
          <a:p xmlns:a="http://schemas.openxmlformats.org/drawingml/2006/main">
            <a:r>
              <a:t>Ропот и ответ: Первый от имени ропщущих: «эти последние работали один час, и ты сравнял их с нами, перенёсшими тягость дня и зной». Хозяин: «друг! я не обижаю тебя; не за динарий ли ты договорился со мною? возьми своё и пойди; я же хочу дать этому последнему то же, что и тебе; разве я не властен в своём делать, что хочу? или глаз твой завистлив оттого, что я добр?»</a:t>
            </a:r>
          </a:p>
          <a:p xmlns:a="http://schemas.openxmlformats.org/drawingml/2006/main">
            <a:r>
              <a:t>Заключение: Ведущий читает слова Христа: «Так будут последние первыми, и первые последними, ибо много званых, а мало избранных». На этом сценка заканчивается; только теперь обсуждение. Не придумываем ответ работников после слов хозяина.</a:t>
            </a:r>
          </a:p>
          <a:p xmlns:a="http://schemas.openxmlformats.org/drawingml/2006/main">
            <a:r>
              <a:t>Источник: https://bible.by/syn/40/20/. Синодальный перевод — общественное достояние. Полное Мф. 20:1–16. Сценка по притче, пять представителей не означают общее число работников. Пять приглашений, плата от последних к первым, каждому по динарию. Первым договор исполнили. Притча о Царстве Небесном и милости, не универсальное правило оплаты или оценок. Современные случаи и молитва авторские. Крест православный восьмиконечный, иконы не изображены. Учителю: https://azbyka.ru/otechnik/Feofilakt_Bolgarskij/tolkovanie-na-evangelie-ot-matfeja/20.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4. 3 мин.</a:t>
            </a:r>
          </a:p>
          <a:p xmlns:a="http://schemas.openxmlformats.org/drawingml/2006/main">
            <a:r>
              <a:t>Реплика: В притче последнему дали не больше монет: каждому по динарию. Но первые трудились дольше. Что им обещали? Что они получили? Чего стали ждать, увидев чужую плату?</a:t>
            </a:r>
          </a:p>
          <a:p xmlns:a="http://schemas.openxmlformats.org/drawingml/2006/main">
            <a:r>
              <a:t>Как провести: Выслушайте два ответа, каждый с опорой на стих. Затем прочитайте ст. 13–15. Объясните начало «Царство Небесное»: Божью милость нельзя требовать как превосходство над другим.</a:t>
            </a:r>
          </a:p>
          <a:p xmlns:a="http://schemas.openxmlformats.org/drawingml/2006/main">
            <a:r>
              <a:t>Вопрос: Что изменилось у первого работника: обещание хозяина или его ожидание?</a:t>
            </a:r>
          </a:p>
          <a:p xmlns:a="http://schemas.openxmlformats.org/drawingml/2006/main">
            <a:r>
              <a:t>Ориентир: Обещание выполнено. Изменилось ожидание: первые думали получить больше. Хозяин добр к последним. Притча зовёт принимать Божью милость и не роптать на добро другому.</a:t>
            </a:r>
          </a:p>
          <a:p xmlns:a="http://schemas.openxmlformats.org/drawingml/2006/main">
            <a:r>
              <a:t>Ритм: 1 минута — два ответа; 1 минута — ст. 13–15; 1 минута — смысл.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https://bible.by/syn/40/20/. Синодальный перевод — общественное достояние. Полное Мф. 20:1–16. Сценка по притче, пять представителей не означают общее число работников. Пять приглашений, плата от последних к первым, каждому по динарию. Первым договор исполнили. Притча о Царстве Небесном и милости, не универсальное правило оплаты или оценок. Современные случаи и молитва авторские. Крест православный восьмиконечный, иконы не изображены. Учителю: https://azbyka.ru/otechnik/Feofilakt_Bolgarskij/tolkovanie-na-evangelie-ot-matfeja/20.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5. 4 мин.</a:t>
            </a:r>
          </a:p>
          <a:p xmlns:a="http://schemas.openxmlformats.org/drawingml/2006/main">
            <a:r>
              <a:t>Реплика: Разложите четыре карточки истории. На каждом месте скажите, что было фактом, а где появилось ожидание. Почему важно помнить слова «никто нас не нанял»?</a:t>
            </a:r>
          </a:p>
          <a:p xmlns:a="http://schemas.openxmlformats.org/drawingml/2006/main">
            <a:r>
              <a:t>Как провести: Пары получают четыре перемешанные карточки. Собирают порядок и в двух полях отмечают обещание первым и их новое ожидание. Одна пара объясняет финал.</a:t>
            </a:r>
          </a:p>
          <a:p xmlns:a="http://schemas.openxmlformats.org/drawingml/2006/main">
            <a:r>
              <a:t>Вопрос: Можно ли назвать поздних работников ленивыми по этому тексту?</a:t>
            </a:r>
          </a:p>
          <a:p xmlns:a="http://schemas.openxmlformats.org/drawingml/2006/main">
            <a:r>
              <a:t>Ориентир: Текст даёт их объяснение: никто не нанял. Не заменяйте его выдуманными причинами. Порядок: утренний договор; новые приглашения; плата с последних; ропот и ответ.</a:t>
            </a:r>
          </a:p>
          <a:p xmlns:a="http://schemas.openxmlformats.org/drawingml/2006/main">
            <a:r>
              <a:t>Ритм: 2 минуты — порядок; 1 минута — запись; 1 минута — объяснение.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https://bible.by/syn/40/20/. Синодальный перевод — общественное достояние. Полное Мф. 20:1–16. Сценка по притче, пять представителей не означают общее число работников. Пять приглашений, плата от последних к первым, каждому по динарию. Первым договор исполнили. Притча о Царстве Небесном и милости, не универсальное правило оплаты или оценок. Современные случаи и молитва авторские. Крест православный восьмиконечный, иконы не изображены. Учителю: https://azbyka.ru/otechnik/Feofilakt_Bolgarskij/tolkovanie-na-evangelie-ot-matfeja/20.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6. 4 мин.</a:t>
            </a:r>
          </a:p>
          <a:p xmlns:a="http://schemas.openxmlformats.org/drawingml/2006/main">
            <a:r>
              <a:t>Реплика: Не всякое различие означает обиду. Но нарушенное обещание можно и нужно спокойно прояснить. Разложите шесть случаев: «Обещание нарушено», «Помощь или подарок», «Надо уточнить».</a:t>
            </a:r>
          </a:p>
          <a:p xmlns:a="http://schemas.openxmlformats.org/drawingml/2006/main">
            <a:r>
              <a:t>Как провести: Пары читают условия шести карточек. Выбирают группу и объясняют хотя бы один случай. При отсутствии сведений называют вопрос, на который нужен ответ.</a:t>
            </a:r>
          </a:p>
          <a:p xmlns:a="http://schemas.openxmlformats.org/drawingml/2006/main">
            <a:r>
              <a:t>Вопрос: Как отличить «мне не дали обещанное» от «другому дали добро»?</a:t>
            </a:r>
          </a:p>
          <a:p xmlns:a="http://schemas.openxmlformats.org/drawingml/2006/main">
            <a:r>
              <a:t>Ориентир: Проверить конкретный договор и результат для себя. Чужая помощь или подарок сами по себе не доказывают, что мне причинили несправедливость. Если нарушили обещание, просить исправления без нападения на другого.</a:t>
            </a:r>
          </a:p>
          <a:p xmlns:a="http://schemas.openxmlformats.org/drawingml/2006/main">
            <a:r>
              <a:t>Ритм: 2 минуты — сортировка; 2 минуты — два объяснения.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https://bible.by/syn/40/20/. Синодальный перевод — общественное достояние. Полное Мф. 20:1–16. Сценка по притче, пять представителей не означают общее число работников. Пять приглашений, плата от последних к первым, каждому по динарию. Первым договор исполнили. Притча о Царстве Небесном и милости, не универсальное правило оплаты или оценок. Современные случаи и молитва авторские. Крест православный восьмиконечный, иконы не изображены. Учителю: https://azbyka.ru/otechnik/Feofilakt_Bolgarskij/tolkovanie-na-evangelie-ot-matfeja/20.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7. 4 мин.</a:t>
            </a:r>
          </a:p>
          <a:p xmlns:a="http://schemas.openxmlformats.org/drawingml/2006/main">
            <a:r>
              <a:t>Реплика: Вместо «его любят больше» попробуем сказать о своей нужде. Если обещание нарушено, назовём его. Если друг получил подарок, можно порадоваться и отдельно попросить о том, что нужно мне.</a:t>
            </a:r>
          </a:p>
          <a:p xmlns:a="http://schemas.openxmlformats.org/drawingml/2006/main">
            <a:r>
              <a:t>Как провести: Пары выбирают два случая со страницы 4. Один отвечает подростку, который сравнивает. Затем смена ролей. Слушатель повторяет, что понял: просьбу, поздравление или вопрос о фактах.</a:t>
            </a:r>
          </a:p>
          <a:p xmlns:a="http://schemas.openxmlformats.org/drawingml/2006/main">
            <a:r>
              <a:t>Вопрос: Как попросить нужное, не требуя забрать чужое?</a:t>
            </a:r>
          </a:p>
          <a:p xmlns:a="http://schemas.openxmlformats.org/drawingml/2006/main">
            <a:r>
              <a:t>Ориентир: «Мне нужны исправные краски. Можно обсудить, как их получить?» Или «Мы договаривались о десяти минутах, я получил пять. Когда можем закончить?» Чужой подарок не нужно отменять.</a:t>
            </a:r>
          </a:p>
          <a:p xmlns:a="http://schemas.openxmlformats.org/drawingml/2006/main">
            <a:r>
              <a:t>Ритм: 2 минуты — первая попытка; 2 минуты — смена ролей.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https://bible.by/syn/40/20/. Синодальный перевод — общественное достояние. Полное Мф. 20:1–16. Сценка по притче, пять представителей не означают общее число работников. Пять приглашений, плата от последних к первым, каждому по динарию. Первым договор исполнили. Притча о Царстве Небесном и милости, не универсальное правило оплаты или оценок. Современные случаи и молитва авторские. Крест православный восьмиконечный, иконы не изображены. Учителю: https://azbyka.ru/otechnik/Feofilakt_Bolgarskij/tolkovanie-na-evangelie-ot-matfeja/20.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8. 6 мин.</a:t>
            </a:r>
          </a:p>
          <a:p xmlns:a="http://schemas.openxmlformats.org/drawingml/2006/main">
            <a:r>
              <a:t>Реплика: На мастерской Миша получил новый набор красок. У Саши обычный. Саша говорит: «Значит, меня ценят меньше». У каждого в команде есть одно сведение. Услышите всех и составьте первый план.</a:t>
            </a:r>
          </a:p>
          <a:p xmlns:a="http://schemas.openxmlformats.org/drawingml/2006/main">
            <a:r>
              <a:t>Как провести: Команды по четыре читают отдельные сведения страницы 5. Записывают известное, неизвестное, вопрос учителю и доброе действие. Один представитель сообщает план. Новое условие пока у ведущего.</a:t>
            </a:r>
          </a:p>
          <a:p xmlns:a="http://schemas.openxmlformats.org/drawingml/2006/main">
            <a:r>
              <a:t>Вопрос: Какие сведения мешают поспешному выводу «его любят больше»?</a:t>
            </a:r>
          </a:p>
          <a:p xmlns:a="http://schemas.openxmlformats.org/drawingml/2006/main">
            <a:r>
              <a:t>Ориентир: Учитель обещал исправный базовый набор и десять минут обратной связи каждому. У Саши исправный набор и сохранённая очередь. Новый набор Мише подарил волонтёр отдельно. Своё время ещё нужно получить; можно уточнить очередь.</a:t>
            </a:r>
          </a:p>
          <a:p xmlns:a="http://schemas.openxmlformats.org/drawingml/2006/main">
            <a:r>
              <a:t>Ритм: 1 минута — сведения; 3 минуты — первый план; 2 минуты — сообщение и уточнение.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Четыре командных сведения:</a:t>
            </a:r>
          </a:p>
          <a:p xmlns:a="http://schemas.openxmlformats.org/drawingml/2006/main">
            <a:r>
              <a:t>1. Общее обещание: На мастерской учитель обещал каждому исправный базовый набор красок и десять минут обратной связи до конца занятия.</a:t>
            </a:r>
          </a:p>
          <a:p xmlns:a="http://schemas.openxmlformats.org/drawingml/2006/main">
            <a:r>
              <a:t>2. Что у Саши: У Саши исправный обычный набор. Его очередь на десять минут ещё впереди, учитель её сохранил. Новый набор у Миши вызывает мысль: «Меня ценят меньше». Время пока надо получить.</a:t>
            </a:r>
          </a:p>
          <a:p xmlns:a="http://schemas.openxmlformats.org/drawingml/2006/main">
            <a:r>
              <a:t>3. Откуда подарок: Миша впервые пришёл на мастерскую. Его личные краски высохли. Волонтёр отдельно подарил ему свой новый набор, не забирая материалы у остальных.</a:t>
            </a:r>
          </a:p>
          <a:p xmlns:a="http://schemas.openxmlformats.org/drawingml/2006/main">
            <a:r>
              <a:t>4. Что можно сделать: Можно уточнить очередь Саши, продолжать свой рисунок и помочь Мише освоиться. Чужой подарок не определяет ценность Саши. Для вывода о нарушении нужны конкретные факты.</a:t>
            </a:r>
          </a:p>
          <a:p xmlns:a="http://schemas.openxmlformats.org/drawingml/2006/main">
            <a:r>
              <a:t>Источник: https://bible.by/syn/40/20/. Синодальный перевод — общественное достояние. Полное Мф. 20:1–16. Сценка по притче, пять представителей не означают общее число работников. Пять приглашений, плата от последних к первым, каждому по динарию. Первым договор исполнили. Притча о Царстве Небесном и милости, не универсальное правило оплаты или оценок. Современные случаи и молитва авторские. Крест православный восьмиконечный, иконы не изображены. Учителю: https://azbyka.ru/otechnik/Feofilakt_Bolgarskij/tolkovanie-na-evangelie-ot-matfeja/20.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9. 3 мин.</a:t>
            </a:r>
          </a:p>
          <a:p xmlns:a="http://schemas.openxmlformats.org/drawingml/2006/main">
            <a:r>
              <a:t>Реплика: Новое условие: в конце Саше дали только пять минут обратной связи вместо обещанных десяти. Учитель сказал, что на сегодня всё. Нужно ли теперь молча терпеть? Нужно ли отнимать подарок у Миши?</a:t>
            </a:r>
          </a:p>
          <a:p xmlns:a="http://schemas.openxmlformats.org/drawingml/2006/main">
            <a:r>
              <a:t>Как провести: Команды сохраняют первый план и дописывают второй в последнем поле. Теперь есть конкретное невыполненное обещание. Назовите спокойную просьбу о недостающем времени и оставьте подарок Мише.</a:t>
            </a:r>
          </a:p>
          <a:p xmlns:a="http://schemas.openxmlformats.org/drawingml/2006/main">
            <a:r>
              <a:t>Вопрос: Как меняется план после нового факта?</a:t>
            </a:r>
          </a:p>
          <a:p xmlns:a="http://schemas.openxmlformats.org/drawingml/2006/main">
            <a:r>
              <a:t>Ориентир: «Мы договаривались о десяти минутах. Мне дали пять. Когда можно получить оставшиеся пять?» Не объяснять нарушенное обещание одной завистью и не требовать забрать чужие краски.</a:t>
            </a:r>
          </a:p>
          <a:p xmlns:a="http://schemas.openxmlformats.org/drawingml/2006/main">
            <a:r>
              <a:t>Ритм: 2 минуты — новый план; 1 минута — два коротких ответа.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https://bible.by/syn/40/20/. Синодальный перевод — общественное достояние. Полное Мф. 20:1–16. Сценка по притче, пять представителей не означают общее число работников. Пять приглашений, плата от последних к первым, каждому по динарию. Первым договор исполнили. Притча о Царстве Небесном и милости, не универсальное правило оплаты или оценок. Современные случаи и молитва авторские. Крест православный восьмиконечный, иконы не изображены. Учителю: https://azbyka.ru/otechnik/Feofilakt_Bolgarskij/tolkovanie-na-evangelie-ot-matfeja/20.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10. 4 мин.</a:t>
            </a:r>
          </a:p>
          <a:p xmlns:a="http://schemas.openxmlformats.org/drawingml/2006/main">
            <a:r>
              <a:t>Реплика: Я могу попросить выполнить обещанное и одновременно сохранить доброе отношение к Мише. Проговорим просьбу учителю, затем добрую фразу другу или предложение помощи.</a:t>
            </a:r>
          </a:p>
          <a:p xmlns:a="http://schemas.openxmlformats.org/drawingml/2006/main">
            <a:r>
              <a:t>Как провести: В каждой паре первый произносит просьбу учителю, второй отвечает и повторяет её смысл. Затем смена ролей. В конце каждый называет одну фразу Мише или посильную помощь в мастерской.</a:t>
            </a:r>
          </a:p>
          <a:p xmlns:a="http://schemas.openxmlformats.org/drawingml/2006/main">
            <a:r>
              <a:t>Вопрос: Почему просьба о справедливости не должна превращаться в борьбу с чужим добром?</a:t>
            </a:r>
          </a:p>
          <a:p xmlns:a="http://schemas.openxmlformats.org/drawingml/2006/main">
            <a:r>
              <a:t>Ориентир: Моя нужда реальна; чужой подарок не её причина. Можно просить недостающие пять минут и помочь Мише освоиться. Не обещайте, что первое же обращение мгновенно решит всё; при необходимости уточните договорённость ещё раз.</a:t>
            </a:r>
          </a:p>
          <a:p xmlns:a="http://schemas.openxmlformats.org/drawingml/2006/main">
            <a:r>
              <a:t>Ритм: 2 минуты — просьбы в парах; 2 минуты — добрый ответ и помощь.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https://bible.by/syn/40/20/. Синодальный перевод — общественное достояние. Полное Мф. 20:1–16. Сценка по притче, пять представителей не означают общее число работников. Пять приглашений, плата от последних к первым, каждому по динарию. Первым договор исполнили. Притча о Царстве Небесном и милости, не универсальное правило оплаты или оценок. Современные случаи и молитва авторские. Крест православный восьмиконечный, иконы не изображены. Учителю: https://azbyka.ru/otechnik/Feofilakt_Bolgarskij/tolkovanie-na-evangelie-ot-matfeja/20.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11. 3 мин.</a:t>
            </a:r>
          </a:p>
          <a:p xmlns:a="http://schemas.openxmlformats.org/drawingml/2006/main">
            <a:r>
              <a:t>Реплика: Выбери настоящий или вымышленный случай. Что мне действительно нужно? Что мне обещали? Что получил другой? Какой вопрос, благодарность или помощь станут моим следующим шагом?</a:t>
            </a:r>
          </a:p>
          <a:p xmlns:a="http://schemas.openxmlformats.org/drawingml/2006/main">
            <a:r>
              <a:t>Как провести: Участники заполняют шесть полей личного листа. Можно назвать только выбранную фразу. Затем короткая тишина и авторская молитва. Лист остаётся у подростка.</a:t>
            </a:r>
          </a:p>
          <a:p xmlns:a="http://schemas.openxmlformats.org/drawingml/2006/main">
            <a:r>
              <a:t>Вопрос: Что я могу сделать, даже если чувство сравнения ещё осталось?</a:t>
            </a:r>
          </a:p>
          <a:p xmlns:a="http://schemas.openxmlformats.org/drawingml/2006/main">
            <a:r>
              <a:t>Ориентир: Проверить факты, назвать свою нужду, попросить выполнить обещанное, поблагодарить за полученное, порадоваться за другого или помочь. Обращение к Богу помогает бороться с завистью без самообесценивания.</a:t>
            </a:r>
          </a:p>
          <a:p xmlns:a="http://schemas.openxmlformats.org/drawingml/2006/main">
            <a:r>
              <a:t>Ритм: 2 минуты — личный лист; 1 минута — тишина и молитва.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Авторская молитва: Господи Иисусе Христе, прости мою зависть и ропот. Помоги мне видеть Твою милость, благодарить за полученное и радоваться добру для другого. Научи спокойно говорить о настоящей несправедливости и самому помогать ближнему. Аминь.</a:t>
            </a:r>
          </a:p>
          <a:p xmlns:a="http://schemas.openxmlformats.org/drawingml/2006/main">
            <a:r>
              <a:t>Источник: https://bible.by/syn/40/20/. Синодальный перевод — общественное достояние. Полное Мф. 20:1–16. Сценка по притче, пять представителей не означают общее число работников. Пять приглашений, плата от последних к первым, каждому по динарию. Первым договор исполнили. Притча о Царстве Небесном и милости, не универсальное правило оплаты или оценок. Современные случаи и молитва авторские. Крест православный восьмиконечный, иконы не изображены. Учителю: https://azbyka.ru/otechnik/Feofilakt_Bolgarskij/tolkovanie-na-evangelie-ot-matfeja/20.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12. 2 мин.</a:t>
            </a:r>
          </a:p>
          <a:p xmlns:a="http://schemas.openxmlformats.org/drawingml/2006/main">
            <a:r>
              <a:t>Реплика: Заверши две фразы: «Первый работник получил…» и «Если другому помогли, я могу…». Какое действие я выберу при следующем сравнении?</a:t>
            </a:r>
          </a:p>
          <a:p xmlns:a="http://schemas.openxmlformats.org/drawingml/2006/main">
            <a:r>
              <a:t>Как провести: Выслушайте два коротких ответа. Каждый отмечает свой первый шаг и время. На следующей встрече можно добровольно рассказать о попытке и о том, что ещё трудно.</a:t>
            </a:r>
          </a:p>
          <a:p xmlns:a="http://schemas.openxmlformats.org/drawingml/2006/main">
            <a:r>
              <a:t>Вопрос: Чему притча учит в отношении Бога и ближнего?</a:t>
            </a:r>
          </a:p>
          <a:p xmlns:a="http://schemas.openxmlformats.org/drawingml/2006/main">
            <a:r>
              <a:t>Ориентир: Принимать Божью милость без требования быть выше другого. В истории хозяин выполнил договор и проявил щедрость. В жизни можно радоваться чужому добру и спокойно просить о собственной нужде.</a:t>
            </a:r>
          </a:p>
          <a:p xmlns:a="http://schemas.openxmlformats.org/drawingml/2006/main">
            <a:r>
              <a:t>Ритм: 1 минута — ответы; 1 минута — шаг и завершение.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https://bible.by/syn/40/20/. Синодальный перевод — общественное достояние. Полное Мф. 20:1–16. Сценка по притче, пять представителей не означают общее число работников. Пять приглашений, плата от последних к первым, каждому по динарию. Первым договор исполнили. Притча о Царстве Небесном и милости, не универсальное правило оплаты или оценок. Современные случаи и молитва авторские. Крест православный восьмиконечный, иконы не изображены. Учителю: https://azbyka.ru/otechnik/Feofilakt_Bolgarskij/tolkovanie-na-evangelie-ot-matfeja/20.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bfb063f0664d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fb51ad72f942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6daa582284e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8b672d4d5549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b174a0b6044d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a515f39f6841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0F48D0A-B784-4A80-8DA0-1FAF708B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5D4C62-4CF5-4BA6-B8E3-3202772C25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DEE6BB3-AB8D-4553-8EBA-D0794E541C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F06154C-5539-4196-A880-7A6269D9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914D894-3380-4830-8F0B-EB052D1289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72335A7-8DC1-4617-AB53-A192CD7D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A339E03-D63A-4DAC-AAF7-7F8B5B736B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333BE72-975D-4587-B644-0B14D91679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F43DF84-634E-4F73-8743-A88E8528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973CAE2-66EE-4242-8D24-DB0B5330A6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29E8AA-FA0E-4632-9FB1-5C689D7C5F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9EED10-BA52-4748-95BA-445D664006D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8105416-3E16-4AF3-A94A-9455B9E5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26D618C-2B23-4089-9803-F59771E2EC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B9D1B9-81CB-4051-8570-EEDE860364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4c3e8801d248c3" /><Relationship Type="http://schemas.openxmlformats.org/officeDocument/2006/relationships/slideLayout" Target="/ppt/slideLayouts/slideLayout1.xml" Id="R67ed78fadd044ca6" /><Relationship Type="http://schemas.openxmlformats.org/officeDocument/2006/relationships/slideLayout" Target="/ppt/slideLayouts/slideLayout2.xml" Id="R8b38c86b9fb54f02" /><Relationship Type="http://schemas.openxmlformats.org/officeDocument/2006/relationships/slideLayout" Target="/ppt/slideLayouts/slideLayout3.xml" Id="R89bd34dc56034e0f" /><Relationship Type="http://schemas.openxmlformats.org/officeDocument/2006/relationships/slideLayout" Target="/ppt/slideLayouts/slideLayout4.xml" Id="Rb7104bac7fe84771" /><Relationship Type="http://schemas.openxmlformats.org/officeDocument/2006/relationships/slideLayout" Target="/ppt/slideLayouts/slideLayout5.xml" Id="R64d83020851a411f" /><Relationship Type="http://schemas.openxmlformats.org/officeDocument/2006/relationships/slideLayout" Target="/ppt/slideLayouts/slideLayout6.xml" Id="R194c43ea888e48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ed78fadd044ca6"/>
    <p:sldLayoutId xmlns:r="http://schemas.openxmlformats.org/officeDocument/2006/relationships" id="2147483650" r:id="R8b38c86b9fb54f02"/>
    <p:sldLayoutId xmlns:r="http://schemas.openxmlformats.org/officeDocument/2006/relationships" id="2147483651" r:id="R89bd34dc56034e0f"/>
    <p:sldLayoutId xmlns:r="http://schemas.openxmlformats.org/officeDocument/2006/relationships" id="2147483652" r:id="Rb7104bac7fe84771"/>
    <p:sldLayoutId xmlns:r="http://schemas.openxmlformats.org/officeDocument/2006/relationships" id="2147483653" r:id="R64d83020851a411f"/>
    <p:sldLayoutId xmlns:r="http://schemas.openxmlformats.org/officeDocument/2006/relationships" id="2147483654" r:id="R194c43ea888e48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c78fc1eeb34e35" /><Relationship Type="http://schemas.openxmlformats.org/officeDocument/2006/relationships/image" Target="/ppt/media/image.jpeg" Id="Rd3af66b5026543b8" /><Relationship Type="http://schemas.openxmlformats.org/officeDocument/2006/relationships/notesSlide" Target="/ppt/notesSlides/notesSlide1.xml" Id="R76634eb58c1b45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8c3c4f10eb4145" /><Relationship Type="http://schemas.openxmlformats.org/officeDocument/2006/relationships/image" Target="/ppt/media/image2.jpeg" Id="Rdb9dc6bd1dcd4973" /><Relationship Type="http://schemas.openxmlformats.org/officeDocument/2006/relationships/notesSlide" Target="/ppt/notesSlides/notesSlide2.xml" Id="Rc40ae945d21746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3da7ac837a41b7" /><Relationship Type="http://schemas.openxmlformats.org/officeDocument/2006/relationships/image" Target="/ppt/media/image3.jpeg" Id="Re326debd8a114c98" /><Relationship Type="http://schemas.openxmlformats.org/officeDocument/2006/relationships/notesSlide" Target="/ppt/notesSlides/notesSlide3.xml" Id="R46fe170c75d741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53367b56f74cbd" /><Relationship Type="http://schemas.openxmlformats.org/officeDocument/2006/relationships/image" Target="/ppt/media/image4.jpeg" Id="R1c8e594834f443c6" /><Relationship Type="http://schemas.openxmlformats.org/officeDocument/2006/relationships/notesSlide" Target="/ppt/notesSlides/notesSlide4.xml" Id="Rf1a58d8e929344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7392cf8cd343cb" /><Relationship Type="http://schemas.openxmlformats.org/officeDocument/2006/relationships/image" Target="/ppt/media/image5.jpeg" Id="R8594c0dcb686408b" /><Relationship Type="http://schemas.openxmlformats.org/officeDocument/2006/relationships/notesSlide" Target="/ppt/notesSlides/notesSlide5.xml" Id="Ra5bab2ee47f047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0115e8f1e94304" /><Relationship Type="http://schemas.openxmlformats.org/officeDocument/2006/relationships/image" Target="/ppt/media/image6.jpeg" Id="R677389bf5a164698" /><Relationship Type="http://schemas.openxmlformats.org/officeDocument/2006/relationships/notesSlide" Target="/ppt/notesSlides/notesSlide6.xml" Id="R0c51fac1009247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cb95cb1f674738" /><Relationship Type="http://schemas.openxmlformats.org/officeDocument/2006/relationships/image" Target="/ppt/media/image7.jpeg" Id="Ra74daeb758b6482f" /><Relationship Type="http://schemas.openxmlformats.org/officeDocument/2006/relationships/notesSlide" Target="/ppt/notesSlides/notesSlide7.xml" Id="R54e3ef3f84fc4d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2d352e3d1a4333" /><Relationship Type="http://schemas.openxmlformats.org/officeDocument/2006/relationships/image" Target="/ppt/media/image8.jpeg" Id="Rf01d1e48b19b483d" /><Relationship Type="http://schemas.openxmlformats.org/officeDocument/2006/relationships/notesSlide" Target="/ppt/notesSlides/notesSlide8.xml" Id="R15c5da496c8145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3736a79cd4f7d" /><Relationship Type="http://schemas.openxmlformats.org/officeDocument/2006/relationships/image" Target="/ppt/media/image9.jpeg" Id="Rad98a59d29604c07" /><Relationship Type="http://schemas.openxmlformats.org/officeDocument/2006/relationships/notesSlide" Target="/ppt/notesSlides/notesSlide9.xml" Id="R28d1733862944d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5c5369114a4fea" /><Relationship Type="http://schemas.openxmlformats.org/officeDocument/2006/relationships/image" Target="/ppt/media/image10.jpeg" Id="Ree1590a70c564316" /><Relationship Type="http://schemas.openxmlformats.org/officeDocument/2006/relationships/notesSlide" Target="/ppt/notesSlides/notesSlide10.xml" Id="Rcdf7132f7a7548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d748e60f304dcd" /><Relationship Type="http://schemas.openxmlformats.org/officeDocument/2006/relationships/image" Target="/ppt/media/image11.jpeg" Id="R7145f703f5114b08" /><Relationship Type="http://schemas.openxmlformats.org/officeDocument/2006/relationships/notesSlide" Target="/ppt/notesSlides/notesSlide11.xml" Id="Rd02f4d490c0b4a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0c5df7f51473c" /><Relationship Type="http://schemas.openxmlformats.org/officeDocument/2006/relationships/image" Target="/ppt/media/image12.jpeg" Id="R04e7e74916264da0" /><Relationship Type="http://schemas.openxmlformats.org/officeDocument/2006/relationships/notesSlide" Target="/ppt/notesSlides/notesSlide12.xml" Id="R5e72306ec1894d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af66b5026543b8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1F0F2-7C3A-4D78-BA8F-39483601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5048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Почему ему</a:t>
            </a:r>
          </a:p>
          <a:p xmlns:a="http://schemas.openxmlformats.org/drawingml/2006/main">
            <a:pPr>
              <a:defRPr sz="4125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больше,</a:t>
            </a:r>
          </a:p>
          <a:p xmlns:a="http://schemas.openxmlformats.org/drawingml/2006/main">
            <a:pPr>
              <a:defRPr sz="4125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чем мне?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A0385-1D47-4E42-984F-8190A200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323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Справедливость</a:t>
            </a:r>
          </a:p>
          <a:p xmlns:a="http://schemas.openxmlformats.org/drawingml/2006/main">
            <a:pPr>
              <a:defRPr sz="20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и щедрость</a:t>
            </a:r>
          </a:p>
          <a:p xmlns:a="http://schemas.openxmlformats.org/drawingml/2006/main">
            <a:pPr>
              <a:defRPr sz="20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Сравнение себя</a:t>
            </a:r>
          </a:p>
          <a:p xmlns:a="http://schemas.openxmlformats.org/drawingml/2006/main">
            <a:pPr>
              <a:defRPr sz="20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с другими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78F3A-A27E-4A05-996C-2FAFA917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12–15 лет · 45 минут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6D2CB-6D7E-4ADA-9FBD-9B7D8315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Мф. 20:1–16</a:t>
            </a:r>
          </a:p>
        </p:txBody>
      </p:sp>
    </p:spTree>
    <p:extLst>
      <p:ext uri="{BB962C8B-B14F-4D97-AF65-F5344CB8AC3E}">
        <p14:creationId xmlns:p14="http://schemas.microsoft.com/office/powerpoint/2010/main" val="10642018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AF070-668F-461D-BD12-3EE79610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Работники в винограднике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dc6bd1dcd4973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A8FE7-5F7D-40A1-915F-9597A0E6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Мф. 20:1–16.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Рано утром.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Третий час.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Шестой час.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Девятый час.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Одиннадцатый час.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Читаем всю притчу.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ECB43-CB76-4A21-917A-9764A125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После всех шестнадцати стихов сразу сценка.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947D8-F634-4FED-83E2-B3A3AC89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39920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5B062-1881-4E1B-87E6-8E19A588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Динарий каждому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6debd8a114c98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5E552-27AE-410D-98F5-E7B6E92E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Пять приглашений.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Плата с последних.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Каждому по динарию.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Первые ждут большего.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Ответ хозяина.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842CD-C05F-484E-9FBE-67A760E3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Семь ролей. Обсуждение после финала.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FAFBE-6392-4D34-BF40-12C4BFF7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884252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CC9EF-8A5A-4856-AD48-186C9253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Обещание и ожидание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e594834f443c6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949E4-B446-46B2-A52F-8C16001E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мне обещали?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я получил?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Чего стал ожидать?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«Я не обижаю тебя».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«Я добр».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Мф. 20:13, 15.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E0951-D0C6-4F46-9849-019A5B8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Хозяин выполнил договор и проявил щедрость.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34566-69E8-46EC-ADC5-D917A71A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470632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C164A-F168-434A-AF1D-0C2310F7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Порядок событий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4c0dcb686408b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5F992-D4A1-4D6D-8ADB-CA584B69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Договор утром.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Новые приглашения.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Плата с последних.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Ропот и ответ.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«Никто нас не нанял».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Где появилось ожидание?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25DB1-18A9-40C3-9F48-9A559661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Четыре карточки и два поля записи.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9E7AC-EA10-4D35-AF4E-12B60267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5070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B5279-B284-43EA-9F38-03D02CA5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Щедрость или нарушенное обещание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389bf5a164698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4533C-7E85-4358-B1BD-263B5C29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Обещание нарушено.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Помощь или подарок.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Надо уточнить.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Шесть случаев.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Какое условие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меняет наш вывод?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8EA59-D997-43CB-9625-822FE721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Чужая помощь сама по себе не доказывает обиду.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37BDF-5B77-4A82-939F-2F2CCBC0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22178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8F978-F4C6-4871-BBE1-8A088467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Разговор без упрёка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daeb758b6482f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0ACC7-A730-47C4-8F49-DFB434A0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«Мне нужно…»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«Мы договаривались…»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«Можно уточнить…»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Партнёр повторяет,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 понял ответ.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AD765-203A-449D-A83B-0FD3F717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Моя нужда не требует отменять чужой подарок.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9DEAA-FB1C-485A-B9B4-D5AEFDFB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5948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F6BE7-7259-4E36-8F08-1621DD97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Новый набор для новичка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d1e48b19b483d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29F4C-BDB9-496F-8E61-5A56FEF1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 Миши новый набор.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 Саши обычный.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Кто подарил набор?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обещали Саше?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ещё предстоит?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Услышьте четыре сведения.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7294F-D2A1-44C9-93D9-B1569BF3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Первый план. Новое условие прозвучит позже.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E09B4-95C7-4FE5-B2C2-CCC5415E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037786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C5D9C-A986-46BB-BA03-8EAEAE71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Когда обещание не выполнено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8a59d29604c07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A8A40-3579-4510-A53C-7781066A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Саше обещали 10 минут.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Дали только 5.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Занятие закончилось.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 попросить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оставшиеся 5 минут?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Нужно ли забирать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подарок у Миши?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8C1E1-3B5A-43AB-BDB2-CD46680F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Сохраните первый план. Добавьте второй.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49C00-7C0B-4E88-B489-E8786D64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707788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91DD7-3063-46A6-9514-94340E4A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Моя просьба и чужая радость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590a70c564316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6D3E4-B066-403E-B549-5A7A9D90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«Мы договаривались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 десяти минутах.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Мне дали пять.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Когда можно закончить?»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Моя просьба учителю.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Моё доброе слово другу.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Моя помощь.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9F1FE-EBDF-4A60-A7A3-0E060C56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Просьба о справедливости и доброе отношение совместимы.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2901E-003B-46CE-B00C-491F258D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184510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F6BB0-1CB1-4F26-93DC-4753D113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Мой следующий шаг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5f703f5114b08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98BCF-CB75-45A9-B974-B251D4C0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Моё чувство и нужда.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Обещание и результат.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Чужое добро и неизвестное.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Спокойная просьба.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Благодарность.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Доброе действие и время.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7010D-9F68-450D-8761-1574D1F7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Господи Иисусе Христе, прости мою зависть и ропот.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87DBC-0FA7-42A7-B60A-BA220498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971010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75943-678D-461D-8BFC-54231BE2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Милость и моя ценность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7e74916264da0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CE143-75B0-4083-8B32-D49AD9E3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«Первый работник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получил…»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«Если другому помогли,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я могу…»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Назови свой следующий шаг.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3F187-C0C6-402D-AD00-FBBF51FF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Божья милость даёт место и пришедшим поздно.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8840F-E5A0-4B5D-9875-B4A1CC29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512006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2026-10-03T19:26:59.5100000Z</dcterms:created>
  <dcterms:modified xsi:type="dcterms:W3CDTF">2026-10-03T19:26:59.5100000Z</dcterms:modified>
</coreProperties>
</file>