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a0b11782b246ea" /><Relationship Type="http://schemas.openxmlformats.org/officeDocument/2006/relationships/extended-properties" Target="/docProps/app.xml" Id="Rab8677fe76d342d7" /><Relationship Type="http://schemas.openxmlformats.org/officeDocument/2006/relationships/officeDocument" Target="/ppt/presentation.xml" Id="R467bbecdf577402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9330eb190b34e8b"/>
  </p:sldMasterIdLst>
  <p:notesMasterIdLst>
    <p:notesMasterId xmlns:r="http://schemas.openxmlformats.org/officeDocument/2006/relationships" r:id="Raed4b5ed40fb44c5"/>
  </p:notesMasterIdLst>
  <p:sldIdLst>
    <p:sldId xmlns:r="http://schemas.openxmlformats.org/officeDocument/2006/relationships" id="256" r:id="R387dfcd303e049aa"/>
    <p:sldId xmlns:r="http://schemas.openxmlformats.org/officeDocument/2006/relationships" id="257" r:id="R79adfef19a7f4a42"/>
    <p:sldId xmlns:r="http://schemas.openxmlformats.org/officeDocument/2006/relationships" id="258" r:id="R66ef704c457b45c4"/>
    <p:sldId xmlns:r="http://schemas.openxmlformats.org/officeDocument/2006/relationships" id="259" r:id="R23d900b4972e4482"/>
    <p:sldId xmlns:r="http://schemas.openxmlformats.org/officeDocument/2006/relationships" id="260" r:id="R26c6bcf936dc49aa"/>
    <p:sldId xmlns:r="http://schemas.openxmlformats.org/officeDocument/2006/relationships" id="261" r:id="R7f42fa1bc1a443a5"/>
    <p:sldId xmlns:r="http://schemas.openxmlformats.org/officeDocument/2006/relationships" id="262" r:id="R8983ddff86d347da"/>
    <p:sldId xmlns:r="http://schemas.openxmlformats.org/officeDocument/2006/relationships" id="263" r:id="R81a670b7274a4efe"/>
    <p:sldId xmlns:r="http://schemas.openxmlformats.org/officeDocument/2006/relationships" id="264" r:id="R78820a5cf0b74f30"/>
    <p:sldId xmlns:r="http://schemas.openxmlformats.org/officeDocument/2006/relationships" id="265" r:id="R361bb0f04dc14eed"/>
    <p:sldId xmlns:r="http://schemas.openxmlformats.org/officeDocument/2006/relationships" id="266" r:id="R01bbbd629ce049d6"/>
    <p:sldId xmlns:r="http://schemas.openxmlformats.org/officeDocument/2006/relationships" id="267" r:id="Rc434dfcf63c64638"/>
    <p:sldId xmlns:r="http://schemas.openxmlformats.org/officeDocument/2006/relationships" id="268" r:id="R7facada35173469c"/>
    <p:sldId xmlns:r="http://schemas.openxmlformats.org/officeDocument/2006/relationships" id="269" r:id="R6c1cd4cdc34d40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e30a8e9edeb405b" /><Relationship Type="http://schemas.openxmlformats.org/officeDocument/2006/relationships/slideMaster" Target="/ppt/slideMasters/slideMaster1.xml" Id="Rc9330eb190b34e8b" /><Relationship Type="http://schemas.openxmlformats.org/officeDocument/2006/relationships/notesMaster" Target="/ppt/notesMasters/notesMaster1.xml" Id="Raed4b5ed40fb44c5" /><Relationship Type="http://schemas.openxmlformats.org/officeDocument/2006/relationships/presProps" Target="/ppt/presProps.xml" Id="Rd9a94feef9294d57" /><Relationship Type="http://schemas.openxmlformats.org/officeDocument/2006/relationships/tableStyles" Target="/ppt/tableStyles.xml" Id="R06cf615ad8d941ce" /><Relationship Type="http://schemas.openxmlformats.org/officeDocument/2006/relationships/slide" Target="/ppt/slides/slide1.xml" Id="R387dfcd303e049aa" /><Relationship Type="http://schemas.openxmlformats.org/officeDocument/2006/relationships/slide" Target="/ppt/slides/slide2.xml" Id="R79adfef19a7f4a42" /><Relationship Type="http://schemas.openxmlformats.org/officeDocument/2006/relationships/slide" Target="/ppt/slides/slide3.xml" Id="R66ef704c457b45c4" /><Relationship Type="http://schemas.openxmlformats.org/officeDocument/2006/relationships/slide" Target="/ppt/slides/slide4.xml" Id="R23d900b4972e4482" /><Relationship Type="http://schemas.openxmlformats.org/officeDocument/2006/relationships/slide" Target="/ppt/slides/slide5.xml" Id="R26c6bcf936dc49aa" /><Relationship Type="http://schemas.openxmlformats.org/officeDocument/2006/relationships/slide" Target="/ppt/slides/slide6.xml" Id="R7f42fa1bc1a443a5" /><Relationship Type="http://schemas.openxmlformats.org/officeDocument/2006/relationships/slide" Target="/ppt/slides/slide7.xml" Id="R8983ddff86d347da" /><Relationship Type="http://schemas.openxmlformats.org/officeDocument/2006/relationships/slide" Target="/ppt/slides/slide8.xml" Id="R81a670b7274a4efe" /><Relationship Type="http://schemas.openxmlformats.org/officeDocument/2006/relationships/slide" Target="/ppt/slides/slide9.xml" Id="R78820a5cf0b74f30" /><Relationship Type="http://schemas.openxmlformats.org/officeDocument/2006/relationships/slide" Target="/ppt/slides/slide10.xml" Id="R361bb0f04dc14eed" /><Relationship Type="http://schemas.openxmlformats.org/officeDocument/2006/relationships/slide" Target="/ppt/slides/slide11.xml" Id="R01bbbd629ce049d6" /><Relationship Type="http://schemas.openxmlformats.org/officeDocument/2006/relationships/slide" Target="/ppt/slides/slide12.xml" Id="Rc434dfcf63c64638" /><Relationship Type="http://schemas.openxmlformats.org/officeDocument/2006/relationships/slide" Target="/ppt/slides/slide13.xml" Id="R7facada35173469c" /><Relationship Type="http://schemas.openxmlformats.org/officeDocument/2006/relationships/slide" Target="/ppt/slides/slide14.xml" Id="R6c1cd4cdc34d40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f3ea7c435664e1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238bc378c6744e3" /><Relationship Type="http://schemas.openxmlformats.org/officeDocument/2006/relationships/notesMaster" Target="/ppt/notesMasters/notesMaster1.xml" Id="Rcf5dca47886b470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661d4449c149c8" /><Relationship Type="http://schemas.openxmlformats.org/officeDocument/2006/relationships/notesMaster" Target="/ppt/notesMasters/notesMaster1.xml" Id="R7c06d523fb1c4c0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c6059a66d44f69" /><Relationship Type="http://schemas.openxmlformats.org/officeDocument/2006/relationships/notesMaster" Target="/ppt/notesMasters/notesMaster1.xml" Id="R53db714e38324fd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4c5223980824b8b" /><Relationship Type="http://schemas.openxmlformats.org/officeDocument/2006/relationships/notesMaster" Target="/ppt/notesMasters/notesMaster1.xml" Id="Rfab6e7f73e144bc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a90b6fff09448c7" /><Relationship Type="http://schemas.openxmlformats.org/officeDocument/2006/relationships/notesMaster" Target="/ppt/notesMasters/notesMaster1.xml" Id="Reb0adf909bf044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03b414c16284cfe" /><Relationship Type="http://schemas.openxmlformats.org/officeDocument/2006/relationships/notesMaster" Target="/ppt/notesMasters/notesMaster1.xml" Id="Rb6d23c825adf435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a1b6e698c864c68" /><Relationship Type="http://schemas.openxmlformats.org/officeDocument/2006/relationships/notesMaster" Target="/ppt/notesMasters/notesMaster1.xml" Id="Rf63a46ff7cd24d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3de32d55064e7f" /><Relationship Type="http://schemas.openxmlformats.org/officeDocument/2006/relationships/notesMaster" Target="/ppt/notesMasters/notesMaster1.xml" Id="R15ebe7441bee4f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1ef57c402f0466c" /><Relationship Type="http://schemas.openxmlformats.org/officeDocument/2006/relationships/notesMaster" Target="/ppt/notesMasters/notesMaster1.xml" Id="Rdf6600e9f503412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19ace30391774783" /><Relationship Type="http://schemas.openxmlformats.org/officeDocument/2006/relationships/notesMaster" Target="/ppt/notesMasters/notesMaster1.xml" Id="R94e71b2f246b4b5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4163d6d2f3f45d9" /><Relationship Type="http://schemas.openxmlformats.org/officeDocument/2006/relationships/notesMaster" Target="/ppt/notesMasters/notesMaster1.xml" Id="R3431ca3260c0441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df080922e64530" /><Relationship Type="http://schemas.openxmlformats.org/officeDocument/2006/relationships/notesMaster" Target="/ppt/notesMasters/notesMaster1.xml" Id="Re3a34972bb6a4a3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e72b62e54cc4515" /><Relationship Type="http://schemas.openxmlformats.org/officeDocument/2006/relationships/notesMaster" Target="/ppt/notesMasters/notesMaster1.xml" Id="R37a338b7655048e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d84a77a4bfb4085" /><Relationship Type="http://schemas.openxmlformats.org/officeDocument/2006/relationships/notesMaster" Target="/ppt/notesMasters/notesMaster1.xml" Id="R38bb37b4f5464e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3 мин. Период 0–3 мин. Слайды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Сегодня прочитаем, как ученики Иисуса оказались в буре. Корма — задняя часть лодки, возглавие — подушка. Послушаем рассказ целиком, а потом разыграем 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Прочитайте все семь стихов из приложения. После чтения пригласите трёх добровольцев: двух учеников в лодке и участника с карточками событий. Учитель остаётся рассказчиком и читает слова Иисуса. Перейдите к сценке без предварительного обсуждения.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Первое обсуждение будет после сценки.</a:t>
            </a:r>
          </a:p>
          <a:p xmlns:a="http://schemas.openxmlformats.org/drawingml/2006/main">
            <a:r>
              <a:t>Ориентир: Участники услышали весь рассказ и знают, что сейчас будут показывать события.</a:t>
            </a:r>
          </a:p>
          <a:p xmlns:a="http://schemas.openxmlformats.org/drawingml/2006/main">
            <a:r>
              <a:t>Ритм: 30 сек — вступление; 2 мин — чтение; 30 сек — роли.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5 мин. Период 3–8 мин. Слайды 2–3.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Я буду читать события, а вы покажете, что делали ученики. Когда прозвучит слово «буря», остальные могут показать ладонями волны. Когда ветер утихнет, ладони остановятся. Посмотрим, к кому обращаются ученики.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Два участника садятся рядом на стулья. Третий по ходу чтения показывает карточки «Переправа», «Буря», «Обращение к Иисусу», «Тишина». На слайде 2 прочитайте Мк. 4:35–37. На слайде 3 прочитайте стих 38: ученики поворачиваются к учителю и произносят вопрос из текста. Учитель читает стихи 39–41; группа останавливает жест волн. В конце спросите, что сделали ученики, когда испугались. При желании новые добровольцы повторяют обращение и тишину.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 кому ученики обратились и что произошло после слова Иисуса?</a:t>
            </a:r>
          </a:p>
          <a:p xmlns:a="http://schemas.openxmlformats.org/drawingml/2006/main">
            <a:r>
              <a:t>Ориентир: Они разбудили Иисуса. Он запретил ветру, сказал морю «умолкни, перестань», и наступила великая тишина.</a:t>
            </a:r>
          </a:p>
          <a:p xmlns:a="http://schemas.openxmlformats.org/drawingml/2006/main">
            <a:r>
              <a:t>Ритм: 1 мин — роли и жест; 2 мин — сценка; 1 мин — повтор последнего события; 1 мин — ответы.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5 мин. Период 3–8 мин. Слайды 2–3.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Я буду читать события, а вы покажете, что делали ученики. Когда прозвучит слово «буря», остальные могут показать ладонями волны. Когда ветер утихнет, ладони остановятся. Посмотрим, к кому обращаются ученики.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Два участника садятся рядом на стулья. Третий по ходу чтения показывает карточки «Переправа», «Буря», «Обращение к Иисусу», «Тишина». На слайде 2 прочитайте Мк. 4:35–37. На слайде 3 прочитайте стих 38: ученики поворачиваются к учителю и произносят вопрос из текста. Учитель читает стихи 39–41; группа останавливает жест волн. В конце спросите, что сделали ученики, когда испугались. При желании новые добровольцы повторяют обращение и тишину.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 кому ученики обратились и что произошло после слова Иисуса?</a:t>
            </a:r>
          </a:p>
          <a:p xmlns:a="http://schemas.openxmlformats.org/drawingml/2006/main">
            <a:r>
              <a:t>Ориентир: Они разбудили Иисуса. Он запретил ветру, сказал морю «умолкни, перестань», и наступила великая тишина.</a:t>
            </a:r>
          </a:p>
          <a:p xmlns:a="http://schemas.openxmlformats.org/drawingml/2006/main">
            <a:r>
              <a:t>Ритм: 1 мин — роли и жест; 2 мин — сценка; 1 мин — повтор последнего события; 1 мин — ответы.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4 мин. Период 8–12 мин. Слайды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У каждой пары четыре карточки. Разложите события по порядку. Один объясняет начало, другой — продолжение. Если вы не согласны, найдите нужное место в прочитанном рассказе.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перемешанные карточки со страницы 2 раздатки. Слайд 4 содержит вопрос, без готового порядка. Через две минуты попросите две пары назвать последовательность. Прочитайте Мк. 4:37–39 для проверки. Оставьте карточки на столе: к последним двум событиям вернёмся в конце.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было между бурей и тишиной?</a:t>
            </a:r>
          </a:p>
          <a:p xmlns:a="http://schemas.openxmlformats.org/drawingml/2006/main">
            <a:r>
              <a:t>Ориентир: Ученики обратились к Иисусу, затем Он повелел ветру и морю. Порядок: переправа, буря, обращение к Иисусу, тишина.</a:t>
            </a:r>
          </a:p>
          <a:p xmlns:a="http://schemas.openxmlformats.org/drawingml/2006/main">
            <a:r>
              <a:t>Ритм: 30 сек — задача; 2 мин — работа в парах; 1 мин — две пары; 30 сек — проверка.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3 мин. Период 12–15 мин. Слайды 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На картинке море спокойно. Что изменилось после слова Иисуса? А теперь послушайте последний вопрос учеников: «кто же Сей, что и ветер и море повинуются Ему?» Их удивило то, какую власть имеет Иисус.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Покажите изображение 03. В парах назовите одно изменение и прочитайте стих 41. Выслушайте два ответа. Поясните: в этом евангельском событии буря действительно утихла. Когда мы молимся в своей трудности, её решение может потребовать времени и помощи людей.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рассказ открывает об Иисусе?</a:t>
            </a:r>
          </a:p>
          <a:p xmlns:a="http://schemas.openxmlformats.org/drawingml/2006/main">
            <a:r>
              <a:t>Ориентир: Его слову повинуются ветер и море. Ученики поражены Его властью. Слова стиха 41 о страхе нельзя заменить утверждением, что ученики просто перестали бояться.</a:t>
            </a:r>
          </a:p>
          <a:p xmlns:a="http://schemas.openxmlformats.org/drawingml/2006/main">
            <a:r>
              <a:t>Ритм: 1 мин — наблюдение в парах; 1 мин — стих и ответы; 1 мин — пояснение.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4 мин. Период 15–19 мин. Слайды 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Саша волнуется перед чтением вслух. Мы знаем, что он чувствует, а что он сделает дальше, ещё неизвестно. Можно волноваться и всё же попросить учителя дать время на подготовку.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Прочитайте четыре карточки со страницы 3 раздатки: «Мне страшно», «Я волнуюсь», «Скажу учителю», «Потренируюсь с другом». В парах разделите их на чувства и поступки. Затем каждый выбирает один полезный поступок для Саши и объясняет его партнёру.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поступок поможет Саше, даже если волнение ещё осталось?</a:t>
            </a:r>
          </a:p>
          <a:p xmlns:a="http://schemas.openxmlformats.org/drawingml/2006/main">
            <a:r>
              <a:t>Ориентир: Конкретная просьба учителю или короткая репетиция с другом. Чувство само по себе не определяет следующий поступок.</a:t>
            </a:r>
          </a:p>
          <a:p xmlns:a="http://schemas.openxmlformats.org/drawingml/2006/main">
            <a:r>
              <a:t>Ритм: 30 сек — история; 1,5 мин — сортировка; 1 мин — выбор; 1 мин — общий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5 мин. Период 19–24 мин. Слайды 7–8.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У нас три места для карточек: нужна подготовка и поддержка; нужна защита взрослого; надо уточнить, что произошло. Важнее объяснить выбор и назвать помощь, чем угадать место карточки.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 слайде 7 покажите три ситуации, раздайте шесть карточек со страницы 3. Команды по 3–4 человека сортируют их и для каждой называют следующий шаг. Спустя две минуты выслушайте три случая: чтение перед классом, угроза ударить и фраза «Мне страшно идти в класс». В последнем случае предложите сначала спросить, что случилось. После ответов откройте слайд 8 и поясните: при угрозе человек нуждается в защите взрослого. Молитва и обращение за помощью могут сопровождать друг друга.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одинаковая фраза «мне страшно» может требовать разной помощи?</a:t>
            </a:r>
          </a:p>
          <a:p xmlns:a="http://schemas.openxmlformats.org/drawingml/2006/main">
            <a:r>
              <a:t>Ориентир: Перед выступлением могут помочь подготовка и поддержка. При угрозе нужна защита взрослого. Если причин пока не знаем, внимательно спрашиваем и слушаем.</a:t>
            </a:r>
          </a:p>
          <a:p xmlns:a="http://schemas.openxmlformats.org/drawingml/2006/main">
            <a:r>
              <a:t>Ритм: 30 сек — задача; 2 мин — команды; 2 мин — три случая; 30 сек — вывод.</a:t>
            </a:r>
          </a:p>
          <a:p xmlns:a="http://schemas.openxmlformats.org/drawingml/2006/main">
            <a:r>
              <a:t>Следующий слайд с видами помощи показывают после ответов команд. Объяснимые варианты принимаются.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5 мин. Период 19–24 мин. Слайды 7–8.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У нас три места для карточек: нужна подготовка и поддержка; нужна защита взрослого; надо уточнить, что произошло. Важнее объяснить выбор и назвать помощь, чем угадать место карточки.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 слайде 7 покажите три ситуации, раздайте шесть карточек со страницы 3. Команды по 3–4 человека сортируют их и для каждой называют следующий шаг. Спустя две минуты выслушайте три случая: чтение перед классом, угроза ударить и фраза «Мне страшно идти в класс». В последнем случае предложите сначала спросить, что случилось. После ответов откройте слайд 8 и поясните: при угрозе человек нуждается в защите взрослого. Молитва и обращение за помощью могут сопровождать друг друга.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Почему одинаковая фраза «мне страшно» может требовать разной помощи?</a:t>
            </a:r>
          </a:p>
          <a:p xmlns:a="http://schemas.openxmlformats.org/drawingml/2006/main">
            <a:r>
              <a:t>Ориентир: Перед выступлением могут помочь подготовка и поддержка. При угрозе нужна защита взрослого. Если причин пока не знаем, внимательно спрашиваем и слушаем.</a:t>
            </a:r>
          </a:p>
          <a:p xmlns:a="http://schemas.openxmlformats.org/drawingml/2006/main">
            <a:r>
              <a:t>Ритм: 30 сек — задача; 2 мин — команды; 2 мин — три случая; 30 сек — вывод.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5 мин. Период 24–29 мин. Слайды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Попробуем короткую просьбу. Сначала скажите, что происходит, затем попросите о конкретной помощи: «Я волнуюсь перед ответом. Можно сначала потренироваться?» Партнёр играет взрослого и предлагает понятный следующий шаг.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Покажите изображение 04 и раздайте две ситуации со страницы 4: ответ перед классом и первый день в новой группе. За минуту подготовьте диалог. Затем по минуте на каждую роль. Взрослый в диалоге сначала выслушивает, затем уточняет просьбу и предлагает помощь. В конце партнёр повторяет, о чём его попросили. Можно записать реплики вместо произнесения.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По каким словам взрослый поймёт, что именно нужно ребёнку?</a:t>
            </a:r>
          </a:p>
          <a:p xmlns:a="http://schemas.openxmlformats.org/drawingml/2006/main">
            <a:r>
              <a:t>Ориентир: Ребёнок называет ситуацию и просьбу: потренироваться, познакомиться с одним участником или начать вместе. Партнёр может повторить просьбу своими словами.</a:t>
            </a:r>
          </a:p>
          <a:p xmlns:a="http://schemas.openxmlformats.org/drawingml/2006/main">
            <a:r>
              <a:t>Ритм: 1 мин — пример; 1 мин — подготовка; 2 мин — диалоги со сменой ролей; 1 мин — проверка понятности.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3 мин. Период 29–32 мин. Слайды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Друг говорит: «Мне страшно». Послушайте ответы: «Не выдумывай» и «Хочешь, вместе скажем учителю?» Какой ответ поможет продолжить разговор? Теперь придумайте свой ответ и скажите его партнёру.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 странице 4 раздатки выберите фразу, которая закрывает разговор, и замените её. Один участник говорит от имени вымышленного друга, другой предлагает помощь. Через минуту поменяйтесь ролями. Если в ситуации есть угроза, включите обращение к взрослому. Выслушайте две короткие реплики.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можно предложить другу без давления?</a:t>
            </a:r>
          </a:p>
          <a:p xmlns:a="http://schemas.openxmlformats.org/drawingml/2006/main">
            <a:r>
              <a:t>Ориентир: «Я тебя слушаю», «Хочешь, вместе подойдём к учителю?», «Давай спросим, как подготовиться». Предложение учитывает ответ друга.</a:t>
            </a:r>
          </a:p>
          <a:p xmlns:a="http://schemas.openxmlformats.org/drawingml/2006/main">
            <a:r>
              <a:t>Ритм: 30 сек — сравнение; 2 мин — пары; 30 сек — две реплики.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3 мин. Период 32–35 мин. Слайды 11.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Ученики обратились к Иисусу прямо из своей беды. Мы тоже можем честно сказать Богу, что нам страшно. Например: «Господи, мне страшно. Будь со мной и помоги попросить помощи».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Предложите две строки со страницы 5 раздатки: «Господи, мне…» и «Помоги мне…». Желающие пишут или произносят короткую молитву для Саши. Другие могут спокойно слушать. Прочитайте один-два варианта. Поясните, что можно молиться и одновременно обращаться к людям за помощью.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О чём Саша может попросить Бога перед своим первым шагом?</a:t>
            </a:r>
          </a:p>
          <a:p xmlns:a="http://schemas.openxmlformats.org/drawingml/2006/main">
            <a:r>
              <a:t>Ориентир: О поддержке, доверии, мудрости, силах попросить помощи. Формулировки могут быть простыми, молитва не является соревнованием.</a:t>
            </a:r>
          </a:p>
          <a:p xmlns:a="http://schemas.openxmlformats.org/drawingml/2006/main">
            <a:r>
              <a:t>Ритм: 30 сек — пример; 1,5 мин — слова молитвы; 1 мин — два варианта и вывод.</a:t>
            </a:r>
          </a:p>
          <a:p xmlns:a="http://schemas.openxmlformats.org/drawingml/2006/main">
            <a:r>
              <a:t>Текст на слайде — авторский пример молитвы, а не библейская цитата.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5 мин. Период 35–40 мин. Слайды 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Лена завтра впервые читает стихотворение перед группой. Подготовьте для неё план: к кому обратиться, о чём попросить и с какого маленького действия начать. Лена должна понять его сама.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Команды заполняют страницу 5 раздатки. Выберите роли: предложить помощь, записать, проверить от имени Лены. За две минуты составьте план. Проверяющий читает его и повторяет первый шаг своими словами. Если не может, команда уточняет формулировку. После этого выслушайте один-два примера. В команде из четырёх добавьте участника, который проверяет понятность просьбы взрослому.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Можно ли выполнить первый шаг сразу и понятно ли, у кого попросить помощь?</a:t>
            </a:r>
          </a:p>
          <a:p xmlns:a="http://schemas.openxmlformats.org/drawingml/2006/main">
            <a:r>
              <a:t>Ориентир: Например: подойти к учителю, попросить минуту репетиции с другом, прочитать первую строку вдвоём. План предлагает доступную помощь и допускает, что волнение ещё останется.</a:t>
            </a:r>
          </a:p>
          <a:p xmlns:a="http://schemas.openxmlformats.org/drawingml/2006/main">
            <a:r>
              <a:t>Ритм: 30 сек — история и роли; 2 мин — план; 1 мин — проверка; 1 мин — уточнение; 30 сек — пример.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 Период 40–43 мин. Слайды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На своём листе назовите взрослого, к которому можно обратиться, и ещё одного человека, если первый недоступен. Запишите понятную просьбу и маленький следующий шаг. Можно продолжить историю Лены. Лист остаётся у вас.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страницу 1 каждому участнику. На заполнение дайте две минуты. Имена и ситуации публично не собирайте. При затруднении помогите выбрать доступного взрослого: родителя, учителя или руководителя группы. Предложите поговорить после занятия, если ребёнок не может назвать такого человека.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сделает герой, если первый взрослый сейчас не может помочь?</a:t>
            </a:r>
          </a:p>
          <a:p xmlns:a="http://schemas.openxmlformats.org/drawingml/2006/main">
            <a:r>
              <a:t>Ориентир: Обратится к другому надёжному взрослому и снова объяснит ситуацию и просьбу. Для личного случая важно назвать реально доступного человека.</a:t>
            </a:r>
          </a:p>
          <a:p xmlns:a="http://schemas.openxmlformats.org/drawingml/2006/main">
            <a:r>
              <a:t>Ритм: 30 сек — объяснение; 2 мин — лист; 30 сек — напоминание о втором человеке.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 Период 43–45 мин. Слайды 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Вернёмся к лодке. К кому обратились ученики? А к кому может обратиться Лена перед выступлением? Когда страшно, можно говорить с Богом и просить людей о помощи. Первый полезный шаг можно сделать, даже если страх ещё остаётся.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В парах ответьте на два вопроса. Выслушайте двух желающих, затем по желанию завершите короткой молитвой: «Господи, помоги нам доверять Тебе, просить помощи и поддерживать тех, кому страшно. Аминь». Предложите сохранить личный лист.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конкретный шаг поможет Лене сегодня?</a:t>
            </a:r>
          </a:p>
          <a:p xmlns:a="http://schemas.openxmlformats.org/drawingml/2006/main">
            <a:r>
              <a:t>Ориентир: Обратиться к учителю с понятной просьбой и попробовать небольшую репетицию. В евангельском рассказе ученики разбудили Иисуса, а ветер и море повиновались Ему.</a:t>
            </a:r>
          </a:p>
          <a:p xmlns:a="http://schemas.openxmlformats.org/drawingml/2006/main">
            <a:r>
              <a:t>Ритм: 1 мин — ответы в парах; 30 сек — два ответа; 30 сек —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Библейский источник: Мк. 4:35–41, Синодальный перевод, https://bible.by/syn/41/4/ . Это евангельское событие. В стихе 39 наступает тишина, в стихе 41 ученики испытывают великий страх и спрашивают о власти Иисуса. Иллюстрации созданы для урока; детали лодки, одежды, света и число видимых учеников условны. Современные персонажи и ситуации вымышлены. Молитва может сопровождаться помощью людей.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b65bd63cbd4b0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5cf870729402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71258bcb9e463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8fa1ebda8e4cd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eaac18ccbf44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69d8df8074d8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1370B4EA-7E6D-4852-B29C-ADB32873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01D2FC7A-DFE8-4233-8C1C-C038919D20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384DBFEE-C8B3-4E71-A60C-B5A0204E4E6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5EA7AB17-DD28-46D3-804C-FFA607F8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01ADFB3-263B-45CC-9FD4-E09CBE06182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692A3FC-A7DC-4DD8-9467-AF8C389D0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8DD77619-5964-492F-B0C6-B3D52F280F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6C5E550B-325C-41D8-857F-D26D8AD5CED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4E83E6C4-4121-4CFE-B0D1-05890CC23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2D52295-0196-49BE-94BE-39E33B4613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E3FC066-CEAC-4395-ABFE-B722751C09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F5B2044-747B-403F-BEF4-A1DF0122707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9B203FFE-9B91-4B7F-AE5F-3F2F9FB09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7FACFFC5-E76A-4238-B205-AFE2995FEDF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D754058-8035-41F1-91F4-684B5B1C7D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9ddc851658346ab" /><Relationship Type="http://schemas.openxmlformats.org/officeDocument/2006/relationships/slideLayout" Target="/ppt/slideLayouts/slideLayout1.xml" Id="Ra9b63dc70e454dab" /><Relationship Type="http://schemas.openxmlformats.org/officeDocument/2006/relationships/slideLayout" Target="/ppt/slideLayouts/slideLayout2.xml" Id="Reee9cf6c47d1410c" /><Relationship Type="http://schemas.openxmlformats.org/officeDocument/2006/relationships/slideLayout" Target="/ppt/slideLayouts/slideLayout3.xml" Id="R2527fe3d2898414c" /><Relationship Type="http://schemas.openxmlformats.org/officeDocument/2006/relationships/slideLayout" Target="/ppt/slideLayouts/slideLayout4.xml" Id="R7456e9ee1fcb4bcb" /><Relationship Type="http://schemas.openxmlformats.org/officeDocument/2006/relationships/slideLayout" Target="/ppt/slideLayouts/slideLayout5.xml" Id="Rf079258ab0194e63" /><Relationship Type="http://schemas.openxmlformats.org/officeDocument/2006/relationships/slideLayout" Target="/ppt/slideLayouts/slideLayout6.xml" Id="R0274b2921e8f4b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b63dc70e454dab"/>
    <p:sldLayoutId xmlns:r="http://schemas.openxmlformats.org/officeDocument/2006/relationships" id="2147483650" r:id="Reee9cf6c47d1410c"/>
    <p:sldLayoutId xmlns:r="http://schemas.openxmlformats.org/officeDocument/2006/relationships" id="2147483651" r:id="R2527fe3d2898414c"/>
    <p:sldLayoutId xmlns:r="http://schemas.openxmlformats.org/officeDocument/2006/relationships" id="2147483652" r:id="R7456e9ee1fcb4bcb"/>
    <p:sldLayoutId xmlns:r="http://schemas.openxmlformats.org/officeDocument/2006/relationships" id="2147483653" r:id="Rf079258ab0194e63"/>
    <p:sldLayoutId xmlns:r="http://schemas.openxmlformats.org/officeDocument/2006/relationships" id="2147483654" r:id="R0274b2921e8f4b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17f70b3322b4fd3" /><Relationship Type="http://schemas.openxmlformats.org/officeDocument/2006/relationships/image" Target="/ppt/media/image.jpeg" Id="R2b9e38d9d7a9489a" /><Relationship Type="http://schemas.openxmlformats.org/officeDocument/2006/relationships/notesSlide" Target="/ppt/notesSlides/notesSlide1.xml" Id="R04eaf9d22eb54e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82261a32f54f22" /><Relationship Type="http://schemas.openxmlformats.org/officeDocument/2006/relationships/image" Target="/ppt/media/image2.jpeg" Id="Rad2c8186eea54a1f" /><Relationship Type="http://schemas.openxmlformats.org/officeDocument/2006/relationships/notesSlide" Target="/ppt/notesSlides/notesSlide2.xml" Id="R158ef0d64f5e4f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7943d3f4ac8410d" /><Relationship Type="http://schemas.openxmlformats.org/officeDocument/2006/relationships/image" Target="/ppt/media/image3.jpeg" Id="R410471d42c2a433e" /><Relationship Type="http://schemas.openxmlformats.org/officeDocument/2006/relationships/notesSlide" Target="/ppt/notesSlides/notesSlide3.xml" Id="Rdbdcb74ac13943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f330d9042364825" /><Relationship Type="http://schemas.openxmlformats.org/officeDocument/2006/relationships/image" Target="/ppt/media/image4.jpeg" Id="Rbd3e8f5077db4d9e" /><Relationship Type="http://schemas.openxmlformats.org/officeDocument/2006/relationships/notesSlide" Target="/ppt/notesSlides/notesSlide4.xml" Id="R81fe53aef78848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22cd0c0156a4b4d" /><Relationship Type="http://schemas.openxmlformats.org/officeDocument/2006/relationships/image" Target="/ppt/media/image5.jpeg" Id="R06991f7d7cca4780" /><Relationship Type="http://schemas.openxmlformats.org/officeDocument/2006/relationships/notesSlide" Target="/ppt/notesSlides/notesSlide5.xml" Id="R793555c03acf41c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3e2771ef6e47e2" /><Relationship Type="http://schemas.openxmlformats.org/officeDocument/2006/relationships/image" Target="/ppt/media/image6.jpeg" Id="Ra665be2dd2f848ee" /><Relationship Type="http://schemas.openxmlformats.org/officeDocument/2006/relationships/notesSlide" Target="/ppt/notesSlides/notesSlide6.xml" Id="R6749a030652e40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cf5bc5a579e40e1" /><Relationship Type="http://schemas.openxmlformats.org/officeDocument/2006/relationships/image" Target="/ppt/media/image7.jpeg" Id="R016a0a8e2a994f2e" /><Relationship Type="http://schemas.openxmlformats.org/officeDocument/2006/relationships/notesSlide" Target="/ppt/notesSlides/notesSlide7.xml" Id="Rffdc20c1f32a4ec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d61c499938345bf" /><Relationship Type="http://schemas.openxmlformats.org/officeDocument/2006/relationships/image" Target="/ppt/media/image8.jpeg" Id="Ra6e6d5dff94841ac" /><Relationship Type="http://schemas.openxmlformats.org/officeDocument/2006/relationships/notesSlide" Target="/ppt/notesSlides/notesSlide8.xml" Id="R3e909ee56b094ff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77a37ae12a34417" /><Relationship Type="http://schemas.openxmlformats.org/officeDocument/2006/relationships/image" Target="/ppt/media/image9.jpeg" Id="Re269c336c7bb4d4b" /><Relationship Type="http://schemas.openxmlformats.org/officeDocument/2006/relationships/notesSlide" Target="/ppt/notesSlides/notesSlide9.xml" Id="Rcc7fae044443429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2473d0e888496c" /><Relationship Type="http://schemas.openxmlformats.org/officeDocument/2006/relationships/image" Target="/ppt/media/image10.jpeg" Id="Rd8361ca63d3d484b" /><Relationship Type="http://schemas.openxmlformats.org/officeDocument/2006/relationships/notesSlide" Target="/ppt/notesSlides/notesSlide10.xml" Id="R949c08a0b9be4dd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2c5e8946a7e4f35" /><Relationship Type="http://schemas.openxmlformats.org/officeDocument/2006/relationships/image" Target="/ppt/media/image11.jpeg" Id="R0779ea13b7d14e9f" /><Relationship Type="http://schemas.openxmlformats.org/officeDocument/2006/relationships/notesSlide" Target="/ppt/notesSlides/notesSlide11.xml" Id="R3c75072fc9ec4f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df2cd7da2f44df" /><Relationship Type="http://schemas.openxmlformats.org/officeDocument/2006/relationships/image" Target="/ppt/media/image12.jpeg" Id="Rb381fad150eb4db2" /><Relationship Type="http://schemas.openxmlformats.org/officeDocument/2006/relationships/notesSlide" Target="/ppt/notesSlides/notesSlide12.xml" Id="Re9912d641e6d4bc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0d4d7a486d048a9" /><Relationship Type="http://schemas.openxmlformats.org/officeDocument/2006/relationships/image" Target="/ppt/media/image13.jpeg" Id="R2b9e0ce821354b1d" /><Relationship Type="http://schemas.openxmlformats.org/officeDocument/2006/relationships/notesSlide" Target="/ppt/notesSlides/notesSlide13.xml" Id="Rc34f3393cfa24eb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3d36ad0f17455e" /><Relationship Type="http://schemas.openxmlformats.org/officeDocument/2006/relationships/image" Target="/ppt/media/image14.jpeg" Id="Rd36f39413bfe47ba" /><Relationship Type="http://schemas.openxmlformats.org/officeDocument/2006/relationships/notesSlide" Target="/ppt/notesSlides/notesSlide14.xml" Id="R0830337e1d4246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e38d9d7a9489a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318F8DC1-8C05-44DE-B27E-E19D61B80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2437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Когда мне</a:t>
            </a:r>
          </a:p>
          <a:p xmlns:a="http://schemas.openxmlformats.org/drawingml/2006/main">
            <a:pPr>
              <a:defRPr sz="46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46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страшно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8786FF2-F89F-4242-BF7A-D1EABC19B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29150"/>
            <a:ext cx="452437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10–12 лет   45 минут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F8EDD77-DFCF-43B4-A232-36EF9480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19700"/>
            <a:ext cx="4286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Мк. 4:35–41</a:t>
            </a:r>
          </a:p>
        </p:txBody>
      </p:sp>
    </p:spTree>
    <p:extLst>
      <p:ext uri="{BB962C8B-B14F-4D97-AF65-F5344CB8AC3E}">
        <p14:creationId xmlns:p14="http://schemas.microsoft.com/office/powerpoint/2010/main" val="203637531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C489E9C6-DE92-451F-AF87-EE7C32A90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 лодке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c8186eea54a1f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6FBAD84B-C7EF-443C-BA78-78A9AF03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Ученики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переправляются.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Поднимается буря.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B62D48B1-A8DC-438F-BE1C-388707A6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Мк. 4:35–37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F0DD297-F2E0-4380-B817-A5E612585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6794887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55228F2-54AB-4ABE-91C8-24ABB95CA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Обращение учеников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0471d42c2a433e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C62B282-B421-47F7-AF95-816C96A7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Ученики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будят Иисуса.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11E255C7-C04F-47B5-AC88-3B2D74D9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Мк. 4:38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CCC99A16-8BD3-417A-BCDE-87425D4D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159148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7C7BFC8D-5FBE-47B7-9EAA-BC8FF7FB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События по порядку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e8f5077db4d9e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37E463C-F1C3-4CC4-89D0-4D867CC2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было между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бурей и тишиной?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Четыре карточки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 порядку.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1817BDE-CEA7-4737-AF2A-D6D858F2C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56847663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1F4D293-C5C4-4483-B275-11AA42A42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Тишина и удивление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91f7d7cca4780"/>
          <a:stretch xmlns:a="http://schemas.openxmlformats.org/drawingml/2006/main"/>
        </p:blipFill>
        <p:spPr>
          <a:xfrm xmlns:a="http://schemas.openxmlformats.org/drawingml/2006/main">
            <a:off x="5353050" y="2016064"/>
            <a:ext cx="6229350" cy="350214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FE2F49C1-56BE-414A-B897-B942C563D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«Кто же Сей, что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 ветер и море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повинуются Ему?»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B20F34E-BB7A-4F1C-9D34-3DB829545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577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Мк. 4:41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11EA0A98-CEA8-4D8A-8F5A-1601C1548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3900405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6A9B6CC4-94B9-48A7-9938-A8C68A54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Чувство и поступок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65be2dd2f848ee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935806DA-E410-49D3-BB31-2C732BD25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Саша волнуется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перед чтением.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он чувствует?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может сделать?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D8FB6E6-8994-4C37-842A-80504ECD8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49587235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4ABD79A4-65CC-46B4-AC94-12DB6A212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Какая помощь нужна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a0a8e2a994f2e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2F07346-FFDC-45DC-A72B-03556F48B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Ответ перед классом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Угроза ударить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«Страшно идти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в класс»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4F3D366-B03E-4B8C-832F-0F17E9C0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2672002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A434CAC-BFB5-4105-BD2F-31952564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Помощь в разных ситуациях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6d5dff94841ac"/>
          <a:stretch xmlns:a="http://schemas.openxmlformats.org/drawingml/2006/main"/>
        </p:blipFill>
        <p:spPr>
          <a:xfrm xmlns:a="http://schemas.openxmlformats.org/drawingml/2006/main">
            <a:off x="5353050" y="2016064"/>
            <a:ext cx="6229350" cy="350214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D6A9990-C8F4-47C6-AF43-3A3DD2274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Подготовка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и поддержка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Защита взрослого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Уточняющий вопрос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3042B40-7B46-4CAF-B7E0-F61BCB3BE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858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653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6533F"/>
                </a:solidFill>
                <a:latin typeface="DejaVu Sans"/>
                <a:ea typeface="DejaVu Sans"/>
                <a:cs typeface="DejaVu Sans"/>
              </a:rPr>
              <a:t>Молиться и просить помощи можно вместе.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973F77D-46F9-4BA1-8B0D-7F1B003C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383568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E51C7AFC-0EDC-4B23-A116-C0ABB8DD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Просьба о помощи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9c336c7bb4d4b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71CD4C71-50A1-4B27-A83D-0D05AADC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«Я волнуюсь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перед ответом.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Можно сначала</a:t>
            </a:r>
          </a:p>
          <a:p xmlns:a="http://schemas.openxmlformats.org/drawingml/2006/main">
            <a:pPr>
              <a:def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00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потренироваться?»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FF4D52F-DABE-46C0-948A-80E724402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3162850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3BB18723-53DD-4441-8FB1-8D7F07165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Поддержка друга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361ca63d3d484b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0C2620C-9CAB-4343-8CEE-24B02D577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Другу страшно.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«Не выдумывай».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«Хочешь, вместе</a:t>
            </a:r>
          </a:p>
          <a:p xmlns:a="http://schemas.openxmlformats.org/drawingml/2006/main">
            <a:pPr>
              <a:def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скажем учителю?»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7BD4B5C9-7823-4D0C-B15D-B737FA9D1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505841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7802AFA-F071-453D-B2BA-63665102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Слова молитвы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79ea13b7d14e9f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B081268-D1C7-493A-8586-4BEF0499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Господи,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мне страшно.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Будь со мной.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Помоги попросить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помощи.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90CF6ECD-7C32-4EF1-80E9-BBE76B978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Пример молитвы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240106CC-C44B-4927-BDED-0E7F224E9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2217414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6E11C270-5510-46D5-81A3-94D172C7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План для Лены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81fad150eb4db2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21893FB-65D5-42AF-9C40-B5228BBB8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 кому обратиться?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 чём попросить?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Что сделать первым?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7DE8C7D-EDD8-4832-A7CD-74B8274B2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10668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653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6533F"/>
                </a:solidFill>
                <a:latin typeface="DejaVu Sans"/>
                <a:ea typeface="DejaVu Sans"/>
                <a:cs typeface="DejaVu Sans"/>
              </a:rPr>
              <a:t>5 минут на план и проверку первого шага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A23B276C-2F1A-43E9-B85A-53BDE988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6559256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2F868AB5-D1BB-45B3-9A27-0AB3AD5D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Мой лист помощи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9e0ce821354b1d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67EAFCC-586D-481D-91B8-46C6A3EB7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Кто услышит?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 чём попрошу?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Мой первый шаг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D6B0077-E942-4B85-9878-AEED86EDA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34075"/>
            <a:ext cx="99060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96533F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96533F"/>
                </a:solidFill>
                <a:latin typeface="DejaVu Sans"/>
                <a:ea typeface="DejaVu Sans"/>
                <a:cs typeface="DejaVu Sans"/>
              </a:rPr>
              <a:t>Лист остаётся у тебя.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1F7D457-3E15-466A-9E8F-53C45203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702513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7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8A555995-89D6-4016-8A7C-F8C33EF8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Один следующий шаг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6f39413bfe47ba"/>
          <a:stretch xmlns:a="http://schemas.openxmlformats.org/drawingml/2006/main"/>
        </p:blipFill>
        <p:spPr>
          <a:xfrm xmlns:a="http://schemas.openxmlformats.org/drawingml/2006/main">
            <a:off x="5353050" y="2014201"/>
            <a:ext cx="6229350" cy="3505872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0A921BD-2BE1-4A8C-B2BE-D7862830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4552950" cy="3781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 кому обратились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ученики?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Какой шаг поможет</a:t>
            </a:r>
          </a:p>
          <a:p xmlns:a="http://schemas.openxmlformats.org/drawingml/2006/main">
            <a:pPr>
              <a:def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defRPr>
            </a:pPr>
            <a:r>
              <a:rPr sz="3150" b="0">
                <a:solidFill>
                  <a:srgbClr val="233D47"/>
                </a:solidFill>
                <a:latin typeface="DejaVu Sans"/>
                <a:ea typeface="DejaVu Sans"/>
                <a:cs typeface="DejaVu Sans"/>
              </a:rPr>
              <a:t>Лене?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45565751-F9A2-4DD4-80CD-E3DF4D134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516970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88415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2026-10-02T19:45:22.3140000Z</dcterms:created>
  <dcterms:modified xsi:type="dcterms:W3CDTF">2026-10-02T19:45:22.3140000Z</dcterms:modified>
</coreProperties>
</file>