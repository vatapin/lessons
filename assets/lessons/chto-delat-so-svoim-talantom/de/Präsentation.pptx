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a0bbc6e0774736" /><Relationship Type="http://schemas.openxmlformats.org/officeDocument/2006/relationships/extended-properties" Target="/docProps/app.xml" Id="Rf5e0acecfba24122" /><Relationship Type="http://schemas.openxmlformats.org/officeDocument/2006/relationships/officeDocument" Target="/ppt/presentation.xml" Id="R3b5288be1ee04deb" /></Relationships>
</file>

<file path=ppt/presentation.xml><?xml version="1.0" encoding="utf-8"?>
<p:presentation xmlns:p="http://schemas.openxmlformats.org/presentationml/2006/main">
  <p:sldMasterIdLst>
    <p:sldMasterId xmlns:r="http://schemas.openxmlformats.org/officeDocument/2006/relationships" id="2147483648" r:id="R2991c9ab87b24308"/>
  </p:sldMasterIdLst>
  <p:notesMasterIdLst>
    <p:notesMasterId xmlns:r="http://schemas.openxmlformats.org/officeDocument/2006/relationships" r:id="Rd302e4fe09b74dd9"/>
  </p:notesMasterIdLst>
  <p:sldIdLst>
    <p:sldId xmlns:r="http://schemas.openxmlformats.org/officeDocument/2006/relationships" id="256" r:id="R7773efa63d4c4735"/>
    <p:sldId xmlns:r="http://schemas.openxmlformats.org/officeDocument/2006/relationships" id="257" r:id="R591fab923f9e4ac3"/>
    <p:sldId xmlns:r="http://schemas.openxmlformats.org/officeDocument/2006/relationships" id="258" r:id="Rf3971b0e17fb46e1"/>
    <p:sldId xmlns:r="http://schemas.openxmlformats.org/officeDocument/2006/relationships" id="259" r:id="R0c4de99b6da34fe3"/>
    <p:sldId xmlns:r="http://schemas.openxmlformats.org/officeDocument/2006/relationships" id="260" r:id="Rb5fb2bd1f7f043fe"/>
    <p:sldId xmlns:r="http://schemas.openxmlformats.org/officeDocument/2006/relationships" id="261" r:id="R0277301addb04d4f"/>
    <p:sldId xmlns:r="http://schemas.openxmlformats.org/officeDocument/2006/relationships" id="262" r:id="Ra38da693a8a148b1"/>
    <p:sldId xmlns:r="http://schemas.openxmlformats.org/officeDocument/2006/relationships" id="263" r:id="R9ab72b1c06e5477d"/>
    <p:sldId xmlns:r="http://schemas.openxmlformats.org/officeDocument/2006/relationships" id="264" r:id="Ra326998541ba4627"/>
    <p:sldId xmlns:r="http://schemas.openxmlformats.org/officeDocument/2006/relationships" id="265" r:id="Ra56ade607ce04807"/>
    <p:sldId xmlns:r="http://schemas.openxmlformats.org/officeDocument/2006/relationships" id="266" r:id="Ra0684c418c87491c"/>
    <p:sldId xmlns:r="http://schemas.openxmlformats.org/officeDocument/2006/relationships" id="267" r:id="R94b24a0098ff4a66"/>
    <p:sldId xmlns:r="http://schemas.openxmlformats.org/officeDocument/2006/relationships" id="268" r:id="Re725ace6ae9f43c3"/>
    <p:sldId xmlns:r="http://schemas.openxmlformats.org/officeDocument/2006/relationships" id="269" r:id="Rbb1d518e526246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76fff68ad694320" /><Relationship Type="http://schemas.openxmlformats.org/officeDocument/2006/relationships/slideMaster" Target="/ppt/slideMasters/slideMaster1.xml" Id="R2991c9ab87b24308" /><Relationship Type="http://schemas.openxmlformats.org/officeDocument/2006/relationships/notesMaster" Target="/ppt/notesMasters/notesMaster1.xml" Id="Rd302e4fe09b74dd9" /><Relationship Type="http://schemas.openxmlformats.org/officeDocument/2006/relationships/presProps" Target="/ppt/presProps.xml" Id="R1db0b316b8974bcc" /><Relationship Type="http://schemas.openxmlformats.org/officeDocument/2006/relationships/tableStyles" Target="/ppt/tableStyles.xml" Id="R5ee293cfdb364164" /><Relationship Type="http://schemas.openxmlformats.org/officeDocument/2006/relationships/slide" Target="/ppt/slides/slide1.xml" Id="R7773efa63d4c4735" /><Relationship Type="http://schemas.openxmlformats.org/officeDocument/2006/relationships/slide" Target="/ppt/slides/slide2.xml" Id="R591fab923f9e4ac3" /><Relationship Type="http://schemas.openxmlformats.org/officeDocument/2006/relationships/slide" Target="/ppt/slides/slide3.xml" Id="Rf3971b0e17fb46e1" /><Relationship Type="http://schemas.openxmlformats.org/officeDocument/2006/relationships/slide" Target="/ppt/slides/slide4.xml" Id="R0c4de99b6da34fe3" /><Relationship Type="http://schemas.openxmlformats.org/officeDocument/2006/relationships/slide" Target="/ppt/slides/slide5.xml" Id="Rb5fb2bd1f7f043fe" /><Relationship Type="http://schemas.openxmlformats.org/officeDocument/2006/relationships/slide" Target="/ppt/slides/slide6.xml" Id="R0277301addb04d4f" /><Relationship Type="http://schemas.openxmlformats.org/officeDocument/2006/relationships/slide" Target="/ppt/slides/slide7.xml" Id="Ra38da693a8a148b1" /><Relationship Type="http://schemas.openxmlformats.org/officeDocument/2006/relationships/slide" Target="/ppt/slides/slide8.xml" Id="R9ab72b1c06e5477d" /><Relationship Type="http://schemas.openxmlformats.org/officeDocument/2006/relationships/slide" Target="/ppt/slides/slide9.xml" Id="Ra326998541ba4627" /><Relationship Type="http://schemas.openxmlformats.org/officeDocument/2006/relationships/slide" Target="/ppt/slides/slide10.xml" Id="Ra56ade607ce04807" /><Relationship Type="http://schemas.openxmlformats.org/officeDocument/2006/relationships/slide" Target="/ppt/slides/slide11.xml" Id="Ra0684c418c87491c" /><Relationship Type="http://schemas.openxmlformats.org/officeDocument/2006/relationships/slide" Target="/ppt/slides/slide12.xml" Id="R94b24a0098ff4a66" /><Relationship Type="http://schemas.openxmlformats.org/officeDocument/2006/relationships/slide" Target="/ppt/slides/slide13.xml" Id="Re725ace6ae9f43c3" /><Relationship Type="http://schemas.openxmlformats.org/officeDocument/2006/relationships/slide" Target="/ppt/slides/slide14.xml" Id="Rbb1d518e526246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1b2dd5ea5e44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2a019096e6496f" /><Relationship Type="http://schemas.openxmlformats.org/officeDocument/2006/relationships/notesMaster" Target="/ppt/notesMasters/notesMaster1.xml" Id="R3bcdf9915bd443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ee4f4ac32e4c17" /><Relationship Type="http://schemas.openxmlformats.org/officeDocument/2006/relationships/notesMaster" Target="/ppt/notesMasters/notesMaster1.xml" Id="Rbe584843639f43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741d0bd5a54ab4" /><Relationship Type="http://schemas.openxmlformats.org/officeDocument/2006/relationships/notesMaster" Target="/ppt/notesMasters/notesMaster1.xml" Id="R98a8ef6e6cd140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c22d0f25c04079" /><Relationship Type="http://schemas.openxmlformats.org/officeDocument/2006/relationships/notesMaster" Target="/ppt/notesMasters/notesMaster1.xml" Id="R15484b1bf16845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b954201fee4fb8" /><Relationship Type="http://schemas.openxmlformats.org/officeDocument/2006/relationships/notesMaster" Target="/ppt/notesMasters/notesMaster1.xml" Id="R4248cd43397341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3363fb43bb0452e" /><Relationship Type="http://schemas.openxmlformats.org/officeDocument/2006/relationships/notesMaster" Target="/ppt/notesMasters/notesMaster1.xml" Id="R524a001b921441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5b30a12a5648a9" /><Relationship Type="http://schemas.openxmlformats.org/officeDocument/2006/relationships/notesMaster" Target="/ppt/notesMasters/notesMaster1.xml" Id="Rbe0d90d14c4b4b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0f546036ca404a" /><Relationship Type="http://schemas.openxmlformats.org/officeDocument/2006/relationships/notesMaster" Target="/ppt/notesMasters/notesMaster1.xml" Id="R2f217f45cb8c45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71274d95da41fc" /><Relationship Type="http://schemas.openxmlformats.org/officeDocument/2006/relationships/notesMaster" Target="/ppt/notesMasters/notesMaster1.xml" Id="R600487af2e2240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6f83dbcb7d4ba0" /><Relationship Type="http://schemas.openxmlformats.org/officeDocument/2006/relationships/notesMaster" Target="/ppt/notesMasters/notesMaster1.xml" Id="R0b07ff6dd2c84c6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6821cf0d5e44fc2" /><Relationship Type="http://schemas.openxmlformats.org/officeDocument/2006/relationships/notesMaster" Target="/ppt/notesMasters/notesMaster1.xml" Id="Rad13994a167d404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3b24a5378024c34" /><Relationship Type="http://schemas.openxmlformats.org/officeDocument/2006/relationships/notesMaster" Target="/ppt/notesMasters/notesMaster1.xml" Id="R665103de86ac492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04edebf70f1452f" /><Relationship Type="http://schemas.openxmlformats.org/officeDocument/2006/relationships/notesMaster" Target="/ppt/notesMasters/notesMaster1.xml" Id="R021b4d5339544f1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9b36e60f7374f3d" /><Relationship Type="http://schemas.openxmlformats.org/officeDocument/2006/relationships/notesMaster" Target="/ppt/notesMasters/notesMaster1.xml" Id="Rb92bf4ba396040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Minuten. Zeitraum 0–5 Minuten. Folie 1.</a:t>
            </a:r>
          </a:p>
          <a:p xmlns:a="http://schemas.openxmlformats.org/drawingml/2006/main">
            <a:r>
              <a:t>Worte der Lehrkraft: Heute lesen wir eine Geschichte darüber, was ein Herr seinen Dienern anvertraute. Ein Talent ist hier eine große Geldmaß-Einheit, keine Fähigkeit zu singen oder zu zeichnen. Im biblischen Text werden diese abhängigen Diener Sklaven genannt. Wir hören zuerst das ganze Gleichnis und spielen es anschließend nach.</a:t>
            </a:r>
          </a:p>
          <a:p xmlns:a="http://schemas.openxmlformats.org/drawingml/2006/main">
            <a:r>
              <a:t>Ablauf: Zeigen Sie Folie 1. Lesen Sie Matthäus 25,14–30 aus dem Anhang vollständig, einschließlich des Schlusses. Sammeln Sie während des Lesens keine Antworten. Bitten Sie danach vier Freiwillige, den Herrn und die drei Diener darzustellen. Die übrigen helfen, die Geschichte zu erzählen und die Handlungen zu verfolgen.</a:t>
            </a:r>
          </a:p>
          <a:p xmlns:a="http://schemas.openxmlformats.org/drawingml/2006/main">
            <a:r>
              <a:t>Frage: Vor dem Spiel gibt es keine Fragen. Das erste Gespräch beginnt in der nächsten Phase.</a:t>
            </a:r>
          </a:p>
          <a:p xmlns:a="http://schemas.openxmlformats.org/drawingml/2006/main">
            <a:r>
              <a:t>Orientierung: Die ganze Geschichte wurde gelesen; die Gruppe ist bereit, sie darzustellen.</a:t>
            </a:r>
          </a:p>
          <a:p xmlns:a="http://schemas.openxmlformats.org/drawingml/2006/main">
            <a:r>
              <a:t>Rhythmus: 30 Sekunden Worterklärung; 4 Minuten Lesen; 30 Sekunden Einladung zum Spiel.</a:t>
            </a:r>
          </a:p>
          <a:p xmlns:a="http://schemas.openxmlformats.org/drawingml/2006/main">
            <a:r>
              <a:t/>
            </a:r>
          </a:p>
          <a:p xmlns:a="http://schemas.openxmlformats.org/drawingml/2006/main">
            <a:r>
              <a:t>Vorbereitung und Hinweise für die Lehrkraft</a:t>
            </a:r>
          </a:p>
          <a:p xmlns:a="http://schemas.openxmlformats.org/drawingml/2006/main">
            <a:r>
              <a:t>Drucken Sie Seite 1 für jede Person, Seite 2 einmal, Seiten 3 und 5 für jedes Paar und Seite 4 für jedes Team. Schneiden Sie die Karten mit einem weißen Rand aus. Bereiten Sie einen Umschlag für das versteckte Talent und vier freiwillige Rollen vor. Die übrige Gruppe antwortet mit Gesten.</a:t>
            </a:r>
          </a:p>
          <a:p xmlns:a="http://schemas.openxmlformats.org/drawingml/2006/main">
            <a:r>
              <a:t>Jedes Team braucht Papier, Stifte und gegebenenfalls große Bausteine oder bekanntes Spielmaterial. Die Werkstatt erstellt eine einfache Anleitung und eine kurze Begrüßung. Zeigen Sie die Ergebnistabelle erst nach den Antworten. Persönliche Blätter bleiben bei den Teilnehmenden.</a:t>
            </a:r>
          </a:p>
          <a:p xmlns:a="http://schemas.openxmlformats.org/drawingml/2006/main">
            <a:r>
              <a:t>Verbinden Sie die Teams zur Erprobung paarweise. Bei ungerader Anzahl ist die Lehrkraft Gast im übrigen Team. Ohne Bildschirm können Bilder 01–05 und Zahlen auf der Tafel verwendet werden.</a:t>
            </a:r>
          </a:p>
          <a:p xmlns:a="http://schemas.openxmlformats.org/drawingml/2006/main">
            <a:r>
              <a:t>Lesen Sie zuerst das ganze Gleichnis. Im Text wird Silber anvertraut; Fähigkeiten, Zeit und Aufmerksamkeit sind eine Anwendung des Verantwortungsprinzips. Die „1“ des dritten Dieners beschreibt den Moment seiner Abrechnung. Danach wird das Talent nach Matthäus 25,28 dem gegeben, der zehn hat. Lassen Sie den vollständigen Schluss beim anfänglichen Lesen nicht aus.</a:t>
            </a:r>
          </a:p>
          <a:p xmlns:a="http://schemas.openxmlformats.org/drawingml/2006/main">
            <a:r>
              <a:t>Das gleiche Lob gilt der Treue mit den anvertrauten Mitteln. Vergleichen Sie Handlungen der Figuren. Loben Sie konkrete hilfreiche Beiträge und ausgeführte Schritte der Kinder. Bei „Ich kann nichts“ suchen Sie eine zugängliche Möglichkeit: Zeit, Zuhören, eine Frage, Lernbereitschaft oder Materialvorbereitung. Eine kleine gemeinsame Probe hilft.</a:t>
            </a:r>
          </a:p>
          <a:p xmlns:a="http://schemas.openxmlformats.org/drawingml/2006/main">
            <a:r>
              <a:t>Die Karten regen das Gespräch an; eigene Fähigkeiten und neue Rollen sind möglich. Entscheidend sind der verständliche erste Schritt und die Antwort des Menschen, dem geholfen wird. Wird die Herstellung zu lang, genügen Einladung und ein klarer erster Schritt. Behalten Sie die Erprobung mit dem Gast und den persönlichen Plan bei: Sie zeigen den Übergang zur Handlung.</a:t>
            </a:r>
          </a:p>
          <a:p xmlns:a="http://schemas.openxmlformats.org/drawingml/2006/main">
            <a:r>
              <a:t/>
            </a:r>
          </a:p>
          <a:p xmlns:a="http://schemas.openxmlformats.org/drawingml/2006/main">
            <a:r>
              <a:t>Biblischer Lesetext: Übersetzung des bereitgestellten russischen Textes, keine Ausgabe einer deutschen Bibelübersetzung.</a:t>
            </a:r>
          </a:p>
          <a:p xmlns:a="http://schemas.openxmlformats.org/drawingml/2006/main">
            <a:r>
              <a:t>Matthäus 25,14–30</a:t>
            </a:r>
          </a:p>
          <a:p xmlns:a="http://schemas.openxmlformats.org/drawingml/2006/main">
            <a:r>
              <a:t>14 Denn er wird handeln wie ein Mensch, der in ein fremdes Land reist, seine Sklaven ruft und ihnen sein Vermögen anvertraut:</a:t>
            </a:r>
          </a:p>
          <a:p xmlns:a="http://schemas.openxmlformats.org/drawingml/2006/main">
            <a:r>
              <a:t>15 Dem einen gab er fünf Talente, dem anderen zwei, dem dritten eins, jedem nach seiner Kraft; dann reiste er ab.</a:t>
            </a:r>
          </a:p>
          <a:p xmlns:a="http://schemas.openxmlformats.org/drawingml/2006/main">
            <a:r>
              <a:t>16 Der mit den fünf Talenten ging hin, setzte sie ein und gewann fünf weitere Talente;</a:t>
            </a:r>
          </a:p>
          <a:p xmlns:a="http://schemas.openxmlformats.org/drawingml/2006/main">
            <a:r>
              <a:t>17 Ebenso gewann der mit den zwei Talenten zwei weitere;</a:t>
            </a:r>
          </a:p>
          <a:p xmlns:a="http://schemas.openxmlformats.org/drawingml/2006/main">
            <a:r>
              <a:t>18 Der mit dem einen Talent ging hin, grub ein Loch und verbarg das Silber seines Herrn in der Erde.</a:t>
            </a:r>
          </a:p>
          <a:p xmlns:a="http://schemas.openxmlformats.org/drawingml/2006/main">
            <a:r>
              <a:t>19 Nach langer Zeit kommt der Herr dieser Sklaven und verlangt Rechenschaft.</a:t>
            </a:r>
          </a:p>
          <a:p xmlns:a="http://schemas.openxmlformats.org/drawingml/2006/main">
            <a:r>
              <a:t>20 Der mit den fünf Talenten trat vor, brachte fünf weitere und sagte: „Herr, fünf Talente hast du mir gegeben; hier sind fünf weitere, die ich damit gewonnen habe.“</a:t>
            </a:r>
          </a:p>
          <a:p xmlns:a="http://schemas.openxmlformats.org/drawingml/2006/main">
            <a:r>
              <a:t>21 Sein Herr sagte: „Gut, du guter und treuer Sklave! Im Kleinen warst du treu; über vieles werde ich dich setzen. Geh ein in die Freude deines Herrn.“</a:t>
            </a:r>
          </a:p>
          <a:p xmlns:a="http://schemas.openxmlformats.org/drawingml/2006/main">
            <a:r>
              <a:t>22 Auch der mit den zwei Talenten trat vor und sagte: „Herr, zwei Talente hast du mir gegeben; hier sind zwei weitere, die ich gewonnen habe.“</a:t>
            </a:r>
          </a:p>
          <a:p xmlns:a="http://schemas.openxmlformats.org/drawingml/2006/main">
            <a:r>
              <a:t>23 Sein Herr sagte: „Gut, du guter und treuer Sklave! Im Kleinen warst du treu; über vieles werde ich dich setzen. Geh ein in die Freude deines Herrn.“</a:t>
            </a:r>
          </a:p>
          <a:p xmlns:a="http://schemas.openxmlformats.org/drawingml/2006/main">
            <a:r>
              <a:t>24 Der mit dem einen Talent trat vor und sagte: „Herr, ich wusste, dass du ein harter Mensch bist, der erntet, wo er nicht gesät, und sammelt, wo er nicht ausgestreut hat.</a:t>
            </a:r>
          </a:p>
          <a:p xmlns:a="http://schemas.openxmlformats.org/drawingml/2006/main">
            <a:r>
              <a:t>25 Ich fürchtete mich, ging hin und verbarg dein Talent in der Erde; hier hast du das Deine.“</a:t>
            </a:r>
          </a:p>
          <a:p xmlns:a="http://schemas.openxmlformats.org/drawingml/2006/main">
            <a:r>
              <a:t>26 Sein Herr antwortete: „Du böser und fauler Sklave! Du wusstest, dass ich ernte, wo ich nicht gesät, und sammle, wo ich nicht ausgestreut habe.</a:t>
            </a:r>
          </a:p>
          <a:p xmlns:a="http://schemas.openxmlformats.org/drawingml/2006/main">
            <a:r>
              <a:t>27 Daher hättest du mein Silber den Geldhändlern geben sollen; bei meiner Rückkehr hätte ich das Meine mit Ertrag erhalten.</a:t>
            </a:r>
          </a:p>
          <a:p xmlns:a="http://schemas.openxmlformats.org/drawingml/2006/main">
            <a:r>
              <a:t>28 Nehmt ihm also das Talent und gebt es dem, der zehn hat.</a:t>
            </a:r>
          </a:p>
          <a:p xmlns:a="http://schemas.openxmlformats.org/drawingml/2006/main">
            <a:r>
              <a:t>29 Denn jedem, der hat, wird gegeben und er wird mehr haben; dem, der nicht hat, wird auch genommen, was er hat.</a:t>
            </a:r>
          </a:p>
          <a:p xmlns:a="http://schemas.openxmlformats.org/drawingml/2006/main">
            <a:r>
              <a:t>30 Werft den unnützen Sklaven in die äußere Finsternis; dort wird Weinen und Zähneknirschen sein.“ Nach diesen Worten rief Jesus: Wer Ohren zum Hören hat, der höre!</a:t>
            </a:r>
          </a:p>
          <a:p xmlns:a="http://schemas.openxmlformats.org/drawingml/2006/main">
            <a:r>
              <a:t>1. Petrus 4,10</a:t>
            </a:r>
          </a:p>
          <a:p xmlns:a="http://schemas.openxmlformats.org/drawingml/2006/main">
            <a:r>
              <a:t>Dient einander, jeder mit der Gabe, die er empfangen hat, als gute Verwalter der vielfältigen Gnade Gottes.</a:t>
            </a:r>
          </a:p>
          <a:p xmlns:a="http://schemas.openxmlformats.org/drawingml/2006/main">
            <a:r>
              <a:t>Ein Verwalter trägt Verantwortung für das ihm Anvertraute. Anwendung: Die empfangene Gabe dient einem anderen Menschen.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Minuten. Zeitraum 5–10 Minuten. Folien 2–3.</a:t>
            </a:r>
          </a:p>
          <a:p xmlns:a="http://schemas.openxmlformats.org/drawingml/2006/main">
            <a:r>
              <a:t>Worte der Lehrkraft: Der Herr vertraut einem Diener fünf Talente, dem zweiten zwei und dem dritten eins an. Die ersten beiden setzen das Anvertraute ein; der dritte versteckt es. Ich erzähle, unsere Helfer zeigen die Handlungen mit Karten. Die anderen wählen „eingesetzt“ oder „versteckt“.</a:t>
            </a:r>
          </a:p>
          <a:p xmlns:a="http://schemas.openxmlformats.org/drawingml/2006/main">
            <a:r>
              <a:t>Ablauf: Öffnen Sie Folie 2. Der Herr verteilt „5 erhalten“, „2 erhalten“, „1 erhalten“. Lesen Sie Matthäus 25,15–18 Handlung für Handlung. Die ersten beiden nehmen „Insgesamt 10“ und „Insgesamt 4“, der dritte legt seine Karte in einen Umschlag. Die Gruppe zeigt eine offene Hand für „eingesetzt“, eine von oben aufgelegte Hand für „versteckt“. Bei der Rückkehr des Herrn zeigen die ersten beiden ihr Ergebnis; der dritte gibt seine unveränderte Karte zurück. Fragen Sie nach den Beträgen und öffnen Sie erst danach die Tabelle von Folie 3. Die Zahlen bezeichnen Talente im Gleichnis; die Anzahl der abgebildeten Beutel ist symbolisch.</a:t>
            </a:r>
          </a:p>
          <a:p xmlns:a="http://schemas.openxmlformats.org/drawingml/2006/main">
            <a:r>
              <a:t>Frage: Was erhielten die Diener und was tat jeder mit dem Anvertrauten?</a:t>
            </a:r>
          </a:p>
          <a:p xmlns:a="http://schemas.openxmlformats.org/drawingml/2006/main">
            <a:r>
              <a:t>Orientierung: Der erste erhielt 5 und gewann 5 dazu, insgesamt 10. Der zweite erhielt 2 und gewann 2 dazu, insgesamt 4. Der dritte erhielt 1, versteckte es und gab vor der Entscheidung des Herrn 1 zurück.</a:t>
            </a:r>
          </a:p>
          <a:p xmlns:a="http://schemas.openxmlformats.org/drawingml/2006/main">
            <a:r>
              <a:t>Rhythmus: 1 Minute Rollen und Karten; 1 Minute Übergabe; 2 Minuten Handlungen und Rückkehr; 1 Minute Antworten und Tabelle.</a:t>
            </a:r>
          </a:p>
          <a:p xmlns:a="http://schemas.openxmlformats.org/drawingml/2006/main">
            <a:r>
              <a:t/>
            </a:r>
          </a:p>
          <a:p xmlns:a="http://schemas.openxmlformats.org/drawingml/2006/main">
            <a:r>
              <a:t>Vorbereitung und Hinweise für die Lehrkraft</a:t>
            </a:r>
          </a:p>
          <a:p xmlns:a="http://schemas.openxmlformats.org/drawingml/2006/main">
            <a:r>
              <a:t>Drucken Sie Seite 1 für jede Person, Seite 2 einmal, Seiten 3 und 5 für jedes Paar und Seite 4 für jedes Team. Schneiden Sie die Karten mit einem weißen Rand aus. Bereiten Sie einen Umschlag für das versteckte Talent und vier freiwillige Rollen vor. Die übrige Gruppe antwortet mit Gesten.</a:t>
            </a:r>
          </a:p>
          <a:p xmlns:a="http://schemas.openxmlformats.org/drawingml/2006/main">
            <a:r>
              <a:t>Jedes Team braucht Papier, Stifte und gegebenenfalls große Bausteine oder bekanntes Spielmaterial. Die Werkstatt erstellt eine einfache Anleitung und eine kurze Begrüßung. Zeigen Sie die Ergebnistabelle erst nach den Antworten. Persönliche Blätter bleiben bei den Teilnehmenden.</a:t>
            </a:r>
          </a:p>
          <a:p xmlns:a="http://schemas.openxmlformats.org/drawingml/2006/main">
            <a:r>
              <a:t>Verbinden Sie die Teams zur Erprobung paarweise. Bei ungerader Anzahl ist die Lehrkraft Gast im übrigen Team. Ohne Bildschirm können Bilder 01–05 und Zahlen auf der Tafel verwendet werden.</a:t>
            </a:r>
          </a:p>
          <a:p xmlns:a="http://schemas.openxmlformats.org/drawingml/2006/main">
            <a:r>
              <a:t>Lesen Sie zuerst das ganze Gleichnis. Im Text wird Silber anvertraut; Fähigkeiten, Zeit und Aufmerksamkeit sind eine Anwendung des Verantwortungsprinzips. Die „1“ des dritten Dieners beschreibt den Moment seiner Abrechnung. Danach wird das Talent nach Matthäus 25,28 dem gegeben, der zehn hat. Lassen Sie den vollständigen Schluss beim anfänglichen Lesen nicht aus.</a:t>
            </a:r>
          </a:p>
          <a:p xmlns:a="http://schemas.openxmlformats.org/drawingml/2006/main">
            <a:r>
              <a:t>Das gleiche Lob gilt der Treue mit den anvertrauten Mitteln. Vergleichen Sie Handlungen der Figuren. Loben Sie konkrete hilfreiche Beiträge und ausgeführte Schritte der Kinder. Bei „Ich kann nichts“ suchen Sie eine zugängliche Möglichkeit: Zeit, Zuhören, eine Frage, Lernbereitschaft oder Materialvorbereitung. Eine kleine gemeinsame Probe hilft.</a:t>
            </a:r>
          </a:p>
          <a:p xmlns:a="http://schemas.openxmlformats.org/drawingml/2006/main">
            <a:r>
              <a:t>Die Karten regen das Gespräch an; eigene Fähigkeiten und neue Rollen sind möglich. Entscheidend sind der verständliche erste Schritt und die Antwort des Menschen, dem geholfen wird. Wird die Herstellung zu lang, genügen Einladung und ein klarer erster Schritt. Behalten Sie die Erprobung mit dem Gast und den persönlichen Plan bei: Sie zeigen den Übergang zur Handlung.</a:t>
            </a:r>
          </a:p>
          <a:p xmlns:a="http://schemas.openxmlformats.org/drawingml/2006/main">
            <a:r>
              <a:t/>
            </a:r>
          </a:p>
          <a:p xmlns:a="http://schemas.openxmlformats.org/drawingml/2006/main">
            <a:r>
              <a:t>Biblischer Lesetext: Übersetzung des bereitgestellten russischen Textes, keine Ausgabe einer deutschen Bibelübersetzung.</a:t>
            </a:r>
          </a:p>
          <a:p xmlns:a="http://schemas.openxmlformats.org/drawingml/2006/main">
            <a:r>
              <a:t>Matthäus 25,14–30</a:t>
            </a:r>
          </a:p>
          <a:p xmlns:a="http://schemas.openxmlformats.org/drawingml/2006/main">
            <a:r>
              <a:t>14 Denn er wird handeln wie ein Mensch, der in ein fremdes Land reist, seine Sklaven ruft und ihnen sein Vermögen anvertraut:</a:t>
            </a:r>
          </a:p>
          <a:p xmlns:a="http://schemas.openxmlformats.org/drawingml/2006/main">
            <a:r>
              <a:t>15 Dem einen gab er fünf Talente, dem anderen zwei, dem dritten eins, jedem nach seiner Kraft; dann reiste er ab.</a:t>
            </a:r>
          </a:p>
          <a:p xmlns:a="http://schemas.openxmlformats.org/drawingml/2006/main">
            <a:r>
              <a:t>16 Der mit den fünf Talenten ging hin, setzte sie ein und gewann fünf weitere Talente;</a:t>
            </a:r>
          </a:p>
          <a:p xmlns:a="http://schemas.openxmlformats.org/drawingml/2006/main">
            <a:r>
              <a:t>17 Ebenso gewann der mit den zwei Talenten zwei weitere;</a:t>
            </a:r>
          </a:p>
          <a:p xmlns:a="http://schemas.openxmlformats.org/drawingml/2006/main">
            <a:r>
              <a:t>18 Der mit dem einen Talent ging hin, grub ein Loch und verbarg das Silber seines Herrn in der Erde.</a:t>
            </a:r>
          </a:p>
          <a:p xmlns:a="http://schemas.openxmlformats.org/drawingml/2006/main">
            <a:r>
              <a:t>19 Nach langer Zeit kommt der Herr dieser Sklaven und verlangt Rechenschaft.</a:t>
            </a:r>
          </a:p>
          <a:p xmlns:a="http://schemas.openxmlformats.org/drawingml/2006/main">
            <a:r>
              <a:t>20 Der mit den fünf Talenten trat vor, brachte fünf weitere und sagte: „Herr, fünf Talente hast du mir gegeben; hier sind fünf weitere, die ich damit gewonnen habe.“</a:t>
            </a:r>
          </a:p>
          <a:p xmlns:a="http://schemas.openxmlformats.org/drawingml/2006/main">
            <a:r>
              <a:t>21 Sein Herr sagte: „Gut, du guter und treuer Sklave! Im Kleinen warst du treu; über vieles werde ich dich setzen. Geh ein in die Freude deines Herrn.“</a:t>
            </a:r>
          </a:p>
          <a:p xmlns:a="http://schemas.openxmlformats.org/drawingml/2006/main">
            <a:r>
              <a:t>22 Auch der mit den zwei Talenten trat vor und sagte: „Herr, zwei Talente hast du mir gegeben; hier sind zwei weitere, die ich gewonnen habe.“</a:t>
            </a:r>
          </a:p>
          <a:p xmlns:a="http://schemas.openxmlformats.org/drawingml/2006/main">
            <a:r>
              <a:t>23 Sein Herr sagte: „Gut, du guter und treuer Sklave! Im Kleinen warst du treu; über vieles werde ich dich setzen. Geh ein in die Freude deines Herrn.“</a:t>
            </a:r>
          </a:p>
          <a:p xmlns:a="http://schemas.openxmlformats.org/drawingml/2006/main">
            <a:r>
              <a:t>24 Der mit dem einen Talent trat vor und sagte: „Herr, ich wusste, dass du ein harter Mensch bist, der erntet, wo er nicht gesät, und sammelt, wo er nicht ausgestreut hat.</a:t>
            </a:r>
          </a:p>
          <a:p xmlns:a="http://schemas.openxmlformats.org/drawingml/2006/main">
            <a:r>
              <a:t>25 Ich fürchtete mich, ging hin und verbarg dein Talent in der Erde; hier hast du das Deine.“</a:t>
            </a:r>
          </a:p>
          <a:p xmlns:a="http://schemas.openxmlformats.org/drawingml/2006/main">
            <a:r>
              <a:t>26 Sein Herr antwortete: „Du böser und fauler Sklave! Du wusstest, dass ich ernte, wo ich nicht gesät, und sammle, wo ich nicht ausgestreut habe.</a:t>
            </a:r>
          </a:p>
          <a:p xmlns:a="http://schemas.openxmlformats.org/drawingml/2006/main">
            <a:r>
              <a:t>27 Daher hättest du mein Silber den Geldhändlern geben sollen; bei meiner Rückkehr hätte ich das Meine mit Ertrag erhalten.</a:t>
            </a:r>
          </a:p>
          <a:p xmlns:a="http://schemas.openxmlformats.org/drawingml/2006/main">
            <a:r>
              <a:t>28 Nehmt ihm also das Talent und gebt es dem, der zehn hat.</a:t>
            </a:r>
          </a:p>
          <a:p xmlns:a="http://schemas.openxmlformats.org/drawingml/2006/main">
            <a:r>
              <a:t>29 Denn jedem, der hat, wird gegeben und er wird mehr haben; dem, der nicht hat, wird auch genommen, was er hat.</a:t>
            </a:r>
          </a:p>
          <a:p xmlns:a="http://schemas.openxmlformats.org/drawingml/2006/main">
            <a:r>
              <a:t>30 Werft den unnützen Sklaven in die äußere Finsternis; dort wird Weinen und Zähneknirschen sein.“ Nach diesen Worten rief Jesus: Wer Ohren zum Hören hat, der höre!</a:t>
            </a:r>
          </a:p>
          <a:p xmlns:a="http://schemas.openxmlformats.org/drawingml/2006/main">
            <a:r>
              <a:t>1. Petrus 4,10</a:t>
            </a:r>
          </a:p>
          <a:p xmlns:a="http://schemas.openxmlformats.org/drawingml/2006/main">
            <a:r>
              <a:t>Dient einander, jeder mit der Gabe, die er empfangen hat, als gute Verwalter der vielfältigen Gnade Gottes.</a:t>
            </a:r>
          </a:p>
          <a:p xmlns:a="http://schemas.openxmlformats.org/drawingml/2006/main">
            <a:r>
              <a:t>Ein Verwalter trägt Verantwortung für das ihm Anvertraute. Anwendung: Die empfangene Gabe dient einem anderen Menschen.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Zeitraum 10–13 Minuten. Folie 4.</a:t>
            </a:r>
          </a:p>
          <a:p xmlns:a="http://schemas.openxmlformats.org/drawingml/2006/main">
            <a:r>
              <a:t>Worte der Lehrkraft: Im Gleichnis übergibt der Herr Geld. Heute nennen wir eine Fähigkeit „Talent“. Wir können das Gleichnis auf Fähigkeiten und andere Möglichkeiten anwenden. Ordnet vier Aussagen: Welche beschreiben die Geschichte, welche unser Leben?</a:t>
            </a:r>
          </a:p>
          <a:p xmlns:a="http://schemas.openxmlformats.org/drawingml/2006/main">
            <a:r>
              <a:t>Ablauf: Geben Sie jedem Paar vier Karten von Seite 3: „Der Herr gab fünf Talente“, „Der Diener vergrub Silber“, „Ich kann zeichnen“, „Ich kann zuhören“. Markieren Sie zwei Tischseiten mit „Im Gleichnis“ und „In unserem Leben“. Bitten Sie nach dem Sortieren ein Paar, eine Zuordnung zu erklären. Schließen Sie: „Wir unterscheiden die Bedeutung des Wortes in der Geschichte von unserer Anwendung.“</a:t>
            </a:r>
          </a:p>
          <a:p xmlns:a="http://schemas.openxmlformats.org/drawingml/2006/main">
            <a:r>
              <a:t>Frage: Was gab der Herr seinen Dienern tatsächlich? Wie können wir die Geschichte heute anwenden?</a:t>
            </a:r>
          </a:p>
          <a:p xmlns:a="http://schemas.openxmlformats.org/drawingml/2006/main">
            <a:r>
              <a:t>Orientierung: Er vertraute ihnen Mittel an. Wir lernen, Fähigkeiten, Zeit und andere Möglichkeiten treu einzusetzen.</a:t>
            </a:r>
          </a:p>
          <a:p xmlns:a="http://schemas.openxmlformats.org/drawingml/2006/main">
            <a:r>
              <a:t>Rhythmus: 30 Sekunden Bedeutungen; 1 Minute Sortieren; 1 Minute Erklären; 30 Sekunden Schluss.</a:t>
            </a:r>
          </a:p>
          <a:p xmlns:a="http://schemas.openxmlformats.org/drawingml/2006/main">
            <a:r>
              <a:t/>
            </a:r>
          </a:p>
          <a:p xmlns:a="http://schemas.openxmlformats.org/drawingml/2006/main">
            <a:r>
              <a:t>Vorbereitung und Hinweise für die Lehrkraft</a:t>
            </a:r>
          </a:p>
          <a:p xmlns:a="http://schemas.openxmlformats.org/drawingml/2006/main">
            <a:r>
              <a:t>Drucken Sie Seite 1 für jede Person, Seite 2 einmal, Seiten 3 und 5 für jedes Paar und Seite 4 für jedes Team. Schneiden Sie die Karten mit einem weißen Rand aus. Bereiten Sie einen Umschlag für das versteckte Talent und vier freiwillige Rollen vor. Die übrige Gruppe antwortet mit Gesten.</a:t>
            </a:r>
          </a:p>
          <a:p xmlns:a="http://schemas.openxmlformats.org/drawingml/2006/main">
            <a:r>
              <a:t>Jedes Team braucht Papier, Stifte und gegebenenfalls große Bausteine oder bekanntes Spielmaterial. Die Werkstatt erstellt eine einfache Anleitung und eine kurze Begrüßung. Zeigen Sie die Ergebnistabelle erst nach den Antworten. Persönliche Blätter bleiben bei den Teilnehmenden.</a:t>
            </a:r>
          </a:p>
          <a:p xmlns:a="http://schemas.openxmlformats.org/drawingml/2006/main">
            <a:r>
              <a:t>Verbinden Sie die Teams zur Erprobung paarweise. Bei ungerader Anzahl ist die Lehrkraft Gast im übrigen Team. Ohne Bildschirm können Bilder 01–05 und Zahlen auf der Tafel verwendet werden.</a:t>
            </a:r>
          </a:p>
          <a:p xmlns:a="http://schemas.openxmlformats.org/drawingml/2006/main">
            <a:r>
              <a:t>Lesen Sie zuerst das ganze Gleichnis. Im Text wird Silber anvertraut; Fähigkeiten, Zeit und Aufmerksamkeit sind eine Anwendung des Verantwortungsprinzips. Die „1“ des dritten Dieners beschreibt den Moment seiner Abrechnung. Danach wird das Talent nach Matthäus 25,28 dem gegeben, der zehn hat. Lassen Sie den vollständigen Schluss beim anfänglichen Lesen nicht aus.</a:t>
            </a:r>
          </a:p>
          <a:p xmlns:a="http://schemas.openxmlformats.org/drawingml/2006/main">
            <a:r>
              <a:t>Das gleiche Lob gilt der Treue mit den anvertrauten Mitteln. Vergleichen Sie Handlungen der Figuren. Loben Sie konkrete hilfreiche Beiträge und ausgeführte Schritte der Kinder. Bei „Ich kann nichts“ suchen Sie eine zugängliche Möglichkeit: Zeit, Zuhören, eine Frage, Lernbereitschaft oder Materialvorbereitung. Eine kleine gemeinsame Probe hilft.</a:t>
            </a:r>
          </a:p>
          <a:p xmlns:a="http://schemas.openxmlformats.org/drawingml/2006/main">
            <a:r>
              <a:t>Die Karten regen das Gespräch an; eigene Fähigkeiten und neue Rollen sind möglich. Entscheidend sind der verständliche erste Schritt und die Antwort des Menschen, dem geholfen wird. Wird die Herstellung zu lang, genügen Einladung und ein klarer erster Schritt. Behalten Sie die Erprobung mit dem Gast und den persönlichen Plan bei: Sie zeigen den Übergang zur Handlung.</a:t>
            </a:r>
          </a:p>
          <a:p xmlns:a="http://schemas.openxmlformats.org/drawingml/2006/main">
            <a:r>
              <a:t/>
            </a:r>
          </a:p>
          <a:p xmlns:a="http://schemas.openxmlformats.org/drawingml/2006/main">
            <a:r>
              <a:t>Biblischer Lesetext: Übersetzung des bereitgestellten russischen Textes, keine Ausgabe einer deutschen Bibelübersetzung.</a:t>
            </a:r>
          </a:p>
          <a:p xmlns:a="http://schemas.openxmlformats.org/drawingml/2006/main">
            <a:r>
              <a:t>Matthäus 25,14–30</a:t>
            </a:r>
          </a:p>
          <a:p xmlns:a="http://schemas.openxmlformats.org/drawingml/2006/main">
            <a:r>
              <a:t>14 Denn er wird handeln wie ein Mensch, der in ein fremdes Land reist, seine Sklaven ruft und ihnen sein Vermögen anvertraut:</a:t>
            </a:r>
          </a:p>
          <a:p xmlns:a="http://schemas.openxmlformats.org/drawingml/2006/main">
            <a:r>
              <a:t>15 Dem einen gab er fünf Talente, dem anderen zwei, dem dritten eins, jedem nach seiner Kraft; dann reiste er ab.</a:t>
            </a:r>
          </a:p>
          <a:p xmlns:a="http://schemas.openxmlformats.org/drawingml/2006/main">
            <a:r>
              <a:t>16 Der mit den fünf Talenten ging hin, setzte sie ein und gewann fünf weitere Talente;</a:t>
            </a:r>
          </a:p>
          <a:p xmlns:a="http://schemas.openxmlformats.org/drawingml/2006/main">
            <a:r>
              <a:t>17 Ebenso gewann der mit den zwei Talenten zwei weitere;</a:t>
            </a:r>
          </a:p>
          <a:p xmlns:a="http://schemas.openxmlformats.org/drawingml/2006/main">
            <a:r>
              <a:t>18 Der mit dem einen Talent ging hin, grub ein Loch und verbarg das Silber seines Herrn in der Erde.</a:t>
            </a:r>
          </a:p>
          <a:p xmlns:a="http://schemas.openxmlformats.org/drawingml/2006/main">
            <a:r>
              <a:t>19 Nach langer Zeit kommt der Herr dieser Sklaven und verlangt Rechenschaft.</a:t>
            </a:r>
          </a:p>
          <a:p xmlns:a="http://schemas.openxmlformats.org/drawingml/2006/main">
            <a:r>
              <a:t>20 Der mit den fünf Talenten trat vor, brachte fünf weitere und sagte: „Herr, fünf Talente hast du mir gegeben; hier sind fünf weitere, die ich damit gewonnen habe.“</a:t>
            </a:r>
          </a:p>
          <a:p xmlns:a="http://schemas.openxmlformats.org/drawingml/2006/main">
            <a:r>
              <a:t>21 Sein Herr sagte: „Gut, du guter und treuer Sklave! Im Kleinen warst du treu; über vieles werde ich dich setzen. Geh ein in die Freude deines Herrn.“</a:t>
            </a:r>
          </a:p>
          <a:p xmlns:a="http://schemas.openxmlformats.org/drawingml/2006/main">
            <a:r>
              <a:t>22 Auch der mit den zwei Talenten trat vor und sagte: „Herr, zwei Talente hast du mir gegeben; hier sind zwei weitere, die ich gewonnen habe.“</a:t>
            </a:r>
          </a:p>
          <a:p xmlns:a="http://schemas.openxmlformats.org/drawingml/2006/main">
            <a:r>
              <a:t>23 Sein Herr sagte: „Gut, du guter und treuer Sklave! Im Kleinen warst du treu; über vieles werde ich dich setzen. Geh ein in die Freude deines Herrn.“</a:t>
            </a:r>
          </a:p>
          <a:p xmlns:a="http://schemas.openxmlformats.org/drawingml/2006/main">
            <a:r>
              <a:t>24 Der mit dem einen Talent trat vor und sagte: „Herr, ich wusste, dass du ein harter Mensch bist, der erntet, wo er nicht gesät, und sammelt, wo er nicht ausgestreut hat.</a:t>
            </a:r>
          </a:p>
          <a:p xmlns:a="http://schemas.openxmlformats.org/drawingml/2006/main">
            <a:r>
              <a:t>25 Ich fürchtete mich, ging hin und verbarg dein Talent in der Erde; hier hast du das Deine.“</a:t>
            </a:r>
          </a:p>
          <a:p xmlns:a="http://schemas.openxmlformats.org/drawingml/2006/main">
            <a:r>
              <a:t>26 Sein Herr antwortete: „Du böser und fauler Sklave! Du wusstest, dass ich ernte, wo ich nicht gesät, und sammle, wo ich nicht ausgestreut habe.</a:t>
            </a:r>
          </a:p>
          <a:p xmlns:a="http://schemas.openxmlformats.org/drawingml/2006/main">
            <a:r>
              <a:t>27 Daher hättest du mein Silber den Geldhändlern geben sollen; bei meiner Rückkehr hätte ich das Meine mit Ertrag erhalten.</a:t>
            </a:r>
          </a:p>
          <a:p xmlns:a="http://schemas.openxmlformats.org/drawingml/2006/main">
            <a:r>
              <a:t>28 Nehmt ihm also das Talent und gebt es dem, der zehn hat.</a:t>
            </a:r>
          </a:p>
          <a:p xmlns:a="http://schemas.openxmlformats.org/drawingml/2006/main">
            <a:r>
              <a:t>29 Denn jedem, der hat, wird gegeben und er wird mehr haben; dem, der nicht hat, wird auch genommen, was er hat.</a:t>
            </a:r>
          </a:p>
          <a:p xmlns:a="http://schemas.openxmlformats.org/drawingml/2006/main">
            <a:r>
              <a:t>30 Werft den unnützen Sklaven in die äußere Finsternis; dort wird Weinen und Zähneknirschen sein.“ Nach diesen Worten rief Jesus: Wer Ohren zum Hören hat, der höre!</a:t>
            </a:r>
          </a:p>
          <a:p xmlns:a="http://schemas.openxmlformats.org/drawingml/2006/main">
            <a:r>
              <a:t>1. Petrus 4,10</a:t>
            </a:r>
          </a:p>
          <a:p xmlns:a="http://schemas.openxmlformats.org/drawingml/2006/main">
            <a:r>
              <a:t>Dient einander, jeder mit der Gabe, die er empfangen hat, als gute Verwalter der vielfältigen Gnade Gottes.</a:t>
            </a:r>
          </a:p>
          <a:p xmlns:a="http://schemas.openxmlformats.org/drawingml/2006/main">
            <a:r>
              <a:t>Ein Verwalter trägt Verantwortung für das ihm Anvertraute. Anwendung: Die empfangene Gabe dient einem anderen Menschen.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Zeitraum 10–13 Minuten. Folie 4.</a:t>
            </a:r>
          </a:p>
          <a:p xmlns:a="http://schemas.openxmlformats.org/drawingml/2006/main">
            <a:r>
              <a:t>Worte der Lehrkraft: Im Gleichnis übergibt der Herr Geld. Heute nennen wir eine Fähigkeit „Talent“. Wir können das Gleichnis auf Fähigkeiten und andere Möglichkeiten anwenden. Ordnet vier Aussagen: Welche beschreiben die Geschichte, welche unser Leben?</a:t>
            </a:r>
          </a:p>
          <a:p xmlns:a="http://schemas.openxmlformats.org/drawingml/2006/main">
            <a:r>
              <a:t>Ablauf: Geben Sie jedem Paar vier Karten von Seite 3: „Der Herr gab fünf Talente“, „Der Diener vergrub Silber“, „Ich kann zeichnen“, „Ich kann zuhören“. Markieren Sie zwei Tischseiten mit „Im Gleichnis“ und „In unserem Leben“. Bitten Sie nach dem Sortieren ein Paar, eine Zuordnung zu erklären. Schließen Sie: „Wir unterscheiden die Bedeutung des Wortes in der Geschichte von unserer Anwendung.“</a:t>
            </a:r>
          </a:p>
          <a:p xmlns:a="http://schemas.openxmlformats.org/drawingml/2006/main">
            <a:r>
              <a:t>Frage: Was gab der Herr seinen Dienern tatsächlich? Wie können wir die Geschichte heute anwenden?</a:t>
            </a:r>
          </a:p>
          <a:p xmlns:a="http://schemas.openxmlformats.org/drawingml/2006/main">
            <a:r>
              <a:t>Orientierung: Er vertraute ihnen Mittel an. Wir lernen, Fähigkeiten, Zeit und andere Möglichkeiten treu einzusetzen.</a:t>
            </a:r>
          </a:p>
          <a:p xmlns:a="http://schemas.openxmlformats.org/drawingml/2006/main">
            <a:r>
              <a:t>Rhythmus: 30 Sekunden Bedeutungen; 1 Minute Sortieren; 1 Minute Erklären; 30 Sekunden Schluss.</a:t>
            </a:r>
          </a:p>
          <a:p xmlns:a="http://schemas.openxmlformats.org/drawingml/2006/main">
            <a:r>
              <a:t/>
            </a:r>
          </a:p>
          <a:p xmlns:a="http://schemas.openxmlformats.org/drawingml/2006/main">
            <a:r>
              <a:t>Vorbereitung und Hinweise für die Lehrkraft</a:t>
            </a:r>
          </a:p>
          <a:p xmlns:a="http://schemas.openxmlformats.org/drawingml/2006/main">
            <a:r>
              <a:t>Drucken Sie Seite 1 für jede Person, Seite 2 einmal, Seiten 3 und 5 für jedes Paar und Seite 4 für jedes Team. Schneiden Sie die Karten mit einem weißen Rand aus. Bereiten Sie einen Umschlag für das versteckte Talent und vier freiwillige Rollen vor. Die übrige Gruppe antwortet mit Gesten.</a:t>
            </a:r>
          </a:p>
          <a:p xmlns:a="http://schemas.openxmlformats.org/drawingml/2006/main">
            <a:r>
              <a:t>Jedes Team braucht Papier, Stifte und gegebenenfalls große Bausteine oder bekanntes Spielmaterial. Die Werkstatt erstellt eine einfache Anleitung und eine kurze Begrüßung. Zeigen Sie die Ergebnistabelle erst nach den Antworten. Persönliche Blätter bleiben bei den Teilnehmenden.</a:t>
            </a:r>
          </a:p>
          <a:p xmlns:a="http://schemas.openxmlformats.org/drawingml/2006/main">
            <a:r>
              <a:t>Verbinden Sie die Teams zur Erprobung paarweise. Bei ungerader Anzahl ist die Lehrkraft Gast im übrigen Team. Ohne Bildschirm können Bilder 01–05 und Zahlen auf der Tafel verwendet werden.</a:t>
            </a:r>
          </a:p>
          <a:p xmlns:a="http://schemas.openxmlformats.org/drawingml/2006/main">
            <a:r>
              <a:t>Lesen Sie zuerst das ganze Gleichnis. Im Text wird Silber anvertraut; Fähigkeiten, Zeit und Aufmerksamkeit sind eine Anwendung des Verantwortungsprinzips. Die „1“ des dritten Dieners beschreibt den Moment seiner Abrechnung. Danach wird das Talent nach Matthäus 25,28 dem gegeben, der zehn hat. Lassen Sie den vollständigen Schluss beim anfänglichen Lesen nicht aus.</a:t>
            </a:r>
          </a:p>
          <a:p xmlns:a="http://schemas.openxmlformats.org/drawingml/2006/main">
            <a:r>
              <a:t>Das gleiche Lob gilt der Treue mit den anvertrauten Mitteln. Vergleichen Sie Handlungen der Figuren. Loben Sie konkrete hilfreiche Beiträge und ausgeführte Schritte der Kinder. Bei „Ich kann nichts“ suchen Sie eine zugängliche Möglichkeit: Zeit, Zuhören, eine Frage, Lernbereitschaft oder Materialvorbereitung. Eine kleine gemeinsame Probe hilft.</a:t>
            </a:r>
          </a:p>
          <a:p xmlns:a="http://schemas.openxmlformats.org/drawingml/2006/main">
            <a:r>
              <a:t>Die Karten regen das Gespräch an; eigene Fähigkeiten und neue Rollen sind möglich. Entscheidend sind der verständliche erste Schritt und die Antwort des Menschen, dem geholfen wird. Wird die Herstellung zu lang, genügen Einladung und ein klarer erster Schritt. Behalten Sie die Erprobung mit dem Gast und den persönlichen Plan bei: Sie zeigen den Übergang zur Handlung.</a:t>
            </a:r>
          </a:p>
          <a:p xmlns:a="http://schemas.openxmlformats.org/drawingml/2006/main">
            <a:r>
              <a:t/>
            </a:r>
          </a:p>
          <a:p xmlns:a="http://schemas.openxmlformats.org/drawingml/2006/main">
            <a:r>
              <a:t>Biblischer Lesetext: Übersetzung des bereitgestellten russischen Textes, keine Ausgabe einer deutschen Bibelübersetzung.</a:t>
            </a:r>
          </a:p>
          <a:p xmlns:a="http://schemas.openxmlformats.org/drawingml/2006/main">
            <a:r>
              <a:t>Matthäus 25,14–30</a:t>
            </a:r>
          </a:p>
          <a:p xmlns:a="http://schemas.openxmlformats.org/drawingml/2006/main">
            <a:r>
              <a:t>14 Denn er wird handeln wie ein Mensch, der in ein fremdes Land reist, seine Sklaven ruft und ihnen sein Vermögen anvertraut:</a:t>
            </a:r>
          </a:p>
          <a:p xmlns:a="http://schemas.openxmlformats.org/drawingml/2006/main">
            <a:r>
              <a:t>15 Dem einen gab er fünf Talente, dem anderen zwei, dem dritten eins, jedem nach seiner Kraft; dann reiste er ab.</a:t>
            </a:r>
          </a:p>
          <a:p xmlns:a="http://schemas.openxmlformats.org/drawingml/2006/main">
            <a:r>
              <a:t>16 Der mit den fünf Talenten ging hin, setzte sie ein und gewann fünf weitere Talente;</a:t>
            </a:r>
          </a:p>
          <a:p xmlns:a="http://schemas.openxmlformats.org/drawingml/2006/main">
            <a:r>
              <a:t>17 Ebenso gewann der mit den zwei Talenten zwei weitere;</a:t>
            </a:r>
          </a:p>
          <a:p xmlns:a="http://schemas.openxmlformats.org/drawingml/2006/main">
            <a:r>
              <a:t>18 Der mit dem einen Talent ging hin, grub ein Loch und verbarg das Silber seines Herrn in der Erde.</a:t>
            </a:r>
          </a:p>
          <a:p xmlns:a="http://schemas.openxmlformats.org/drawingml/2006/main">
            <a:r>
              <a:t>19 Nach langer Zeit kommt der Herr dieser Sklaven und verlangt Rechenschaft.</a:t>
            </a:r>
          </a:p>
          <a:p xmlns:a="http://schemas.openxmlformats.org/drawingml/2006/main">
            <a:r>
              <a:t>20 Der mit den fünf Talenten trat vor, brachte fünf weitere und sagte: „Herr, fünf Talente hast du mir gegeben; hier sind fünf weitere, die ich damit gewonnen habe.“</a:t>
            </a:r>
          </a:p>
          <a:p xmlns:a="http://schemas.openxmlformats.org/drawingml/2006/main">
            <a:r>
              <a:t>21 Sein Herr sagte: „Gut, du guter und treuer Sklave! Im Kleinen warst du treu; über vieles werde ich dich setzen. Geh ein in die Freude deines Herrn.“</a:t>
            </a:r>
          </a:p>
          <a:p xmlns:a="http://schemas.openxmlformats.org/drawingml/2006/main">
            <a:r>
              <a:t>22 Auch der mit den zwei Talenten trat vor und sagte: „Herr, zwei Talente hast du mir gegeben; hier sind zwei weitere, die ich gewonnen habe.“</a:t>
            </a:r>
          </a:p>
          <a:p xmlns:a="http://schemas.openxmlformats.org/drawingml/2006/main">
            <a:r>
              <a:t>23 Sein Herr sagte: „Gut, du guter und treuer Sklave! Im Kleinen warst du treu; über vieles werde ich dich setzen. Geh ein in die Freude deines Herrn.“</a:t>
            </a:r>
          </a:p>
          <a:p xmlns:a="http://schemas.openxmlformats.org/drawingml/2006/main">
            <a:r>
              <a:t>24 Der mit dem einen Talent trat vor und sagte: „Herr, ich wusste, dass du ein harter Mensch bist, der erntet, wo er nicht gesät, und sammelt, wo er nicht ausgestreut hat.</a:t>
            </a:r>
          </a:p>
          <a:p xmlns:a="http://schemas.openxmlformats.org/drawingml/2006/main">
            <a:r>
              <a:t>25 Ich fürchtete mich, ging hin und verbarg dein Talent in der Erde; hier hast du das Deine.“</a:t>
            </a:r>
          </a:p>
          <a:p xmlns:a="http://schemas.openxmlformats.org/drawingml/2006/main">
            <a:r>
              <a:t>26 Sein Herr antwortete: „Du böser und fauler Sklave! Du wusstest, dass ich ernte, wo ich nicht gesät, und sammle, wo ich nicht ausgestreut habe.</a:t>
            </a:r>
          </a:p>
          <a:p xmlns:a="http://schemas.openxmlformats.org/drawingml/2006/main">
            <a:r>
              <a:t>27 Daher hättest du mein Silber den Geldhändlern geben sollen; bei meiner Rückkehr hätte ich das Meine mit Ertrag erhalten.</a:t>
            </a:r>
          </a:p>
          <a:p xmlns:a="http://schemas.openxmlformats.org/drawingml/2006/main">
            <a:r>
              <a:t>28 Nehmt ihm also das Talent und gebt es dem, der zehn hat.</a:t>
            </a:r>
          </a:p>
          <a:p xmlns:a="http://schemas.openxmlformats.org/drawingml/2006/main">
            <a:r>
              <a:t>29 Denn jedem, der hat, wird gegeben und er wird mehr haben; dem, der nicht hat, wird auch genommen, was er hat.</a:t>
            </a:r>
          </a:p>
          <a:p xmlns:a="http://schemas.openxmlformats.org/drawingml/2006/main">
            <a:r>
              <a:t>30 Werft den unnützen Sklaven in die äußere Finsternis; dort wird Weinen und Zähneknirschen sein.“ Nach diesen Worten rief Jesus: Wer Ohren zum Hören hat, der höre!</a:t>
            </a:r>
          </a:p>
          <a:p xmlns:a="http://schemas.openxmlformats.org/drawingml/2006/main">
            <a:r>
              <a:t>1. Petrus 4,10</a:t>
            </a:r>
          </a:p>
          <a:p xmlns:a="http://schemas.openxmlformats.org/drawingml/2006/main">
            <a:r>
              <a:t>Dient einander, jeder mit der Gabe, die er empfangen hat, als gute Verwalter der vielfältigen Gnade Gottes.</a:t>
            </a:r>
          </a:p>
          <a:p xmlns:a="http://schemas.openxmlformats.org/drawingml/2006/main">
            <a:r>
              <a:t>Ein Verwalter trägt Verantwortung für das ihm Anvertraute. Anwendung: Die empfangene Gabe dient einem anderen Menschen.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Zeitraum 13–16 Minuten. Folie 5.</a:t>
            </a:r>
          </a:p>
          <a:p xmlns:a="http://schemas.openxmlformats.org/drawingml/2006/main">
            <a:r>
              <a:t>Worte der Lehrkraft: Hört, was der Herr dem Diener mit fünf und dem mit zwei Talenten sagt. Findet die gleichen Worte. Die Anfangsbeträge waren verschieden; beide handelten mit dem Anvertrauten und erhielten Lob für ihre Treue. Was lernen wir daraus, wenn wir uns mit anderen vergleichen?</a:t>
            </a:r>
          </a:p>
          <a:p xmlns:a="http://schemas.openxmlformats.org/drawingml/2006/main">
            <a:r>
              <a:t>Ablauf: Lesen Sie Matthäus 25,21 und 23. Beide Verse stehen auf Seite 3 der Kopiervorlagen. Unterstreichen Sie in Paaren „gut und treu“ und „im Kleinen treu“. Hören Sie eine Antwort zu den Handlungen und eine dazu, warum der geringere Betrag dem zweiten Diener das gleiche Lob nicht verwehrte.</a:t>
            </a:r>
          </a:p>
          <a:p xmlns:a="http://schemas.openxmlformats.org/drawingml/2006/main">
            <a:r>
              <a:t>Frage: Welche Eigenschaft nennt der Herr im Lob für beide Diener?</a:t>
            </a:r>
          </a:p>
          <a:p xmlns:a="http://schemas.openxmlformats.org/drawingml/2006/main">
            <a:r>
              <a:t>Orientierung: Treue. Beide handelten mit dem Anvertrauten und brachten das Hinzugewonnene.</a:t>
            </a:r>
          </a:p>
          <a:p xmlns:a="http://schemas.openxmlformats.org/drawingml/2006/main">
            <a:r>
              <a:t>Rhythmus: 1 Minute Verse; 1 Minute Paarvergleich; 30 Sekunden Antworten; 30 Sekunden Schluss.</a:t>
            </a:r>
          </a:p>
          <a:p xmlns:a="http://schemas.openxmlformats.org/drawingml/2006/main">
            <a:r>
              <a:t/>
            </a:r>
          </a:p>
          <a:p xmlns:a="http://schemas.openxmlformats.org/drawingml/2006/main">
            <a:r>
              <a:t>Vorbereitung und Hinweise für die Lehrkraft</a:t>
            </a:r>
          </a:p>
          <a:p xmlns:a="http://schemas.openxmlformats.org/drawingml/2006/main">
            <a:r>
              <a:t>Drucken Sie Seite 1 für jede Person, Seite 2 einmal, Seiten 3 und 5 für jedes Paar und Seite 4 für jedes Team. Schneiden Sie die Karten mit einem weißen Rand aus. Bereiten Sie einen Umschlag für das versteckte Talent und vier freiwillige Rollen vor. Die übrige Gruppe antwortet mit Gesten.</a:t>
            </a:r>
          </a:p>
          <a:p xmlns:a="http://schemas.openxmlformats.org/drawingml/2006/main">
            <a:r>
              <a:t>Jedes Team braucht Papier, Stifte und gegebenenfalls große Bausteine oder bekanntes Spielmaterial. Die Werkstatt erstellt eine einfache Anleitung und eine kurze Begrüßung. Zeigen Sie die Ergebnistabelle erst nach den Antworten. Persönliche Blätter bleiben bei den Teilnehmenden.</a:t>
            </a:r>
          </a:p>
          <a:p xmlns:a="http://schemas.openxmlformats.org/drawingml/2006/main">
            <a:r>
              <a:t>Verbinden Sie die Teams zur Erprobung paarweise. Bei ungerader Anzahl ist die Lehrkraft Gast im übrigen Team. Ohne Bildschirm können Bilder 01–05 und Zahlen auf der Tafel verwendet werden.</a:t>
            </a:r>
          </a:p>
          <a:p xmlns:a="http://schemas.openxmlformats.org/drawingml/2006/main">
            <a:r>
              <a:t>Lesen Sie zuerst das ganze Gleichnis. Im Text wird Silber anvertraut; Fähigkeiten, Zeit und Aufmerksamkeit sind eine Anwendung des Verantwortungsprinzips. Die „1“ des dritten Dieners beschreibt den Moment seiner Abrechnung. Danach wird das Talent nach Matthäus 25,28 dem gegeben, der zehn hat. Lassen Sie den vollständigen Schluss beim anfänglichen Lesen nicht aus.</a:t>
            </a:r>
          </a:p>
          <a:p xmlns:a="http://schemas.openxmlformats.org/drawingml/2006/main">
            <a:r>
              <a:t>Das gleiche Lob gilt der Treue mit den anvertrauten Mitteln. Vergleichen Sie Handlungen der Figuren. Loben Sie konkrete hilfreiche Beiträge und ausgeführte Schritte der Kinder. Bei „Ich kann nichts“ suchen Sie eine zugängliche Möglichkeit: Zeit, Zuhören, eine Frage, Lernbereitschaft oder Materialvorbereitung. Eine kleine gemeinsame Probe hilft.</a:t>
            </a:r>
          </a:p>
          <a:p xmlns:a="http://schemas.openxmlformats.org/drawingml/2006/main">
            <a:r>
              <a:t>Die Karten regen das Gespräch an; eigene Fähigkeiten und neue Rollen sind möglich. Entscheidend sind der verständliche erste Schritt und die Antwort des Menschen, dem geholfen wird. Wird die Herstellung zu lang, genügen Einladung und ein klarer erster Schritt. Behalten Sie die Erprobung mit dem Gast und den persönlichen Plan bei: Sie zeigen den Übergang zur Handlung.</a:t>
            </a:r>
          </a:p>
          <a:p xmlns:a="http://schemas.openxmlformats.org/drawingml/2006/main">
            <a:r>
              <a:t/>
            </a:r>
          </a:p>
          <a:p xmlns:a="http://schemas.openxmlformats.org/drawingml/2006/main">
            <a:r>
              <a:t>Biblischer Lesetext: Übersetzung des bereitgestellten russischen Textes, keine Ausgabe einer deutschen Bibelübersetzung.</a:t>
            </a:r>
          </a:p>
          <a:p xmlns:a="http://schemas.openxmlformats.org/drawingml/2006/main">
            <a:r>
              <a:t>Matthäus 25,14–30</a:t>
            </a:r>
          </a:p>
          <a:p xmlns:a="http://schemas.openxmlformats.org/drawingml/2006/main">
            <a:r>
              <a:t>14 Denn er wird handeln wie ein Mensch, der in ein fremdes Land reist, seine Sklaven ruft und ihnen sein Vermögen anvertraut:</a:t>
            </a:r>
          </a:p>
          <a:p xmlns:a="http://schemas.openxmlformats.org/drawingml/2006/main">
            <a:r>
              <a:t>15 Dem einen gab er fünf Talente, dem anderen zwei, dem dritten eins, jedem nach seiner Kraft; dann reiste er ab.</a:t>
            </a:r>
          </a:p>
          <a:p xmlns:a="http://schemas.openxmlformats.org/drawingml/2006/main">
            <a:r>
              <a:t>16 Der mit den fünf Talenten ging hin, setzte sie ein und gewann fünf weitere Talente;</a:t>
            </a:r>
          </a:p>
          <a:p xmlns:a="http://schemas.openxmlformats.org/drawingml/2006/main">
            <a:r>
              <a:t>17 Ebenso gewann der mit den zwei Talenten zwei weitere;</a:t>
            </a:r>
          </a:p>
          <a:p xmlns:a="http://schemas.openxmlformats.org/drawingml/2006/main">
            <a:r>
              <a:t>18 Der mit dem einen Talent ging hin, grub ein Loch und verbarg das Silber seines Herrn in der Erde.</a:t>
            </a:r>
          </a:p>
          <a:p xmlns:a="http://schemas.openxmlformats.org/drawingml/2006/main">
            <a:r>
              <a:t>19 Nach langer Zeit kommt der Herr dieser Sklaven und verlangt Rechenschaft.</a:t>
            </a:r>
          </a:p>
          <a:p xmlns:a="http://schemas.openxmlformats.org/drawingml/2006/main">
            <a:r>
              <a:t>20 Der mit den fünf Talenten trat vor, brachte fünf weitere und sagte: „Herr, fünf Talente hast du mir gegeben; hier sind fünf weitere, die ich damit gewonnen habe.“</a:t>
            </a:r>
          </a:p>
          <a:p xmlns:a="http://schemas.openxmlformats.org/drawingml/2006/main">
            <a:r>
              <a:t>21 Sein Herr sagte: „Gut, du guter und treuer Sklave! Im Kleinen warst du treu; über vieles werde ich dich setzen. Geh ein in die Freude deines Herrn.“</a:t>
            </a:r>
          </a:p>
          <a:p xmlns:a="http://schemas.openxmlformats.org/drawingml/2006/main">
            <a:r>
              <a:t>22 Auch der mit den zwei Talenten trat vor und sagte: „Herr, zwei Talente hast du mir gegeben; hier sind zwei weitere, die ich gewonnen habe.“</a:t>
            </a:r>
          </a:p>
          <a:p xmlns:a="http://schemas.openxmlformats.org/drawingml/2006/main">
            <a:r>
              <a:t>23 Sein Herr sagte: „Gut, du guter und treuer Sklave! Im Kleinen warst du treu; über vieles werde ich dich setzen. Geh ein in die Freude deines Herrn.“</a:t>
            </a:r>
          </a:p>
          <a:p xmlns:a="http://schemas.openxmlformats.org/drawingml/2006/main">
            <a:r>
              <a:t>24 Der mit dem einen Talent trat vor und sagte: „Herr, ich wusste, dass du ein harter Mensch bist, der erntet, wo er nicht gesät, und sammelt, wo er nicht ausgestreut hat.</a:t>
            </a:r>
          </a:p>
          <a:p xmlns:a="http://schemas.openxmlformats.org/drawingml/2006/main">
            <a:r>
              <a:t>25 Ich fürchtete mich, ging hin und verbarg dein Talent in der Erde; hier hast du das Deine.“</a:t>
            </a:r>
          </a:p>
          <a:p xmlns:a="http://schemas.openxmlformats.org/drawingml/2006/main">
            <a:r>
              <a:t>26 Sein Herr antwortete: „Du böser und fauler Sklave! Du wusstest, dass ich ernte, wo ich nicht gesät, und sammle, wo ich nicht ausgestreut habe.</a:t>
            </a:r>
          </a:p>
          <a:p xmlns:a="http://schemas.openxmlformats.org/drawingml/2006/main">
            <a:r>
              <a:t>27 Daher hättest du mein Silber den Geldhändlern geben sollen; bei meiner Rückkehr hätte ich das Meine mit Ertrag erhalten.</a:t>
            </a:r>
          </a:p>
          <a:p xmlns:a="http://schemas.openxmlformats.org/drawingml/2006/main">
            <a:r>
              <a:t>28 Nehmt ihm also das Talent und gebt es dem, der zehn hat.</a:t>
            </a:r>
          </a:p>
          <a:p xmlns:a="http://schemas.openxmlformats.org/drawingml/2006/main">
            <a:r>
              <a:t>29 Denn jedem, der hat, wird gegeben und er wird mehr haben; dem, der nicht hat, wird auch genommen, was er hat.</a:t>
            </a:r>
          </a:p>
          <a:p xmlns:a="http://schemas.openxmlformats.org/drawingml/2006/main">
            <a:r>
              <a:t>30 Werft den unnützen Sklaven in die äußere Finsternis; dort wird Weinen und Zähneknirschen sein.“ Nach diesen Worten rief Jesus: Wer Ohren zum Hören hat, der höre!</a:t>
            </a:r>
          </a:p>
          <a:p xmlns:a="http://schemas.openxmlformats.org/drawingml/2006/main">
            <a:r>
              <a:t>1. Petrus 4,10</a:t>
            </a:r>
          </a:p>
          <a:p xmlns:a="http://schemas.openxmlformats.org/drawingml/2006/main">
            <a:r>
              <a:t>Dient einander, jeder mit der Gabe, die er empfangen hat, als gute Verwalter der vielfältigen Gnade Gottes.</a:t>
            </a:r>
          </a:p>
          <a:p xmlns:a="http://schemas.openxmlformats.org/drawingml/2006/main">
            <a:r>
              <a:t>Ein Verwalter trägt Verantwortung für das ihm Anvertraute. Anwendung: Die empfangene Gabe dient einem anderen Menschen.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Minuten. Zeitraum 16–20 Minuten. Folie 6.</a:t>
            </a:r>
          </a:p>
          <a:p xmlns:a="http://schemas.openxmlformats.org/drawingml/2006/main">
            <a:r>
              <a:t>Worte der Lehrkraft: Der dritte Diener sagt, er habe Angst gehabt, und zeigt das versteckte Silber. Der Herr fordert Verantwortung für das Anvertraute. Der Schluss des Gleichnisses ist eine ernste Warnung Jesu. Nun ein anderes, erfundenes Beispiel: Ein Mädchen möchte eine Einladung für einen neuen Mitspieler machen, denkt aber: „Bei anderen wird es schöner.“ Welcher kleine Schritt ist möglich?</a:t>
            </a:r>
          </a:p>
          <a:p xmlns:a="http://schemas.openxmlformats.org/drawingml/2006/main">
            <a:r>
              <a:t>Ablauf: Zeigen Sie Folie 6. Lesen Sie Matthäus 25,24–27 und erinnern Sie daran, dass auch die Verse 28–30 zur vollständig gelesenen Geschichte gehören. Erklären Sie: „Jesus warnt vor der Verantwortung gegenüber Gott für das Anvertraute.“ Trennen Sie das moderne Beispiel von den Worten des Dieners: Die Angst vor dem Vergleich wurde für die Aufgabe erfunden. Eine Person spricht für das Mädchen, die andere bietet Hilfe an: „Schreiben wir zuerst einen verständlichen Satz“ oder „Zeigen wir den Entwurf der Lehrkraft“. Tauschen Sie die Rollen. Bei Lernfehlern kann man Rat suchen, verbessern und weiterlernen.</a:t>
            </a:r>
          </a:p>
          <a:p xmlns:a="http://schemas.openxmlformats.org/drawingml/2006/main">
            <a:r>
              <a:t>Frage: Welche konkrete Bitte hilft der Figur anzufangen?</a:t>
            </a:r>
          </a:p>
          <a:p xmlns:a="http://schemas.openxmlformats.org/drawingml/2006/main">
            <a:r>
              <a:t>Orientierung: „Hilf mir mit dem ersten Satz“, „Schau dir meinen Entwurf an“, „Versuchen wir es zusammen“.</a:t>
            </a:r>
          </a:p>
          <a:p xmlns:a="http://schemas.openxmlformats.org/drawingml/2006/main">
            <a:r>
              <a:t>Rhythmus: 1 Minute Text und Warnung; 30 Sekunden Beispiel; 2 Minuten Dialog mit Rollenwechsel; 30 Sekunden Schluss.</a:t>
            </a:r>
          </a:p>
          <a:p xmlns:a="http://schemas.openxmlformats.org/drawingml/2006/main">
            <a:r>
              <a:t/>
            </a:r>
          </a:p>
          <a:p xmlns:a="http://schemas.openxmlformats.org/drawingml/2006/main">
            <a:r>
              <a:t>Vorbereitung und Hinweise für die Lehrkraft</a:t>
            </a:r>
          </a:p>
          <a:p xmlns:a="http://schemas.openxmlformats.org/drawingml/2006/main">
            <a:r>
              <a:t>Drucken Sie Seite 1 für jede Person, Seite 2 einmal, Seiten 3 und 5 für jedes Paar und Seite 4 für jedes Team. Schneiden Sie die Karten mit einem weißen Rand aus. Bereiten Sie einen Umschlag für das versteckte Talent und vier freiwillige Rollen vor. Die übrige Gruppe antwortet mit Gesten.</a:t>
            </a:r>
          </a:p>
          <a:p xmlns:a="http://schemas.openxmlformats.org/drawingml/2006/main">
            <a:r>
              <a:t>Jedes Team braucht Papier, Stifte und gegebenenfalls große Bausteine oder bekanntes Spielmaterial. Die Werkstatt erstellt eine einfache Anleitung und eine kurze Begrüßung. Zeigen Sie die Ergebnistabelle erst nach den Antworten. Persönliche Blätter bleiben bei den Teilnehmenden.</a:t>
            </a:r>
          </a:p>
          <a:p xmlns:a="http://schemas.openxmlformats.org/drawingml/2006/main">
            <a:r>
              <a:t>Verbinden Sie die Teams zur Erprobung paarweise. Bei ungerader Anzahl ist die Lehrkraft Gast im übrigen Team. Ohne Bildschirm können Bilder 01–05 und Zahlen auf der Tafel verwendet werden.</a:t>
            </a:r>
          </a:p>
          <a:p xmlns:a="http://schemas.openxmlformats.org/drawingml/2006/main">
            <a:r>
              <a:t>Lesen Sie zuerst das ganze Gleichnis. Im Text wird Silber anvertraut; Fähigkeiten, Zeit und Aufmerksamkeit sind eine Anwendung des Verantwortungsprinzips. Die „1“ des dritten Dieners beschreibt den Moment seiner Abrechnung. Danach wird das Talent nach Matthäus 25,28 dem gegeben, der zehn hat. Lassen Sie den vollständigen Schluss beim anfänglichen Lesen nicht aus.</a:t>
            </a:r>
          </a:p>
          <a:p xmlns:a="http://schemas.openxmlformats.org/drawingml/2006/main">
            <a:r>
              <a:t>Das gleiche Lob gilt der Treue mit den anvertrauten Mitteln. Vergleichen Sie Handlungen der Figuren. Loben Sie konkrete hilfreiche Beiträge und ausgeführte Schritte der Kinder. Bei „Ich kann nichts“ suchen Sie eine zugängliche Möglichkeit: Zeit, Zuhören, eine Frage, Lernbereitschaft oder Materialvorbereitung. Eine kleine gemeinsame Probe hilft.</a:t>
            </a:r>
          </a:p>
          <a:p xmlns:a="http://schemas.openxmlformats.org/drawingml/2006/main">
            <a:r>
              <a:t>Die Karten regen das Gespräch an; eigene Fähigkeiten und neue Rollen sind möglich. Entscheidend sind der verständliche erste Schritt und die Antwort des Menschen, dem geholfen wird. Wird die Herstellung zu lang, genügen Einladung und ein klarer erster Schritt. Behalten Sie die Erprobung mit dem Gast und den persönlichen Plan bei: Sie zeigen den Übergang zur Handlung.</a:t>
            </a:r>
          </a:p>
          <a:p xmlns:a="http://schemas.openxmlformats.org/drawingml/2006/main">
            <a:r>
              <a:t/>
            </a:r>
          </a:p>
          <a:p xmlns:a="http://schemas.openxmlformats.org/drawingml/2006/main">
            <a:r>
              <a:t>Biblischer Lesetext: Übersetzung des bereitgestellten russischen Textes, keine Ausgabe einer deutschen Bibelübersetzung.</a:t>
            </a:r>
          </a:p>
          <a:p xmlns:a="http://schemas.openxmlformats.org/drawingml/2006/main">
            <a:r>
              <a:t>Matthäus 25,14–30</a:t>
            </a:r>
          </a:p>
          <a:p xmlns:a="http://schemas.openxmlformats.org/drawingml/2006/main">
            <a:r>
              <a:t>14 Denn er wird handeln wie ein Mensch, der in ein fremdes Land reist, seine Sklaven ruft und ihnen sein Vermögen anvertraut:</a:t>
            </a:r>
          </a:p>
          <a:p xmlns:a="http://schemas.openxmlformats.org/drawingml/2006/main">
            <a:r>
              <a:t>15 Dem einen gab er fünf Talente, dem anderen zwei, dem dritten eins, jedem nach seiner Kraft; dann reiste er ab.</a:t>
            </a:r>
          </a:p>
          <a:p xmlns:a="http://schemas.openxmlformats.org/drawingml/2006/main">
            <a:r>
              <a:t>16 Der mit den fünf Talenten ging hin, setzte sie ein und gewann fünf weitere Talente;</a:t>
            </a:r>
          </a:p>
          <a:p xmlns:a="http://schemas.openxmlformats.org/drawingml/2006/main">
            <a:r>
              <a:t>17 Ebenso gewann der mit den zwei Talenten zwei weitere;</a:t>
            </a:r>
          </a:p>
          <a:p xmlns:a="http://schemas.openxmlformats.org/drawingml/2006/main">
            <a:r>
              <a:t>18 Der mit dem einen Talent ging hin, grub ein Loch und verbarg das Silber seines Herrn in der Erde.</a:t>
            </a:r>
          </a:p>
          <a:p xmlns:a="http://schemas.openxmlformats.org/drawingml/2006/main">
            <a:r>
              <a:t>19 Nach langer Zeit kommt der Herr dieser Sklaven und verlangt Rechenschaft.</a:t>
            </a:r>
          </a:p>
          <a:p xmlns:a="http://schemas.openxmlformats.org/drawingml/2006/main">
            <a:r>
              <a:t>20 Der mit den fünf Talenten trat vor, brachte fünf weitere und sagte: „Herr, fünf Talente hast du mir gegeben; hier sind fünf weitere, die ich damit gewonnen habe.“</a:t>
            </a:r>
          </a:p>
          <a:p xmlns:a="http://schemas.openxmlformats.org/drawingml/2006/main">
            <a:r>
              <a:t>21 Sein Herr sagte: „Gut, du guter und treuer Sklave! Im Kleinen warst du treu; über vieles werde ich dich setzen. Geh ein in die Freude deines Herrn.“</a:t>
            </a:r>
          </a:p>
          <a:p xmlns:a="http://schemas.openxmlformats.org/drawingml/2006/main">
            <a:r>
              <a:t>22 Auch der mit den zwei Talenten trat vor und sagte: „Herr, zwei Talente hast du mir gegeben; hier sind zwei weitere, die ich gewonnen habe.“</a:t>
            </a:r>
          </a:p>
          <a:p xmlns:a="http://schemas.openxmlformats.org/drawingml/2006/main">
            <a:r>
              <a:t>23 Sein Herr sagte: „Gut, du guter und treuer Sklave! Im Kleinen warst du treu; über vieles werde ich dich setzen. Geh ein in die Freude deines Herrn.“</a:t>
            </a:r>
          </a:p>
          <a:p xmlns:a="http://schemas.openxmlformats.org/drawingml/2006/main">
            <a:r>
              <a:t>24 Der mit dem einen Talent trat vor und sagte: „Herr, ich wusste, dass du ein harter Mensch bist, der erntet, wo er nicht gesät, und sammelt, wo er nicht ausgestreut hat.</a:t>
            </a:r>
          </a:p>
          <a:p xmlns:a="http://schemas.openxmlformats.org/drawingml/2006/main">
            <a:r>
              <a:t>25 Ich fürchtete mich, ging hin und verbarg dein Talent in der Erde; hier hast du das Deine.“</a:t>
            </a:r>
          </a:p>
          <a:p xmlns:a="http://schemas.openxmlformats.org/drawingml/2006/main">
            <a:r>
              <a:t>26 Sein Herr antwortete: „Du böser und fauler Sklave! Du wusstest, dass ich ernte, wo ich nicht gesät, und sammle, wo ich nicht ausgestreut habe.</a:t>
            </a:r>
          </a:p>
          <a:p xmlns:a="http://schemas.openxmlformats.org/drawingml/2006/main">
            <a:r>
              <a:t>27 Daher hättest du mein Silber den Geldhändlern geben sollen; bei meiner Rückkehr hätte ich das Meine mit Ertrag erhalten.</a:t>
            </a:r>
          </a:p>
          <a:p xmlns:a="http://schemas.openxmlformats.org/drawingml/2006/main">
            <a:r>
              <a:t>28 Nehmt ihm also das Talent und gebt es dem, der zehn hat.</a:t>
            </a:r>
          </a:p>
          <a:p xmlns:a="http://schemas.openxmlformats.org/drawingml/2006/main">
            <a:r>
              <a:t>29 Denn jedem, der hat, wird gegeben und er wird mehr haben; dem, der nicht hat, wird auch genommen, was er hat.</a:t>
            </a:r>
          </a:p>
          <a:p xmlns:a="http://schemas.openxmlformats.org/drawingml/2006/main">
            <a:r>
              <a:t>30 Werft den unnützen Sklaven in die äußere Finsternis; dort wird Weinen und Zähneknirschen sein.“ Nach diesen Worten rief Jesus: Wer Ohren zum Hören hat, der höre!</a:t>
            </a:r>
          </a:p>
          <a:p xmlns:a="http://schemas.openxmlformats.org/drawingml/2006/main">
            <a:r>
              <a:t>1. Petrus 4,10</a:t>
            </a:r>
          </a:p>
          <a:p xmlns:a="http://schemas.openxmlformats.org/drawingml/2006/main">
            <a:r>
              <a:t>Dient einander, jeder mit der Gabe, die er empfangen hat, als gute Verwalter der vielfältigen Gnade Gottes.</a:t>
            </a:r>
          </a:p>
          <a:p xmlns:a="http://schemas.openxmlformats.org/drawingml/2006/main">
            <a:r>
              <a:t>Ein Verwalter trägt Verantwortung für das ihm Anvertraute. Anwendung: Die empfangene Gabe dient einem anderen Menschen.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Minuten. Zeitraum 20–24 Minuten. Folie 7.</a:t>
            </a:r>
          </a:p>
          <a:p xmlns:a="http://schemas.openxmlformats.org/drawingml/2006/main">
            <a:r>
              <a:t>Worte der Lehrkraft: Hilfreich sind ein Bild, eine verständliche Erklärung, aufmerksames Zuhören oder das Bemerken einer Schwierigkeit. Man kann mit etwas anfangen, das man noch lernt. Wählt eine Karte für eine eigene Möglichkeit und eine für etwas, das ihr entwickeln möchtet. Wem hilft das?</a:t>
            </a:r>
          </a:p>
          <a:p xmlns:a="http://schemas.openxmlformats.org/drawingml/2006/main">
            <a:r>
              <a:t>Ablauf: Legen Sie sechs Möglichkeiten-Karten von Seite 4 auf jeden Gruppentisch. Jeder schreibt auf sein persönliches Blatt „Mir gelingt schon …“ und „Ich möchte lernen …“. Helfen Sie bei Bedarf mit kleinen Beispielen: eine Regel erklären, eine Frage anhören, Material vorbereiten. Im Paar wird benannt, wem das hilft. Das Bild von Folie 7 zeigt verschiedene Tätigkeiten in einer symbolischen Umgebung.</a:t>
            </a:r>
          </a:p>
          <a:p xmlns:a="http://schemas.openxmlformats.org/drawingml/2006/main">
            <a:r>
              <a:t>Frage: Wie kann jemand helfen, der Details bemerkt?</a:t>
            </a:r>
          </a:p>
          <a:p xmlns:a="http://schemas.openxmlformats.org/drawingml/2006/main">
            <a:r>
              <a:t>Orientierung: Material prüfen, eine unklare Anweisung entdecken, die Frage eines neuen Mitspielers genauer klären.</a:t>
            </a:r>
          </a:p>
          <a:p xmlns:a="http://schemas.openxmlformats.org/drawingml/2006/main">
            <a:r>
              <a:t>Rhythmus: 30 Sekunden Beispiele; 1,5 Minuten Wahl und Notiz; 1 Minute Anwendung im Paar; 1 Minute einzelne Antworten.</a:t>
            </a:r>
          </a:p>
          <a:p xmlns:a="http://schemas.openxmlformats.org/drawingml/2006/main">
            <a:r>
              <a:t/>
            </a:r>
          </a:p>
          <a:p xmlns:a="http://schemas.openxmlformats.org/drawingml/2006/main">
            <a:r>
              <a:t>Vorbereitung und Hinweise für die Lehrkraft</a:t>
            </a:r>
          </a:p>
          <a:p xmlns:a="http://schemas.openxmlformats.org/drawingml/2006/main">
            <a:r>
              <a:t>Drucken Sie Seite 1 für jede Person, Seite 2 einmal, Seiten 3 und 5 für jedes Paar und Seite 4 für jedes Team. Schneiden Sie die Karten mit einem weißen Rand aus. Bereiten Sie einen Umschlag für das versteckte Talent und vier freiwillige Rollen vor. Die übrige Gruppe antwortet mit Gesten.</a:t>
            </a:r>
          </a:p>
          <a:p xmlns:a="http://schemas.openxmlformats.org/drawingml/2006/main">
            <a:r>
              <a:t>Jedes Team braucht Papier, Stifte und gegebenenfalls große Bausteine oder bekanntes Spielmaterial. Die Werkstatt erstellt eine einfache Anleitung und eine kurze Begrüßung. Zeigen Sie die Ergebnistabelle erst nach den Antworten. Persönliche Blätter bleiben bei den Teilnehmenden.</a:t>
            </a:r>
          </a:p>
          <a:p xmlns:a="http://schemas.openxmlformats.org/drawingml/2006/main">
            <a:r>
              <a:t>Verbinden Sie die Teams zur Erprobung paarweise. Bei ungerader Anzahl ist die Lehrkraft Gast im übrigen Team. Ohne Bildschirm können Bilder 01–05 und Zahlen auf der Tafel verwendet werden.</a:t>
            </a:r>
          </a:p>
          <a:p xmlns:a="http://schemas.openxmlformats.org/drawingml/2006/main">
            <a:r>
              <a:t>Lesen Sie zuerst das ganze Gleichnis. Im Text wird Silber anvertraut; Fähigkeiten, Zeit und Aufmerksamkeit sind eine Anwendung des Verantwortungsprinzips. Die „1“ des dritten Dieners beschreibt den Moment seiner Abrechnung. Danach wird das Talent nach Matthäus 25,28 dem gegeben, der zehn hat. Lassen Sie den vollständigen Schluss beim anfänglichen Lesen nicht aus.</a:t>
            </a:r>
          </a:p>
          <a:p xmlns:a="http://schemas.openxmlformats.org/drawingml/2006/main">
            <a:r>
              <a:t>Das gleiche Lob gilt der Treue mit den anvertrauten Mitteln. Vergleichen Sie Handlungen der Figuren. Loben Sie konkrete hilfreiche Beiträge und ausgeführte Schritte der Kinder. Bei „Ich kann nichts“ suchen Sie eine zugängliche Möglichkeit: Zeit, Zuhören, eine Frage, Lernbereitschaft oder Materialvorbereitung. Eine kleine gemeinsame Probe hilft.</a:t>
            </a:r>
          </a:p>
          <a:p xmlns:a="http://schemas.openxmlformats.org/drawingml/2006/main">
            <a:r>
              <a:t>Die Karten regen das Gespräch an; eigene Fähigkeiten und neue Rollen sind möglich. Entscheidend sind der verständliche erste Schritt und die Antwort des Menschen, dem geholfen wird. Wird die Herstellung zu lang, genügen Einladung und ein klarer erster Schritt. Behalten Sie die Erprobung mit dem Gast und den persönlichen Plan bei: Sie zeigen den Übergang zur Handlung.</a:t>
            </a:r>
          </a:p>
          <a:p xmlns:a="http://schemas.openxmlformats.org/drawingml/2006/main">
            <a:r>
              <a:t/>
            </a:r>
          </a:p>
          <a:p xmlns:a="http://schemas.openxmlformats.org/drawingml/2006/main">
            <a:r>
              <a:t>Biblischer Lesetext: Übersetzung des bereitgestellten russischen Textes, keine Ausgabe einer deutschen Bibelübersetzung.</a:t>
            </a:r>
          </a:p>
          <a:p xmlns:a="http://schemas.openxmlformats.org/drawingml/2006/main">
            <a:r>
              <a:t>Matthäus 25,14–30</a:t>
            </a:r>
          </a:p>
          <a:p xmlns:a="http://schemas.openxmlformats.org/drawingml/2006/main">
            <a:r>
              <a:t>14 Denn er wird handeln wie ein Mensch, der in ein fremdes Land reist, seine Sklaven ruft und ihnen sein Vermögen anvertraut:</a:t>
            </a:r>
          </a:p>
          <a:p xmlns:a="http://schemas.openxmlformats.org/drawingml/2006/main">
            <a:r>
              <a:t>15 Dem einen gab er fünf Talente, dem anderen zwei, dem dritten eins, jedem nach seiner Kraft; dann reiste er ab.</a:t>
            </a:r>
          </a:p>
          <a:p xmlns:a="http://schemas.openxmlformats.org/drawingml/2006/main">
            <a:r>
              <a:t>16 Der mit den fünf Talenten ging hin, setzte sie ein und gewann fünf weitere Talente;</a:t>
            </a:r>
          </a:p>
          <a:p xmlns:a="http://schemas.openxmlformats.org/drawingml/2006/main">
            <a:r>
              <a:t>17 Ebenso gewann der mit den zwei Talenten zwei weitere;</a:t>
            </a:r>
          </a:p>
          <a:p xmlns:a="http://schemas.openxmlformats.org/drawingml/2006/main">
            <a:r>
              <a:t>18 Der mit dem einen Talent ging hin, grub ein Loch und verbarg das Silber seines Herrn in der Erde.</a:t>
            </a:r>
          </a:p>
          <a:p xmlns:a="http://schemas.openxmlformats.org/drawingml/2006/main">
            <a:r>
              <a:t>19 Nach langer Zeit kommt der Herr dieser Sklaven und verlangt Rechenschaft.</a:t>
            </a:r>
          </a:p>
          <a:p xmlns:a="http://schemas.openxmlformats.org/drawingml/2006/main">
            <a:r>
              <a:t>20 Der mit den fünf Talenten trat vor, brachte fünf weitere und sagte: „Herr, fünf Talente hast du mir gegeben; hier sind fünf weitere, die ich damit gewonnen habe.“</a:t>
            </a:r>
          </a:p>
          <a:p xmlns:a="http://schemas.openxmlformats.org/drawingml/2006/main">
            <a:r>
              <a:t>21 Sein Herr sagte: „Gut, du guter und treuer Sklave! Im Kleinen warst du treu; über vieles werde ich dich setzen. Geh ein in die Freude deines Herrn.“</a:t>
            </a:r>
          </a:p>
          <a:p xmlns:a="http://schemas.openxmlformats.org/drawingml/2006/main">
            <a:r>
              <a:t>22 Auch der mit den zwei Talenten trat vor und sagte: „Herr, zwei Talente hast du mir gegeben; hier sind zwei weitere, die ich gewonnen habe.“</a:t>
            </a:r>
          </a:p>
          <a:p xmlns:a="http://schemas.openxmlformats.org/drawingml/2006/main">
            <a:r>
              <a:t>23 Sein Herr sagte: „Gut, du guter und treuer Sklave! Im Kleinen warst du treu; über vieles werde ich dich setzen. Geh ein in die Freude deines Herrn.“</a:t>
            </a:r>
          </a:p>
          <a:p xmlns:a="http://schemas.openxmlformats.org/drawingml/2006/main">
            <a:r>
              <a:t>24 Der mit dem einen Talent trat vor und sagte: „Herr, ich wusste, dass du ein harter Mensch bist, der erntet, wo er nicht gesät, und sammelt, wo er nicht ausgestreut hat.</a:t>
            </a:r>
          </a:p>
          <a:p xmlns:a="http://schemas.openxmlformats.org/drawingml/2006/main">
            <a:r>
              <a:t>25 Ich fürchtete mich, ging hin und verbarg dein Talent in der Erde; hier hast du das Deine.“</a:t>
            </a:r>
          </a:p>
          <a:p xmlns:a="http://schemas.openxmlformats.org/drawingml/2006/main">
            <a:r>
              <a:t>26 Sein Herr antwortete: „Du böser und fauler Sklave! Du wusstest, dass ich ernte, wo ich nicht gesät, und sammle, wo ich nicht ausgestreut habe.</a:t>
            </a:r>
          </a:p>
          <a:p xmlns:a="http://schemas.openxmlformats.org/drawingml/2006/main">
            <a:r>
              <a:t>27 Daher hättest du mein Silber den Geldhändlern geben sollen; bei meiner Rückkehr hätte ich das Meine mit Ertrag erhalten.</a:t>
            </a:r>
          </a:p>
          <a:p xmlns:a="http://schemas.openxmlformats.org/drawingml/2006/main">
            <a:r>
              <a:t>28 Nehmt ihm also das Talent und gebt es dem, der zehn hat.</a:t>
            </a:r>
          </a:p>
          <a:p xmlns:a="http://schemas.openxmlformats.org/drawingml/2006/main">
            <a:r>
              <a:t>29 Denn jedem, der hat, wird gegeben und er wird mehr haben; dem, der nicht hat, wird auch genommen, was er hat.</a:t>
            </a:r>
          </a:p>
          <a:p xmlns:a="http://schemas.openxmlformats.org/drawingml/2006/main">
            <a:r>
              <a:t>30 Werft den unnützen Sklaven in die äußere Finsternis; dort wird Weinen und Zähneknirschen sein.“ Nach diesen Worten rief Jesus: Wer Ohren zum Hören hat, der höre!</a:t>
            </a:r>
          </a:p>
          <a:p xmlns:a="http://schemas.openxmlformats.org/drawingml/2006/main">
            <a:r>
              <a:t>1. Petrus 4,10</a:t>
            </a:r>
          </a:p>
          <a:p xmlns:a="http://schemas.openxmlformats.org/drawingml/2006/main">
            <a:r>
              <a:t>Dient einander, jeder mit der Gabe, die er empfangen hat, als gute Verwalter der vielfältigen Gnade Gottes.</a:t>
            </a:r>
          </a:p>
          <a:p xmlns:a="http://schemas.openxmlformats.org/drawingml/2006/main">
            <a:r>
              <a:t>Ein Verwalter trägt Verantwortung für das ihm Anvertraute. Anwendung: Die empfangene Gabe dient einem anderen Menschen.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Zeitraum 24–27 Minuten. Folie 8.</a:t>
            </a:r>
          </a:p>
          <a:p xmlns:a="http://schemas.openxmlformats.org/drawingml/2006/main">
            <a:r>
              <a:t>Worte der Lehrkraft: Petrus schreibt: „Dient einander, jeder mit der Gabe, die er empfangen hat.“ Zuerst erfahren wir, was der Mensch braucht. Ein Helfer fragt: „Was hilft dir, mitzumachen?“ Die andere Person nimmt eine Karte des neuen Mitspielers und antwortet. Dann bietet der Helfer einen konkreten Schritt an.</a:t>
            </a:r>
          </a:p>
          <a:p xmlns:a="http://schemas.openxmlformats.org/drawingml/2006/main">
            <a:r>
              <a:t>Ablauf: Lesen Sie 1. Petrus 4,10 vollständig aus dem Anhang. Zeigen Sie Folie 8. Geben Sie jedem Paar zwei Karten von Seite 5: „Ich möchte die Spielregeln verstehen“ und „Ich möchte die anderen kennenlernen“. Eine Person wählt die Antwort des neuen Mitspielers, die andere fragt nach und bietet Hilfe. Tauschen Sie nach einer Minute die Rollen. Beispiele: Eine Regel erklären und den ersten Zug zeigen; mit einem Mitspieler bekannt machen.</a:t>
            </a:r>
          </a:p>
          <a:p xmlns:a="http://schemas.openxmlformats.org/drawingml/2006/main">
            <a:r>
              <a:t>Frage: Warum sollten wir zuerst nach dem Bedarf fragen, bevor wir unsere Fähigkeit anbieten?</a:t>
            </a:r>
          </a:p>
          <a:p xmlns:a="http://schemas.openxmlformats.org/drawingml/2006/main">
            <a:r>
              <a:t>Orientierung: Damit die Hilfe zur tatsächlichen Frage passt und angenommen werden kann.</a:t>
            </a:r>
          </a:p>
          <a:p xmlns:a="http://schemas.openxmlformats.org/drawingml/2006/main">
            <a:r>
              <a:t>Rhythmus: 30 Sekunden Vers; 30 Sekunden Rollen; 1 Minute erster Dialog; 1 Minute Rollenwechsel und Schluss.</a:t>
            </a:r>
          </a:p>
          <a:p xmlns:a="http://schemas.openxmlformats.org/drawingml/2006/main">
            <a:r>
              <a:t/>
            </a:r>
          </a:p>
          <a:p xmlns:a="http://schemas.openxmlformats.org/drawingml/2006/main">
            <a:r>
              <a:t>Vorbereitung und Hinweise für die Lehrkraft</a:t>
            </a:r>
          </a:p>
          <a:p xmlns:a="http://schemas.openxmlformats.org/drawingml/2006/main">
            <a:r>
              <a:t>Drucken Sie Seite 1 für jede Person, Seite 2 einmal, Seiten 3 und 5 für jedes Paar und Seite 4 für jedes Team. Schneiden Sie die Karten mit einem weißen Rand aus. Bereiten Sie einen Umschlag für das versteckte Talent und vier freiwillige Rollen vor. Die übrige Gruppe antwortet mit Gesten.</a:t>
            </a:r>
          </a:p>
          <a:p xmlns:a="http://schemas.openxmlformats.org/drawingml/2006/main">
            <a:r>
              <a:t>Jedes Team braucht Papier, Stifte und gegebenenfalls große Bausteine oder bekanntes Spielmaterial. Die Werkstatt erstellt eine einfache Anleitung und eine kurze Begrüßung. Zeigen Sie die Ergebnistabelle erst nach den Antworten. Persönliche Blätter bleiben bei den Teilnehmenden.</a:t>
            </a:r>
          </a:p>
          <a:p xmlns:a="http://schemas.openxmlformats.org/drawingml/2006/main">
            <a:r>
              <a:t>Verbinden Sie die Teams zur Erprobung paarweise. Bei ungerader Anzahl ist die Lehrkraft Gast im übrigen Team. Ohne Bildschirm können Bilder 01–05 und Zahlen auf der Tafel verwendet werden.</a:t>
            </a:r>
          </a:p>
          <a:p xmlns:a="http://schemas.openxmlformats.org/drawingml/2006/main">
            <a:r>
              <a:t>Lesen Sie zuerst das ganze Gleichnis. Im Text wird Silber anvertraut; Fähigkeiten, Zeit und Aufmerksamkeit sind eine Anwendung des Verantwortungsprinzips. Die „1“ des dritten Dieners beschreibt den Moment seiner Abrechnung. Danach wird das Talent nach Matthäus 25,28 dem gegeben, der zehn hat. Lassen Sie den vollständigen Schluss beim anfänglichen Lesen nicht aus.</a:t>
            </a:r>
          </a:p>
          <a:p xmlns:a="http://schemas.openxmlformats.org/drawingml/2006/main">
            <a:r>
              <a:t>Das gleiche Lob gilt der Treue mit den anvertrauten Mitteln. Vergleichen Sie Handlungen der Figuren. Loben Sie konkrete hilfreiche Beiträge und ausgeführte Schritte der Kinder. Bei „Ich kann nichts“ suchen Sie eine zugängliche Möglichkeit: Zeit, Zuhören, eine Frage, Lernbereitschaft oder Materialvorbereitung. Eine kleine gemeinsame Probe hilft.</a:t>
            </a:r>
          </a:p>
          <a:p xmlns:a="http://schemas.openxmlformats.org/drawingml/2006/main">
            <a:r>
              <a:t>Die Karten regen das Gespräch an; eigene Fähigkeiten und neue Rollen sind möglich. Entscheidend sind der verständliche erste Schritt und die Antwort des Menschen, dem geholfen wird. Wird die Herstellung zu lang, genügen Einladung und ein klarer erster Schritt. Behalten Sie die Erprobung mit dem Gast und den persönlichen Plan bei: Sie zeigen den Übergang zur Handlung.</a:t>
            </a:r>
          </a:p>
          <a:p xmlns:a="http://schemas.openxmlformats.org/drawingml/2006/main">
            <a:r>
              <a:t/>
            </a:r>
          </a:p>
          <a:p xmlns:a="http://schemas.openxmlformats.org/drawingml/2006/main">
            <a:r>
              <a:t>Biblischer Lesetext: Übersetzung des bereitgestellten russischen Textes, keine Ausgabe einer deutschen Bibelübersetzung.</a:t>
            </a:r>
          </a:p>
          <a:p xmlns:a="http://schemas.openxmlformats.org/drawingml/2006/main">
            <a:r>
              <a:t>Matthäus 25,14–30</a:t>
            </a:r>
          </a:p>
          <a:p xmlns:a="http://schemas.openxmlformats.org/drawingml/2006/main">
            <a:r>
              <a:t>14 Denn er wird handeln wie ein Mensch, der in ein fremdes Land reist, seine Sklaven ruft und ihnen sein Vermögen anvertraut:</a:t>
            </a:r>
          </a:p>
          <a:p xmlns:a="http://schemas.openxmlformats.org/drawingml/2006/main">
            <a:r>
              <a:t>15 Dem einen gab er fünf Talente, dem anderen zwei, dem dritten eins, jedem nach seiner Kraft; dann reiste er ab.</a:t>
            </a:r>
          </a:p>
          <a:p xmlns:a="http://schemas.openxmlformats.org/drawingml/2006/main">
            <a:r>
              <a:t>16 Der mit den fünf Talenten ging hin, setzte sie ein und gewann fünf weitere Talente;</a:t>
            </a:r>
          </a:p>
          <a:p xmlns:a="http://schemas.openxmlformats.org/drawingml/2006/main">
            <a:r>
              <a:t>17 Ebenso gewann der mit den zwei Talenten zwei weitere;</a:t>
            </a:r>
          </a:p>
          <a:p xmlns:a="http://schemas.openxmlformats.org/drawingml/2006/main">
            <a:r>
              <a:t>18 Der mit dem einen Talent ging hin, grub ein Loch und verbarg das Silber seines Herrn in der Erde.</a:t>
            </a:r>
          </a:p>
          <a:p xmlns:a="http://schemas.openxmlformats.org/drawingml/2006/main">
            <a:r>
              <a:t>19 Nach langer Zeit kommt der Herr dieser Sklaven und verlangt Rechenschaft.</a:t>
            </a:r>
          </a:p>
          <a:p xmlns:a="http://schemas.openxmlformats.org/drawingml/2006/main">
            <a:r>
              <a:t>20 Der mit den fünf Talenten trat vor, brachte fünf weitere und sagte: „Herr, fünf Talente hast du mir gegeben; hier sind fünf weitere, die ich damit gewonnen habe.“</a:t>
            </a:r>
          </a:p>
          <a:p xmlns:a="http://schemas.openxmlformats.org/drawingml/2006/main">
            <a:r>
              <a:t>21 Sein Herr sagte: „Gut, du guter und treuer Sklave! Im Kleinen warst du treu; über vieles werde ich dich setzen. Geh ein in die Freude deines Herrn.“</a:t>
            </a:r>
          </a:p>
          <a:p xmlns:a="http://schemas.openxmlformats.org/drawingml/2006/main">
            <a:r>
              <a:t>22 Auch der mit den zwei Talenten trat vor und sagte: „Herr, zwei Talente hast du mir gegeben; hier sind zwei weitere, die ich gewonnen habe.“</a:t>
            </a:r>
          </a:p>
          <a:p xmlns:a="http://schemas.openxmlformats.org/drawingml/2006/main">
            <a:r>
              <a:t>23 Sein Herr sagte: „Gut, du guter und treuer Sklave! Im Kleinen warst du treu; über vieles werde ich dich setzen. Geh ein in die Freude deines Herrn.“</a:t>
            </a:r>
          </a:p>
          <a:p xmlns:a="http://schemas.openxmlformats.org/drawingml/2006/main">
            <a:r>
              <a:t>24 Der mit dem einen Talent trat vor und sagte: „Herr, ich wusste, dass du ein harter Mensch bist, der erntet, wo er nicht gesät, und sammelt, wo er nicht ausgestreut hat.</a:t>
            </a:r>
          </a:p>
          <a:p xmlns:a="http://schemas.openxmlformats.org/drawingml/2006/main">
            <a:r>
              <a:t>25 Ich fürchtete mich, ging hin und verbarg dein Talent in der Erde; hier hast du das Deine.“</a:t>
            </a:r>
          </a:p>
          <a:p xmlns:a="http://schemas.openxmlformats.org/drawingml/2006/main">
            <a:r>
              <a:t>26 Sein Herr antwortete: „Du böser und fauler Sklave! Du wusstest, dass ich ernte, wo ich nicht gesät, und sammle, wo ich nicht ausgestreut habe.</a:t>
            </a:r>
          </a:p>
          <a:p xmlns:a="http://schemas.openxmlformats.org/drawingml/2006/main">
            <a:r>
              <a:t>27 Daher hättest du mein Silber den Geldhändlern geben sollen; bei meiner Rückkehr hätte ich das Meine mit Ertrag erhalten.</a:t>
            </a:r>
          </a:p>
          <a:p xmlns:a="http://schemas.openxmlformats.org/drawingml/2006/main">
            <a:r>
              <a:t>28 Nehmt ihm also das Talent und gebt es dem, der zehn hat.</a:t>
            </a:r>
          </a:p>
          <a:p xmlns:a="http://schemas.openxmlformats.org/drawingml/2006/main">
            <a:r>
              <a:t>29 Denn jedem, der hat, wird gegeben und er wird mehr haben; dem, der nicht hat, wird auch genommen, was er hat.</a:t>
            </a:r>
          </a:p>
          <a:p xmlns:a="http://schemas.openxmlformats.org/drawingml/2006/main">
            <a:r>
              <a:t>30 Werft den unnützen Sklaven in die äußere Finsternis; dort wird Weinen und Zähneknirschen sein.“ Nach diesen Worten rief Jesus: Wer Ohren zum Hören hat, der höre!</a:t>
            </a:r>
          </a:p>
          <a:p xmlns:a="http://schemas.openxmlformats.org/drawingml/2006/main">
            <a:r>
              <a:t>1. Petrus 4,10</a:t>
            </a:r>
          </a:p>
          <a:p xmlns:a="http://schemas.openxmlformats.org/drawingml/2006/main">
            <a:r>
              <a:t>Dient einander, jeder mit der Gabe, die er empfangen hat, als gute Verwalter der vielfältigen Gnade Gottes.</a:t>
            </a:r>
          </a:p>
          <a:p xmlns:a="http://schemas.openxmlformats.org/drawingml/2006/main">
            <a:r>
              <a:t>Ein Verwalter trägt Verantwortung für das ihm Anvertraute. Anwendung: Die empfangene Gabe dient einem anderen Menschen.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Minuten. Zeitraum 27–33 Minuten. Folie 9.</a:t>
            </a:r>
          </a:p>
          <a:p xmlns:a="http://schemas.openxmlformats.org/drawingml/2006/main">
            <a:r>
              <a:t>Worte der Lehrkraft: Wir setzen unsere Möglichkeiten für eine gemeinsame Aufgabe ein. Ein neuer Mitspieler möchte mitmachen und bittet um eine verständliche Erklärung des Anfangs. Erstellt eine kleine Einladung mit zwei klaren Schritten und eine Begrüßung von einer halben Minute. Jeder trägt bei: empfangen, erklären, gestalten oder Verständlichkeit prüfen.</a:t>
            </a:r>
          </a:p>
          <a:p xmlns:a="http://schemas.openxmlformats.org/drawingml/2006/main">
            <a:r>
              <a:t>Ablauf: Bilden Sie höchstens fünf Teams mit je 3–4 Personen. Verteilen Sie Papier, Stifte und die Aufgabe von Seite 4. Die Teams wählen ein einfaches, allen bekanntes Spiel. Auf das Blatt kommen Name, Einladung und zwei erste Schritte. Beispiel: „Möchtest du mit uns ein Bild gestalten? 1. Wähle einen Stift. 2. Zeichne ein Detail zum gemeinsamen Bild.“ Die Rollen werden selbst gewählt; bei drei Personen werden Gestaltung und Prüfung verbunden. Geben Sie vier Minuten zur Herstellung und eine Minute zur Begrüßungsprobe. Fragen Sie: „Versteht die Person, was sie zuerst tun soll?“</a:t>
            </a:r>
          </a:p>
          <a:p xmlns:a="http://schemas.openxmlformats.org/drawingml/2006/main">
            <a:r>
              <a:t>Frage: Welchen Bedarf des neuen Mitspielers erfüllt eure Arbeit?</a:t>
            </a:r>
          </a:p>
          <a:p xmlns:a="http://schemas.openxmlformats.org/drawingml/2006/main">
            <a:r>
              <a:t>Orientierung: Sie zeigt, wie und wo man anfangen kann. Jeder Beitrag unterstützt die gemeinsame Aufgabe.</a:t>
            </a:r>
          </a:p>
          <a:p xmlns:a="http://schemas.openxmlformats.org/drawingml/2006/main">
            <a:r>
              <a:t>Rhythmus: 1 Minute Aufgabe und Rollen; 4 Minuten Herstellung; 1 Minute Probe im Team.</a:t>
            </a:r>
          </a:p>
          <a:p xmlns:a="http://schemas.openxmlformats.org/drawingml/2006/main">
            <a:r>
              <a:t/>
            </a:r>
          </a:p>
          <a:p xmlns:a="http://schemas.openxmlformats.org/drawingml/2006/main">
            <a:r>
              <a:t>Vorbereitung und Hinweise für die Lehrkraft</a:t>
            </a:r>
          </a:p>
          <a:p xmlns:a="http://schemas.openxmlformats.org/drawingml/2006/main">
            <a:r>
              <a:t>Drucken Sie Seite 1 für jede Person, Seite 2 einmal, Seiten 3 und 5 für jedes Paar und Seite 4 für jedes Team. Schneiden Sie die Karten mit einem weißen Rand aus. Bereiten Sie einen Umschlag für das versteckte Talent und vier freiwillige Rollen vor. Die übrige Gruppe antwortet mit Gesten.</a:t>
            </a:r>
          </a:p>
          <a:p xmlns:a="http://schemas.openxmlformats.org/drawingml/2006/main">
            <a:r>
              <a:t>Jedes Team braucht Papier, Stifte und gegebenenfalls große Bausteine oder bekanntes Spielmaterial. Die Werkstatt erstellt eine einfache Anleitung und eine kurze Begrüßung. Zeigen Sie die Ergebnistabelle erst nach den Antworten. Persönliche Blätter bleiben bei den Teilnehmenden.</a:t>
            </a:r>
          </a:p>
          <a:p xmlns:a="http://schemas.openxmlformats.org/drawingml/2006/main">
            <a:r>
              <a:t>Verbinden Sie die Teams zur Erprobung paarweise. Bei ungerader Anzahl ist die Lehrkraft Gast im übrigen Team. Ohne Bildschirm können Bilder 01–05 und Zahlen auf der Tafel verwendet werden.</a:t>
            </a:r>
          </a:p>
          <a:p xmlns:a="http://schemas.openxmlformats.org/drawingml/2006/main">
            <a:r>
              <a:t>Lesen Sie zuerst das ganze Gleichnis. Im Text wird Silber anvertraut; Fähigkeiten, Zeit und Aufmerksamkeit sind eine Anwendung des Verantwortungsprinzips. Die „1“ des dritten Dieners beschreibt den Moment seiner Abrechnung. Danach wird das Talent nach Matthäus 25,28 dem gegeben, der zehn hat. Lassen Sie den vollständigen Schluss beim anfänglichen Lesen nicht aus.</a:t>
            </a:r>
          </a:p>
          <a:p xmlns:a="http://schemas.openxmlformats.org/drawingml/2006/main">
            <a:r>
              <a:t>Das gleiche Lob gilt der Treue mit den anvertrauten Mitteln. Vergleichen Sie Handlungen der Figuren. Loben Sie konkrete hilfreiche Beiträge und ausgeführte Schritte der Kinder. Bei „Ich kann nichts“ suchen Sie eine zugängliche Möglichkeit: Zeit, Zuhören, eine Frage, Lernbereitschaft oder Materialvorbereitung. Eine kleine gemeinsame Probe hilft.</a:t>
            </a:r>
          </a:p>
          <a:p xmlns:a="http://schemas.openxmlformats.org/drawingml/2006/main">
            <a:r>
              <a:t>Die Karten regen das Gespräch an; eigene Fähigkeiten und neue Rollen sind möglich. Entscheidend sind der verständliche erste Schritt und die Antwort des Menschen, dem geholfen wird. Wird die Herstellung zu lang, genügen Einladung und ein klarer erster Schritt. Behalten Sie die Erprobung mit dem Gast und den persönlichen Plan bei: Sie zeigen den Übergang zur Handlung.</a:t>
            </a:r>
          </a:p>
          <a:p xmlns:a="http://schemas.openxmlformats.org/drawingml/2006/main">
            <a:r>
              <a:t/>
            </a:r>
          </a:p>
          <a:p xmlns:a="http://schemas.openxmlformats.org/drawingml/2006/main">
            <a:r>
              <a:t>Biblischer Lesetext: Übersetzung des bereitgestellten russischen Textes, keine Ausgabe einer deutschen Bibelübersetzung.</a:t>
            </a:r>
          </a:p>
          <a:p xmlns:a="http://schemas.openxmlformats.org/drawingml/2006/main">
            <a:r>
              <a:t>Matthäus 25,14–30</a:t>
            </a:r>
          </a:p>
          <a:p xmlns:a="http://schemas.openxmlformats.org/drawingml/2006/main">
            <a:r>
              <a:t>14 Denn er wird handeln wie ein Mensch, der in ein fremdes Land reist, seine Sklaven ruft und ihnen sein Vermögen anvertraut:</a:t>
            </a:r>
          </a:p>
          <a:p xmlns:a="http://schemas.openxmlformats.org/drawingml/2006/main">
            <a:r>
              <a:t>15 Dem einen gab er fünf Talente, dem anderen zwei, dem dritten eins, jedem nach seiner Kraft; dann reiste er ab.</a:t>
            </a:r>
          </a:p>
          <a:p xmlns:a="http://schemas.openxmlformats.org/drawingml/2006/main">
            <a:r>
              <a:t>16 Der mit den fünf Talenten ging hin, setzte sie ein und gewann fünf weitere Talente;</a:t>
            </a:r>
          </a:p>
          <a:p xmlns:a="http://schemas.openxmlformats.org/drawingml/2006/main">
            <a:r>
              <a:t>17 Ebenso gewann der mit den zwei Talenten zwei weitere;</a:t>
            </a:r>
          </a:p>
          <a:p xmlns:a="http://schemas.openxmlformats.org/drawingml/2006/main">
            <a:r>
              <a:t>18 Der mit dem einen Talent ging hin, grub ein Loch und verbarg das Silber seines Herrn in der Erde.</a:t>
            </a:r>
          </a:p>
          <a:p xmlns:a="http://schemas.openxmlformats.org/drawingml/2006/main">
            <a:r>
              <a:t>19 Nach langer Zeit kommt der Herr dieser Sklaven und verlangt Rechenschaft.</a:t>
            </a:r>
          </a:p>
          <a:p xmlns:a="http://schemas.openxmlformats.org/drawingml/2006/main">
            <a:r>
              <a:t>20 Der mit den fünf Talenten trat vor, brachte fünf weitere und sagte: „Herr, fünf Talente hast du mir gegeben; hier sind fünf weitere, die ich damit gewonnen habe.“</a:t>
            </a:r>
          </a:p>
          <a:p xmlns:a="http://schemas.openxmlformats.org/drawingml/2006/main">
            <a:r>
              <a:t>21 Sein Herr sagte: „Gut, du guter und treuer Sklave! Im Kleinen warst du treu; über vieles werde ich dich setzen. Geh ein in die Freude deines Herrn.“</a:t>
            </a:r>
          </a:p>
          <a:p xmlns:a="http://schemas.openxmlformats.org/drawingml/2006/main">
            <a:r>
              <a:t>22 Auch der mit den zwei Talenten trat vor und sagte: „Herr, zwei Talente hast du mir gegeben; hier sind zwei weitere, die ich gewonnen habe.“</a:t>
            </a:r>
          </a:p>
          <a:p xmlns:a="http://schemas.openxmlformats.org/drawingml/2006/main">
            <a:r>
              <a:t>23 Sein Herr sagte: „Gut, du guter und treuer Sklave! Im Kleinen warst du treu; über vieles werde ich dich setzen. Geh ein in die Freude deines Herrn.“</a:t>
            </a:r>
          </a:p>
          <a:p xmlns:a="http://schemas.openxmlformats.org/drawingml/2006/main">
            <a:r>
              <a:t>24 Der mit dem einen Talent trat vor und sagte: „Herr, ich wusste, dass du ein harter Mensch bist, der erntet, wo er nicht gesät, und sammelt, wo er nicht ausgestreut hat.</a:t>
            </a:r>
          </a:p>
          <a:p xmlns:a="http://schemas.openxmlformats.org/drawingml/2006/main">
            <a:r>
              <a:t>25 Ich fürchtete mich, ging hin und verbarg dein Talent in der Erde; hier hast du das Deine.“</a:t>
            </a:r>
          </a:p>
          <a:p xmlns:a="http://schemas.openxmlformats.org/drawingml/2006/main">
            <a:r>
              <a:t>26 Sein Herr antwortete: „Du böser und fauler Sklave! Du wusstest, dass ich ernte, wo ich nicht gesät, und sammle, wo ich nicht ausgestreut habe.</a:t>
            </a:r>
          </a:p>
          <a:p xmlns:a="http://schemas.openxmlformats.org/drawingml/2006/main">
            <a:r>
              <a:t>27 Daher hättest du mein Silber den Geldhändlern geben sollen; bei meiner Rückkehr hätte ich das Meine mit Ertrag erhalten.</a:t>
            </a:r>
          </a:p>
          <a:p xmlns:a="http://schemas.openxmlformats.org/drawingml/2006/main">
            <a:r>
              <a:t>28 Nehmt ihm also das Talent und gebt es dem, der zehn hat.</a:t>
            </a:r>
          </a:p>
          <a:p xmlns:a="http://schemas.openxmlformats.org/drawingml/2006/main">
            <a:r>
              <a:t>29 Denn jedem, der hat, wird gegeben und er wird mehr haben; dem, der nicht hat, wird auch genommen, was er hat.</a:t>
            </a:r>
          </a:p>
          <a:p xmlns:a="http://schemas.openxmlformats.org/drawingml/2006/main">
            <a:r>
              <a:t>30 Werft den unnützen Sklaven in die äußere Finsternis; dort wird Weinen und Zähneknirschen sein.“ Nach diesen Worten rief Jesus: Wer Ohren zum Hören hat, der höre!</a:t>
            </a:r>
          </a:p>
          <a:p xmlns:a="http://schemas.openxmlformats.org/drawingml/2006/main">
            <a:r>
              <a:t>1. Petrus 4,10</a:t>
            </a:r>
          </a:p>
          <a:p xmlns:a="http://schemas.openxmlformats.org/drawingml/2006/main">
            <a:r>
              <a:t>Dient einander, jeder mit der Gabe, die er empfangen hat, als gute Verwalter der vielfältigen Gnade Gottes.</a:t>
            </a:r>
          </a:p>
          <a:p xmlns:a="http://schemas.openxmlformats.org/drawingml/2006/main">
            <a:r>
              <a:t>Ein Verwalter trägt Verantwortung für das ihm Anvertraute. Anwendung: Die empfangene Gabe dient einem anderen Menschen.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Minuten. Zeitraum 33–37 Minuten. Folie 10.</a:t>
            </a:r>
          </a:p>
          <a:p xmlns:a="http://schemas.openxmlformats.org/drawingml/2006/main">
            <a:r>
              <a:t>Worte der Lehrkraft: Wir prüfen, ob unsere Hilfe verständlich ist. Ladet eine Person aus einem anderen Team ein. Zeigt die Einladung und erklärt in einer halben Minute den Anfang. Der Gast sagt, was er verstanden hat und was er noch fragen möchte. Verbessert danach eine unklare Einzelheit.</a:t>
            </a:r>
          </a:p>
          <a:p xmlns:a="http://schemas.openxmlformats.org/drawingml/2006/main">
            <a:r>
              <a:t>Ablauf: Verbinden Sie Teams paarweise. Jedes schickt einen Freiwilligen zum Nachbarteam. Bei einer ungeraden Anzahl übernimmt die Lehrkraft die Gastrolle im übrigen Team. Die Erklärungen finden gleichzeitig statt, je 30 Sekunden. Der Gast nennt den ersten Schritt und sagt „Mir hat geholfen …“ sowie „Ich möchte noch wissen …“. Nach der Rückkehr verbessern die Teams einen Satz oder ein Bild. Hören Sie zwei kurze Änderungsbeispiele. Eine Person darf im eigenen Team bleiben und beim Empfang des Gasts helfen.</a:t>
            </a:r>
          </a:p>
          <a:p xmlns:a="http://schemas.openxmlformats.org/drawingml/2006/main">
            <a:r>
              <a:t>Frage: Welche Rückmeldung zeigte, dass die Hilfe wirklich verständlich ist?</a:t>
            </a:r>
          </a:p>
          <a:p xmlns:a="http://schemas.openxmlformats.org/drawingml/2006/main">
            <a:r>
              <a:t>Orientierung: Der Gast konnte den ersten Schritt nennen und verstand, wie er mitmacht. Seine Nachfrage half, die Anleitung zu verbessern.</a:t>
            </a:r>
          </a:p>
          <a:p xmlns:a="http://schemas.openxmlformats.org/drawingml/2006/main">
            <a:r>
              <a:t>Rhythmus: 30 Sekunden Gästewechsel; 1 Minute Erklärung und erster Schritt; 1 Minute Rückmeldung; 1 Minute Verbesserung; 30 Sekunden gemeinsamer Schluss.</a:t>
            </a:r>
          </a:p>
          <a:p xmlns:a="http://schemas.openxmlformats.org/drawingml/2006/main">
            <a:r>
              <a:t/>
            </a:r>
          </a:p>
          <a:p xmlns:a="http://schemas.openxmlformats.org/drawingml/2006/main">
            <a:r>
              <a:t>Vorbereitung und Hinweise für die Lehrkraft</a:t>
            </a:r>
          </a:p>
          <a:p xmlns:a="http://schemas.openxmlformats.org/drawingml/2006/main">
            <a:r>
              <a:t>Drucken Sie Seite 1 für jede Person, Seite 2 einmal, Seiten 3 und 5 für jedes Paar und Seite 4 für jedes Team. Schneiden Sie die Karten mit einem weißen Rand aus. Bereiten Sie einen Umschlag für das versteckte Talent und vier freiwillige Rollen vor. Die übrige Gruppe antwortet mit Gesten.</a:t>
            </a:r>
          </a:p>
          <a:p xmlns:a="http://schemas.openxmlformats.org/drawingml/2006/main">
            <a:r>
              <a:t>Jedes Team braucht Papier, Stifte und gegebenenfalls große Bausteine oder bekanntes Spielmaterial. Die Werkstatt erstellt eine einfache Anleitung und eine kurze Begrüßung. Zeigen Sie die Ergebnistabelle erst nach den Antworten. Persönliche Blätter bleiben bei den Teilnehmenden.</a:t>
            </a:r>
          </a:p>
          <a:p xmlns:a="http://schemas.openxmlformats.org/drawingml/2006/main">
            <a:r>
              <a:t>Verbinden Sie die Teams zur Erprobung paarweise. Bei ungerader Anzahl ist die Lehrkraft Gast im übrigen Team. Ohne Bildschirm können Bilder 01–05 und Zahlen auf der Tafel verwendet werden.</a:t>
            </a:r>
          </a:p>
          <a:p xmlns:a="http://schemas.openxmlformats.org/drawingml/2006/main">
            <a:r>
              <a:t>Lesen Sie zuerst das ganze Gleichnis. Im Text wird Silber anvertraut; Fähigkeiten, Zeit und Aufmerksamkeit sind eine Anwendung des Verantwortungsprinzips. Die „1“ des dritten Dieners beschreibt den Moment seiner Abrechnung. Danach wird das Talent nach Matthäus 25,28 dem gegeben, der zehn hat. Lassen Sie den vollständigen Schluss beim anfänglichen Lesen nicht aus.</a:t>
            </a:r>
          </a:p>
          <a:p xmlns:a="http://schemas.openxmlformats.org/drawingml/2006/main">
            <a:r>
              <a:t>Das gleiche Lob gilt der Treue mit den anvertrauten Mitteln. Vergleichen Sie Handlungen der Figuren. Loben Sie konkrete hilfreiche Beiträge und ausgeführte Schritte der Kinder. Bei „Ich kann nichts“ suchen Sie eine zugängliche Möglichkeit: Zeit, Zuhören, eine Frage, Lernbereitschaft oder Materialvorbereitung. Eine kleine gemeinsame Probe hilft.</a:t>
            </a:r>
          </a:p>
          <a:p xmlns:a="http://schemas.openxmlformats.org/drawingml/2006/main">
            <a:r>
              <a:t>Die Karten regen das Gespräch an; eigene Fähigkeiten und neue Rollen sind möglich. Entscheidend sind der verständliche erste Schritt und die Antwort des Menschen, dem geholfen wird. Wird die Herstellung zu lang, genügen Einladung und ein klarer erster Schritt. Behalten Sie die Erprobung mit dem Gast und den persönlichen Plan bei: Sie zeigen den Übergang zur Handlung.</a:t>
            </a:r>
          </a:p>
          <a:p xmlns:a="http://schemas.openxmlformats.org/drawingml/2006/main">
            <a:r>
              <a:t/>
            </a:r>
          </a:p>
          <a:p xmlns:a="http://schemas.openxmlformats.org/drawingml/2006/main">
            <a:r>
              <a:t>Biblischer Lesetext: Übersetzung des bereitgestellten russischen Textes, keine Ausgabe einer deutschen Bibelübersetzung.</a:t>
            </a:r>
          </a:p>
          <a:p xmlns:a="http://schemas.openxmlformats.org/drawingml/2006/main">
            <a:r>
              <a:t>Matthäus 25,14–30</a:t>
            </a:r>
          </a:p>
          <a:p xmlns:a="http://schemas.openxmlformats.org/drawingml/2006/main">
            <a:r>
              <a:t>14 Denn er wird handeln wie ein Mensch, der in ein fremdes Land reist, seine Sklaven ruft und ihnen sein Vermögen anvertraut:</a:t>
            </a:r>
          </a:p>
          <a:p xmlns:a="http://schemas.openxmlformats.org/drawingml/2006/main">
            <a:r>
              <a:t>15 Dem einen gab er fünf Talente, dem anderen zwei, dem dritten eins, jedem nach seiner Kraft; dann reiste er ab.</a:t>
            </a:r>
          </a:p>
          <a:p xmlns:a="http://schemas.openxmlformats.org/drawingml/2006/main">
            <a:r>
              <a:t>16 Der mit den fünf Talenten ging hin, setzte sie ein und gewann fünf weitere Talente;</a:t>
            </a:r>
          </a:p>
          <a:p xmlns:a="http://schemas.openxmlformats.org/drawingml/2006/main">
            <a:r>
              <a:t>17 Ebenso gewann der mit den zwei Talenten zwei weitere;</a:t>
            </a:r>
          </a:p>
          <a:p xmlns:a="http://schemas.openxmlformats.org/drawingml/2006/main">
            <a:r>
              <a:t>18 Der mit dem einen Talent ging hin, grub ein Loch und verbarg das Silber seines Herrn in der Erde.</a:t>
            </a:r>
          </a:p>
          <a:p xmlns:a="http://schemas.openxmlformats.org/drawingml/2006/main">
            <a:r>
              <a:t>19 Nach langer Zeit kommt der Herr dieser Sklaven und verlangt Rechenschaft.</a:t>
            </a:r>
          </a:p>
          <a:p xmlns:a="http://schemas.openxmlformats.org/drawingml/2006/main">
            <a:r>
              <a:t>20 Der mit den fünf Talenten trat vor, brachte fünf weitere und sagte: „Herr, fünf Talente hast du mir gegeben; hier sind fünf weitere, die ich damit gewonnen habe.“</a:t>
            </a:r>
          </a:p>
          <a:p xmlns:a="http://schemas.openxmlformats.org/drawingml/2006/main">
            <a:r>
              <a:t>21 Sein Herr sagte: „Gut, du guter und treuer Sklave! Im Kleinen warst du treu; über vieles werde ich dich setzen. Geh ein in die Freude deines Herrn.“</a:t>
            </a:r>
          </a:p>
          <a:p xmlns:a="http://schemas.openxmlformats.org/drawingml/2006/main">
            <a:r>
              <a:t>22 Auch der mit den zwei Talenten trat vor und sagte: „Herr, zwei Talente hast du mir gegeben; hier sind zwei weitere, die ich gewonnen habe.“</a:t>
            </a:r>
          </a:p>
          <a:p xmlns:a="http://schemas.openxmlformats.org/drawingml/2006/main">
            <a:r>
              <a:t>23 Sein Herr sagte: „Gut, du guter und treuer Sklave! Im Kleinen warst du treu; über vieles werde ich dich setzen. Geh ein in die Freude deines Herrn.“</a:t>
            </a:r>
          </a:p>
          <a:p xmlns:a="http://schemas.openxmlformats.org/drawingml/2006/main">
            <a:r>
              <a:t>24 Der mit dem einen Talent trat vor und sagte: „Herr, ich wusste, dass du ein harter Mensch bist, der erntet, wo er nicht gesät, und sammelt, wo er nicht ausgestreut hat.</a:t>
            </a:r>
          </a:p>
          <a:p xmlns:a="http://schemas.openxmlformats.org/drawingml/2006/main">
            <a:r>
              <a:t>25 Ich fürchtete mich, ging hin und verbarg dein Talent in der Erde; hier hast du das Deine.“</a:t>
            </a:r>
          </a:p>
          <a:p xmlns:a="http://schemas.openxmlformats.org/drawingml/2006/main">
            <a:r>
              <a:t>26 Sein Herr antwortete: „Du böser und fauler Sklave! Du wusstest, dass ich ernte, wo ich nicht gesät, und sammle, wo ich nicht ausgestreut habe.</a:t>
            </a:r>
          </a:p>
          <a:p xmlns:a="http://schemas.openxmlformats.org/drawingml/2006/main">
            <a:r>
              <a:t>27 Daher hättest du mein Silber den Geldhändlern geben sollen; bei meiner Rückkehr hätte ich das Meine mit Ertrag erhalten.</a:t>
            </a:r>
          </a:p>
          <a:p xmlns:a="http://schemas.openxmlformats.org/drawingml/2006/main">
            <a:r>
              <a:t>28 Nehmt ihm also das Talent und gebt es dem, der zehn hat.</a:t>
            </a:r>
          </a:p>
          <a:p xmlns:a="http://schemas.openxmlformats.org/drawingml/2006/main">
            <a:r>
              <a:t>29 Denn jedem, der hat, wird gegeben und er wird mehr haben; dem, der nicht hat, wird auch genommen, was er hat.</a:t>
            </a:r>
          </a:p>
          <a:p xmlns:a="http://schemas.openxmlformats.org/drawingml/2006/main">
            <a:r>
              <a:t>30 Werft den unnützen Sklaven in die äußere Finsternis; dort wird Weinen und Zähneknirschen sein.“ Nach diesen Worten rief Jesus: Wer Ohren zum Hören hat, der höre!</a:t>
            </a:r>
          </a:p>
          <a:p xmlns:a="http://schemas.openxmlformats.org/drawingml/2006/main">
            <a:r>
              <a:t>1. Petrus 4,10</a:t>
            </a:r>
          </a:p>
          <a:p xmlns:a="http://schemas.openxmlformats.org/drawingml/2006/main">
            <a:r>
              <a:t>Dient einander, jeder mit der Gabe, die er empfangen hat, als gute Verwalter der vielfältigen Gnade Gottes.</a:t>
            </a:r>
          </a:p>
          <a:p xmlns:a="http://schemas.openxmlformats.org/drawingml/2006/main">
            <a:r>
              <a:t>Ein Verwalter trägt Verantwortung für das ihm Anvertraute. Anwendung: Die empfangene Gabe dient einem anderen Menschen.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Minuten. Zeitraum 37–41 Minuten. Folien 11–12.</a:t>
            </a:r>
          </a:p>
          <a:p xmlns:a="http://schemas.openxmlformats.org/drawingml/2006/main">
            <a:r>
              <a:t>Worte der Lehrkraft: Wählt eine kleine Tat für die Woche. Schreibt auf, wem sie hilft, was die Person braucht, was ihr zuerst tut, wann ihr anfangt und wen ihr um Rat fragt. Auch eine Fähigkeit, die ihr noch lernt, ist möglich. Bietet zuerst die Hilfe an und fragt, ob sie passt.</a:t>
            </a:r>
          </a:p>
          <a:p xmlns:a="http://schemas.openxmlformats.org/drawingml/2006/main">
            <a:r>
              <a:t>Ablauf: Öffnen Sie Folie 11 und geben Sie zwei Minuten für das persönliche Blatt. Zeigen Sie erst danach das Beispiel von Folie 12: „Ich kann eine Regel verständlich erklären. Ich helfe meinem jüngeren Bruder bei einem Brettspiel, wenn er möchte. Am Samstag zeige ich einen Zug. Wenn es schwierig wird, bitte ich einen Erwachsenen, die Regel mit uns zu erklären.“ Klärt im Paar einen Punkt des eigenen Plans. Ist die Aufgabe zu groß, verkleinert den ersten Schritt. Das Blatt bleibt bei der Person.</a:t>
            </a:r>
          </a:p>
          <a:p xmlns:a="http://schemas.openxmlformats.org/drawingml/2006/main">
            <a:r>
              <a:t>Frage: Kannst du den ersten Schritt innerhalb einer Woche machen? Wie erfährst du, ob die Hilfe gebraucht wird?</a:t>
            </a:r>
          </a:p>
          <a:p xmlns:a="http://schemas.openxmlformats.org/drawingml/2006/main">
            <a:r>
              <a:t>Orientierung: Ein konkreter Empfänger, die Frage nach dem Bedarf, ein kleiner Schritt, ein Starttag und erreichbare Unterstützung.</a:t>
            </a:r>
          </a:p>
          <a:p xmlns:a="http://schemas.openxmlformats.org/drawingml/2006/main">
            <a:r>
              <a:t>Rhythmus: 2 Minuten eigener Plan; 1 Minute Beispiel und Partnerfrage; 1 Minute Präzisierung.</a:t>
            </a:r>
          </a:p>
          <a:p xmlns:a="http://schemas.openxmlformats.org/drawingml/2006/main">
            <a:r>
              <a:t/>
            </a:r>
          </a:p>
          <a:p xmlns:a="http://schemas.openxmlformats.org/drawingml/2006/main">
            <a:r>
              <a:t>Vorbereitung und Hinweise für die Lehrkraft</a:t>
            </a:r>
          </a:p>
          <a:p xmlns:a="http://schemas.openxmlformats.org/drawingml/2006/main">
            <a:r>
              <a:t>Drucken Sie Seite 1 für jede Person, Seite 2 einmal, Seiten 3 und 5 für jedes Paar und Seite 4 für jedes Team. Schneiden Sie die Karten mit einem weißen Rand aus. Bereiten Sie einen Umschlag für das versteckte Talent und vier freiwillige Rollen vor. Die übrige Gruppe antwortet mit Gesten.</a:t>
            </a:r>
          </a:p>
          <a:p xmlns:a="http://schemas.openxmlformats.org/drawingml/2006/main">
            <a:r>
              <a:t>Jedes Team braucht Papier, Stifte und gegebenenfalls große Bausteine oder bekanntes Spielmaterial. Die Werkstatt erstellt eine einfache Anleitung und eine kurze Begrüßung. Zeigen Sie die Ergebnistabelle erst nach den Antworten. Persönliche Blätter bleiben bei den Teilnehmenden.</a:t>
            </a:r>
          </a:p>
          <a:p xmlns:a="http://schemas.openxmlformats.org/drawingml/2006/main">
            <a:r>
              <a:t>Verbinden Sie die Teams zur Erprobung paarweise. Bei ungerader Anzahl ist die Lehrkraft Gast im übrigen Team. Ohne Bildschirm können Bilder 01–05 und Zahlen auf der Tafel verwendet werden.</a:t>
            </a:r>
          </a:p>
          <a:p xmlns:a="http://schemas.openxmlformats.org/drawingml/2006/main">
            <a:r>
              <a:t>Lesen Sie zuerst das ganze Gleichnis. Im Text wird Silber anvertraut; Fähigkeiten, Zeit und Aufmerksamkeit sind eine Anwendung des Verantwortungsprinzips. Die „1“ des dritten Dieners beschreibt den Moment seiner Abrechnung. Danach wird das Talent nach Matthäus 25,28 dem gegeben, der zehn hat. Lassen Sie den vollständigen Schluss beim anfänglichen Lesen nicht aus.</a:t>
            </a:r>
          </a:p>
          <a:p xmlns:a="http://schemas.openxmlformats.org/drawingml/2006/main">
            <a:r>
              <a:t>Das gleiche Lob gilt der Treue mit den anvertrauten Mitteln. Vergleichen Sie Handlungen der Figuren. Loben Sie konkrete hilfreiche Beiträge und ausgeführte Schritte der Kinder. Bei „Ich kann nichts“ suchen Sie eine zugängliche Möglichkeit: Zeit, Zuhören, eine Frage, Lernbereitschaft oder Materialvorbereitung. Eine kleine gemeinsame Probe hilft.</a:t>
            </a:r>
          </a:p>
          <a:p xmlns:a="http://schemas.openxmlformats.org/drawingml/2006/main">
            <a:r>
              <a:t>Die Karten regen das Gespräch an; eigene Fähigkeiten und neue Rollen sind möglich. Entscheidend sind der verständliche erste Schritt und die Antwort des Menschen, dem geholfen wird. Wird die Herstellung zu lang, genügen Einladung und ein klarer erster Schritt. Behalten Sie die Erprobung mit dem Gast und den persönlichen Plan bei: Sie zeigen den Übergang zur Handlung.</a:t>
            </a:r>
          </a:p>
          <a:p xmlns:a="http://schemas.openxmlformats.org/drawingml/2006/main">
            <a:r>
              <a:t/>
            </a:r>
          </a:p>
          <a:p xmlns:a="http://schemas.openxmlformats.org/drawingml/2006/main">
            <a:r>
              <a:t>Biblischer Lesetext: Übersetzung des bereitgestellten russischen Textes, keine Ausgabe einer deutschen Bibelübersetzung.</a:t>
            </a:r>
          </a:p>
          <a:p xmlns:a="http://schemas.openxmlformats.org/drawingml/2006/main">
            <a:r>
              <a:t>Matthäus 25,14–30</a:t>
            </a:r>
          </a:p>
          <a:p xmlns:a="http://schemas.openxmlformats.org/drawingml/2006/main">
            <a:r>
              <a:t>14 Denn er wird handeln wie ein Mensch, der in ein fremdes Land reist, seine Sklaven ruft und ihnen sein Vermögen anvertraut:</a:t>
            </a:r>
          </a:p>
          <a:p xmlns:a="http://schemas.openxmlformats.org/drawingml/2006/main">
            <a:r>
              <a:t>15 Dem einen gab er fünf Talente, dem anderen zwei, dem dritten eins, jedem nach seiner Kraft; dann reiste er ab.</a:t>
            </a:r>
          </a:p>
          <a:p xmlns:a="http://schemas.openxmlformats.org/drawingml/2006/main">
            <a:r>
              <a:t>16 Der mit den fünf Talenten ging hin, setzte sie ein und gewann fünf weitere Talente;</a:t>
            </a:r>
          </a:p>
          <a:p xmlns:a="http://schemas.openxmlformats.org/drawingml/2006/main">
            <a:r>
              <a:t>17 Ebenso gewann der mit den zwei Talenten zwei weitere;</a:t>
            </a:r>
          </a:p>
          <a:p xmlns:a="http://schemas.openxmlformats.org/drawingml/2006/main">
            <a:r>
              <a:t>18 Der mit dem einen Talent ging hin, grub ein Loch und verbarg das Silber seines Herrn in der Erde.</a:t>
            </a:r>
          </a:p>
          <a:p xmlns:a="http://schemas.openxmlformats.org/drawingml/2006/main">
            <a:r>
              <a:t>19 Nach langer Zeit kommt der Herr dieser Sklaven und verlangt Rechenschaft.</a:t>
            </a:r>
          </a:p>
          <a:p xmlns:a="http://schemas.openxmlformats.org/drawingml/2006/main">
            <a:r>
              <a:t>20 Der mit den fünf Talenten trat vor, brachte fünf weitere und sagte: „Herr, fünf Talente hast du mir gegeben; hier sind fünf weitere, die ich damit gewonnen habe.“</a:t>
            </a:r>
          </a:p>
          <a:p xmlns:a="http://schemas.openxmlformats.org/drawingml/2006/main">
            <a:r>
              <a:t>21 Sein Herr sagte: „Gut, du guter und treuer Sklave! Im Kleinen warst du treu; über vieles werde ich dich setzen. Geh ein in die Freude deines Herrn.“</a:t>
            </a:r>
          </a:p>
          <a:p xmlns:a="http://schemas.openxmlformats.org/drawingml/2006/main">
            <a:r>
              <a:t>22 Auch der mit den zwei Talenten trat vor und sagte: „Herr, zwei Talente hast du mir gegeben; hier sind zwei weitere, die ich gewonnen habe.“</a:t>
            </a:r>
          </a:p>
          <a:p xmlns:a="http://schemas.openxmlformats.org/drawingml/2006/main">
            <a:r>
              <a:t>23 Sein Herr sagte: „Gut, du guter und treuer Sklave! Im Kleinen warst du treu; über vieles werde ich dich setzen. Geh ein in die Freude deines Herrn.“</a:t>
            </a:r>
          </a:p>
          <a:p xmlns:a="http://schemas.openxmlformats.org/drawingml/2006/main">
            <a:r>
              <a:t>24 Der mit dem einen Talent trat vor und sagte: „Herr, ich wusste, dass du ein harter Mensch bist, der erntet, wo er nicht gesät, und sammelt, wo er nicht ausgestreut hat.</a:t>
            </a:r>
          </a:p>
          <a:p xmlns:a="http://schemas.openxmlformats.org/drawingml/2006/main">
            <a:r>
              <a:t>25 Ich fürchtete mich, ging hin und verbarg dein Talent in der Erde; hier hast du das Deine.“</a:t>
            </a:r>
          </a:p>
          <a:p xmlns:a="http://schemas.openxmlformats.org/drawingml/2006/main">
            <a:r>
              <a:t>26 Sein Herr antwortete: „Du böser und fauler Sklave! Du wusstest, dass ich ernte, wo ich nicht gesät, und sammle, wo ich nicht ausgestreut habe.</a:t>
            </a:r>
          </a:p>
          <a:p xmlns:a="http://schemas.openxmlformats.org/drawingml/2006/main">
            <a:r>
              <a:t>27 Daher hättest du mein Silber den Geldhändlern geben sollen; bei meiner Rückkehr hätte ich das Meine mit Ertrag erhalten.</a:t>
            </a:r>
          </a:p>
          <a:p xmlns:a="http://schemas.openxmlformats.org/drawingml/2006/main">
            <a:r>
              <a:t>28 Nehmt ihm also das Talent und gebt es dem, der zehn hat.</a:t>
            </a:r>
          </a:p>
          <a:p xmlns:a="http://schemas.openxmlformats.org/drawingml/2006/main">
            <a:r>
              <a:t>29 Denn jedem, der hat, wird gegeben und er wird mehr haben; dem, der nicht hat, wird auch genommen, was er hat.</a:t>
            </a:r>
          </a:p>
          <a:p xmlns:a="http://schemas.openxmlformats.org/drawingml/2006/main">
            <a:r>
              <a:t>30 Werft den unnützen Sklaven in die äußere Finsternis; dort wird Weinen und Zähneknirschen sein.“ Nach diesen Worten rief Jesus: Wer Ohren zum Hören hat, der höre!</a:t>
            </a:r>
          </a:p>
          <a:p xmlns:a="http://schemas.openxmlformats.org/drawingml/2006/main">
            <a:r>
              <a:t>1. Petrus 4,10</a:t>
            </a:r>
          </a:p>
          <a:p xmlns:a="http://schemas.openxmlformats.org/drawingml/2006/main">
            <a:r>
              <a:t>Dient einander, jeder mit der Gabe, die er empfangen hat, als gute Verwalter der vielfältigen Gnade Gottes.</a:t>
            </a:r>
          </a:p>
          <a:p xmlns:a="http://schemas.openxmlformats.org/drawingml/2006/main">
            <a:r>
              <a:t>Ein Verwalter trägt Verantwortung für das ihm Anvertraute. Anwendung: Die empfangene Gabe dient einem anderen Menschen.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Minuten. Zeitraum 43–45 Minuten. Folie 14.</a:t>
            </a:r>
          </a:p>
          <a:p xmlns:a="http://schemas.openxmlformats.org/drawingml/2006/main">
            <a:r>
              <a:t>Worte der Lehrkraft: Wir schließen mit zwei kurzen Antworten: „Ein Talent im Gleichnis ist …“ und „Mein erster Schritt — …“. Der Herr vertraute Verschiedenes an; die ersten beiden handelten und erhielten das gleiche Lob für ihre Treue. Wir können einander mit der empfangenen Gabe dienen. Wer möchte, kann mit uns um den treuen Einsatz des Anvertrauten beten.</a:t>
            </a:r>
          </a:p>
          <a:p xmlns:a="http://schemas.openxmlformats.org/drawingml/2006/main">
            <a:r>
              <a:t>Ablauf: Zuerst formulieren alle ihre Antworten im Paar. Hören Sie dann zwei Freiwillige. Greifen Sie eine konkrete Handlung auf. Kurzes freiwilliges Gebet: „Herr, hilf uns, treu einzusetzen, was du uns anvertraut hast, zu lernen und unseren Mitmenschen zu helfen. Amen.“ Das persönliche Blatt bleibt bei der Person; nach einer Woche wird der Schritt überprüft.</a:t>
            </a:r>
          </a:p>
          <a:p xmlns:a="http://schemas.openxmlformats.org/drawingml/2006/main">
            <a:r>
              <a:t>Frage: Was willst du versuchen und wem hilft es?</a:t>
            </a:r>
          </a:p>
          <a:p xmlns:a="http://schemas.openxmlformats.org/drawingml/2006/main">
            <a:r>
              <a:t>Orientierung: Eine machbare konkrete Handlung für einen benannten Menschen. Im Gleichnis ist Talent eine Geldmaß-Einheit; Fähigkeiten sind die Anwendung auf unser Leben.</a:t>
            </a:r>
          </a:p>
          <a:p xmlns:a="http://schemas.openxmlformats.org/drawingml/2006/main">
            <a:r>
              <a:t>Rhythmus: 1 Minute Paarantworten; 30 Sekunden zwei Beispiele; 30 Sekunden Abschluss oder Gebet.</a:t>
            </a:r>
          </a:p>
          <a:p xmlns:a="http://schemas.openxmlformats.org/drawingml/2006/main">
            <a:r>
              <a:t/>
            </a:r>
          </a:p>
          <a:p xmlns:a="http://schemas.openxmlformats.org/drawingml/2006/main">
            <a:r>
              <a:t>Vorbereitung und Hinweise für die Lehrkraft</a:t>
            </a:r>
          </a:p>
          <a:p xmlns:a="http://schemas.openxmlformats.org/drawingml/2006/main">
            <a:r>
              <a:t>Drucken Sie Seite 1 für jede Person, Seite 2 einmal, Seiten 3 und 5 für jedes Paar und Seite 4 für jedes Team. Schneiden Sie die Karten mit einem weißen Rand aus. Bereiten Sie einen Umschlag für das versteckte Talent und vier freiwillige Rollen vor. Die übrige Gruppe antwortet mit Gesten.</a:t>
            </a:r>
          </a:p>
          <a:p xmlns:a="http://schemas.openxmlformats.org/drawingml/2006/main">
            <a:r>
              <a:t>Jedes Team braucht Papier, Stifte und gegebenenfalls große Bausteine oder bekanntes Spielmaterial. Die Werkstatt erstellt eine einfache Anleitung und eine kurze Begrüßung. Zeigen Sie die Ergebnistabelle erst nach den Antworten. Persönliche Blätter bleiben bei den Teilnehmenden.</a:t>
            </a:r>
          </a:p>
          <a:p xmlns:a="http://schemas.openxmlformats.org/drawingml/2006/main">
            <a:r>
              <a:t>Verbinden Sie die Teams zur Erprobung paarweise. Bei ungerader Anzahl ist die Lehrkraft Gast im übrigen Team. Ohne Bildschirm können Bilder 01–05 und Zahlen auf der Tafel verwendet werden.</a:t>
            </a:r>
          </a:p>
          <a:p xmlns:a="http://schemas.openxmlformats.org/drawingml/2006/main">
            <a:r>
              <a:t>Lesen Sie zuerst das ganze Gleichnis. Im Text wird Silber anvertraut; Fähigkeiten, Zeit und Aufmerksamkeit sind eine Anwendung des Verantwortungsprinzips. Die „1“ des dritten Dieners beschreibt den Moment seiner Abrechnung. Danach wird das Talent nach Matthäus 25,28 dem gegeben, der zehn hat. Lassen Sie den vollständigen Schluss beim anfänglichen Lesen nicht aus.</a:t>
            </a:r>
          </a:p>
          <a:p xmlns:a="http://schemas.openxmlformats.org/drawingml/2006/main">
            <a:r>
              <a:t>Das gleiche Lob gilt der Treue mit den anvertrauten Mitteln. Vergleichen Sie Handlungen der Figuren. Loben Sie konkrete hilfreiche Beiträge und ausgeführte Schritte der Kinder. Bei „Ich kann nichts“ suchen Sie eine zugängliche Möglichkeit: Zeit, Zuhören, eine Frage, Lernbereitschaft oder Materialvorbereitung. Eine kleine gemeinsame Probe hilft.</a:t>
            </a:r>
          </a:p>
          <a:p xmlns:a="http://schemas.openxmlformats.org/drawingml/2006/main">
            <a:r>
              <a:t>Die Karten regen das Gespräch an; eigene Fähigkeiten und neue Rollen sind möglich. Entscheidend sind der verständliche erste Schritt und die Antwort des Menschen, dem geholfen wird. Wird die Herstellung zu lang, genügen Einladung und ein klarer erster Schritt. Behalten Sie die Erprobung mit dem Gast und den persönlichen Plan bei: Sie zeigen den Übergang zur Handlung.</a:t>
            </a:r>
          </a:p>
          <a:p xmlns:a="http://schemas.openxmlformats.org/drawingml/2006/main">
            <a:r>
              <a:t/>
            </a:r>
          </a:p>
          <a:p xmlns:a="http://schemas.openxmlformats.org/drawingml/2006/main">
            <a:r>
              <a:t>Biblischer Lesetext: Übersetzung des bereitgestellten russischen Textes, keine Ausgabe einer deutschen Bibelübersetzung.</a:t>
            </a:r>
          </a:p>
          <a:p xmlns:a="http://schemas.openxmlformats.org/drawingml/2006/main">
            <a:r>
              <a:t>Matthäus 25,14–30</a:t>
            </a:r>
          </a:p>
          <a:p xmlns:a="http://schemas.openxmlformats.org/drawingml/2006/main">
            <a:r>
              <a:t>14 Denn er wird handeln wie ein Mensch, der in ein fremdes Land reist, seine Sklaven ruft und ihnen sein Vermögen anvertraut:</a:t>
            </a:r>
          </a:p>
          <a:p xmlns:a="http://schemas.openxmlformats.org/drawingml/2006/main">
            <a:r>
              <a:t>15 Dem einen gab er fünf Talente, dem anderen zwei, dem dritten eins, jedem nach seiner Kraft; dann reiste er ab.</a:t>
            </a:r>
          </a:p>
          <a:p xmlns:a="http://schemas.openxmlformats.org/drawingml/2006/main">
            <a:r>
              <a:t>16 Der mit den fünf Talenten ging hin, setzte sie ein und gewann fünf weitere Talente;</a:t>
            </a:r>
          </a:p>
          <a:p xmlns:a="http://schemas.openxmlformats.org/drawingml/2006/main">
            <a:r>
              <a:t>17 Ebenso gewann der mit den zwei Talenten zwei weitere;</a:t>
            </a:r>
          </a:p>
          <a:p xmlns:a="http://schemas.openxmlformats.org/drawingml/2006/main">
            <a:r>
              <a:t>18 Der mit dem einen Talent ging hin, grub ein Loch und verbarg das Silber seines Herrn in der Erde.</a:t>
            </a:r>
          </a:p>
          <a:p xmlns:a="http://schemas.openxmlformats.org/drawingml/2006/main">
            <a:r>
              <a:t>19 Nach langer Zeit kommt der Herr dieser Sklaven und verlangt Rechenschaft.</a:t>
            </a:r>
          </a:p>
          <a:p xmlns:a="http://schemas.openxmlformats.org/drawingml/2006/main">
            <a:r>
              <a:t>20 Der mit den fünf Talenten trat vor, brachte fünf weitere und sagte: „Herr, fünf Talente hast du mir gegeben; hier sind fünf weitere, die ich damit gewonnen habe.“</a:t>
            </a:r>
          </a:p>
          <a:p xmlns:a="http://schemas.openxmlformats.org/drawingml/2006/main">
            <a:r>
              <a:t>21 Sein Herr sagte: „Gut, du guter und treuer Sklave! Im Kleinen warst du treu; über vieles werde ich dich setzen. Geh ein in die Freude deines Herrn.“</a:t>
            </a:r>
          </a:p>
          <a:p xmlns:a="http://schemas.openxmlformats.org/drawingml/2006/main">
            <a:r>
              <a:t>22 Auch der mit den zwei Talenten trat vor und sagte: „Herr, zwei Talente hast du mir gegeben; hier sind zwei weitere, die ich gewonnen habe.“</a:t>
            </a:r>
          </a:p>
          <a:p xmlns:a="http://schemas.openxmlformats.org/drawingml/2006/main">
            <a:r>
              <a:t>23 Sein Herr sagte: „Gut, du guter und treuer Sklave! Im Kleinen warst du treu; über vieles werde ich dich setzen. Geh ein in die Freude deines Herrn.“</a:t>
            </a:r>
          </a:p>
          <a:p xmlns:a="http://schemas.openxmlformats.org/drawingml/2006/main">
            <a:r>
              <a:t>24 Der mit dem einen Talent trat vor und sagte: „Herr, ich wusste, dass du ein harter Mensch bist, der erntet, wo er nicht gesät, und sammelt, wo er nicht ausgestreut hat.</a:t>
            </a:r>
          </a:p>
          <a:p xmlns:a="http://schemas.openxmlformats.org/drawingml/2006/main">
            <a:r>
              <a:t>25 Ich fürchtete mich, ging hin und verbarg dein Talent in der Erde; hier hast du das Deine.“</a:t>
            </a:r>
          </a:p>
          <a:p xmlns:a="http://schemas.openxmlformats.org/drawingml/2006/main">
            <a:r>
              <a:t>26 Sein Herr antwortete: „Du böser und fauler Sklave! Du wusstest, dass ich ernte, wo ich nicht gesät, und sammle, wo ich nicht ausgestreut habe.</a:t>
            </a:r>
          </a:p>
          <a:p xmlns:a="http://schemas.openxmlformats.org/drawingml/2006/main">
            <a:r>
              <a:t>27 Daher hättest du mein Silber den Geldhändlern geben sollen; bei meiner Rückkehr hätte ich das Meine mit Ertrag erhalten.</a:t>
            </a:r>
          </a:p>
          <a:p xmlns:a="http://schemas.openxmlformats.org/drawingml/2006/main">
            <a:r>
              <a:t>28 Nehmt ihm also das Talent und gebt es dem, der zehn hat.</a:t>
            </a:r>
          </a:p>
          <a:p xmlns:a="http://schemas.openxmlformats.org/drawingml/2006/main">
            <a:r>
              <a:t>29 Denn jedem, der hat, wird gegeben und er wird mehr haben; dem, der nicht hat, wird auch genommen, was er hat.</a:t>
            </a:r>
          </a:p>
          <a:p xmlns:a="http://schemas.openxmlformats.org/drawingml/2006/main">
            <a:r>
              <a:t>30 Werft den unnützen Sklaven in die äußere Finsternis; dort wird Weinen und Zähneknirschen sein.“ Nach diesen Worten rief Jesus: Wer Ohren zum Hören hat, der höre!</a:t>
            </a:r>
          </a:p>
          <a:p xmlns:a="http://schemas.openxmlformats.org/drawingml/2006/main">
            <a:r>
              <a:t>1. Petrus 4,10</a:t>
            </a:r>
          </a:p>
          <a:p xmlns:a="http://schemas.openxmlformats.org/drawingml/2006/main">
            <a:r>
              <a:t>Dient einander, jeder mit der Gabe, die er empfangen hat, als gute Verwalter der vielfältigen Gnade Gottes.</a:t>
            </a:r>
          </a:p>
          <a:p xmlns:a="http://schemas.openxmlformats.org/drawingml/2006/main">
            <a:r>
              <a:t>Ein Verwalter trägt Verantwortung für das ihm Anvertraute. Anwendung: Die empfangene Gabe dient einem anderen Menschen.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Minuten. Zeitraum 41–43 Minuten. Folie 13.</a:t>
            </a:r>
          </a:p>
          <a:p xmlns:a="http://schemas.openxmlformats.org/drawingml/2006/main">
            <a:r>
              <a:t>Worte der Lehrkraft: Was könnte im Weg stehen? Ich kann noch nicht alles, vergleiche mich mit anderen oder habe wenig Zeit. Wählt eine Schwierigkeit und beendet „Wenn das passiert, werde ich …“. Man kann Rat suchen, einen kleinen Teil üben oder die Aufgabe verkleinern und einen neuen Tag vereinbaren.</a:t>
            </a:r>
          </a:p>
          <a:p xmlns:a="http://schemas.openxmlformats.org/drawingml/2006/main">
            <a:r>
              <a:t>Ablauf: Zeigen Sie Folie 13. Jeder ergänzt die letzte Zeile des persönlichen Blatts und nennt dem Partner eine Möglichkeit. Prüfen Sie zwei Beispiele: Unterstützung muss erreichbar, der Schritt machbar sein. Erinnern Sie an die Treue im Kleinen aus Matthäus 25,21.</a:t>
            </a:r>
          </a:p>
          <a:p xmlns:a="http://schemas.openxmlformats.org/drawingml/2006/main">
            <a:r>
              <a:t>Frage: Was hilft nach der ersten Schwierigkeit weiterzumachen?</a:t>
            </a:r>
          </a:p>
          <a:p xmlns:a="http://schemas.openxmlformats.org/drawingml/2006/main">
            <a:r>
              <a:t>Orientierung: Konkreter Rat, eine kleine Probe, Partnerhilfe, ein machbarer Termin und das Einhalten der Vereinbarung.</a:t>
            </a:r>
          </a:p>
          <a:p xmlns:a="http://schemas.openxmlformats.org/drawingml/2006/main">
            <a:r>
              <a:t>Rhythmus: 30 Sekunden Schwierigkeit; 1 Minute Notiz und Paar; 30 Sekunden Schluss.</a:t>
            </a:r>
          </a:p>
          <a:p xmlns:a="http://schemas.openxmlformats.org/drawingml/2006/main">
            <a:r>
              <a:t/>
            </a:r>
          </a:p>
          <a:p xmlns:a="http://schemas.openxmlformats.org/drawingml/2006/main">
            <a:r>
              <a:t>Vorbereitung und Hinweise für die Lehrkraft</a:t>
            </a:r>
          </a:p>
          <a:p xmlns:a="http://schemas.openxmlformats.org/drawingml/2006/main">
            <a:r>
              <a:t>Drucken Sie Seite 1 für jede Person, Seite 2 einmal, Seiten 3 und 5 für jedes Paar und Seite 4 für jedes Team. Schneiden Sie die Karten mit einem weißen Rand aus. Bereiten Sie einen Umschlag für das versteckte Talent und vier freiwillige Rollen vor. Die übrige Gruppe antwortet mit Gesten.</a:t>
            </a:r>
          </a:p>
          <a:p xmlns:a="http://schemas.openxmlformats.org/drawingml/2006/main">
            <a:r>
              <a:t>Jedes Team braucht Papier, Stifte und gegebenenfalls große Bausteine oder bekanntes Spielmaterial. Die Werkstatt erstellt eine einfache Anleitung und eine kurze Begrüßung. Zeigen Sie die Ergebnistabelle erst nach den Antworten. Persönliche Blätter bleiben bei den Teilnehmenden.</a:t>
            </a:r>
          </a:p>
          <a:p xmlns:a="http://schemas.openxmlformats.org/drawingml/2006/main">
            <a:r>
              <a:t>Verbinden Sie die Teams zur Erprobung paarweise. Bei ungerader Anzahl ist die Lehrkraft Gast im übrigen Team. Ohne Bildschirm können Bilder 01–05 und Zahlen auf der Tafel verwendet werden.</a:t>
            </a:r>
          </a:p>
          <a:p xmlns:a="http://schemas.openxmlformats.org/drawingml/2006/main">
            <a:r>
              <a:t>Lesen Sie zuerst das ganze Gleichnis. Im Text wird Silber anvertraut; Fähigkeiten, Zeit und Aufmerksamkeit sind eine Anwendung des Verantwortungsprinzips. Die „1“ des dritten Dieners beschreibt den Moment seiner Abrechnung. Danach wird das Talent nach Matthäus 25,28 dem gegeben, der zehn hat. Lassen Sie den vollständigen Schluss beim anfänglichen Lesen nicht aus.</a:t>
            </a:r>
          </a:p>
          <a:p xmlns:a="http://schemas.openxmlformats.org/drawingml/2006/main">
            <a:r>
              <a:t>Das gleiche Lob gilt der Treue mit den anvertrauten Mitteln. Vergleichen Sie Handlungen der Figuren. Loben Sie konkrete hilfreiche Beiträge und ausgeführte Schritte der Kinder. Bei „Ich kann nichts“ suchen Sie eine zugängliche Möglichkeit: Zeit, Zuhören, eine Frage, Lernbereitschaft oder Materialvorbereitung. Eine kleine gemeinsame Probe hilft.</a:t>
            </a:r>
          </a:p>
          <a:p xmlns:a="http://schemas.openxmlformats.org/drawingml/2006/main">
            <a:r>
              <a:t>Die Karten regen das Gespräch an; eigene Fähigkeiten und neue Rollen sind möglich. Entscheidend sind der verständliche erste Schritt und die Antwort des Menschen, dem geholfen wird. Wird die Herstellung zu lang, genügen Einladung und ein klarer erster Schritt. Behalten Sie die Erprobung mit dem Gast und den persönlichen Plan bei: Sie zeigen den Übergang zur Handlung.</a:t>
            </a:r>
          </a:p>
          <a:p xmlns:a="http://schemas.openxmlformats.org/drawingml/2006/main">
            <a:r>
              <a:t/>
            </a:r>
          </a:p>
          <a:p xmlns:a="http://schemas.openxmlformats.org/drawingml/2006/main">
            <a:r>
              <a:t>Biblischer Lesetext: Übersetzung des bereitgestellten russischen Textes, keine Ausgabe einer deutschen Bibelübersetzung.</a:t>
            </a:r>
          </a:p>
          <a:p xmlns:a="http://schemas.openxmlformats.org/drawingml/2006/main">
            <a:r>
              <a:t>Matthäus 25,14–30</a:t>
            </a:r>
          </a:p>
          <a:p xmlns:a="http://schemas.openxmlformats.org/drawingml/2006/main">
            <a:r>
              <a:t>14 Denn er wird handeln wie ein Mensch, der in ein fremdes Land reist, seine Sklaven ruft und ihnen sein Vermögen anvertraut:</a:t>
            </a:r>
          </a:p>
          <a:p xmlns:a="http://schemas.openxmlformats.org/drawingml/2006/main">
            <a:r>
              <a:t>15 Dem einen gab er fünf Talente, dem anderen zwei, dem dritten eins, jedem nach seiner Kraft; dann reiste er ab.</a:t>
            </a:r>
          </a:p>
          <a:p xmlns:a="http://schemas.openxmlformats.org/drawingml/2006/main">
            <a:r>
              <a:t>16 Der mit den fünf Talenten ging hin, setzte sie ein und gewann fünf weitere Talente;</a:t>
            </a:r>
          </a:p>
          <a:p xmlns:a="http://schemas.openxmlformats.org/drawingml/2006/main">
            <a:r>
              <a:t>17 Ebenso gewann der mit den zwei Talenten zwei weitere;</a:t>
            </a:r>
          </a:p>
          <a:p xmlns:a="http://schemas.openxmlformats.org/drawingml/2006/main">
            <a:r>
              <a:t>18 Der mit dem einen Talent ging hin, grub ein Loch und verbarg das Silber seines Herrn in der Erde.</a:t>
            </a:r>
          </a:p>
          <a:p xmlns:a="http://schemas.openxmlformats.org/drawingml/2006/main">
            <a:r>
              <a:t>19 Nach langer Zeit kommt der Herr dieser Sklaven und verlangt Rechenschaft.</a:t>
            </a:r>
          </a:p>
          <a:p xmlns:a="http://schemas.openxmlformats.org/drawingml/2006/main">
            <a:r>
              <a:t>20 Der mit den fünf Talenten trat vor, brachte fünf weitere und sagte: „Herr, fünf Talente hast du mir gegeben; hier sind fünf weitere, die ich damit gewonnen habe.“</a:t>
            </a:r>
          </a:p>
          <a:p xmlns:a="http://schemas.openxmlformats.org/drawingml/2006/main">
            <a:r>
              <a:t>21 Sein Herr sagte: „Gut, du guter und treuer Sklave! Im Kleinen warst du treu; über vieles werde ich dich setzen. Geh ein in die Freude deines Herrn.“</a:t>
            </a:r>
          </a:p>
          <a:p xmlns:a="http://schemas.openxmlformats.org/drawingml/2006/main">
            <a:r>
              <a:t>22 Auch der mit den zwei Talenten trat vor und sagte: „Herr, zwei Talente hast du mir gegeben; hier sind zwei weitere, die ich gewonnen habe.“</a:t>
            </a:r>
          </a:p>
          <a:p xmlns:a="http://schemas.openxmlformats.org/drawingml/2006/main">
            <a:r>
              <a:t>23 Sein Herr sagte: „Gut, du guter und treuer Sklave! Im Kleinen warst du treu; über vieles werde ich dich setzen. Geh ein in die Freude deines Herrn.“</a:t>
            </a:r>
          </a:p>
          <a:p xmlns:a="http://schemas.openxmlformats.org/drawingml/2006/main">
            <a:r>
              <a:t>24 Der mit dem einen Talent trat vor und sagte: „Herr, ich wusste, dass du ein harter Mensch bist, der erntet, wo er nicht gesät, und sammelt, wo er nicht ausgestreut hat.</a:t>
            </a:r>
          </a:p>
          <a:p xmlns:a="http://schemas.openxmlformats.org/drawingml/2006/main">
            <a:r>
              <a:t>25 Ich fürchtete mich, ging hin und verbarg dein Talent in der Erde; hier hast du das Deine.“</a:t>
            </a:r>
          </a:p>
          <a:p xmlns:a="http://schemas.openxmlformats.org/drawingml/2006/main">
            <a:r>
              <a:t>26 Sein Herr antwortete: „Du böser und fauler Sklave! Du wusstest, dass ich ernte, wo ich nicht gesät, und sammle, wo ich nicht ausgestreut habe.</a:t>
            </a:r>
          </a:p>
          <a:p xmlns:a="http://schemas.openxmlformats.org/drawingml/2006/main">
            <a:r>
              <a:t>27 Daher hättest du mein Silber den Geldhändlern geben sollen; bei meiner Rückkehr hätte ich das Meine mit Ertrag erhalten.</a:t>
            </a:r>
          </a:p>
          <a:p xmlns:a="http://schemas.openxmlformats.org/drawingml/2006/main">
            <a:r>
              <a:t>28 Nehmt ihm also das Talent und gebt es dem, der zehn hat.</a:t>
            </a:r>
          </a:p>
          <a:p xmlns:a="http://schemas.openxmlformats.org/drawingml/2006/main">
            <a:r>
              <a:t>29 Denn jedem, der hat, wird gegeben und er wird mehr haben; dem, der nicht hat, wird auch genommen, was er hat.</a:t>
            </a:r>
          </a:p>
          <a:p xmlns:a="http://schemas.openxmlformats.org/drawingml/2006/main">
            <a:r>
              <a:t>30 Werft den unnützen Sklaven in die äußere Finsternis; dort wird Weinen und Zähneknirschen sein.“ Nach diesen Worten rief Jesus: Wer Ohren zum Hören hat, der höre!</a:t>
            </a:r>
          </a:p>
          <a:p xmlns:a="http://schemas.openxmlformats.org/drawingml/2006/main">
            <a:r>
              <a:t>1. Petrus 4,10</a:t>
            </a:r>
          </a:p>
          <a:p xmlns:a="http://schemas.openxmlformats.org/drawingml/2006/main">
            <a:r>
              <a:t>Dient einander, jeder mit der Gabe, die er empfangen hat, als gute Verwalter der vielfältigen Gnade Gottes.</a:t>
            </a:r>
          </a:p>
          <a:p xmlns:a="http://schemas.openxmlformats.org/drawingml/2006/main">
            <a:r>
              <a:t>Ein Verwalter trägt Verantwortung für das ihm Anvertraute. Anwendung: Die empfangene Gabe dient einem anderen Menschen.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Minuten. Zeitraum 43–45 Minuten. Folie 14.</a:t>
            </a:r>
          </a:p>
          <a:p xmlns:a="http://schemas.openxmlformats.org/drawingml/2006/main">
            <a:r>
              <a:t>Worte der Lehrkraft: Wir schließen mit zwei kurzen Antworten: „Ein Talent im Gleichnis ist …“ und „Mein erster Schritt — …“. Der Herr vertraute Verschiedenes an; die ersten beiden handelten und erhielten das gleiche Lob für ihre Treue. Wir können einander mit der empfangenen Gabe dienen. Wer möchte, kann mit uns um den treuen Einsatz des Anvertrauten beten.</a:t>
            </a:r>
          </a:p>
          <a:p xmlns:a="http://schemas.openxmlformats.org/drawingml/2006/main">
            <a:r>
              <a:t>Ablauf: Zuerst formulieren alle ihre Antworten im Paar. Hören Sie dann zwei Freiwillige. Greifen Sie eine konkrete Handlung auf. Kurzes freiwilliges Gebet: „Herr, hilf uns, treu einzusetzen, was du uns anvertraut hast, zu lernen und unseren Mitmenschen zu helfen. Amen.“ Das persönliche Blatt bleibt bei der Person; nach einer Woche wird der Schritt überprüft.</a:t>
            </a:r>
          </a:p>
          <a:p xmlns:a="http://schemas.openxmlformats.org/drawingml/2006/main">
            <a:r>
              <a:t>Frage: Was willst du versuchen und wem hilft es?</a:t>
            </a:r>
          </a:p>
          <a:p xmlns:a="http://schemas.openxmlformats.org/drawingml/2006/main">
            <a:r>
              <a:t>Orientierung: Eine machbare konkrete Handlung für einen benannten Menschen. Im Gleichnis ist Talent eine Geldmaß-Einheit; Fähigkeiten sind die Anwendung auf unser Leben.</a:t>
            </a:r>
          </a:p>
          <a:p xmlns:a="http://schemas.openxmlformats.org/drawingml/2006/main">
            <a:r>
              <a:t>Rhythmus: 1 Minute Paarantworten; 30 Sekunden zwei Beispiele; 30 Sekunden Abschluss oder Gebet.</a:t>
            </a:r>
          </a:p>
          <a:p xmlns:a="http://schemas.openxmlformats.org/drawingml/2006/main">
            <a:r>
              <a:t/>
            </a:r>
          </a:p>
          <a:p xmlns:a="http://schemas.openxmlformats.org/drawingml/2006/main">
            <a:r>
              <a:t>Vorbereitung und Hinweise für die Lehrkraft</a:t>
            </a:r>
          </a:p>
          <a:p xmlns:a="http://schemas.openxmlformats.org/drawingml/2006/main">
            <a:r>
              <a:t>Drucken Sie Seite 1 für jede Person, Seite 2 einmal, Seiten 3 und 5 für jedes Paar und Seite 4 für jedes Team. Schneiden Sie die Karten mit einem weißen Rand aus. Bereiten Sie einen Umschlag für das versteckte Talent und vier freiwillige Rollen vor. Die übrige Gruppe antwortet mit Gesten.</a:t>
            </a:r>
          </a:p>
          <a:p xmlns:a="http://schemas.openxmlformats.org/drawingml/2006/main">
            <a:r>
              <a:t>Jedes Team braucht Papier, Stifte und gegebenenfalls große Bausteine oder bekanntes Spielmaterial. Die Werkstatt erstellt eine einfache Anleitung und eine kurze Begrüßung. Zeigen Sie die Ergebnistabelle erst nach den Antworten. Persönliche Blätter bleiben bei den Teilnehmenden.</a:t>
            </a:r>
          </a:p>
          <a:p xmlns:a="http://schemas.openxmlformats.org/drawingml/2006/main">
            <a:r>
              <a:t>Verbinden Sie die Teams zur Erprobung paarweise. Bei ungerader Anzahl ist die Lehrkraft Gast im übrigen Team. Ohne Bildschirm können Bilder 01–05 und Zahlen auf der Tafel verwendet werden.</a:t>
            </a:r>
          </a:p>
          <a:p xmlns:a="http://schemas.openxmlformats.org/drawingml/2006/main">
            <a:r>
              <a:t>Lesen Sie zuerst das ganze Gleichnis. Im Text wird Silber anvertraut; Fähigkeiten, Zeit und Aufmerksamkeit sind eine Anwendung des Verantwortungsprinzips. Die „1“ des dritten Dieners beschreibt den Moment seiner Abrechnung. Danach wird das Talent nach Matthäus 25,28 dem gegeben, der zehn hat. Lassen Sie den vollständigen Schluss beim anfänglichen Lesen nicht aus.</a:t>
            </a:r>
          </a:p>
          <a:p xmlns:a="http://schemas.openxmlformats.org/drawingml/2006/main">
            <a:r>
              <a:t>Das gleiche Lob gilt der Treue mit den anvertrauten Mitteln. Vergleichen Sie Handlungen der Figuren. Loben Sie konkrete hilfreiche Beiträge und ausgeführte Schritte der Kinder. Bei „Ich kann nichts“ suchen Sie eine zugängliche Möglichkeit: Zeit, Zuhören, eine Frage, Lernbereitschaft oder Materialvorbereitung. Eine kleine gemeinsame Probe hilft.</a:t>
            </a:r>
          </a:p>
          <a:p xmlns:a="http://schemas.openxmlformats.org/drawingml/2006/main">
            <a:r>
              <a:t>Die Karten regen das Gespräch an; eigene Fähigkeiten und neue Rollen sind möglich. Entscheidend sind der verständliche erste Schritt und die Antwort des Menschen, dem geholfen wird. Wird die Herstellung zu lang, genügen Einladung und ein klarer erster Schritt. Behalten Sie die Erprobung mit dem Gast und den persönlichen Plan bei: Sie zeigen den Übergang zur Handlung.</a:t>
            </a:r>
          </a:p>
          <a:p xmlns:a="http://schemas.openxmlformats.org/drawingml/2006/main">
            <a:r>
              <a:t/>
            </a:r>
          </a:p>
          <a:p xmlns:a="http://schemas.openxmlformats.org/drawingml/2006/main">
            <a:r>
              <a:t>Biblischer Lesetext: Übersetzung des bereitgestellten russischen Textes, keine Ausgabe einer deutschen Bibelübersetzung.</a:t>
            </a:r>
          </a:p>
          <a:p xmlns:a="http://schemas.openxmlformats.org/drawingml/2006/main">
            <a:r>
              <a:t>Matthäus 25,14–30</a:t>
            </a:r>
          </a:p>
          <a:p xmlns:a="http://schemas.openxmlformats.org/drawingml/2006/main">
            <a:r>
              <a:t>14 Denn er wird handeln wie ein Mensch, der in ein fremdes Land reist, seine Sklaven ruft und ihnen sein Vermögen anvertraut:</a:t>
            </a:r>
          </a:p>
          <a:p xmlns:a="http://schemas.openxmlformats.org/drawingml/2006/main">
            <a:r>
              <a:t>15 Dem einen gab er fünf Talente, dem anderen zwei, dem dritten eins, jedem nach seiner Kraft; dann reiste er ab.</a:t>
            </a:r>
          </a:p>
          <a:p xmlns:a="http://schemas.openxmlformats.org/drawingml/2006/main">
            <a:r>
              <a:t>16 Der mit den fünf Talenten ging hin, setzte sie ein und gewann fünf weitere Talente;</a:t>
            </a:r>
          </a:p>
          <a:p xmlns:a="http://schemas.openxmlformats.org/drawingml/2006/main">
            <a:r>
              <a:t>17 Ebenso gewann der mit den zwei Talenten zwei weitere;</a:t>
            </a:r>
          </a:p>
          <a:p xmlns:a="http://schemas.openxmlformats.org/drawingml/2006/main">
            <a:r>
              <a:t>18 Der mit dem einen Talent ging hin, grub ein Loch und verbarg das Silber seines Herrn in der Erde.</a:t>
            </a:r>
          </a:p>
          <a:p xmlns:a="http://schemas.openxmlformats.org/drawingml/2006/main">
            <a:r>
              <a:t>19 Nach langer Zeit kommt der Herr dieser Sklaven und verlangt Rechenschaft.</a:t>
            </a:r>
          </a:p>
          <a:p xmlns:a="http://schemas.openxmlformats.org/drawingml/2006/main">
            <a:r>
              <a:t>20 Der mit den fünf Talenten trat vor, brachte fünf weitere und sagte: „Herr, fünf Talente hast du mir gegeben; hier sind fünf weitere, die ich damit gewonnen habe.“</a:t>
            </a:r>
          </a:p>
          <a:p xmlns:a="http://schemas.openxmlformats.org/drawingml/2006/main">
            <a:r>
              <a:t>21 Sein Herr sagte: „Gut, du guter und treuer Sklave! Im Kleinen warst du treu; über vieles werde ich dich setzen. Geh ein in die Freude deines Herrn.“</a:t>
            </a:r>
          </a:p>
          <a:p xmlns:a="http://schemas.openxmlformats.org/drawingml/2006/main">
            <a:r>
              <a:t>22 Auch der mit den zwei Talenten trat vor und sagte: „Herr, zwei Talente hast du mir gegeben; hier sind zwei weitere, die ich gewonnen habe.“</a:t>
            </a:r>
          </a:p>
          <a:p xmlns:a="http://schemas.openxmlformats.org/drawingml/2006/main">
            <a:r>
              <a:t>23 Sein Herr sagte: „Gut, du guter und treuer Sklave! Im Kleinen warst du treu; über vieles werde ich dich setzen. Geh ein in die Freude deines Herrn.“</a:t>
            </a:r>
          </a:p>
          <a:p xmlns:a="http://schemas.openxmlformats.org/drawingml/2006/main">
            <a:r>
              <a:t>24 Der mit dem einen Talent trat vor und sagte: „Herr, ich wusste, dass du ein harter Mensch bist, der erntet, wo er nicht gesät, und sammelt, wo er nicht ausgestreut hat.</a:t>
            </a:r>
          </a:p>
          <a:p xmlns:a="http://schemas.openxmlformats.org/drawingml/2006/main">
            <a:r>
              <a:t>25 Ich fürchtete mich, ging hin und verbarg dein Talent in der Erde; hier hast du das Deine.“</a:t>
            </a:r>
          </a:p>
          <a:p xmlns:a="http://schemas.openxmlformats.org/drawingml/2006/main">
            <a:r>
              <a:t>26 Sein Herr antwortete: „Du böser und fauler Sklave! Du wusstest, dass ich ernte, wo ich nicht gesät, und sammle, wo ich nicht ausgestreut habe.</a:t>
            </a:r>
          </a:p>
          <a:p xmlns:a="http://schemas.openxmlformats.org/drawingml/2006/main">
            <a:r>
              <a:t>27 Daher hättest du mein Silber den Geldhändlern geben sollen; bei meiner Rückkehr hätte ich das Meine mit Ertrag erhalten.</a:t>
            </a:r>
          </a:p>
          <a:p xmlns:a="http://schemas.openxmlformats.org/drawingml/2006/main">
            <a:r>
              <a:t>28 Nehmt ihm also das Talent und gebt es dem, der zehn hat.</a:t>
            </a:r>
          </a:p>
          <a:p xmlns:a="http://schemas.openxmlformats.org/drawingml/2006/main">
            <a:r>
              <a:t>29 Denn jedem, der hat, wird gegeben und er wird mehr haben; dem, der nicht hat, wird auch genommen, was er hat.</a:t>
            </a:r>
          </a:p>
          <a:p xmlns:a="http://schemas.openxmlformats.org/drawingml/2006/main">
            <a:r>
              <a:t>30 Werft den unnützen Sklaven in die äußere Finsternis; dort wird Weinen und Zähneknirschen sein.“ Nach diesen Worten rief Jesus: Wer Ohren zum Hören hat, der höre!</a:t>
            </a:r>
          </a:p>
          <a:p xmlns:a="http://schemas.openxmlformats.org/drawingml/2006/main">
            <a:r>
              <a:t>1. Petrus 4,10</a:t>
            </a:r>
          </a:p>
          <a:p xmlns:a="http://schemas.openxmlformats.org/drawingml/2006/main">
            <a:r>
              <a:t>Dient einander, jeder mit der Gabe, die er empfangen hat, als gute Verwalter der vielfältigen Gnade Gottes.</a:t>
            </a:r>
          </a:p>
          <a:p xmlns:a="http://schemas.openxmlformats.org/drawingml/2006/main">
            <a:r>
              <a:t>Ein Verwalter trägt Verantwortung für das ihm Anvertraute. Anwendung: Die empfangene Gabe dient einem anderen Menschen.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619c9b66044e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f6237759f24ae3" /><Relationship Type="http://schemas.openxmlformats.org/officeDocument/2006/relationships/slideLayout" Target="/ppt/slideLayouts/slideLayout1.xml" Id="R0f6ff21e7e044b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6ff21e7e044b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d9e7869ff4d4f59" /><Relationship Type="http://schemas.openxmlformats.org/officeDocument/2006/relationships/image" Target="/ppt/media/image.jpeg" Id="R068d0c60fcdb4a84" /><Relationship Type="http://schemas.openxmlformats.org/officeDocument/2006/relationships/notesSlide" Target="/ppt/notesSlides/notesSlide1.xml" Id="R7e21f68b1eeb43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8dffc385b5d407d" /><Relationship Type="http://schemas.openxmlformats.org/officeDocument/2006/relationships/image" Target="/ppt/media/image2.jpeg" Id="Rf56af166981e4ba4" /><Relationship Type="http://schemas.openxmlformats.org/officeDocument/2006/relationships/notesSlide" Target="/ppt/notesSlides/notesSlide2.xml" Id="R2b01d0ec9bcc46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6444d9104e84be5" /><Relationship Type="http://schemas.openxmlformats.org/officeDocument/2006/relationships/image" Target="/ppt/media/image3.jpeg" Id="Rb49ec3cb9bf84798" /><Relationship Type="http://schemas.openxmlformats.org/officeDocument/2006/relationships/notesSlide" Target="/ppt/notesSlides/notesSlide3.xml" Id="Rdb8e9a473fe048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28308845a154ce1" /><Relationship Type="http://schemas.openxmlformats.org/officeDocument/2006/relationships/image" Target="/ppt/media/image4.jpeg" Id="Rdf900469ce784dea" /><Relationship Type="http://schemas.openxmlformats.org/officeDocument/2006/relationships/notesSlide" Target="/ppt/notesSlides/notesSlide4.xml" Id="R4d3f7f58d38848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5df338884624912" /><Relationship Type="http://schemas.openxmlformats.org/officeDocument/2006/relationships/image" Target="/ppt/media/image5.jpeg" Id="Rc9a9fe4767b345d6" /><Relationship Type="http://schemas.openxmlformats.org/officeDocument/2006/relationships/notesSlide" Target="/ppt/notesSlides/notesSlide5.xml" Id="Rf3dac445f6284d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bcd393a3a8a45f5" /><Relationship Type="http://schemas.openxmlformats.org/officeDocument/2006/relationships/image" Target="/ppt/media/image6.jpeg" Id="R8813e3a0ac764f79" /><Relationship Type="http://schemas.openxmlformats.org/officeDocument/2006/relationships/notesSlide" Target="/ppt/notesSlides/notesSlide6.xml" Id="R3cd19967992541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4569eef37ee46ed" /><Relationship Type="http://schemas.openxmlformats.org/officeDocument/2006/relationships/image" Target="/ppt/media/image7.jpeg" Id="R64eb9b7d56d04cae" /><Relationship Type="http://schemas.openxmlformats.org/officeDocument/2006/relationships/notesSlide" Target="/ppt/notesSlides/notesSlide7.xml" Id="Re5395fba438e40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9d6de6743504612" /><Relationship Type="http://schemas.openxmlformats.org/officeDocument/2006/relationships/image" Target="/ppt/media/image8.jpeg" Id="Ra6d9dc3df50647d8" /><Relationship Type="http://schemas.openxmlformats.org/officeDocument/2006/relationships/notesSlide" Target="/ppt/notesSlides/notesSlide8.xml" Id="Re4fe59062e4242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feae218c53742bd" /><Relationship Type="http://schemas.openxmlformats.org/officeDocument/2006/relationships/image" Target="/ppt/media/image9.jpeg" Id="R7963845ccf964593" /><Relationship Type="http://schemas.openxmlformats.org/officeDocument/2006/relationships/notesSlide" Target="/ppt/notesSlides/notesSlide9.xml" Id="R2ec156719fc044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c0b8ba52e1948e3" /><Relationship Type="http://schemas.openxmlformats.org/officeDocument/2006/relationships/image" Target="/ppt/media/image10.jpeg" Id="R319c238b55d04a44" /><Relationship Type="http://schemas.openxmlformats.org/officeDocument/2006/relationships/notesSlide" Target="/ppt/notesSlides/notesSlide10.xml" Id="Rde50159a4022439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107232b5809454d" /><Relationship Type="http://schemas.openxmlformats.org/officeDocument/2006/relationships/image" Target="/ppt/media/image11.jpeg" Id="R819f3d1f9c034eeb" /><Relationship Type="http://schemas.openxmlformats.org/officeDocument/2006/relationships/notesSlide" Target="/ppt/notesSlides/notesSlide11.xml" Id="R491fe54c923744b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bad8ec82a4a473a" /><Relationship Type="http://schemas.openxmlformats.org/officeDocument/2006/relationships/image" Target="/ppt/media/image12.jpeg" Id="R5a8083ece1dd43dc" /><Relationship Type="http://schemas.openxmlformats.org/officeDocument/2006/relationships/notesSlide" Target="/ppt/notesSlides/notesSlide12.xml" Id="R2167739e3b4141c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52d13fbd1024c3e" /><Relationship Type="http://schemas.openxmlformats.org/officeDocument/2006/relationships/image" Target="/ppt/media/image13.jpeg" Id="R0127a390b1fa44ae" /><Relationship Type="http://schemas.openxmlformats.org/officeDocument/2006/relationships/notesSlide" Target="/ppt/notesSlides/notesSlide13.xml" Id="R7ab7f0a44644449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28c0792a1af467e" /><Relationship Type="http://schemas.openxmlformats.org/officeDocument/2006/relationships/image" Target="/ppt/media/image14.jpeg" Id="R32d0f019fbd44753" /><Relationship Type="http://schemas.openxmlformats.org/officeDocument/2006/relationships/notesSlide" Target="/ppt/notesSlides/notesSlide14.xml" Id="Rbe01ad0e84ad4feb" /></Relationships>
</file>

<file path=ppt/slides/slide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9ADE58B-99A5-4453-82D6-2FCCF34F9F17}"/>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Was mache ich mit meinem Talent?</a:t>
            </a:r>
          </a:p>
        </p:txBody>
      </p:sp>
      <p:sp>
        <p:nvSpPr>
          <p:cNvPr id="2" name="">
            <a:extLst xmlns:a="http://schemas.openxmlformats.org/drawingml/2006/main">
              <a:ext uri="{FF2B5EF4-FFF2-40B4-BE49-F238E27FC236}">
                <a16:creationId xmlns:a16="http://schemas.microsoft.com/office/drawing/2014/main" id="{E42EE47F-E127-4B61-A076-945C96CD4592}"/>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11–13 Jahre · 45 Minuten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68d0c60fcdb4a84"/>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F285A87-253F-4686-A55D-1EE3C59C405B}"/>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 / 14</a:t>
            </a:r>
          </a:p>
        </p:txBody>
      </p:sp>
    </p:spTree>
    <p:extLst>
      <p:ext uri="{BB962C8B-B14F-4D97-AF65-F5344CB8AC3E}">
        <p14:creationId xmlns:p14="http://schemas.microsoft.com/office/powerpoint/2010/main" val="1950468925"/>
      </p:ext>
    </p:extLst>
  </p:cSld>
</p:sld>
</file>

<file path=ppt/slides/slide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EC1F83-8E3B-4405-980B-6B26C1C301A0}"/>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Drei Dienern anvertraut</a:t>
            </a:r>
          </a:p>
        </p:txBody>
      </p:sp>
      <p:sp>
        <p:nvSpPr>
          <p:cNvPr id="2" name="">
            <a:extLst xmlns:a="http://schemas.openxmlformats.org/drawingml/2006/main">
              <a:ext uri="{FF2B5EF4-FFF2-40B4-BE49-F238E27FC236}">
                <a16:creationId xmlns:a16="http://schemas.microsoft.com/office/drawing/2014/main" id="{9A47A14F-5A4C-47D4-BD75-F62CBAF4EB04}"/>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Fünf</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Zwei</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56af166981e4ba4"/>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3F703C8-D44B-4C02-AC8B-BAD3D30C3A36}"/>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Matthäus 25,14–18</a:t>
            </a:r>
          </a:p>
        </p:txBody>
      </p:sp>
      <p:sp>
        <p:nvSpPr>
          <p:cNvPr id="5" name="">
            <a:extLst xmlns:a="http://schemas.openxmlformats.org/drawingml/2006/main">
              <a:ext uri="{FF2B5EF4-FFF2-40B4-BE49-F238E27FC236}">
                <a16:creationId xmlns:a16="http://schemas.microsoft.com/office/drawing/2014/main" id="{C3E13F03-E394-4A8A-9AD4-CA26997CED25}"/>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2 / 14</a:t>
            </a:r>
          </a:p>
        </p:txBody>
      </p:sp>
    </p:spTree>
    <p:extLst>
      <p:ext uri="{BB962C8B-B14F-4D97-AF65-F5344CB8AC3E}">
        <p14:creationId xmlns:p14="http://schemas.microsoft.com/office/powerpoint/2010/main" val="892561925"/>
      </p:ext>
    </p:extLst>
  </p:cSld>
</p:sld>
</file>

<file path=ppt/slides/slide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EDD7FD3-A13E-42DB-8181-8E886A769D88}"/>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Was brachten die Diener zur Abrechnung?</a:t>
            </a:r>
          </a:p>
        </p:txBody>
      </p:sp>
      <p:sp>
        <p:nvSpPr>
          <p:cNvPr id="2" name="">
            <a:extLst xmlns:a="http://schemas.openxmlformats.org/drawingml/2006/main">
              <a:ext uri="{FF2B5EF4-FFF2-40B4-BE49-F238E27FC236}">
                <a16:creationId xmlns:a16="http://schemas.microsoft.com/office/drawing/2014/main" id="{6620936B-8E8E-465B-9EAF-430814FED7E1}"/>
              </a:ext>
            </a:extLst>
          </p:cNvPr>
          <p:cNvSpPr>
            <a:spLocks xmlns:a="http://schemas.openxmlformats.org/drawingml/2006/main" noGrp="1"/>
          </p:cNvSpPr>
          <p:nvPr/>
        </p:nvSpPr>
        <p:spPr>
          <a:xfrm xmlns:a="http://schemas.openxmlformats.org/drawingml/2006/main">
            <a:off x="523875" y="1476375"/>
            <a:ext cx="5524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Vor der Entscheidung des Herrn über den dritten Diener.</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49ec3cb9bf84798"/>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graphicFrame>
        <p:nvGraphicFramePr>
          <p:cNvPr id="9" name=""/>
          <p:cNvGraphicFramePr/>
          <p:nvPr/>
        </p:nvGraphicFramePr>
        <p:xfrm>
          <a:off xmlns:a="http://schemas.openxmlformats.org/drawingml/2006/main" x="523875" y="3095625"/>
          <a:ext xmlns:a="http://schemas.openxmlformats.org/drawingml/2006/main" cx="5524500" cy="2095500"/>
        </p:xfrm>
        <a:graphic xmlns:a="http://schemas.openxmlformats.org/drawingml/2006/main">
          <a:graphicData uri="http://schemas.openxmlformats.org/drawingml/2006/table">
            <a:tbl>
              <a:tblPr/>
              <a:tblGrid>
                <a:gridCol w="1841500"/>
                <a:gridCol w="1841500"/>
                <a:gridCol w="1841500"/>
              </a:tblGrid>
              <a:tr h="523875">
                <a:tc>
                  <a:txBody>
                    <a:bodyPr/>
                    <a:lstStyle/>
                    <a:p>
                      <a:r>
                        <a:rPr sz="1725" b="1">
                          <a:solidFill>
                            <a:srgbClr val="50351F"/>
                          </a:solidFill>
                          <a:latin typeface="Arial"/>
                          <a:ea typeface="Arial"/>
                          <a:cs typeface="Arial"/>
                        </a:rPr>
                        <a:t>Diener</a:t>
                      </a:r>
                    </a:p>
                  </a:txBody>
                  <a:tcPr marL="91440" marR="91440" marT="45720" marB="45720">
                    <a:solidFill>
                      <a:srgbClr val="EEDCC0"/>
                    </a:solidFill>
                  </a:tcPr>
                </a:tc>
                <a:tc>
                  <a:txBody>
                    <a:bodyPr/>
                    <a:lstStyle/>
                    <a:p>
                      <a:r>
                        <a:rPr sz="1725" b="1">
                          <a:solidFill>
                            <a:srgbClr val="50351F"/>
                          </a:solidFill>
                          <a:latin typeface="Arial"/>
                          <a:ea typeface="Arial"/>
                          <a:cs typeface="Arial"/>
                        </a:rPr>
                        <a:t>Erhalten</a:t>
                      </a:r>
                    </a:p>
                  </a:txBody>
                  <a:tcPr marL="91440" marR="91440" marT="45720" marB="45720">
                    <a:solidFill>
                      <a:srgbClr val="EEDCC0"/>
                    </a:solidFill>
                  </a:tcPr>
                </a:tc>
                <a:tc>
                  <a:txBody>
                    <a:bodyPr/>
                    <a:lstStyle/>
                    <a:p>
                      <a:r>
                        <a:rPr sz="1725" b="1">
                          <a:solidFill>
                            <a:srgbClr val="50351F"/>
                          </a:solidFill>
                          <a:latin typeface="Arial"/>
                          <a:ea typeface="Arial"/>
                          <a:cs typeface="Arial"/>
                        </a:rPr>
                        <a:t>Bei der Abrechnung</a:t>
                      </a:r>
                    </a:p>
                  </a:txBody>
                  <a:tcPr marL="91440" marR="91440" marT="45720" marB="45720">
                    <a:solidFill>
                      <a:srgbClr val="EEDCC0"/>
                    </a:solidFill>
                  </a:tcPr>
                </a:tc>
              </a:tr>
              <a:tr h="523875">
                <a:tc>
                  <a:txBody>
                    <a:bodyPr/>
                    <a:lstStyle/>
                    <a:p>
                      <a:r>
                        <a:rPr sz="1725" b="0">
                          <a:solidFill>
                            <a:srgbClr val="50351F"/>
                          </a:solidFill>
                          <a:latin typeface="Arial"/>
                          <a:ea typeface="Arial"/>
                          <a:cs typeface="Arial"/>
                        </a:rPr>
                        <a:t>Erster</a:t>
                      </a:r>
                    </a:p>
                  </a:txBody>
                  <a:tcPr marL="91440" marR="91440" marT="45720" marB="45720">
                    <a:solidFill>
                      <a:srgbClr val="FFF9ED"/>
                    </a:solidFill>
                  </a:tcPr>
                </a:tc>
                <a:tc>
                  <a:txBody>
                    <a:bodyPr/>
                    <a:lstStyle/>
                    <a:p>
                      <a:r>
                        <a:rPr sz="1725" b="0">
                          <a:solidFill>
                            <a:srgbClr val="50351F"/>
                          </a:solidFill>
                          <a:latin typeface="Arial"/>
                          <a:ea typeface="Arial"/>
                          <a:cs typeface="Arial"/>
                        </a:rPr>
                        <a:t>5</a:t>
                      </a:r>
                    </a:p>
                  </a:txBody>
                  <a:tcPr marL="91440" marR="91440" marT="45720" marB="45720">
                    <a:solidFill>
                      <a:srgbClr val="FFF9ED"/>
                    </a:solidFill>
                  </a:tcPr>
                </a:tc>
                <a:tc>
                  <a:txBody>
                    <a:bodyPr/>
                    <a:lstStyle/>
                    <a:p>
                      <a:r>
                        <a:rPr sz="1725" b="0">
                          <a:solidFill>
                            <a:srgbClr val="50351F"/>
                          </a:solidFill>
                          <a:latin typeface="Arial"/>
                          <a:ea typeface="Arial"/>
                          <a:cs typeface="Arial"/>
                        </a:rPr>
                        <a:t>10</a:t>
                      </a:r>
                    </a:p>
                  </a:txBody>
                  <a:tcPr marL="91440" marR="91440" marT="45720" marB="45720">
                    <a:solidFill>
                      <a:srgbClr val="FFF9ED"/>
                    </a:solidFill>
                  </a:tcPr>
                </a:tc>
              </a:tr>
              <a:tr h="523875">
                <a:tc>
                  <a:txBody>
                    <a:bodyPr/>
                    <a:lstStyle/>
                    <a:p>
                      <a:r>
                        <a:rPr sz="1725" b="0">
                          <a:solidFill>
                            <a:srgbClr val="50351F"/>
                          </a:solidFill>
                          <a:latin typeface="Arial"/>
                          <a:ea typeface="Arial"/>
                          <a:cs typeface="Arial"/>
                        </a:rPr>
                        <a:t>Zweiter</a:t>
                      </a:r>
                    </a:p>
                  </a:txBody>
                  <a:tcPr marL="91440" marR="91440" marT="45720" marB="45720">
                    <a:solidFill>
                      <a:srgbClr val="FFF9ED"/>
                    </a:solidFill>
                  </a:tcPr>
                </a:tc>
                <a:tc>
                  <a:txBody>
                    <a:bodyPr/>
                    <a:lstStyle/>
                    <a:p>
                      <a:r>
                        <a:rPr sz="1725" b="0">
                          <a:solidFill>
                            <a:srgbClr val="50351F"/>
                          </a:solidFill>
                          <a:latin typeface="Arial"/>
                          <a:ea typeface="Arial"/>
                          <a:cs typeface="Arial"/>
                        </a:rPr>
                        <a:t>2</a:t>
                      </a:r>
                    </a:p>
                  </a:txBody>
                  <a:tcPr marL="91440" marR="91440" marT="45720" marB="45720">
                    <a:solidFill>
                      <a:srgbClr val="FFF9ED"/>
                    </a:solidFill>
                  </a:tcPr>
                </a:tc>
                <a:tc>
                  <a:txBody>
                    <a:bodyPr/>
                    <a:lstStyle/>
                    <a:p>
                      <a:r>
                        <a:rPr sz="1725" b="0">
                          <a:solidFill>
                            <a:srgbClr val="50351F"/>
                          </a:solidFill>
                          <a:latin typeface="Arial"/>
                          <a:ea typeface="Arial"/>
                          <a:cs typeface="Arial"/>
                        </a:rPr>
                        <a:t>4</a:t>
                      </a:r>
                    </a:p>
                  </a:txBody>
                  <a:tcPr marL="91440" marR="91440" marT="45720" marB="45720">
                    <a:solidFill>
                      <a:srgbClr val="FFF9ED"/>
                    </a:solidFill>
                  </a:tcPr>
                </a:tc>
              </a:tr>
              <a:tr h="523875">
                <a:tc>
                  <a:txBody>
                    <a:bodyPr/>
                    <a:lstStyle/>
                    <a:p>
                      <a:r>
                        <a:rPr sz="1725" b="0">
                          <a:solidFill>
                            <a:srgbClr val="50351F"/>
                          </a:solidFill>
                          <a:latin typeface="Arial"/>
                          <a:ea typeface="Arial"/>
                          <a:cs typeface="Arial"/>
                        </a:rPr>
                        <a:t>Dritter</a:t>
                      </a:r>
                    </a:p>
                  </a:txBody>
                  <a:tcPr marL="91440" marR="91440" marT="45720" marB="45720">
                    <a:solidFill>
                      <a:srgbClr val="FFF9ED"/>
                    </a:solidFill>
                  </a:tcPr>
                </a:tc>
                <a:tc>
                  <a:txBody>
                    <a:bodyPr/>
                    <a:lstStyle/>
                    <a:p>
                      <a:r>
                        <a:rPr sz="1725" b="0">
                          <a:solidFill>
                            <a:srgbClr val="50351F"/>
                          </a:solidFill>
                          <a:latin typeface="Arial"/>
                          <a:ea typeface="Arial"/>
                          <a:cs typeface="Arial"/>
                        </a:rPr>
                        <a:t>1</a:t>
                      </a:r>
                    </a:p>
                  </a:txBody>
                  <a:tcPr marL="91440" marR="91440" marT="45720" marB="45720">
                    <a:solidFill>
                      <a:srgbClr val="FFF9ED"/>
                    </a:solidFill>
                  </a:tcPr>
                </a:tc>
                <a:tc>
                  <a:txBody>
                    <a:bodyPr/>
                    <a:lstStyle/>
                    <a:p>
                      <a:r>
                        <a:rPr sz="1725" b="0">
                          <a:solidFill>
                            <a:srgbClr val="50351F"/>
                          </a:solidFill>
                          <a:latin typeface="Arial"/>
                          <a:ea typeface="Arial"/>
                          <a:cs typeface="Arial"/>
                        </a:rPr>
                        <a:t>1</a:t>
                      </a:r>
                    </a:p>
                  </a:txBody>
                  <a:tcPr marL="91440" marR="91440" marT="45720" marB="45720">
                    <a:solidFill>
                      <a:srgbClr val="FFF9ED"/>
                    </a:solidFill>
                  </a:tcPr>
                </a:tc>
              </a:tr>
            </a:tbl>
          </a:graphicData>
        </a:graphic>
      </p:graphicFrame>
      <p:sp>
        <p:nvSpPr>
          <p:cNvPr id="5" name="">
            <a:extLst xmlns:a="http://schemas.openxmlformats.org/drawingml/2006/main">
              <a:ext uri="{FF2B5EF4-FFF2-40B4-BE49-F238E27FC236}">
                <a16:creationId xmlns:a16="http://schemas.microsoft.com/office/drawing/2014/main" id="{C63C0E76-EA6C-4ED9-8783-351DFC30B782}"/>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3 / 14</a:t>
            </a:r>
          </a:p>
        </p:txBody>
      </p:sp>
    </p:spTree>
    <p:extLst>
      <p:ext uri="{BB962C8B-B14F-4D97-AF65-F5344CB8AC3E}">
        <p14:creationId xmlns:p14="http://schemas.microsoft.com/office/powerpoint/2010/main" val="1628409664"/>
      </p:ext>
    </p:extLst>
  </p:cSld>
</p:sld>
</file>

<file path=ppt/slides/slide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C732A47-3827-49B4-939C-9AF3F58672E5}"/>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Zwei Bedeutungen von „Talent“</a:t>
            </a:r>
          </a:p>
        </p:txBody>
      </p:sp>
      <p:sp>
        <p:nvSpPr>
          <p:cNvPr id="2" name="">
            <a:extLst xmlns:a="http://schemas.openxmlformats.org/drawingml/2006/main">
              <a:ext uri="{FF2B5EF4-FFF2-40B4-BE49-F238E27FC236}">
                <a16:creationId xmlns:a16="http://schemas.microsoft.com/office/drawing/2014/main" id="{B605BEE0-9F8C-495E-B990-EEC29869B6E7}"/>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Im Gleichnis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 Geldmaß-Einheit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Heute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 Fähigkeit</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wurde mir anvertraut und wie kann ich es einsetzen?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f900469ce784dea"/>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9B9F1FE-47BE-4E00-BE70-3E9597BD3FBF}"/>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4 / 14</a:t>
            </a:r>
          </a:p>
        </p:txBody>
      </p:sp>
    </p:spTree>
    <p:extLst>
      <p:ext uri="{BB962C8B-B14F-4D97-AF65-F5344CB8AC3E}">
        <p14:creationId xmlns:p14="http://schemas.microsoft.com/office/powerpoint/2010/main" val="2063799645"/>
      </p:ext>
    </p:extLst>
  </p:cSld>
</p:sld>
</file>

<file path=ppt/slides/slide5.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6EADF3-14A6-41FC-BD75-4E8A79593C75}"/>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Das gleiche Lob</a:t>
            </a:r>
          </a:p>
        </p:txBody>
      </p:sp>
      <p:sp>
        <p:nvSpPr>
          <p:cNvPr id="2" name="">
            <a:extLst xmlns:a="http://schemas.openxmlformats.org/drawingml/2006/main">
              <a:ext uri="{FF2B5EF4-FFF2-40B4-BE49-F238E27FC236}">
                <a16:creationId xmlns:a16="http://schemas.microsoft.com/office/drawing/2014/main" id="{1774F65C-2053-4D4D-AA5B-A872ECB395DC}"/>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„Du warst im Kleinen treu …“</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Wofür lobt der Herr beide?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9a9fe4767b345d6"/>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091F98D-F529-4F93-B568-5EB0206352B5}"/>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Matthäus 25,21 und 23</a:t>
            </a:r>
          </a:p>
        </p:txBody>
      </p:sp>
      <p:sp>
        <p:nvSpPr>
          <p:cNvPr id="5" name="">
            <a:extLst xmlns:a="http://schemas.openxmlformats.org/drawingml/2006/main">
              <a:ext uri="{FF2B5EF4-FFF2-40B4-BE49-F238E27FC236}">
                <a16:creationId xmlns:a16="http://schemas.microsoft.com/office/drawing/2014/main" id="{4B1BCA97-7C4E-4C47-9D68-9EFC16022EB6}"/>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5 / 14</a:t>
            </a:r>
          </a:p>
        </p:txBody>
      </p:sp>
    </p:spTree>
    <p:extLst>
      <p:ext uri="{BB962C8B-B14F-4D97-AF65-F5344CB8AC3E}">
        <p14:creationId xmlns:p14="http://schemas.microsoft.com/office/powerpoint/2010/main" val="1680326907"/>
      </p:ext>
    </p:extLst>
  </p:cSld>
</p:sld>
</file>

<file path=ppt/slides/slide6.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AC5E118-48BC-4D8D-9C37-001D926778F9}"/>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Das versteckte Silber</a:t>
            </a:r>
          </a:p>
        </p:txBody>
      </p:sp>
      <p:sp>
        <p:nvSpPr>
          <p:cNvPr id="2" name="">
            <a:extLst xmlns:a="http://schemas.openxmlformats.org/drawingml/2006/main">
              <a:ext uri="{FF2B5EF4-FFF2-40B4-BE49-F238E27FC236}">
                <a16:creationId xmlns:a16="http://schemas.microsoft.com/office/drawing/2014/main" id="{E617C412-A8A5-4411-98CD-E4CDA8306FDE}"/>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 versteckte das Anvertraute.</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hilft, mit einem kleinen Schritt anzufangen?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813e3a0ac764f79"/>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6774918-5BE1-48E3-AA22-C8202660671D}"/>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Matthäus 25,24–30</a:t>
            </a:r>
          </a:p>
        </p:txBody>
      </p:sp>
      <p:sp>
        <p:nvSpPr>
          <p:cNvPr id="5" name="">
            <a:extLst xmlns:a="http://schemas.openxmlformats.org/drawingml/2006/main">
              <a:ext uri="{FF2B5EF4-FFF2-40B4-BE49-F238E27FC236}">
                <a16:creationId xmlns:a16="http://schemas.microsoft.com/office/drawing/2014/main" id="{8CB30743-31A0-4A97-B470-4E9C57C8A451}"/>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6 / 14</a:t>
            </a:r>
          </a:p>
        </p:txBody>
      </p:sp>
    </p:spTree>
    <p:extLst>
      <p:ext uri="{BB962C8B-B14F-4D97-AF65-F5344CB8AC3E}">
        <p14:creationId xmlns:p14="http://schemas.microsoft.com/office/powerpoint/2010/main" val="1603585408"/>
      </p:ext>
    </p:extLst>
  </p:cSld>
</p:sld>
</file>

<file path=ppt/slides/slide7.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32A43E0-B4D1-454C-AA34-EA61859A2C3C}"/>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Unterschiedliche Möglichkeiten</a:t>
            </a:r>
          </a:p>
        </p:txBody>
      </p:sp>
      <p:sp>
        <p:nvSpPr>
          <p:cNvPr id="2" name="">
            <a:extLst xmlns:a="http://schemas.openxmlformats.org/drawingml/2006/main">
              <a:ext uri="{FF2B5EF4-FFF2-40B4-BE49-F238E27FC236}">
                <a16:creationId xmlns:a16="http://schemas.microsoft.com/office/drawing/2014/main" id="{EFD503E0-33E7-4BE3-B959-5EF99464183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gelingt mir schon?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möchte ich lernen?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4eb9b7d56d04cae"/>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BD8FB6A-858C-4D85-B62E-7E5FF09422FC}"/>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7 / 14</a:t>
            </a:r>
          </a:p>
        </p:txBody>
      </p:sp>
    </p:spTree>
    <p:extLst>
      <p:ext uri="{BB962C8B-B14F-4D97-AF65-F5344CB8AC3E}">
        <p14:creationId xmlns:p14="http://schemas.microsoft.com/office/powerpoint/2010/main" val="2026841222"/>
      </p:ext>
    </p:extLst>
  </p:cSld>
</p:sld>
</file>

<file path=ppt/slides/slide8.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C6E1C58-4F0B-44BC-A037-CD39975A8424}"/>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Hilfe beginnt mit einer Frage</a:t>
            </a:r>
          </a:p>
        </p:txBody>
      </p:sp>
      <p:sp>
        <p:nvSpPr>
          <p:cNvPr id="2" name="">
            <a:extLst xmlns:a="http://schemas.openxmlformats.org/drawingml/2006/main">
              <a:ext uri="{FF2B5EF4-FFF2-40B4-BE49-F238E27FC236}">
                <a16:creationId xmlns:a16="http://schemas.microsoft.com/office/drawing/2014/main" id="{CCBC3A22-19BA-4FB9-BD46-028ECF3475E4}"/>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hilft dir, mitzumachen?“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6d9dc3df50647d8"/>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8A3958A-4E0D-4722-82F3-62051076FA11}"/>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1. Petrus 4,10</a:t>
            </a:r>
          </a:p>
        </p:txBody>
      </p:sp>
      <p:sp>
        <p:nvSpPr>
          <p:cNvPr id="5" name="">
            <a:extLst xmlns:a="http://schemas.openxmlformats.org/drawingml/2006/main">
              <a:ext uri="{FF2B5EF4-FFF2-40B4-BE49-F238E27FC236}">
                <a16:creationId xmlns:a16="http://schemas.microsoft.com/office/drawing/2014/main" id="{07061F3A-CC5D-4401-AA1A-78BFFA815BFD}"/>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8 / 14</a:t>
            </a:r>
          </a:p>
        </p:txBody>
      </p:sp>
    </p:spTree>
    <p:extLst>
      <p:ext uri="{BB962C8B-B14F-4D97-AF65-F5344CB8AC3E}">
        <p14:creationId xmlns:p14="http://schemas.microsoft.com/office/powerpoint/2010/main" val="1904392364"/>
      </p:ext>
    </p:extLst>
  </p:cSld>
</p:sld>
</file>

<file path=ppt/slides/slide9.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FB9FF34-4C63-480A-B953-EC7D2CC06568}"/>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Werkstatt für Hilfe</a:t>
            </a:r>
          </a:p>
        </p:txBody>
      </p:sp>
      <p:sp>
        <p:nvSpPr>
          <p:cNvPr id="2" name="">
            <a:extLst xmlns:a="http://schemas.openxmlformats.org/drawingml/2006/main">
              <a:ext uri="{FF2B5EF4-FFF2-40B4-BE49-F238E27FC236}">
                <a16:creationId xmlns:a16="http://schemas.microsoft.com/office/drawing/2014/main" id="{416500E4-1DC5-4280-9637-B71C9968E684}"/>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 Einladung zum gemeinsamen Spiel</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Zwei verständliche erste Schritte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 Begrüßung von 30 Sekunden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6 Minuten für die gemeinsame Aufgabe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963845ccf964593"/>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4476DA7-5150-4348-803C-BC5A5B6C9F1D}"/>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9 / 14</a:t>
            </a:r>
          </a:p>
        </p:txBody>
      </p:sp>
    </p:spTree>
    <p:extLst>
      <p:ext uri="{BB962C8B-B14F-4D97-AF65-F5344CB8AC3E}">
        <p14:creationId xmlns:p14="http://schemas.microsoft.com/office/powerpoint/2010/main" val="1636244944"/>
      </p:ext>
    </p:extLst>
  </p:cSld>
</p:sld>
</file>

<file path=ppt/slides/slide10.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1EFE575-E72E-4FBA-A5BA-601033F4526C}"/>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Erprobung mit einem Gast</a:t>
            </a:r>
          </a:p>
        </p:txBody>
      </p:sp>
      <p:sp>
        <p:nvSpPr>
          <p:cNvPr id="2" name="">
            <a:extLst xmlns:a="http://schemas.openxmlformats.org/drawingml/2006/main">
              <a:ext uri="{FF2B5EF4-FFF2-40B4-BE49-F238E27FC236}">
                <a16:creationId xmlns:a16="http://schemas.microsoft.com/office/drawing/2014/main" id="{BFBCCB83-4EF6-4211-B380-7D3E132ACA46}"/>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Gast erklärt, was er verstanden hat.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„Mir hat geholfen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möchte noch wissen …“</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19c238b55d04a44"/>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9E57C56-3EFD-49F5-8097-1E643302ECEB}"/>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10 / 14</a:t>
            </a:r>
          </a:p>
        </p:txBody>
      </p:sp>
    </p:spTree>
    <p:extLst>
      <p:ext uri="{BB962C8B-B14F-4D97-AF65-F5344CB8AC3E}">
        <p14:creationId xmlns:p14="http://schemas.microsoft.com/office/powerpoint/2010/main" val="8419361"/>
      </p:ext>
    </p:extLst>
  </p:cSld>
</p:sld>
</file>

<file path=ppt/slides/slide1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7B82D57-B357-447C-95E0-52BB9A25B903}"/>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Mein einzelner Schritt</a:t>
            </a:r>
          </a:p>
        </p:txBody>
      </p:sp>
      <p:sp>
        <p:nvSpPr>
          <p:cNvPr id="2" name="">
            <a:extLst xmlns:a="http://schemas.openxmlformats.org/drawingml/2006/main">
              <a:ext uri="{FF2B5EF4-FFF2-40B4-BE49-F238E27FC236}">
                <a16:creationId xmlns:a16="http://schemas.microsoft.com/office/drawing/2014/main" id="{87BE4E48-9971-415F-B0CA-055B45FCC876}"/>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Wem hilft es?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tue ich zuerst?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Wann fange ich 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Wer unterstützt mich?</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19f3d1f9c034eeb"/>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43CB943-97C9-4018-9BB9-3C1517E63642}"/>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11 / 14</a:t>
            </a:r>
          </a:p>
        </p:txBody>
      </p:sp>
    </p:spTree>
    <p:extLst>
      <p:ext uri="{BB962C8B-B14F-4D97-AF65-F5344CB8AC3E}">
        <p14:creationId xmlns:p14="http://schemas.microsoft.com/office/powerpoint/2010/main" val="1005139637"/>
      </p:ext>
    </p:extLst>
  </p:cSld>
</p:sld>
</file>

<file path=ppt/slides/slide1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919D47B-1B46-4E41-BB89-1926AE7A70EB}"/>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 Beispiel für eine kleine Tat</a:t>
            </a:r>
          </a:p>
        </p:txBody>
      </p:sp>
      <p:sp>
        <p:nvSpPr>
          <p:cNvPr id="2" name="">
            <a:extLst xmlns:a="http://schemas.openxmlformats.org/drawingml/2006/main">
              <a:ext uri="{FF2B5EF4-FFF2-40B4-BE49-F238E27FC236}">
                <a16:creationId xmlns:a16="http://schemas.microsoft.com/office/drawing/2014/main" id="{7E7595DB-DF42-43AD-A3E3-1B995955587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kann eine Spielregel erklären.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frage meinen jüngeren Bruder.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Am Samstag zeige ich einen Spielzug.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Wenn es schwierig wird, bitte ich um Rat.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a8083ece1dd43dc"/>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270BFCB-9EDC-4A4F-B0B7-5D4EAE7AB2B7}"/>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12 / 14</a:t>
            </a:r>
          </a:p>
        </p:txBody>
      </p:sp>
    </p:spTree>
    <p:extLst>
      <p:ext uri="{BB962C8B-B14F-4D97-AF65-F5344CB8AC3E}">
        <p14:creationId xmlns:p14="http://schemas.microsoft.com/office/powerpoint/2010/main" val="1464461527"/>
      </p:ext>
    </p:extLst>
  </p:cSld>
</p:sld>
</file>

<file path=ppt/slides/slide1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D30C02-0DFE-46C9-A039-A2018EA8685C}"/>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Hindernis und Unterstützung</a:t>
            </a:r>
          </a:p>
        </p:txBody>
      </p:sp>
      <p:sp>
        <p:nvSpPr>
          <p:cNvPr id="2" name="">
            <a:extLst xmlns:a="http://schemas.openxmlformats.org/drawingml/2006/main">
              <a:ext uri="{FF2B5EF4-FFF2-40B4-BE49-F238E27FC236}">
                <a16:creationId xmlns:a16="http://schemas.microsoft.com/office/drawing/2014/main" id="{EF8536C3-3B96-4506-853D-289FDA612EEE}"/>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kann noch nicht alles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vergleiche mich mit anderen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habe wenig Zeit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Wenn das passiert, werde ich …</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127a390b1fa44ae"/>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9BAC7AB-00F2-428D-9AD7-901DDE709D90}"/>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13 / 14</a:t>
            </a:r>
          </a:p>
        </p:txBody>
      </p:sp>
    </p:spTree>
    <p:extLst>
      <p:ext uri="{BB962C8B-B14F-4D97-AF65-F5344CB8AC3E}">
        <p14:creationId xmlns:p14="http://schemas.microsoft.com/office/powerpoint/2010/main" val="565196496"/>
      </p:ext>
    </p:extLst>
  </p:cSld>
</p:sld>
</file>

<file path=ppt/slides/slide1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D28D24-29F9-4E66-B319-6E4CC8BF637B}"/>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Anvertraut, um Gutes zu tun</a:t>
            </a:r>
          </a:p>
        </p:txBody>
      </p:sp>
      <p:sp>
        <p:nvSpPr>
          <p:cNvPr id="2" name="">
            <a:extLst xmlns:a="http://schemas.openxmlformats.org/drawingml/2006/main">
              <a:ext uri="{FF2B5EF4-FFF2-40B4-BE49-F238E27FC236}">
                <a16:creationId xmlns:a16="http://schemas.microsoft.com/office/drawing/2014/main" id="{5B79D951-95CB-416A-BA89-3497FEC25D77}"/>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„Dient einander, jeder mit der Gabe, die er empfangen hat …“</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Mein erster Schritt — …</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2d0f019fbd44753"/>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38D4140-98FB-401C-A049-434A9A8B5A4A}"/>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1. Petrus 4,10</a:t>
            </a:r>
          </a:p>
        </p:txBody>
      </p:sp>
      <p:sp>
        <p:nvSpPr>
          <p:cNvPr id="5" name="">
            <a:extLst xmlns:a="http://schemas.openxmlformats.org/drawingml/2006/main">
              <a:ext uri="{FF2B5EF4-FFF2-40B4-BE49-F238E27FC236}">
                <a16:creationId xmlns:a16="http://schemas.microsoft.com/office/drawing/2014/main" id="{A6520160-8E60-4932-9538-5A4C920F5B12}"/>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14 / 14</a:t>
            </a:r>
          </a:p>
        </p:txBody>
      </p:sp>
    </p:spTree>
    <p:extLst>
      <p:ext uri="{BB962C8B-B14F-4D97-AF65-F5344CB8AC3E}">
        <p14:creationId xmlns:p14="http://schemas.microsoft.com/office/powerpoint/2010/main" val="5124509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2026-10-03T22:19:00.2400000Z</dcterms:created>
  <dcterms:modified xsi:type="dcterms:W3CDTF">2026-10-03T22:19:00.2400000Z</dcterms:modified>
</coreProperties>
</file>