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b423b638fd4537" /><Relationship Type="http://schemas.openxmlformats.org/officeDocument/2006/relationships/extended-properties" Target="/docProps/app.xml" Id="Ra436ddf259d6414d" /><Relationship Type="http://schemas.openxmlformats.org/officeDocument/2006/relationships/officeDocument" Target="/ppt/presentation.xml" Id="Rb7038687827c4e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8ef1e79c0f424e"/>
  </p:sldMasterIdLst>
  <p:notesMasterIdLst>
    <p:notesMasterId xmlns:r="http://schemas.openxmlformats.org/officeDocument/2006/relationships" r:id="R48b2bf7ad5a747dd"/>
  </p:notesMasterIdLst>
  <p:sldIdLst>
    <p:sldId xmlns:r="http://schemas.openxmlformats.org/officeDocument/2006/relationships" id="256" r:id="Rc6667f16c9c34ca3"/>
    <p:sldId xmlns:r="http://schemas.openxmlformats.org/officeDocument/2006/relationships" id="257" r:id="Rf453aaa598444f7c"/>
    <p:sldId xmlns:r="http://schemas.openxmlformats.org/officeDocument/2006/relationships" id="258" r:id="R95def426f25e4871"/>
    <p:sldId xmlns:r="http://schemas.openxmlformats.org/officeDocument/2006/relationships" id="259" r:id="R50fbbde9136e481f"/>
    <p:sldId xmlns:r="http://schemas.openxmlformats.org/officeDocument/2006/relationships" id="260" r:id="Rb473362a45404010"/>
    <p:sldId xmlns:r="http://schemas.openxmlformats.org/officeDocument/2006/relationships" id="261" r:id="Ra49b1df2a3cc493a"/>
    <p:sldId xmlns:r="http://schemas.openxmlformats.org/officeDocument/2006/relationships" id="262" r:id="Redf6bc96e9e94344"/>
    <p:sldId xmlns:r="http://schemas.openxmlformats.org/officeDocument/2006/relationships" id="263" r:id="R570a0d97c7134b82"/>
    <p:sldId xmlns:r="http://schemas.openxmlformats.org/officeDocument/2006/relationships" id="264" r:id="R94f8c1a34dbc44d6"/>
    <p:sldId xmlns:r="http://schemas.openxmlformats.org/officeDocument/2006/relationships" id="265" r:id="R58a7eaf16ea749f8"/>
    <p:sldId xmlns:r="http://schemas.openxmlformats.org/officeDocument/2006/relationships" id="266" r:id="Rbe22c64cb6604d07"/>
    <p:sldId xmlns:r="http://schemas.openxmlformats.org/officeDocument/2006/relationships" id="267" r:id="R03545444a1fb4944"/>
    <p:sldId xmlns:r="http://schemas.openxmlformats.org/officeDocument/2006/relationships" id="268" r:id="R8e9dc52c20004960"/>
    <p:sldId xmlns:r="http://schemas.openxmlformats.org/officeDocument/2006/relationships" id="269" r:id="Re7b9ad264f9f4e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e0619b0dd545ac" /><Relationship Type="http://schemas.openxmlformats.org/officeDocument/2006/relationships/slideMaster" Target="/ppt/slideMasters/slideMaster1.xml" Id="R988ef1e79c0f424e" /><Relationship Type="http://schemas.openxmlformats.org/officeDocument/2006/relationships/notesMaster" Target="/ppt/notesMasters/notesMaster1.xml" Id="R48b2bf7ad5a747dd" /><Relationship Type="http://schemas.openxmlformats.org/officeDocument/2006/relationships/presProps" Target="/ppt/presProps.xml" Id="R13a28487108a4521" /><Relationship Type="http://schemas.openxmlformats.org/officeDocument/2006/relationships/tableStyles" Target="/ppt/tableStyles.xml" Id="R4ee6b52fe54e474c" /><Relationship Type="http://schemas.openxmlformats.org/officeDocument/2006/relationships/slide" Target="/ppt/slides/slide1.xml" Id="Rc6667f16c9c34ca3" /><Relationship Type="http://schemas.openxmlformats.org/officeDocument/2006/relationships/slide" Target="/ppt/slides/slide2.xml" Id="Rf453aaa598444f7c" /><Relationship Type="http://schemas.openxmlformats.org/officeDocument/2006/relationships/slide" Target="/ppt/slides/slide3.xml" Id="R95def426f25e4871" /><Relationship Type="http://schemas.openxmlformats.org/officeDocument/2006/relationships/slide" Target="/ppt/slides/slide4.xml" Id="R50fbbde9136e481f" /><Relationship Type="http://schemas.openxmlformats.org/officeDocument/2006/relationships/slide" Target="/ppt/slides/slide5.xml" Id="Rb473362a45404010" /><Relationship Type="http://schemas.openxmlformats.org/officeDocument/2006/relationships/slide" Target="/ppt/slides/slide6.xml" Id="Ra49b1df2a3cc493a" /><Relationship Type="http://schemas.openxmlformats.org/officeDocument/2006/relationships/slide" Target="/ppt/slides/slide7.xml" Id="Redf6bc96e9e94344" /><Relationship Type="http://schemas.openxmlformats.org/officeDocument/2006/relationships/slide" Target="/ppt/slides/slide8.xml" Id="R570a0d97c7134b82" /><Relationship Type="http://schemas.openxmlformats.org/officeDocument/2006/relationships/slide" Target="/ppt/slides/slide9.xml" Id="R94f8c1a34dbc44d6" /><Relationship Type="http://schemas.openxmlformats.org/officeDocument/2006/relationships/slide" Target="/ppt/slides/slide10.xml" Id="R58a7eaf16ea749f8" /><Relationship Type="http://schemas.openxmlformats.org/officeDocument/2006/relationships/slide" Target="/ppt/slides/slide11.xml" Id="Rbe22c64cb6604d07" /><Relationship Type="http://schemas.openxmlformats.org/officeDocument/2006/relationships/slide" Target="/ppt/slides/slide12.xml" Id="R03545444a1fb4944" /><Relationship Type="http://schemas.openxmlformats.org/officeDocument/2006/relationships/slide" Target="/ppt/slides/slide13.xml" Id="R8e9dc52c20004960" /><Relationship Type="http://schemas.openxmlformats.org/officeDocument/2006/relationships/slide" Target="/ppt/slides/slide14.xml" Id="Re7b9ad264f9f4e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9bd599197f4d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a5aabd34154310" /><Relationship Type="http://schemas.openxmlformats.org/officeDocument/2006/relationships/notesMaster" Target="/ppt/notesMasters/notesMaster1.xml" Id="R9071ef9ba20b49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95a27e0fa741de" /><Relationship Type="http://schemas.openxmlformats.org/officeDocument/2006/relationships/notesMaster" Target="/ppt/notesMasters/notesMaster1.xml" Id="Rc0d0b717a63c44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13aa48963e4889" /><Relationship Type="http://schemas.openxmlformats.org/officeDocument/2006/relationships/notesMaster" Target="/ppt/notesMasters/notesMaster1.xml" Id="Rc4997bbb0e0a4d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0269251ac4492e" /><Relationship Type="http://schemas.openxmlformats.org/officeDocument/2006/relationships/notesMaster" Target="/ppt/notesMasters/notesMaster1.xml" Id="R78edee38e32743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67599892f94f58" /><Relationship Type="http://schemas.openxmlformats.org/officeDocument/2006/relationships/notesMaster" Target="/ppt/notesMasters/notesMaster1.xml" Id="R4a75f294fd314c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f918b86e3a41e1" /><Relationship Type="http://schemas.openxmlformats.org/officeDocument/2006/relationships/notesMaster" Target="/ppt/notesMasters/notesMaster1.xml" Id="R5dfb636fa3db49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86f830dee34e46" /><Relationship Type="http://schemas.openxmlformats.org/officeDocument/2006/relationships/notesMaster" Target="/ppt/notesMasters/notesMaster1.xml" Id="R02a2089e7c2f43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bd5607a38344ca" /><Relationship Type="http://schemas.openxmlformats.org/officeDocument/2006/relationships/notesMaster" Target="/ppt/notesMasters/notesMaster1.xml" Id="R84010f4ed1ff4c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2b80b346d4404a" /><Relationship Type="http://schemas.openxmlformats.org/officeDocument/2006/relationships/notesMaster" Target="/ppt/notesMasters/notesMaster1.xml" Id="Rbe4e10426d5246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b1587b4f4943e6" /><Relationship Type="http://schemas.openxmlformats.org/officeDocument/2006/relationships/notesMaster" Target="/ppt/notesMasters/notesMaster1.xml" Id="R24110365cae44f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46c91870c341f6" /><Relationship Type="http://schemas.openxmlformats.org/officeDocument/2006/relationships/notesMaster" Target="/ppt/notesMasters/notesMaster1.xml" Id="R9c6b75138c8345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e5fd58f4ac400a" /><Relationship Type="http://schemas.openxmlformats.org/officeDocument/2006/relationships/notesMaster" Target="/ppt/notesMasters/notesMaster1.xml" Id="R9a50cc7420b047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2364cec43d4403" /><Relationship Type="http://schemas.openxmlformats.org/officeDocument/2006/relationships/notesMaster" Target="/ppt/notesMasters/notesMaster1.xml" Id="R30a2b1d901db4a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32a09b27ed4b52" /><Relationship Type="http://schemas.openxmlformats.org/officeDocument/2006/relationships/notesMaster" Target="/ppt/notesMasters/notesMaster1.xml" Id="R10ba86e071684d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5 мин. Период 0–5 мин. Слайды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Сегодня прочитаем историю о том, что хозяин доверил своим слугам. Талант здесь — крупная денежная мера, а не умение петь или рисовать. В библейском тексте эти зависимые слуги названы рабами. Сначала послушаем притчу целиком, а затем разыграем её.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Покажите слайд 1. Прочитайте Мф. 25:14–30 из приложения к уроку, включая финал. Во время чтения ответы не собирайте. После чтения сразу предложите четырём добровольцам роли хозяина и трёх слуг. Остальные будут помогать рассказать историю и следить за действиями.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Вопросов до сценки нет. Первое обсуждение начинается на следующем этапе.</a:t>
            </a:r>
          </a:p>
          <a:p xmlns:a="http://schemas.openxmlformats.org/drawingml/2006/main">
            <a:r>
              <a:t>Ориентир: Прочитан весь рассказ, участники готовы действовать.</a:t>
            </a:r>
          </a:p>
          <a:p xmlns:a="http://schemas.openxmlformats.org/drawingml/2006/main">
            <a:r>
              <a:t>Ритм: 30 сек — пояснение слов; 4 мин — чтение; 30 сек — приглашение к сценке.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5 мин. Период 5–10 мин. Слайды 2–3.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Хозяин доверяет одному слуге пять талантов, другому два, третьему один. Первые двое употребляют доверенное в дело, третий прячет. Сейчас я буду рассказывать, а помощники покажут действия карточками. Все остальные выбирают подходящее слово: «использовал» или «спрятал».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Откройте слайд 2. Хозяин вручает трём слугам карточки «Получил 5», «Получил 2», «Получил 1». Читайте Мф. 25:15–18 по одному действию. Первые двое берут карточки «Всего 10» и «Всего 4», третий кладёт свою карточку в конверт. Группа обозначает действие: раскрытая ладонь — использовал, ладонь сверху — спрятал. При возвращении хозяина первые двое показывают результат, третий возвращает прежнюю карточку. Спросите суммы, затем откройте таблицу на слайде 3. Числа — таланты в притче, количество кошельков на картинке условное.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получили слуги и что каждый сделал с доверенным?</a:t>
            </a:r>
          </a:p>
          <a:p xmlns:a="http://schemas.openxmlformats.org/drawingml/2006/main">
            <a:r>
              <a:t>Ориентир: Первый: 5, приобрёл ещё 5, всего 10. Второй: 2, приобрёл ещё 2, всего 4. Третий: 1, спрятал, вернул 1 до решения хозяина.</a:t>
            </a:r>
          </a:p>
          <a:p xmlns:a="http://schemas.openxmlformats.org/drawingml/2006/main">
            <a:r>
              <a:t>Ритм: 1 мин — роли и карточки; 1 мин — передача; 2 мин — действия и возвращение; 1 мин — ответы и таблица.</a:t>
            </a:r>
          </a:p>
          <a:p xmlns:a="http://schemas.openxmlformats.org/drawingml/2006/main">
            <a:r>
              <a:t>Следующий слайд с числами показывают после ответов участников.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5 мин. Период 5–10 мин. Слайды 2–3.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Хозяин доверяет одному слуге пять талантов, другому два, третьему один. Первые двое употребляют доверенное в дело, третий прячет. Сейчас я буду рассказывать, а помощники покажут действия карточками. Все остальные выбирают подходящее слово: «использовал» или «спрятал».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Откройте слайд 2. Хозяин вручает трём слугам карточки «Получил 5», «Получил 2», «Получил 1». Читайте Мф. 25:15–18 по одному действию. Первые двое берут карточки «Всего 10» и «Всего 4», третий кладёт свою карточку в конверт. Группа обозначает действие: раскрытая ладонь — использовал, ладонь сверху — спрятал. При возвращении хозяина первые двое показывают результат, третий возвращает прежнюю карточку. Спросите суммы, затем откройте таблицу на слайде 3. Числа — таланты в притче, количество кошельков на картинке условное.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получили слуги и что каждый сделал с доверенным?</a:t>
            </a:r>
          </a:p>
          <a:p xmlns:a="http://schemas.openxmlformats.org/drawingml/2006/main">
            <a:r>
              <a:t>Ориентир: Первый: 5, приобрёл ещё 5, всего 10. Второй: 2, приобрёл ещё 2, всего 4. Третий: 1, спрятал, вернул 1 до решения хозяина.</a:t>
            </a:r>
          </a:p>
          <a:p xmlns:a="http://schemas.openxmlformats.org/drawingml/2006/main">
            <a:r>
              <a:t>Ритм: 1 мин — роли и карточки; 1 мин — передача; 2 мин — действия и возвращение; 1 мин — ответы и таблица.</a:t>
            </a:r>
          </a:p>
          <a:p xmlns:a="http://schemas.openxmlformats.org/drawingml/2006/main">
            <a:r>
              <a:t>Числа таблицы: первый 5+5=10, второй 2+2=4, третий вернул 1. После его отчёта по Мф. 25:28 талант передают имеющему десять. Таблица описывает момент до этого решения.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3 мин. Период 10–13 мин. Слайды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 притче хозяин передал деньги. Сегодня словом «талант» мы называем способность. Мы можем применить урок притчи к своим умениям и другим возможностям. Разложите четыре фразы: какие описывают сам рассказ, а какие говорят о нашей жизни?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Дайте каждой паре четыре карточки со страницы 3 раздатки: «Хозяин дал пять талантов», «Слуга закопал серебро», «Я умею рисовать», «Я умею слушать». На столе обозначьте две стороны словами «В притче» и «В нашей жизни». После раскладки попросите пару объяснить один выбор. Завершите: «Смысл слова в рассказе и наше применение мы различаем».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хозяин действительно дал слугам? Как мы можем применить историю сегодня?</a:t>
            </a:r>
          </a:p>
          <a:p xmlns:a="http://schemas.openxmlformats.org/drawingml/2006/main">
            <a:r>
              <a:t>Ориентир: Он доверил средства. Сегодня мы учимся верно использовать способности, время и другие возможности.</a:t>
            </a:r>
          </a:p>
          <a:p xmlns:a="http://schemas.openxmlformats.org/drawingml/2006/main">
            <a:r>
              <a:t>Ритм: 30 сек — два значения; 1 мин — раскладка; 1 мин — объяснения; 30 сек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3 мин. Период 13–16 мин. Слайды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Послушайте, что хозяин сказал слуге с пятью талантами и слуге с двумя. Найдите одинаковые слова. Начальные суммы были разными, оба употребили доверенное в дело и оба услышали похвалу за верность. Какой вывод мы можем сделать о сравнении себя с другими?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Прочитайте Мф. 25:21 и 23. На странице 3 раздатки напечатаны оба стиха. В парах подчеркните общие слова «добрый и верный» и «в малом ты был верен». Попросите один ответ о поступках слуг и один о том, почему меньшая сумма не помешала второму получить ту же похвалу.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Какое качество хозяин называет в похвале обоим слугам?</a:t>
            </a:r>
          </a:p>
          <a:p xmlns:a="http://schemas.openxmlformats.org/drawingml/2006/main">
            <a:r>
              <a:t>Ориентир: Верность. Оба действовали с тем, что им доверили, и принесли приобретённое.</a:t>
            </a:r>
          </a:p>
          <a:p xmlns:a="http://schemas.openxmlformats.org/drawingml/2006/main">
            <a:r>
              <a:t>Ритм: 1 мин — два стиха; 1 мин — сравнение в парах; 30 сек — ответы; 30 сек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 Период 16–20 мин. Слайды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Третий слуга говорит, что испугался, и показывает спрятанное серебро. Хозяин требует ответственности за доверенное. Финал притчи — серьёзное предупреждение Иисуса. Теперь другой, придуманный пример: девочка хочет сделать приглашение для нового участника, но думает: «У других получится красивее». Какой небольшой шаг ей доступен?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Покажите слайд 6. Прочитайте Мф. 25:24–27 и напомните, что стихи 28–30 тоже входят в прочитанный рассказ. Поясните: «Иисус предупреждает об ответственности перед Богом за доверенное». Отделите современный пример от слов слуги: страх сравнения придуман для задания. В паре один говорит за девочку, другой предлагает поддержку: «Давай сначала напишем одну понятную фразу» или «Покажем черновик учителю». Поменяйте роли. Учебную ошибку можно исправлять, обращаясь за советом и продолжая учиться.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Какая конкретная просьба поможет героине начать?</a:t>
            </a:r>
          </a:p>
          <a:p xmlns:a="http://schemas.openxmlformats.org/drawingml/2006/main">
            <a:r>
              <a:t>Ориентир: «Помоги мне с первой фразой», «Посмотри мой черновик», «Давай попробуем вместе».</a:t>
            </a:r>
          </a:p>
          <a:p xmlns:a="http://schemas.openxmlformats.org/drawingml/2006/main">
            <a:r>
              <a:t>Ритм: 1 мин — текст и предупреждение; 30 сек — современная ситуация; 2 мин — диалог со сменой ролей; 30 сек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 Период 20–24 мин. Слайды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Полезными могут быть рисунок, понятное объяснение, внимательное слушание или умение заметить, что человеку трудно. Можно начать с того, чему ещё учишься. Выберите карточку с одной вашей возможностью и одну с тем, что хотите развивать. Кому это может помочь?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На стол каждой команды положите шесть карточек возможностей со страницы 4. Каждый записывает в начале личного листа: «У меня уже получается…» и «Я хочу научиться…». Если трудно, предложите пример маленького дела: объяснить правило, выслушать вопрос, подготовить материалы. В парах участники называют получателя помощи. Иллюстрация на слайде 7 показывает разные занятия в условной обстановке.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может помочь человек, который умеет замечать детали?</a:t>
            </a:r>
          </a:p>
          <a:p xmlns:a="http://schemas.openxmlformats.org/drawingml/2006/main">
            <a:r>
              <a:t>Ориентир: Проверить, хватает ли материалов, заметить непонятную часть инструкции, уточнить вопрос новичка.</a:t>
            </a:r>
          </a:p>
          <a:p xmlns:a="http://schemas.openxmlformats.org/drawingml/2006/main">
            <a:r>
              <a:t>Ритм: 30 сек — примеры; 1,5 мин — выбор и запись; 1 мин — применение в паре; 1 мин — несколько ответов.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3 мин. Период 24–27 мин. Слайды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Апостол Пётр пишет: «Служите друг другу, каждый тем даром, какой получил». Сначала узнаем, что человеку нужно. Один играет помощника и спрашивает: «Что поможет тебе присоединиться?» Другой берёт карточку новичка и отвечает. Затем помощник предлагает конкретный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Прочитайте 1 Пет. 4:10 целиком из приложения. Покажите слайд 8. Дайте каждой паре две ролевые карточки со страницы 5: «Хочу понять правила» и «Хочу познакомиться с ребятами». Сначала один выбирает ответ за новичка, второй уточняет и предлагает помощь. Через минуту смените роли. Пример: «Объяснить правило и показать первый ход» или «Познакомить с одним участником».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стоит спросить о нужде, прежде чем предлагать своё умение?</a:t>
            </a:r>
          </a:p>
          <a:p xmlns:a="http://schemas.openxmlformats.org/drawingml/2006/main">
            <a:r>
              <a:t>Ориентир: Чтобы помощь отвечала настоящему вопросу человека и он мог её принять.</a:t>
            </a:r>
          </a:p>
          <a:p xmlns:a="http://schemas.openxmlformats.org/drawingml/2006/main">
            <a:r>
              <a:t>Ритм: 30 сек — стих; 30 сек — роли; 1 мин — первый диалог; 1 мин — смена ролей и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6 мин. Период 27–33 мин. Слайды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Теперь используем наши возможности в общем деле. Новичок хочет присоединиться к игре и просит понятно объяснить, как начать. Сделайте небольшое приглашение с двумя понятными шагами и подготовьте приветствие на полминуты. У каждого будет свой вклад: встретить, объяснить, оформить или проверить понятность.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Соберите команды по 3–4 человека, максимум пять команд. Раздайте бумагу, карандаши и карточку задания со страницы 4. Команды выбирают знакомую всем простую игру. На листе пишут её название, приглашение и два первых шага. Например: «Хочешь собирать рисунок с нами? 1. Выбери карандаш. 2. Нарисуй одну деталь общего рисунка». Роли выбирают сами; при трёх участниках оформление и проверку совмещают. Дайте четыре минуты на изготовление и минуту на пробу приветствия. Учитель уточняет: «Понятно ли человеку, что делать первым?»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Какую нужду новичка решает ваша работа?</a:t>
            </a:r>
          </a:p>
          <a:p xmlns:a="http://schemas.openxmlformats.org/drawingml/2006/main">
            <a:r>
              <a:t>Ориентир: Помогает понять, как начать и где присоединиться. Каждый вклад поддерживает общее дело.</a:t>
            </a:r>
          </a:p>
          <a:p xmlns:a="http://schemas.openxmlformats.org/drawingml/2006/main">
            <a:r>
              <a:t>Ритм: 1 мин — задача и роли; 4 мин — изготовление; 1 мин — репетиция внутри команды.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 Период 33–37 мин. Слайды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Проверим, понятна ли наша помощь. Пригласите одного участника другой команды. Покажите приглашение и за полминуты объясните начало игры. Он скажет, что понял и о чём ещё хотел бы спросить. После отзыва исправьте одну непонятную деталь.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Соедините команды попарно. Каждая отправляет одного добровольца в соседнюю команду. При нечётном числе команд учитель становится гостем оставшейся. Объяснения проходят одновременно, по 30 секунд. Гость называет первый шаг, затем говорит: «Мне помогло…» и «Хочу уточнить…». Он возвращается, команды улучшают одну фразу или рисунок. Попросите два коротких примера изменений. Участник может остаться в своей команде и помочь принимать гостя.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отзыв показал, что помощь действительно понятна?</a:t>
            </a:r>
          </a:p>
          <a:p xmlns:a="http://schemas.openxmlformats.org/drawingml/2006/main">
            <a:r>
              <a:t>Ориентир: Гость смог назвать первый шаг и понял, как присоединиться. Его уточнение помогло исправить инструкцию.</a:t>
            </a:r>
          </a:p>
          <a:p xmlns:a="http://schemas.openxmlformats.org/drawingml/2006/main">
            <a:r>
              <a:t>Ритм: 30 сек — обмен гостями; 1 мин — объяснение и повтор первого шага; 1 мин — отзыв; 1 мин — исправление; 30 сек — общий итог.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 Период 37–41 мин. Слайды 11–12.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Теперь выберите своё небольшое дело на неделю. Запишите, кому оно поможет, что человеку нужно, что вы сделаете первым, когда начнёте и у кого попросите совет. Можно выбрать умение, которому ещё учитесь. Сначала предложите помощь человеку и узнайте, подходит ли она ему.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Откройте слайд 11 с вопросами и дайте две минуты на личный лист. Затем покажите пример на слайде 12: «Могу понятно объяснить правило. Помогу младшему брату начать настольную игру, если он захочет. В субботу покажу один ход. Если будет трудно, попрошу взрослого объяснить правило вместе». В паре уточните один пункт своего плана. При слишком большой задаче предложите уменьшить первый шаг. Лист остаётся у участника.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Сможешь ли ты сделать первый шаг за неделю? Как узнаешь, что помощь нужна?</a:t>
            </a:r>
          </a:p>
          <a:p xmlns:a="http://schemas.openxmlformats.org/drawingml/2006/main">
            <a:r>
              <a:t>Ориентир: Есть конкретный получатель, вопрос о нужде, небольшой шаг, день начала и доступная поддержка.</a:t>
            </a:r>
          </a:p>
          <a:p xmlns:a="http://schemas.openxmlformats.org/drawingml/2006/main">
            <a:r>
              <a:t>Ритм: 2 мин — личный план; 1 мин — пример и вопрос партнёра; 1 мин —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 Период 37–41 мин. Слайды 11–12.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Теперь выберите своё небольшое дело на неделю. Запишите, кому оно поможет, что человеку нужно, что вы сделаете первым, когда начнёте и у кого попросите совет. Можно выбрать умение, которому ещё учитесь. Сначала предложите помощь человеку и узнайте, подходит ли она ему.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Откройте слайд 11 с вопросами и дайте две минуты на личный лист. Затем покажите пример на слайде 12: «Могу понятно объяснить правило. Помогу младшему брату начать настольную игру, если он захочет. В субботу покажу один ход. Если будет трудно, попрошу взрослого объяснить правило вместе». В паре уточните один пункт своего плана. При слишком большой задаче предложите уменьшить первый шаг. Лист остаётся у участника.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Сможешь ли ты сделать первый шаг за неделю? Как узнаешь, что помощь нужна?</a:t>
            </a:r>
          </a:p>
          <a:p xmlns:a="http://schemas.openxmlformats.org/drawingml/2006/main">
            <a:r>
              <a:t>Ориентир: Есть конкретный получатель, вопрос о нужде, небольшой шаг, день начала и доступная поддержка.</a:t>
            </a:r>
          </a:p>
          <a:p xmlns:a="http://schemas.openxmlformats.org/drawingml/2006/main">
            <a:r>
              <a:t>Ритм: 2 мин — личный план; 1 мин — пример и вопрос партнёра; 1 мин — уточнение.</a:t>
            </a:r>
          </a:p>
          <a:p xmlns:a="http://schemas.openxmlformats.org/drawingml/2006/main">
            <a:r>
              <a:t>Это вымышленный пример посильного плана. Участник составляет свой план и сначала уточняет нужду человека.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2 мин. Период 41–43 мин. Слайды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Что может помешать? Например: не умею всего, сравниваю себя с другими или не хватает времени. Выберите одну трудность и закончите строку: «Если это случится, я…». Можно попросить совет, потренироваться на маленькой части или уменьшить задачу и согласовать новый день.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Покажите слайд 13. Участники заполняют последнюю строку личного листа и называют вариант партнёру. Проверьте два примера: поддержка должна быть доступной, а шаг — посильным. Напомните фразу хозяина из Мф. 25:21 о верности в малом.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поможет продолжить после первой трудности?</a:t>
            </a:r>
          </a:p>
          <a:p xmlns:a="http://schemas.openxmlformats.org/drawingml/2006/main">
            <a:r>
              <a:t>Ориентир: Конкретный совет, небольшая проба, помощь партнёра, посильный срок и выполнение договорённости.</a:t>
            </a:r>
          </a:p>
          <a:p xmlns:a="http://schemas.openxmlformats.org/drawingml/2006/main">
            <a:r>
              <a:t>Ритм: 30 сек — выбор трудности; 1 мин — запись и пара; 30 сек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 Период 43–45 мин. Слайды 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Закончим двумя короткими ответами: «Талант в притче — это…» и «Мой первый шаг — …». Мы увидели: хозяин доверил разное, первые двое действовали и услышали одинаковую похвалу за верность. Служить друг другу можно тем даром, который получил. По желанию помолимся о том, чтобы верно использовать доверенное.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Все сначала формулируют ответы партнёру, затем выслушайте двух желающих. Возьмите из ответа один конкретный поступок. Прочитайте короткую молитву: «Господи, помоги нам верно использовать то, что Ты нам доверил, учиться и приносить пользу ближним. Аминь». Предложите сохранить личный лист и через неделю проверить свой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ты попробуешь сделать и кому это поможет?</a:t>
            </a:r>
          </a:p>
          <a:p xmlns:a="http://schemas.openxmlformats.org/drawingml/2006/main">
            <a:r>
              <a:t>Ориентир: Посильный конкретный поступок для названного человека. Талант в рассказе — денежная мера, способности — применение притчи к нашей жизни.</a:t>
            </a:r>
          </a:p>
          <a:p xmlns:a="http://schemas.openxmlformats.org/drawingml/2006/main">
            <a:r>
              <a:t>Ритм: 1 мин — ответы в парах; 30 сек — два примера; 30 сек — завершение или молитва.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Библейские источники: Мф. 25:14–30, Синодальный перевод, https://bible.by/syn/40/25/ ; 1 Пет. 4:10, https://bible.by/syn/46/4/ . Талант в притче — денежная мера, способности рассматриваются как современное применение. Иллюстрации созданы для урока. Современные ситуации вымышлены, числа и цитаты указаны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532e8fb4d44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1bbfae32440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705ea3fdd4e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503f7846d45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1595facca4c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3c954e7244a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8821E3F-01CD-45DA-8F42-30D2B3D7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1961C7-6BB4-4FC5-862F-AA8FB1BE3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82A4603-3866-47DF-A41B-F072F9AF99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15AE1E8-F462-45B9-A20B-415C2E34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21FB89-5C36-4B35-BFFE-86E17B29E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15C8CC6-9ACF-4BC6-BEFD-C6BAC752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13270D-0606-4F81-A690-447E072D3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C725DF5-3DDE-45B9-A2D0-7F4ACE8B36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09A071A-4346-4FAD-9354-AB2BAC71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7AA5A5-A3E9-4686-8096-8D8F26FA17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E86B70-1E65-4061-B1F3-2385B20BD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5E83A8-5313-42D5-9EA6-14C1E01070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A1F950D-3A49-486D-99EF-E95479FF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71812B-07B9-48E8-AB91-797E30FCE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138D9D-1E6C-4225-91A6-01D1B572C8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cfcc19cd3240d0" /><Relationship Type="http://schemas.openxmlformats.org/officeDocument/2006/relationships/slideLayout" Target="/ppt/slideLayouts/slideLayout1.xml" Id="R80db6a674c014784" /><Relationship Type="http://schemas.openxmlformats.org/officeDocument/2006/relationships/slideLayout" Target="/ppt/slideLayouts/slideLayout2.xml" Id="R6a07d7fb7803459c" /><Relationship Type="http://schemas.openxmlformats.org/officeDocument/2006/relationships/slideLayout" Target="/ppt/slideLayouts/slideLayout3.xml" Id="Rb6b3168e011540d6" /><Relationship Type="http://schemas.openxmlformats.org/officeDocument/2006/relationships/slideLayout" Target="/ppt/slideLayouts/slideLayout4.xml" Id="R71b2251a7a67453f" /><Relationship Type="http://schemas.openxmlformats.org/officeDocument/2006/relationships/slideLayout" Target="/ppt/slideLayouts/slideLayout5.xml" Id="R48362747b42e48c9" /><Relationship Type="http://schemas.openxmlformats.org/officeDocument/2006/relationships/slideLayout" Target="/ppt/slideLayouts/slideLayout6.xml" Id="R338df3719b964f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db6a674c014784"/>
    <p:sldLayoutId xmlns:r="http://schemas.openxmlformats.org/officeDocument/2006/relationships" id="2147483650" r:id="R6a07d7fb7803459c"/>
    <p:sldLayoutId xmlns:r="http://schemas.openxmlformats.org/officeDocument/2006/relationships" id="2147483651" r:id="Rb6b3168e011540d6"/>
    <p:sldLayoutId xmlns:r="http://schemas.openxmlformats.org/officeDocument/2006/relationships" id="2147483652" r:id="R71b2251a7a67453f"/>
    <p:sldLayoutId xmlns:r="http://schemas.openxmlformats.org/officeDocument/2006/relationships" id="2147483653" r:id="R48362747b42e48c9"/>
    <p:sldLayoutId xmlns:r="http://schemas.openxmlformats.org/officeDocument/2006/relationships" id="2147483654" r:id="R338df3719b964f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066f6a3554408" /><Relationship Type="http://schemas.openxmlformats.org/officeDocument/2006/relationships/image" Target="/ppt/media/image.jpeg" Id="Rf7e25cc1e3e24254" /><Relationship Type="http://schemas.openxmlformats.org/officeDocument/2006/relationships/notesSlide" Target="/ppt/notesSlides/notesSlide1.xml" Id="Ra465d99644d74e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ac34529f540ae" /><Relationship Type="http://schemas.openxmlformats.org/officeDocument/2006/relationships/image" Target="/ppt/media/image2.jpeg" Id="R815399cf8a1a4bcd" /><Relationship Type="http://schemas.openxmlformats.org/officeDocument/2006/relationships/notesSlide" Target="/ppt/notesSlides/notesSlide2.xml" Id="R1720d710c3e2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746e4eaea4aa8" /><Relationship Type="http://schemas.openxmlformats.org/officeDocument/2006/relationships/notesSlide" Target="/ppt/notesSlides/notesSlide3.xml" Id="R024cc5de7a134f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805cb273442d1" /><Relationship Type="http://schemas.openxmlformats.org/officeDocument/2006/relationships/notesSlide" Target="/ppt/notesSlides/notesSlide4.xml" Id="R7f7ae96ebe6f46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800e71e9ac4cfc" /><Relationship Type="http://schemas.openxmlformats.org/officeDocument/2006/relationships/notesSlide" Target="/ppt/notesSlides/notesSlide5.xml" Id="R24a28ce4c37e4e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4a7cb223342cf" /><Relationship Type="http://schemas.openxmlformats.org/officeDocument/2006/relationships/image" Target="/ppt/media/image3.jpeg" Id="R8eb35d1260d048af" /><Relationship Type="http://schemas.openxmlformats.org/officeDocument/2006/relationships/notesSlide" Target="/ppt/notesSlides/notesSlide6.xml" Id="R2e5b61cee71d4c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ef41f11b94646" /><Relationship Type="http://schemas.openxmlformats.org/officeDocument/2006/relationships/image" Target="/ppt/media/image4.jpeg" Id="R3cf1ab7593bd4efa" /><Relationship Type="http://schemas.openxmlformats.org/officeDocument/2006/relationships/notesSlide" Target="/ppt/notesSlides/notesSlide7.xml" Id="Rb8f34a87be6f44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5e40e93764814" /><Relationship Type="http://schemas.openxmlformats.org/officeDocument/2006/relationships/image" Target="/ppt/media/image5.jpeg" Id="Rbec286b6911b4549" /><Relationship Type="http://schemas.openxmlformats.org/officeDocument/2006/relationships/notesSlide" Target="/ppt/notesSlides/notesSlide8.xml" Id="R52aee08818034c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f29726673473b" /><Relationship Type="http://schemas.openxmlformats.org/officeDocument/2006/relationships/notesSlide" Target="/ppt/notesSlides/notesSlide9.xml" Id="R52fd252d273941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dee674ce24c04" /><Relationship Type="http://schemas.openxmlformats.org/officeDocument/2006/relationships/notesSlide" Target="/ppt/notesSlides/notesSlide10.xml" Id="R8e38717a052649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4f802fcb74911" /><Relationship Type="http://schemas.openxmlformats.org/officeDocument/2006/relationships/notesSlide" Target="/ppt/notesSlides/notesSlide11.xml" Id="Rcb93f451375e42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38e6def514ce4" /><Relationship Type="http://schemas.openxmlformats.org/officeDocument/2006/relationships/notesSlide" Target="/ppt/notesSlides/notesSlide12.xml" Id="Rff88cb38c01644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6a766dc214377" /><Relationship Type="http://schemas.openxmlformats.org/officeDocument/2006/relationships/notesSlide" Target="/ppt/notesSlides/notesSlide13.xml" Id="R46b101b235c14f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ddfc12a2944ec" /><Relationship Type="http://schemas.openxmlformats.org/officeDocument/2006/relationships/notesSlide" Target="/ppt/notesSlides/notesSlide14.xml" Id="R4881cc312eb34c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25cc1e3e2425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BB047F3E-4D4B-4D5F-8EAA-0A5E73DC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делать</a:t>
            </a:r>
          </a:p>
          <a:p xmlns:a="http://schemas.openxmlformats.org/drawingml/2006/main">
            <a:pPr>
              <a:defRPr sz="42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со своим</a:t>
            </a:r>
          </a:p>
          <a:p xmlns:a="http://schemas.openxmlformats.org/drawingml/2006/main">
            <a:pPr>
              <a:defRPr sz="42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талантом?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D5E79AA-B463-43F2-8AFF-798C364A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11–13 лет   45 минут</a:t>
            </a:r>
          </a:p>
        </p:txBody>
      </p:sp>
    </p:spTree>
    <p:extLst>
      <p:ext uri="{BB962C8B-B14F-4D97-AF65-F5344CB8AC3E}">
        <p14:creationId xmlns:p14="http://schemas.microsoft.com/office/powerpoint/2010/main" val="695714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B732123-1ACE-4621-9DDC-D93B8D4D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Доверенное трём слугам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FBDA2AD-0D71-4F59-AFFB-54173FC3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0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8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Пять</a:t>
            </a:r>
          </a:p>
          <a:p xmlns:a="http://schemas.openxmlformats.org/drawingml/2006/main">
            <a:pPr>
              <a:defRPr sz="38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8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Два</a:t>
            </a:r>
          </a:p>
          <a:p xmlns:a="http://schemas.openxmlformats.org/drawingml/2006/main">
            <a:pPr>
              <a:defRPr sz="38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8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Один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3040E03-1327-4208-A4F8-9D042932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Мф. 25:14–18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399cf8a1a4bcd"/>
          <a:stretch xmlns:a="http://schemas.openxmlformats.org/drawingml/2006/main"/>
        </p:blipFill>
        <p:spPr>
          <a:xfrm xmlns:a="http://schemas.openxmlformats.org/drawingml/2006/main">
            <a:off x="5086350" y="1896290"/>
            <a:ext cx="6496050" cy="3655971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BC14EC1-DF86-4DF9-AF82-08643840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396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D1942948-0AD2-4B0B-B814-10613EB6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слуги принесли к отчёту?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828800"/>
          <a:ext xmlns:a="http://schemas.openxmlformats.org/drawingml/2006/main" cx="106680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2857500"/>
                <a:gridCol w="3619500"/>
              </a:tblGrid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50" b="1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Слуга</a:t>
                      </a:r>
                    </a:p>
                  </a:txBody>
                  <a:tcPr marL="91440" marR="91440" marT="45720" marB="45720">
                    <a:solidFill>
                      <a:srgbClr val="E5E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50" b="1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Получил</a:t>
                      </a:r>
                    </a:p>
                  </a:txBody>
                  <a:tcPr marL="91440" marR="91440" marT="45720" marB="45720">
                    <a:solidFill>
                      <a:srgbClr val="E5E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50" b="1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 отчёте</a:t>
                      </a:r>
                    </a:p>
                  </a:txBody>
                  <a:tcPr marL="91440" marR="91440" marT="45720" marB="45720">
                    <a:solidFill>
                      <a:srgbClr val="E5EDE8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Первый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Второй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Третий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233D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497C595-828E-44BE-8EAA-FC5ADCE7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До решения хозяина о третьем слуге.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6F63E55-B2D1-446A-BEDF-C426B0B2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7003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020D526-AA3F-44B8-A76B-4E21D5E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Два значения слова «талант»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B99F326-EDCB-4A8C-B281-C8191A3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 притче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B55D537-1629-4407-A00C-45F8969D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Денежная мера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4BF1153-82F1-4251-AC18-D1F7DFF1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335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Сегодня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728B790-B121-4FB4-98C3-4B47217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Способность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D099631-3B0B-488F-A979-7F5F121D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Что доверено мне и как это использовать?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4E83F6E-F4EA-455E-922F-A170DEA6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5179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00F518A-38E4-456F-838D-9E6D0232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Одинаковая похвала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7B55DF-E44B-42AD-BA7E-647E59B1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«В малом ты был верен…»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B61B64-55BB-458B-8FC3-1B1B8176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Мф. 25:21 и 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3CF672-D2A7-4F04-9B50-A2F36176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За что хозяин хвалит обоих?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4084385-3B41-4D54-8AD3-5EB31510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6817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3DCF818-0228-4B06-98FA-A56B869C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Спрятанное серебро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F8570A-9E38-4142-9989-04B44AB1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спрятал</a:t>
            </a:r>
          </a:p>
          <a:p xmlns:a="http://schemas.openxmlformats.org/drawingml/2006/main">
            <a:pPr>
              <a:defRPr sz="35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доверенное.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DAC2CD3-63BE-4515-A446-36D9B4DE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Мф. 25:24–30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35d1260d048af"/>
          <a:stretch xmlns:a="http://schemas.openxmlformats.org/drawingml/2006/main"/>
        </p:blipFill>
        <p:spPr>
          <a:xfrm xmlns:a="http://schemas.openxmlformats.org/drawingml/2006/main">
            <a:off x="5086350" y="1896290"/>
            <a:ext cx="6496050" cy="3655971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2BA7EE6-0EBB-42C0-AE11-6C42CA8A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Что поможет начать с маленького шага?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0F0AC54-7957-4009-811F-E78CFFC5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0561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A4DBC20-C0D8-4F05-A882-5C93640E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Разные возможности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FBAA06-4527-4DB5-8D3A-67A65F6F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4572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у меня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уже получается?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Чему я хочу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научиться?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1ab7593bd4efa"/>
          <a:stretch xmlns:a="http://schemas.openxmlformats.org/drawingml/2006/main"/>
        </p:blipFill>
        <p:spPr>
          <a:xfrm xmlns:a="http://schemas.openxmlformats.org/drawingml/2006/main">
            <a:off x="5391150" y="1991585"/>
            <a:ext cx="6191250" cy="348443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73D8000-5F6A-4BDA-88C4-E45094A0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9975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1C6B136-D71D-4754-A4D5-9F153A8A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Помощь начинается с вопроса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B71FAB-75F9-47D9-8213-984FBEBD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«Что поможет тебе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присоединиться?»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286b6911b4549"/>
          <a:stretch xmlns:a="http://schemas.openxmlformats.org/drawingml/2006/main"/>
        </p:blipFill>
        <p:spPr>
          <a:xfrm xmlns:a="http://schemas.openxmlformats.org/drawingml/2006/main">
            <a:off x="5391150" y="1991585"/>
            <a:ext cx="6191250" cy="348443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34C7E7F-78C6-4DE5-A6B0-C60D80F6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 Пет. 4:10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63E8BC2-827C-44FF-B546-E4DDC6F3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1804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98EDFA5-6EC0-43C4-94E1-D21FCDDC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Мастерская помощи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BF23B1-5B8E-4C66-B62C-1DAD69E1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Приглашение в общую игру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00DA1A8-8218-4350-B309-6F130843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Два понятных первых шага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Приветствие на 30 секунд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EFA298-0368-4980-A3BD-71911C2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6 минут на общее дело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2019B2D-D11E-4704-BE23-D795B6A6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7879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5A9F0CA-ED0A-4EDC-8E89-3C70D38D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Проверка с гостем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C54C37-6DC7-4F5A-89E5-663C8CFA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Гость объясняет,</a:t>
            </a:r>
          </a:p>
          <a:p xmlns:a="http://schemas.openxmlformats.org/drawingml/2006/main">
            <a:pPr>
              <a:defRPr sz="35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он понял.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D38B64-4969-421E-A63E-B23C11D2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0477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«Мне помогло…»</a:t>
            </a:r>
          </a:p>
          <a:p xmlns:a="http://schemas.openxmlformats.org/drawingml/2006/main">
            <a:pPr>
              <a:defRPr sz="352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«Хочу уточнить…»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6E7427D-21CC-4373-91F4-96BF06CE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31708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D30D4EA7-E5B3-4109-B21D-41393F2E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Мой один шаг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493D5F0-8BD9-4F0A-AA90-B635E0A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Кому поможет?</a:t>
            </a:r>
          </a:p>
          <a:p xmlns:a="http://schemas.openxmlformats.org/drawingml/2006/main">
            <a:pPr>
              <a:def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сделаю первым?</a:t>
            </a:r>
          </a:p>
          <a:p xmlns:a="http://schemas.openxmlformats.org/drawingml/2006/main">
            <a:pPr>
              <a:def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Когда начну?</a:t>
            </a:r>
          </a:p>
          <a:p xmlns:a="http://schemas.openxmlformats.org/drawingml/2006/main">
            <a:pPr>
              <a:def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6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Кто поддержит?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79EA41F-E3E9-4891-B632-BE24BB33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5037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2BA2EC7-49D9-4C0D-BCF6-FCF90A7D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Пример маленького дела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0F0419-CB93-435C-81E9-FCBC3511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Могу объяснить правило игры.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39AA5D-22EA-45C2-8186-36534E65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4775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Спрошу младшего брата.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 субботу покажу один ход.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Если трудно, попрошу совета.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29BAC1-F82F-4D89-8E2A-FEA7C5A1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41670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2DD25E6-F09C-4620-B01E-53B3021A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Помеха и поддержка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73B0DD-D724-415E-B4D3-51C53625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Не умею всего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93E7C3-C5D8-448E-824C-911DBE1C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Сравниваю себя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3120ADC-2463-4837-971E-DDEAF0CC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Не хватает времени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44098B3-8AEF-421C-B2FC-A326D30F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Если это случится, я…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335C0BC-C69B-471D-ADF4-ECEB0148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0345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0B81151-2B4E-46BE-B48F-0D930417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Доверенное для добра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120F4A-5CE0-438B-A43C-F89A850A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047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«Служите друг другу,</a:t>
            </a:r>
          </a:p>
          <a:p xmlns:a="http://schemas.openxmlformats.org/drawingml/2006/main">
            <a:pPr>
              <a:defRPr sz="34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каждый тем даром,</a:t>
            </a:r>
          </a:p>
          <a:p xmlns:a="http://schemas.openxmlformats.org/drawingml/2006/main">
            <a:pPr>
              <a:defRPr sz="34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какой получил…»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4BB022A-4FF8-4B12-A35E-1974C235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 Пет. 4:10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A54080-97AE-46CE-8B7A-B2678BF3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Мой первый шаг — …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C21ABA-02A9-44AB-81E2-F17A7CC1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87950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2026-10-02T12:40:11.6940000Z</dcterms:created>
  <dcterms:modified xsi:type="dcterms:W3CDTF">2026-10-02T12:40:11.6940000Z</dcterms:modified>
</coreProperties>
</file>