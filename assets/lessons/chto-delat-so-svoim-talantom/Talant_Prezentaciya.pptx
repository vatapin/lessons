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92716687734336" /><Relationship Type="http://schemas.openxmlformats.org/officeDocument/2006/relationships/extended-properties" Target="/docProps/app.xml" Id="R9a98d3a43fa14d31" /><Relationship Type="http://schemas.openxmlformats.org/officeDocument/2006/relationships/officeDocument" Target="/ppt/presentation.xml" Id="R9fc58de539d04c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ed83f3184145d6"/>
  </p:sldMasterIdLst>
  <p:notesMasterIdLst>
    <p:notesMasterId xmlns:r="http://schemas.openxmlformats.org/officeDocument/2006/relationships" r:id="Ra7672ac3e52b4d5c"/>
  </p:notesMasterIdLst>
  <p:sldIdLst>
    <p:sldId xmlns:r="http://schemas.openxmlformats.org/officeDocument/2006/relationships" id="256" r:id="Ra834cc0dff644321"/>
    <p:sldId xmlns:r="http://schemas.openxmlformats.org/officeDocument/2006/relationships" id="257" r:id="R1a0e12347b304fd2"/>
    <p:sldId xmlns:r="http://schemas.openxmlformats.org/officeDocument/2006/relationships" id="258" r:id="R472f3ebaf169484a"/>
    <p:sldId xmlns:r="http://schemas.openxmlformats.org/officeDocument/2006/relationships" id="259" r:id="Raecd3f90d6a94456"/>
    <p:sldId xmlns:r="http://schemas.openxmlformats.org/officeDocument/2006/relationships" id="260" r:id="R240b87e59f93415d"/>
    <p:sldId xmlns:r="http://schemas.openxmlformats.org/officeDocument/2006/relationships" id="261" r:id="Rf7295d0d78e9436b"/>
    <p:sldId xmlns:r="http://schemas.openxmlformats.org/officeDocument/2006/relationships" id="262" r:id="Rde2a0da65c584e1d"/>
    <p:sldId xmlns:r="http://schemas.openxmlformats.org/officeDocument/2006/relationships" id="263" r:id="R13983e98a789405a"/>
    <p:sldId xmlns:r="http://schemas.openxmlformats.org/officeDocument/2006/relationships" id="264" r:id="Rf8182cb0bd9e4c3b"/>
    <p:sldId xmlns:r="http://schemas.openxmlformats.org/officeDocument/2006/relationships" id="265" r:id="Rb26bb36c53914615"/>
    <p:sldId xmlns:r="http://schemas.openxmlformats.org/officeDocument/2006/relationships" id="266" r:id="R8f265dca294648a3"/>
    <p:sldId xmlns:r="http://schemas.openxmlformats.org/officeDocument/2006/relationships" id="267" r:id="Rfea9ec9169fe4395"/>
    <p:sldId xmlns:r="http://schemas.openxmlformats.org/officeDocument/2006/relationships" id="268" r:id="R3e3bdc28b8b34bf1"/>
    <p:sldId xmlns:r="http://schemas.openxmlformats.org/officeDocument/2006/relationships" id="269" r:id="R70ded22831d04a2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962182969c4977" /><Relationship Type="http://schemas.openxmlformats.org/officeDocument/2006/relationships/slideMaster" Target="/ppt/slideMasters/slideMaster1.xml" Id="Rbaed83f3184145d6" /><Relationship Type="http://schemas.openxmlformats.org/officeDocument/2006/relationships/notesMaster" Target="/ppt/notesMasters/notesMaster1.xml" Id="Ra7672ac3e52b4d5c" /><Relationship Type="http://schemas.openxmlformats.org/officeDocument/2006/relationships/presProps" Target="/ppt/presProps.xml" Id="Rd7ac0f94bc0e4968" /><Relationship Type="http://schemas.openxmlformats.org/officeDocument/2006/relationships/tableStyles" Target="/ppt/tableStyles.xml" Id="R6226b01c0c2647a1" /><Relationship Type="http://schemas.openxmlformats.org/officeDocument/2006/relationships/slide" Target="/ppt/slides/slide1.xml" Id="Ra834cc0dff644321" /><Relationship Type="http://schemas.openxmlformats.org/officeDocument/2006/relationships/slide" Target="/ppt/slides/slide2.xml" Id="R1a0e12347b304fd2" /><Relationship Type="http://schemas.openxmlformats.org/officeDocument/2006/relationships/slide" Target="/ppt/slides/slide3.xml" Id="R472f3ebaf169484a" /><Relationship Type="http://schemas.openxmlformats.org/officeDocument/2006/relationships/slide" Target="/ppt/slides/slide4.xml" Id="Raecd3f90d6a94456" /><Relationship Type="http://schemas.openxmlformats.org/officeDocument/2006/relationships/slide" Target="/ppt/slides/slide5.xml" Id="R240b87e59f93415d" /><Relationship Type="http://schemas.openxmlformats.org/officeDocument/2006/relationships/slide" Target="/ppt/slides/slide6.xml" Id="Rf7295d0d78e9436b" /><Relationship Type="http://schemas.openxmlformats.org/officeDocument/2006/relationships/slide" Target="/ppt/slides/slide7.xml" Id="Rde2a0da65c584e1d" /><Relationship Type="http://schemas.openxmlformats.org/officeDocument/2006/relationships/slide" Target="/ppt/slides/slide8.xml" Id="R13983e98a789405a" /><Relationship Type="http://schemas.openxmlformats.org/officeDocument/2006/relationships/slide" Target="/ppt/slides/slide9.xml" Id="Rf8182cb0bd9e4c3b" /><Relationship Type="http://schemas.openxmlformats.org/officeDocument/2006/relationships/slide" Target="/ppt/slides/slide10.xml" Id="Rb26bb36c53914615" /><Relationship Type="http://schemas.openxmlformats.org/officeDocument/2006/relationships/slide" Target="/ppt/slides/slide11.xml" Id="R8f265dca294648a3" /><Relationship Type="http://schemas.openxmlformats.org/officeDocument/2006/relationships/slide" Target="/ppt/slides/slide12.xml" Id="Rfea9ec9169fe4395" /><Relationship Type="http://schemas.openxmlformats.org/officeDocument/2006/relationships/slide" Target="/ppt/slides/slide13.xml" Id="R3e3bdc28b8b34bf1" /><Relationship Type="http://schemas.openxmlformats.org/officeDocument/2006/relationships/slide" Target="/ppt/slides/slide14.xml" Id="R70ded22831d04a2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3971c3e36e47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061331dc49649aa" /><Relationship Type="http://schemas.openxmlformats.org/officeDocument/2006/relationships/notesMaster" Target="/ppt/notesMasters/notesMaster1.xml" Id="Ree0315a3e67247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281c98886e4d55" /><Relationship Type="http://schemas.openxmlformats.org/officeDocument/2006/relationships/notesMaster" Target="/ppt/notesMasters/notesMaster1.xml" Id="R7eec908e162f4e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123251a5274392" /><Relationship Type="http://schemas.openxmlformats.org/officeDocument/2006/relationships/notesMaster" Target="/ppt/notesMasters/notesMaster1.xml" Id="Rc8f1e79d67cb4a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523861dc1c145de" /><Relationship Type="http://schemas.openxmlformats.org/officeDocument/2006/relationships/notesMaster" Target="/ppt/notesMasters/notesMaster1.xml" Id="R2777162b98794a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3a17c66a7a4380" /><Relationship Type="http://schemas.openxmlformats.org/officeDocument/2006/relationships/notesMaster" Target="/ppt/notesMasters/notesMaster1.xml" Id="Rc62570e76705467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3af71f0455544aa" /><Relationship Type="http://schemas.openxmlformats.org/officeDocument/2006/relationships/notesMaster" Target="/ppt/notesMasters/notesMaster1.xml" Id="R475b58f90ccf42c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2b16b12d6344c5" /><Relationship Type="http://schemas.openxmlformats.org/officeDocument/2006/relationships/notesMaster" Target="/ppt/notesMasters/notesMaster1.xml" Id="Re1577d36765f419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1ad1484ee5c4d00" /><Relationship Type="http://schemas.openxmlformats.org/officeDocument/2006/relationships/notesMaster" Target="/ppt/notesMasters/notesMaster1.xml" Id="R281fb3d40ccf45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dcee83384c44276" /><Relationship Type="http://schemas.openxmlformats.org/officeDocument/2006/relationships/notesMaster" Target="/ppt/notesMasters/notesMaster1.xml" Id="R42d13b7c93c540f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a69f0e2f6b24af3" /><Relationship Type="http://schemas.openxmlformats.org/officeDocument/2006/relationships/notesMaster" Target="/ppt/notesMasters/notesMaster1.xml" Id="Rd8193c5ff64e4c4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45a61b56cb34611" /><Relationship Type="http://schemas.openxmlformats.org/officeDocument/2006/relationships/notesMaster" Target="/ppt/notesMasters/notesMaster1.xml" Id="R8b483084a8b54a6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9f4ebdb1b2845f9" /><Relationship Type="http://schemas.openxmlformats.org/officeDocument/2006/relationships/notesMaster" Target="/ppt/notesMasters/notesMaster1.xml" Id="R6c8d912d849247d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e8db3e33a824a6b" /><Relationship Type="http://schemas.openxmlformats.org/officeDocument/2006/relationships/notesMaster" Target="/ppt/notesMasters/notesMaster1.xml" Id="Rbd3ab4f1382c4ea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8e146f338074768" /><Relationship Type="http://schemas.openxmlformats.org/officeDocument/2006/relationships/notesMaster" Target="/ppt/notesMasters/notesMaster1.xml" Id="Re0f3d0734f5a4c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Этап 1. 5 мин. Период 0–5 мин. Слайды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Реплика учителя: Сегодня прочитаем историю о том, что хозяин доверил своим слугам. Талант здесь — крупная денежная мера, а не умение петь или рисовать. В библейском тексте эти зависимые слуги названы рабами. Сначала послушаем притчу целиком, а затем разыграем её.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Как провести: Покажите слайд 1. Прочитайте Мф. 25:14–30 из приложения к уроку, включая финал. Во время чтения ответы не собирайте. После чтения сразу предложите четырём добровольцам роли хозяина и трёх слуг. Остальные будут помогать рассказать историю и следить за действиями.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Вопрос: Вопросов до сценки нет. Первое обсуждение начинается на следующем этапе.</a:t>
            </a:r>
          </a:p>
          <a:p xmlns:a="http://schemas.openxmlformats.org/drawingml/2006/main">
            <a:r>
              <a:t>Ориентир: Прочитан весь рассказ, участники готовы действовать.</a:t>
            </a:r>
          </a:p>
          <a:p xmlns:a="http://schemas.openxmlformats.org/drawingml/2006/main">
            <a:r>
              <a:t>Ритм: 30 сек — пояснение слов; 4 мин — чтение; 30 сек — приглашение к сценке.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Библейские источники: Мф. 25:14–30, Синодальный перевод, https://bible.by/syn/40/25/ ; 1 Пет. 4:10, https://bible.by/syn/46/4/ . Талант в притче — денежная мера, способности рассматриваются как современное применение. Иллюстрации созданы для урока. Современные ситуации вымышлены, числа и цитаты указаны в тексте.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Этап 2. 5 мин. Период 5–10 мин. Слайды 2–3.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Реплика учителя: Хозяин доверяет одному слуге пять талантов, другому два, третьему один. Первые двое употребляют доверенное в дело, третий прячет. Сейчас я буду рассказывать, а помощники покажут действия карточками. Все остальные выбирают подходящее слово: «использовал» или «спрятал».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Как провести: Откройте слайд 2. Хозяин вручает трём слугам карточки «Получил 5», «Получил 2», «Получил 1». Читайте Мф. 25:15–18 по одному действию. Первые двое берут карточки «Всего 10» и «Всего 4», третий кладёт свою карточку в конверт. Группа обозначает действие: раскрытая ладонь — использовал, ладонь сверху — спрятал. При возвращении хозяина первые двое показывают результат, третий возвращает прежнюю карточку. Спросите суммы, затем откройте таблицу на слайде 3. Числа — таланты в притче, количество кошельков на картинке условное.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Вопрос: Что получили слуги и что каждый сделал с доверенным?</a:t>
            </a:r>
          </a:p>
          <a:p xmlns:a="http://schemas.openxmlformats.org/drawingml/2006/main">
            <a:r>
              <a:t>Ориентир: Первый: 5, приобрёл ещё 5, всего 10. Второй: 2, приобрёл ещё 2, всего 4. Третий: 1, спрятал, вернул 1 до решения хозяина.</a:t>
            </a:r>
          </a:p>
          <a:p xmlns:a="http://schemas.openxmlformats.org/drawingml/2006/main">
            <a:r>
              <a:t>Ритм: 1 мин — роли и карточки; 1 мин — передача; 2 мин — действия и возвращение; 1 мин — ответы и таблица.</a:t>
            </a:r>
          </a:p>
          <a:p xmlns:a="http://schemas.openxmlformats.org/drawingml/2006/main">
            <a:r>
              <a:t>Следующий слайд с числами показывают после ответов участников.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Библейские источники: Мф. 25:14–30, Синодальный перевод, https://bible.by/syn/40/25/ ; 1 Пет. 4:10, https://bible.by/syn/46/4/ . Талант в притче — денежная мера, способности рассматриваются как современное применение. Иллюстрации созданы для урока. Современные ситуации вымышлены, числа и цитаты указаны в тексте.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Этап 2. 5 мин. Период 5–10 мин. Слайды 2–3.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Реплика учителя: Хозяин доверяет одному слуге пять талантов, другому два, третьему один. Первые двое употребляют доверенное в дело, третий прячет. Сейчас я буду рассказывать, а помощники покажут действия карточками. Все остальные выбирают подходящее слово: «использовал» или «спрятал».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Как провести: Откройте слайд 2. Хозяин вручает трём слугам карточки «Получил 5», «Получил 2», «Получил 1». Читайте Мф. 25:15–18 по одному действию. Первые двое берут карточки «Всего 10» и «Всего 4», третий кладёт свою карточку в конверт. Группа обозначает действие: раскрытая ладонь — использовал, ладонь сверху — спрятал. При возвращении хозяина первые двое показывают результат, третий возвращает прежнюю карточку. Спросите суммы, затем откройте таблицу на слайде 3. Числа — таланты в притче, количество кошельков на картинке условное.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Вопрос: Что получили слуги и что каждый сделал с доверенным?</a:t>
            </a:r>
          </a:p>
          <a:p xmlns:a="http://schemas.openxmlformats.org/drawingml/2006/main">
            <a:r>
              <a:t>Ориентир: Первый: 5, приобрёл ещё 5, всего 10. Второй: 2, приобрёл ещё 2, всего 4. Третий: 1, спрятал, вернул 1 до решения хозяина.</a:t>
            </a:r>
          </a:p>
          <a:p xmlns:a="http://schemas.openxmlformats.org/drawingml/2006/main">
            <a:r>
              <a:t>Ритм: 1 мин — роли и карточки; 1 мин — передача; 2 мин — действия и возвращение; 1 мин — ответы и таблица.</a:t>
            </a:r>
          </a:p>
          <a:p xmlns:a="http://schemas.openxmlformats.org/drawingml/2006/main">
            <a:r>
              <a:t>Числа таблицы: первый 5+5=10, второй 2+2=4, третий вернул 1. После его отчёта по Мф. 25:28 талант передают имеющему десять. Таблица описывает момент до этого решения.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Библейские источники: Мф. 25:14–30, Синодальный перевод, https://bible.by/syn/40/25/ ; 1 Пет. 4:10, https://bible.by/syn/46/4/ . Талант в притче — денежная мера, способности рассматриваются как современное применение. Иллюстрации созданы для урока. Современные ситуации вымышлены, числа и цитаты указаны в тексте.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Этап 3. 3 мин. Период 10–13 мин. Слайды 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Реплика учителя: В притче хозяин передал деньги. Сегодня словом «талант» мы называем способность. Мы можем применить урок притчи к своим умениям и другим возможностям. Разложите четыре фразы: какие описывают сам рассказ, а какие говорят о нашей жизни?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Как провести: Дайте каждой паре четыре карточки со страницы 3 раздатки: «Хозяин дал пять талантов», «Слуга закопал серебро», «Я умею рисовать», «Я умею слушать». На столе обозначьте две стороны словами «В притче» и «В нашей жизни». После раскладки попросите пару объяснить один выбор. Завершите: «Смысл слова в рассказе и наше применение мы различаем».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Вопрос: Что хозяин действительно дал слугам? Как мы можем применить историю сегодня?</a:t>
            </a:r>
          </a:p>
          <a:p xmlns:a="http://schemas.openxmlformats.org/drawingml/2006/main">
            <a:r>
              <a:t>Ориентир: Он доверил средства. Сегодня мы учимся верно использовать способности, время и другие возможности.</a:t>
            </a:r>
          </a:p>
          <a:p xmlns:a="http://schemas.openxmlformats.org/drawingml/2006/main">
            <a:r>
              <a:t>Ритм: 30 сек — два значения; 1 мин — раскладка; 1 мин — объяснения; 30 сек — вывод.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Библейские источники: Мф. 25:14–30, Синодальный перевод, https://bible.by/syn/40/25/ ; 1 Пет. 4:10, https://bible.by/syn/46/4/ . Талант в притче — денежная мера, способности рассматриваются как современное применение. Иллюстрации созданы для урока. Современные ситуации вымышлены, числа и цитаты указаны в тексте.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Этап 4. 3 мин. Период 13–16 мин. Слайды 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Реплика учителя: Послушайте, что хозяин сказал слуге с пятью талантами и слуге с двумя. Найдите одинаковые слова. Начальные суммы были разными, оба употребили доверенное в дело и оба услышали похвалу за верность. Какой вывод мы можем сделать о сравнении себя с другими?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Как провести: Прочитайте Мф. 25:21 и 23. На странице 3 раздатки напечатаны оба стиха. В парах подчеркните общие слова «добрый и верный» и «в малом ты был верен». Попросите один ответ о поступках слуг и один о том, почему меньшая сумма не помешала второму получить ту же похвалу.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Вопрос: Какое качество хозяин называет в похвале обоим слугам?</a:t>
            </a:r>
          </a:p>
          <a:p xmlns:a="http://schemas.openxmlformats.org/drawingml/2006/main">
            <a:r>
              <a:t>Ориентир: Верность. Оба действовали с тем, что им доверили, и принесли приобретённое.</a:t>
            </a:r>
          </a:p>
          <a:p xmlns:a="http://schemas.openxmlformats.org/drawingml/2006/main">
            <a:r>
              <a:t>Ритм: 1 мин — два стиха; 1 мин — сравнение в парах; 30 сек — ответы; 30 сек — вывод.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Библейские источники: Мф. 25:14–30, Синодальный перевод, https://bible.by/syn/40/25/ ; 1 Пет. 4:10, https://bible.by/syn/46/4/ . Талант в притче — денежная мера, способности рассматриваются как современное применение. Иллюстрации созданы для урока. Современные ситуации вымышлены, числа и цитаты указаны в тексте.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Этап 5. 4 мин. Период 16–20 мин. Слайды 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Реплика учителя: Третий слуга говорит, что испугался, и показывает спрятанное серебро. Хозяин требует ответственности за доверенное. Финал притчи — серьёзное предупреждение Иисуса. Теперь другой, придуманный пример: девочка хочет сделать приглашение для нового участника, но думает: «У других получится красивее». Какой небольшой шаг ей доступен?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Как провести: Покажите слайд 6. Прочитайте Мф. 25:24–27 и напомните, что стихи 28–30 тоже входят в прочитанный рассказ. Поясните: «Иисус предупреждает об ответственности перед Богом за доверенное». Отделите современный пример от слов слуги: страх сравнения придуман для задания. В паре один говорит за девочку, другой предлагает поддержку: «Давай сначала напишем одну понятную фразу» или «Покажем черновик учителю». Поменяйте роли. Учебную ошибку можно исправлять, обращаясь за советом и продолжая учиться.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Вопрос: Какая конкретная просьба поможет героине начать?</a:t>
            </a:r>
          </a:p>
          <a:p xmlns:a="http://schemas.openxmlformats.org/drawingml/2006/main">
            <a:r>
              <a:t>Ориентир: «Помоги мне с первой фразой», «Посмотри мой черновик», «Давай попробуем вместе».</a:t>
            </a:r>
          </a:p>
          <a:p xmlns:a="http://schemas.openxmlformats.org/drawingml/2006/main">
            <a:r>
              <a:t>Ритм: 1 мин — текст и предупреждение; 30 сек — современная ситуация; 2 мин — диалог со сменой ролей; 30 сек — вывод.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Библейские источники: Мф. 25:14–30, Синодальный перевод, https://bible.by/syn/40/25/ ; 1 Пет. 4:10, https://bible.by/syn/46/4/ . Талант в притче — денежная мера, способности рассматриваются как современное применение. Иллюстрации созданы для урока. Современные ситуации вымышлены, числа и цитаты указаны в тексте.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Этап 6. 4 мин. Период 20–24 мин. Слайды 7.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Реплика учителя: Полезными могут быть рисунок, понятное объяснение, внимательное слушание или умение заметить, что человеку трудно. Можно начать с того, чему ещё учишься. Выберите карточку с одной вашей возможностью и одну с тем, что хотите развивать. Кому это может помочь?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Как провести: На стол каждой команды положите шесть карточек возможностей со страницы 4. Каждый записывает в начале личного листа: «У меня уже получается…» и «Я хочу научиться…». Если трудно, предложите пример маленького дела: объяснить правило, выслушать вопрос, подготовить материалы. В парах участники называют получателя помощи. Иллюстрация на слайде 7 показывает разные занятия в условной обстановке.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Вопрос: Как может помочь человек, который умеет замечать детали?</a:t>
            </a:r>
          </a:p>
          <a:p xmlns:a="http://schemas.openxmlformats.org/drawingml/2006/main">
            <a:r>
              <a:t>Ориентир: Проверить, хватает ли материалов, заметить непонятную часть инструкции, уточнить вопрос новичка.</a:t>
            </a:r>
          </a:p>
          <a:p xmlns:a="http://schemas.openxmlformats.org/drawingml/2006/main">
            <a:r>
              <a:t>Ритм: 30 сек — примеры; 1,5 мин — выбор и запись; 1 мин — применение в паре; 1 мин — несколько ответов.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Библейские источники: Мф. 25:14–30, Синодальный перевод, https://bible.by/syn/40/25/ ; 1 Пет. 4:10, https://bible.by/syn/46/4/ . Талант в притче — денежная мера, способности рассматриваются как современное применение. Иллюстрации созданы для урока. Современные ситуации вымышлены, числа и цитаты указаны в тексте.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Этап 7. 3 мин. Период 24–27 мин. Слайды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Реплика учителя: Апостол Пётр пишет: «Служите друг другу, каждый тем даром, какой получил». Сначала узнаем, что человеку нужно. Один играет помощника и спрашивает: «Что поможет тебе присоединиться?» Другой берёт карточку новичка и отвечает. Затем помощник предлагает конкретный шаг.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Как провести: Прочитайте 1 Пет. 4:10 целиком из приложения. Покажите слайд 8. Дайте каждой паре две ролевые карточки со страницы 5: «Хочу понять правила» и «Хочу познакомиться с ребятами». Сначала один выбирает ответ за новичка, второй уточняет и предлагает помощь. Через минуту смените роли. Пример: «Объяснить правило и показать первый ход» или «Познакомить с одним участником».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Вопрос: Почему стоит спросить о нужде, прежде чем предлагать своё умение?</a:t>
            </a:r>
          </a:p>
          <a:p xmlns:a="http://schemas.openxmlformats.org/drawingml/2006/main">
            <a:r>
              <a:t>Ориентир: Чтобы помощь отвечала настоящему вопросу человека и он мог её принять.</a:t>
            </a:r>
          </a:p>
          <a:p xmlns:a="http://schemas.openxmlformats.org/drawingml/2006/main">
            <a:r>
              <a:t>Ритм: 30 сек — стих; 30 сек — роли; 1 мин — первый диалог; 1 мин — смена ролей и вывод.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Библейские источники: Мф. 25:14–30, Синодальный перевод, https://bible.by/syn/40/25/ ; 1 Пет. 4:10, https://bible.by/syn/46/4/ . Талант в притче — денежная мера, способности рассматриваются как современное применение. Иллюстрации созданы для урока. Современные ситуации вымышлены, числа и цитаты указаны в тексте.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Этап 8. 6 мин. Период 27–33 мин. Слайды 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Реплика учителя: Теперь используем наши возможности в общем деле. Новичок хочет присоединиться к игре и просит понятно объяснить, как начать. Сделайте небольшое приглашение с двумя понятными шагами и подготовьте приветствие на полминуты. У каждого будет свой вклад: встретить, объяснить, оформить или проверить понятность.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Как провести: Соберите команды по 3–4 человека, максимум пять команд. Раздайте бумагу, карандаши и карточку задания со страницы 4. Команды выбирают знакомую всем простую игру. На листе пишут её название, приглашение и два первых шага. Например: «Хочешь собирать рисунок с нами? 1. Выбери карандаш. 2. Нарисуй одну деталь общего рисунка». Роли выбирают сами; при трёх участниках оформление и проверку совмещают. Дайте четыре минуты на изготовление и минуту на пробу приветствия. Учитель уточняет: «Понятно ли человеку, что делать первым?»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Вопрос: Какую нужду новичка решает ваша работа?</a:t>
            </a:r>
          </a:p>
          <a:p xmlns:a="http://schemas.openxmlformats.org/drawingml/2006/main">
            <a:r>
              <a:t>Ориентир: Помогает понять, как начать и где присоединиться. Каждый вклад поддерживает общее дело.</a:t>
            </a:r>
          </a:p>
          <a:p xmlns:a="http://schemas.openxmlformats.org/drawingml/2006/main">
            <a:r>
              <a:t>Ритм: 1 мин — задача и роли; 4 мин — изготовление; 1 мин — репетиция внутри команды.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Библейские источники: Мф. 25:14–30, Синодальный перевод, https://bible.by/syn/40/25/ ; 1 Пет. 4:10, https://bible.by/syn/46/4/ . Талант в притче — денежная мера, способности рассматриваются как современное применение. Иллюстрации созданы для урока. Современные ситуации вымышлены, числа и цитаты указаны в тексте.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Этап 9. 4 мин. Период 33–37 мин. Слайды 10.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Реплика учителя: Проверим, понятна ли наша помощь. Пригласите одного участника другой команды. Покажите приглашение и за полминуты объясните начало игры. Он скажет, что понял и о чём ещё хотел бы спросить. После отзыва исправьте одну непонятную деталь.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Как провести: Соедините команды попарно. Каждая отправляет одного добровольца в соседнюю команду. При нечётном числе команд учитель становится гостем оставшейся. Объяснения проходят одновременно, по 30 секунд. Гость называет первый шаг, затем говорит: «Мне помогло…» и «Хочу уточнить…». Он возвращается, команды улучшают одну фразу или рисунок. Попросите два коротких примера изменений. Участник может остаться в своей команде и помочь принимать гостя.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Вопрос: Какой отзыв показал, что помощь действительно понятна?</a:t>
            </a:r>
          </a:p>
          <a:p xmlns:a="http://schemas.openxmlformats.org/drawingml/2006/main">
            <a:r>
              <a:t>Ориентир: Гость смог назвать первый шаг и понял, как присоединиться. Его уточнение помогло исправить инструкцию.</a:t>
            </a:r>
          </a:p>
          <a:p xmlns:a="http://schemas.openxmlformats.org/drawingml/2006/main">
            <a:r>
              <a:t>Ритм: 30 сек — обмен гостями; 1 мин — объяснение и повтор первого шага; 1 мин — отзыв; 1 мин — исправление; 30 сек — общий итог.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Библейские источники: Мф. 25:14–30, Синодальный перевод, https://bible.by/syn/40/25/ ; 1 Пет. 4:10, https://bible.by/syn/46/4/ . Талант в притче — денежная мера, способности рассматриваются как современное применение. Иллюстрации созданы для урока. Современные ситуации вымышлены, числа и цитаты указаны в тексте.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Этап 10. 4 мин. Период 37–41 мин. Слайды 11–12.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Реплика учителя: Теперь выберите своё небольшое дело на неделю. Запишите, кому оно поможет, что человеку нужно, что вы сделаете первым, когда начнёте и у кого попросите совет. Можно выбрать умение, которому ещё учитесь. Сначала предложите помощь человеку и узнайте, подходит ли она ему.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Как провести: Откройте слайд 11 с вопросами и дайте две минуты на личный лист. Затем покажите пример на слайде 12: «Могу понятно объяснить правило. Помогу младшему брату начать настольную игру, если он захочет. В субботу покажу один ход. Если будет трудно, попрошу взрослого объяснить правило вместе». В паре уточните один пункт своего плана. При слишком большой задаче предложите уменьшить первый шаг. Лист остаётся у участника.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Вопрос: Сможешь ли ты сделать первый шаг за неделю? Как узнаешь, что помощь нужна?</a:t>
            </a:r>
          </a:p>
          <a:p xmlns:a="http://schemas.openxmlformats.org/drawingml/2006/main">
            <a:r>
              <a:t>Ориентир: Есть конкретный получатель, вопрос о нужде, небольшой шаг, день начала и доступная поддержка.</a:t>
            </a:r>
          </a:p>
          <a:p xmlns:a="http://schemas.openxmlformats.org/drawingml/2006/main">
            <a:r>
              <a:t>Ритм: 2 мин — личный план; 1 мин — пример и вопрос партнёра; 1 мин — уточнение.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Библейские источники: Мф. 25:14–30, Синодальный перевод, https://bible.by/syn/40/25/ ; 1 Пет. 4:10, https://bible.by/syn/46/4/ . Талант в притче — денежная мера, способности рассматриваются как современное применение. Иллюстрации созданы для урока. Современные ситуации вымышлены, числа и цитаты указаны в тексте.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Этап 10. 4 мин. Период 37–41 мин. Слайды 11–12.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Реплика учителя: Теперь выберите своё небольшое дело на неделю. Запишите, кому оно поможет, что человеку нужно, что вы сделаете первым, когда начнёте и у кого попросите совет. Можно выбрать умение, которому ещё учитесь. Сначала предложите помощь человеку и узнайте, подходит ли она ему.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Как провести: Откройте слайд 11 с вопросами и дайте две минуты на личный лист. Затем покажите пример на слайде 12: «Могу понятно объяснить правило. Помогу младшему брату начать настольную игру, если он захочет. В субботу покажу один ход. Если будет трудно, попрошу взрослого объяснить правило вместе». В паре уточните один пункт своего плана. При слишком большой задаче предложите уменьшить первый шаг. Лист остаётся у участника.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Вопрос: Сможешь ли ты сделать первый шаг за неделю? Как узнаешь, что помощь нужна?</a:t>
            </a:r>
          </a:p>
          <a:p xmlns:a="http://schemas.openxmlformats.org/drawingml/2006/main">
            <a:r>
              <a:t>Ориентир: Есть конкретный получатель, вопрос о нужде, небольшой шаг, день начала и доступная поддержка.</a:t>
            </a:r>
          </a:p>
          <a:p xmlns:a="http://schemas.openxmlformats.org/drawingml/2006/main">
            <a:r>
              <a:t>Ритм: 2 мин — личный план; 1 мин — пример и вопрос партнёра; 1 мин — уточнение.</a:t>
            </a:r>
          </a:p>
          <a:p xmlns:a="http://schemas.openxmlformats.org/drawingml/2006/main">
            <a:r>
              <a:t>Это вымышленный пример посильного плана. Участник составляет свой план и сначала уточняет нужду человека.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Библейские источники: Мф. 25:14–30, Синодальный перевод, https://bible.by/syn/40/25/ ; 1 Пет. 4:10, https://bible.by/syn/46/4/ . Талант в притче — денежная мера, способности рассматриваются как современное применение. Иллюстрации созданы для урока. Современные ситуации вымышлены, числа и цитаты указаны в тексте.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Этап 11. 2 мин. Период 41–43 мин. Слайды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Реплика учителя: Что может помешать? Например: не умею всего, сравниваю себя с другими или не хватает времени. Выберите одну трудность и закончите строку: «Если это случится, я…». Можно попросить совет, потренироваться на маленькой части или уменьшить задачу и согласовать новый день.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Как провести: Покажите слайд 13. Участники заполняют последнюю строку личного листа и называют вариант партнёру. Проверьте два примера: поддержка должна быть доступной, а шаг — посильным. Напомните фразу хозяина из Мф. 25:21 о верности в малом.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Вопрос: Что поможет продолжить после первой трудности?</a:t>
            </a:r>
          </a:p>
          <a:p xmlns:a="http://schemas.openxmlformats.org/drawingml/2006/main">
            <a:r>
              <a:t>Ориентир: Конкретный совет, небольшая проба, помощь партнёра, посильный срок и выполнение договорённости.</a:t>
            </a:r>
          </a:p>
          <a:p xmlns:a="http://schemas.openxmlformats.org/drawingml/2006/main">
            <a:r>
              <a:t>Ритм: 30 сек — выбор трудности; 1 мин — запись и пара; 30 сек — вывод.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Библейские источники: Мф. 25:14–30, Синодальный перевод, https://bible.by/syn/40/25/ ; 1 Пет. 4:10, https://bible.by/syn/46/4/ . Талант в притче — денежная мера, способности рассматриваются как современное применение. Иллюстрации созданы для урока. Современные ситуации вымышлены, числа и цитаты указаны в тексте.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Этап 12. 2 мин. Период 43–45 мин. Слайды 14.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Реплика учителя: Закончим двумя короткими ответами: «Талант в притче — это…» и «Мой первый шаг — …». Мы увидели: хозяин доверил разное, первые двое действовали и услышали одинаковую похвалу за верность. Служить друг другу можно тем даром, который получил. По желанию помолимся о том, чтобы верно использовать доверенное.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Как провести: Все сначала формулируют ответы партнёру, затем выслушайте двух желающих. Возьмите из ответа один конкретный поступок. Прочитайте короткую молитву: «Господи, помоги нам верно использовать то, что Ты нам доверил, учиться и приносить пользу ближним. Аминь». Предложите сохранить личный лист и через неделю проверить свой шаг.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Вопрос: Что ты попробуешь сделать и кому это поможет?</a:t>
            </a:r>
          </a:p>
          <a:p xmlns:a="http://schemas.openxmlformats.org/drawingml/2006/main">
            <a:r>
              <a:t>Ориентир: Посильный конкретный поступок для названного человека. Талант в рассказе — денежная мера, способности — применение притчи к нашей жизни.</a:t>
            </a:r>
          </a:p>
          <a:p xmlns:a="http://schemas.openxmlformats.org/drawingml/2006/main">
            <a:r>
              <a:t>Ритм: 1 мин — ответы в парах; 30 сек — два примера; 30 сек — завершение или молитва.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Библейские источники: Мф. 25:14–30, Синодальный перевод, https://bible.by/syn/40/25/ ; 1 Пет. 4:10, https://bible.by/syn/46/4/ . Талант в притче — денежная мера, способности рассматриваются как современное применение. Иллюстрации созданы для урока. Современные ситуации вымышлены, числа и цитаты указаны в тексте.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fd9b39d4fb4f5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4a8ef5491747b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96b9ec76f24b0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da6fadfd86457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1e0e0d4b47441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3c0bfe188549b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8821E3F-01CD-45DA-8F42-30D2B3D7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71961C7-6BB4-4FC5-862F-AA8FB1BE39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82A4603-3866-47DF-A41B-F072F9AF99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B15AE1E8-F462-45B9-A20B-415C2E34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A21FB89-5C36-4B35-BFFE-86E17B29E9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15C8CC6-9ACF-4BC6-BEFD-C6BAC752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713270D-0606-4F81-A690-447E072D36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C725DF5-3DDE-45B9-A2D0-7F4ACE8B36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09A071A-4346-4FAD-9354-AB2BAC71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D7AA5A5-A3E9-4686-8096-8D8F26FA17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8E86B70-1E65-4061-B1F3-2385B20BD8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D5E83A8-5313-42D5-9EA6-14C1E01070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A1F950D-3A49-486D-99EF-E95479FF9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471812B-07B9-48E8-AB91-797E30FCEC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5138D9D-1E6C-4225-91A6-01D1B572C8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0ad4d86d0f4981" /><Relationship Type="http://schemas.openxmlformats.org/officeDocument/2006/relationships/slideLayout" Target="/ppt/slideLayouts/slideLayout1.xml" Id="Reec9d216272343ba" /><Relationship Type="http://schemas.openxmlformats.org/officeDocument/2006/relationships/slideLayout" Target="/ppt/slideLayouts/slideLayout2.xml" Id="R1ae02a8b49b64a4a" /><Relationship Type="http://schemas.openxmlformats.org/officeDocument/2006/relationships/slideLayout" Target="/ppt/slideLayouts/slideLayout3.xml" Id="R25ffb75ecd254934" /><Relationship Type="http://schemas.openxmlformats.org/officeDocument/2006/relationships/slideLayout" Target="/ppt/slideLayouts/slideLayout4.xml" Id="Rfe5b71ad68f745f2" /><Relationship Type="http://schemas.openxmlformats.org/officeDocument/2006/relationships/slideLayout" Target="/ppt/slideLayouts/slideLayout5.xml" Id="R0b64ba321d1542b4" /><Relationship Type="http://schemas.openxmlformats.org/officeDocument/2006/relationships/slideLayout" Target="/ppt/slideLayouts/slideLayout6.xml" Id="Rf595585666d040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c9d216272343ba"/>
    <p:sldLayoutId xmlns:r="http://schemas.openxmlformats.org/officeDocument/2006/relationships" id="2147483650" r:id="R1ae02a8b49b64a4a"/>
    <p:sldLayoutId xmlns:r="http://schemas.openxmlformats.org/officeDocument/2006/relationships" id="2147483651" r:id="R25ffb75ecd254934"/>
    <p:sldLayoutId xmlns:r="http://schemas.openxmlformats.org/officeDocument/2006/relationships" id="2147483652" r:id="Rfe5b71ad68f745f2"/>
    <p:sldLayoutId xmlns:r="http://schemas.openxmlformats.org/officeDocument/2006/relationships" id="2147483653" r:id="R0b64ba321d1542b4"/>
    <p:sldLayoutId xmlns:r="http://schemas.openxmlformats.org/officeDocument/2006/relationships" id="2147483654" r:id="Rf595585666d040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6ebd403af24476" /><Relationship Type="http://schemas.openxmlformats.org/officeDocument/2006/relationships/image" Target="/ppt/media/image.jpeg" Id="R4c0e5646950b492b" /><Relationship Type="http://schemas.openxmlformats.org/officeDocument/2006/relationships/notesSlide" Target="/ppt/notesSlides/notesSlide1.xml" Id="R17f6124c153f407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f4a3524de24374" /><Relationship Type="http://schemas.openxmlformats.org/officeDocument/2006/relationships/image" Target="/ppt/media/image2.jpeg" Id="Rd3a83e1b8ceb4109" /><Relationship Type="http://schemas.openxmlformats.org/officeDocument/2006/relationships/notesSlide" Target="/ppt/notesSlides/notesSlide2.xml" Id="Rbcbf56ad4fa14e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dfc4350ffc4f82" /><Relationship Type="http://schemas.openxmlformats.org/officeDocument/2006/relationships/image" Target="/ppt/media/image3.jpeg" Id="Rc30f94b753754de1" /><Relationship Type="http://schemas.openxmlformats.org/officeDocument/2006/relationships/notesSlide" Target="/ppt/notesSlides/notesSlide3.xml" Id="R146a3471edf7481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289b75eeae4eea" /><Relationship Type="http://schemas.openxmlformats.org/officeDocument/2006/relationships/image" Target="/ppt/media/image4.jpeg" Id="R9fab72ff6b964dc8" /><Relationship Type="http://schemas.openxmlformats.org/officeDocument/2006/relationships/notesSlide" Target="/ppt/notesSlides/notesSlide4.xml" Id="R75c5b2385117422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fac42a9a7b4fea" /><Relationship Type="http://schemas.openxmlformats.org/officeDocument/2006/relationships/image" Target="/ppt/media/image5.jpeg" Id="Rcbb657c00af14b63" /><Relationship Type="http://schemas.openxmlformats.org/officeDocument/2006/relationships/notesSlide" Target="/ppt/notesSlides/notesSlide5.xml" Id="R64c856565f7c4b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7be3ddb3a34627" /><Relationship Type="http://schemas.openxmlformats.org/officeDocument/2006/relationships/image" Target="/ppt/media/image6.jpeg" Id="R3bc3baba1bba4ef3" /><Relationship Type="http://schemas.openxmlformats.org/officeDocument/2006/relationships/notesSlide" Target="/ppt/notesSlides/notesSlide6.xml" Id="R7e0553f6457447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d6e48420d9460c" /><Relationship Type="http://schemas.openxmlformats.org/officeDocument/2006/relationships/image" Target="/ppt/media/image7.jpeg" Id="R1304e47468bd4c72" /><Relationship Type="http://schemas.openxmlformats.org/officeDocument/2006/relationships/notesSlide" Target="/ppt/notesSlides/notesSlide7.xml" Id="R1a145b0ac4454fc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5fcd022f9746d8" /><Relationship Type="http://schemas.openxmlformats.org/officeDocument/2006/relationships/image" Target="/ppt/media/image8.jpeg" Id="R0bc5dccb8c044ebe" /><Relationship Type="http://schemas.openxmlformats.org/officeDocument/2006/relationships/notesSlide" Target="/ppt/notesSlides/notesSlide8.xml" Id="Rcf16f8b2eca64be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155eb1eab24f7d" /><Relationship Type="http://schemas.openxmlformats.org/officeDocument/2006/relationships/image" Target="/ppt/media/image9.jpeg" Id="R828831d4584b48e3" /><Relationship Type="http://schemas.openxmlformats.org/officeDocument/2006/relationships/notesSlide" Target="/ppt/notesSlides/notesSlide9.xml" Id="Rf48e6b6200a341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fa46e6903640b8" /><Relationship Type="http://schemas.openxmlformats.org/officeDocument/2006/relationships/image" Target="/ppt/media/image10.jpeg" Id="Rfaa2ee2bafe44123" /><Relationship Type="http://schemas.openxmlformats.org/officeDocument/2006/relationships/notesSlide" Target="/ppt/notesSlides/notesSlide10.xml" Id="R3ce4440748204b9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36dd406252424a" /><Relationship Type="http://schemas.openxmlformats.org/officeDocument/2006/relationships/image" Target="/ppt/media/image11.jpeg" Id="Rff92dafb51034073" /><Relationship Type="http://schemas.openxmlformats.org/officeDocument/2006/relationships/notesSlide" Target="/ppt/notesSlides/notesSlide11.xml" Id="Rebad395ffe3e4f5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bb5efaea8840e1" /><Relationship Type="http://schemas.openxmlformats.org/officeDocument/2006/relationships/image" Target="/ppt/media/image12.jpeg" Id="Rb63aa37f044a444a" /><Relationship Type="http://schemas.openxmlformats.org/officeDocument/2006/relationships/notesSlide" Target="/ppt/notesSlides/notesSlide12.xml" Id="R24f9b4e16b65444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45b1284f544393" /><Relationship Type="http://schemas.openxmlformats.org/officeDocument/2006/relationships/image" Target="/ppt/media/image13.jpeg" Id="R373ac7ea7911452c" /><Relationship Type="http://schemas.openxmlformats.org/officeDocument/2006/relationships/notesSlide" Target="/ppt/notesSlides/notesSlide13.xml" Id="R4ca5d86f85fe4cb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7e284394f94326" /><Relationship Type="http://schemas.openxmlformats.org/officeDocument/2006/relationships/image" Target="/ppt/media/image14.jpeg" Id="R1323ec64f345435b" /><Relationship Type="http://schemas.openxmlformats.org/officeDocument/2006/relationships/notesSlide" Target="/ppt/notesSlides/notesSlide14.xml" Id="R791ef13337194b0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0e5646950b492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39" y="0"/>
            <a:ext cx="12185522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ext-0">
            <a:extLst xmlns:a="http://schemas.openxmlformats.org/drawingml/2006/main">
              <a:ext uri="{FF2B5EF4-FFF2-40B4-BE49-F238E27FC236}">
                <a16:creationId xmlns:a16="http://schemas.microsoft.com/office/drawing/2014/main" id="{BB047F3E-4D4B-4D5F-8EAA-0A5E73DC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857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20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420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Что делать</a:t>
            </a:r>
          </a:p>
          <a:p xmlns:a="http://schemas.openxmlformats.org/drawingml/2006/main">
            <a:pPr>
              <a:buNone/>
              <a:defRPr sz="420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420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со своим</a:t>
            </a:r>
          </a:p>
          <a:p xmlns:a="http://schemas.openxmlformats.org/drawingml/2006/main">
            <a:pPr>
              <a:buNone/>
              <a:defRPr sz="420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420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талантом?</a:t>
            </a:r>
          </a:p>
        </p:txBody>
      </p:sp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6D5E79AA-B463-43F2-8AFF-798C364A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86300"/>
            <a:ext cx="4857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11–13 лет   45 минут</a:t>
            </a:r>
          </a:p>
        </p:txBody>
      </p:sp>
    </p:spTree>
    <p:extLst>
      <p:ext uri="{BB962C8B-B14F-4D97-AF65-F5344CB8AC3E}">
        <p14:creationId xmlns:p14="http://schemas.microsoft.com/office/powerpoint/2010/main" val="6957144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4B732123-1ACE-4621-9DDC-D93B8D4D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Доверенное трём слугам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FBDA2AD-0D71-4F59-AFFB-54173FC3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4000500" cy="2762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82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82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Пять</a:t>
            </a:r>
          </a:p>
          <a:p xmlns:a="http://schemas.openxmlformats.org/drawingml/2006/main">
            <a:pPr>
              <a:buNone/>
              <a:defRPr sz="382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82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Два</a:t>
            </a:r>
          </a:p>
          <a:p xmlns:a="http://schemas.openxmlformats.org/drawingml/2006/main">
            <a:pPr>
              <a:buNone/>
              <a:defRPr sz="382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82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Один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B3040E03-1327-4208-A4F8-9D042932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625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Мф. 25:14–18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a83e1b8ceb410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86350" y="1896290"/>
            <a:ext cx="6496050" cy="3655971"/>
          </a:xfrm>
          <a:prstGeom xmlns:a="http://schemas.openxmlformats.org/drawingml/2006/main" prst="rect">
            <a:avLst/>
          </a:prstGeom>
        </p:spPr>
      </p:pic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7BC14EC1-DF86-4DF9-AF82-08643840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43967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D1942948-0AD2-4B0B-B814-10613EB6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6858000" cy="3238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571750"/>
                <a:gridCol w="1905000"/>
                <a:gridCol w="2381250"/>
              </a:tblGrid>
              <a:tr h="8096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233D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Слуга</a:t>
                      </a:r>
                    </a:p>
                  </a:txBody>
                  <a:tcPr marL="91440" marR="91440" marT="45720" marB="45720">
                    <a:solidFill>
                      <a:srgbClr val="E5EDE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233D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Получил</a:t>
                      </a:r>
                    </a:p>
                  </a:txBody>
                  <a:tcPr marL="91440" marR="91440" marT="45720" marB="45720">
                    <a:solidFill>
                      <a:srgbClr val="E5EDE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233D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При отчёте</a:t>
                      </a:r>
                    </a:p>
                  </a:txBody>
                  <a:tcPr marL="91440" marR="91440" marT="45720" marB="45720">
                    <a:solidFill>
                      <a:srgbClr val="E5EDE8"/>
                    </a:solidFill>
                  </a:tcPr>
                </a:tc>
              </a:tr>
              <a:tr h="8096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775" b="0">
                          <a:solidFill>
                            <a:srgbClr val="233D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Первый</a:t>
                      </a:r>
                    </a:p>
                  </a:txBody>
                  <a:tcPr marL="91440" marR="91440" marT="45720" marB="45720">
                    <a:solidFill>
                      <a:srgbClr val="FBF7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775" b="0">
                          <a:solidFill>
                            <a:srgbClr val="233D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BF7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775" b="0">
                          <a:solidFill>
                            <a:srgbClr val="233D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BF7EF"/>
                    </a:solidFill>
                  </a:tcPr>
                </a:tc>
              </a:tr>
              <a:tr h="8096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775" b="0">
                          <a:solidFill>
                            <a:srgbClr val="233D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Второй</a:t>
                      </a:r>
                    </a:p>
                  </a:txBody>
                  <a:tcPr marL="91440" marR="91440" marT="45720" marB="45720">
                    <a:solidFill>
                      <a:srgbClr val="FBF7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775" b="0">
                          <a:solidFill>
                            <a:srgbClr val="233D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BF7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775" b="0">
                          <a:solidFill>
                            <a:srgbClr val="233D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BF7EF"/>
                    </a:solidFill>
                  </a:tcPr>
                </a:tc>
              </a:tr>
              <a:tr h="8096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775" b="0">
                          <a:solidFill>
                            <a:srgbClr val="233D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Третий</a:t>
                      </a:r>
                    </a:p>
                  </a:txBody>
                  <a:tcPr marL="91440" marR="91440" marT="45720" marB="45720">
                    <a:solidFill>
                      <a:srgbClr val="FBF7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775" b="0">
                          <a:solidFill>
                            <a:srgbClr val="233D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BF7E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775" b="0">
                          <a:solidFill>
                            <a:srgbClr val="233D47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BF7EF"/>
                    </a:solidFill>
                  </a:tcPr>
                </a:tc>
              </a:tr>
            </a:tbl>
          </a:graphicData>
        </a:graphic>
      </p:graphicFrame>
      <p:sp>
        <p:nvSpPr>
          <p:cNvPr id="3" name="text-1">
            <a:extLst xmlns:a="http://schemas.openxmlformats.org/drawingml/2006/main">
              <a:ext uri="{FF2B5EF4-FFF2-40B4-BE49-F238E27FC236}">
                <a16:creationId xmlns:a16="http://schemas.microsoft.com/office/drawing/2014/main" id="{6497C595-828E-44BE-8EAA-FC5ADCE76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67350"/>
            <a:ext cx="10287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A3533E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A3533E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66F63E55-B2D1-446A-BEDF-C426B0B2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7" name="illustrated-3">
            <a:extLst xmlns:a="http://schemas.openxmlformats.org/drawingml/2006/main">
              <a:ext uri="{FF2B5EF4-FFF2-40B4-BE49-F238E27FC236}">
                <a16:creationId xmlns:a16="http://schemas.microsoft.com/office/drawing/2014/main" id="{81801784-C83E-4E04-88DF-A2D0B7FB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Что слуги принесли к отчёту?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f94b753754de1"/>
          <a:stretch xmlns:a="http://schemas.openxmlformats.org/drawingml/2006/main"/>
        </p:blipFill>
        <p:spPr>
          <a:xfrm xmlns:a="http://schemas.openxmlformats.org/drawingml/2006/main">
            <a:off x="7905750" y="2594417"/>
            <a:ext cx="3676650" cy="2069215"/>
          </a:xfrm>
          <a:prstGeom xmlns:a="http://schemas.openxmlformats.org/drawingml/2006/main" prst="rect">
            <a:avLst/>
          </a:prstGeom>
        </p:spPr>
      </p:pic>
      <p:sp>
        <p:nvSpPr>
          <p:cNvPr id="9" name="illustrated-4">
            <a:extLst xmlns:a="http://schemas.openxmlformats.org/drawingml/2006/main">
              <a:ext uri="{FF2B5EF4-FFF2-40B4-BE49-F238E27FC236}">
                <a16:creationId xmlns:a16="http://schemas.microsoft.com/office/drawing/2014/main" id="{6AA53BD2-2C12-4446-AD50-4CA02526A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96533F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96533F"/>
                </a:solidFill>
                <a:latin typeface="DejaVu Sans"/>
                <a:ea typeface="DejaVu Sans"/>
                <a:cs typeface="DejaVu Sans"/>
              </a:rPr>
              <a:t>До решения хозяина о третьем слуге.</a:t>
            </a:r>
          </a:p>
        </p:txBody>
      </p:sp>
      <p:sp>
        <p:nvSpPr>
          <p:cNvPr id="10" name="illustrated-5">
            <a:extLst xmlns:a="http://schemas.openxmlformats.org/drawingml/2006/main">
              <a:ext uri="{FF2B5EF4-FFF2-40B4-BE49-F238E27FC236}">
                <a16:creationId xmlns:a16="http://schemas.microsoft.com/office/drawing/2014/main" id="{B9A2AB70-7544-4478-B51F-4F75AFCE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270036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2020D526-AA3F-44B8-A76B-4E21D5EF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B99F326-EDCB-4A8C-B281-C8191A3E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33575"/>
            <a:ext cx="485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7B55D537-1629-4407-A00C-45F8969D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14650"/>
            <a:ext cx="4857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300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4BF1153-82F1-4251-AC18-D1F7DFF16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33575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728B790-B121-4FB4-98C3-4B472172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1465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300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5D099631-3B0B-488F-A979-7F5F121DE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054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A3533E"/>
                </a:solidFill>
                <a:latin typeface="DejaVu Sans"/>
                <a:ea typeface="DejaVu Sans"/>
                <a:cs typeface="DejaVu Sans"/>
              </a:defRPr>
            </a:pPr>
            <a:r>
              <a:rPr sz="2625" b="0">
                <a:solidFill>
                  <a:srgbClr val="A3533E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E4E83F6E-F4EA-455E-922F-A170DEA6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9" name="illustrated-7">
            <a:extLst xmlns:a="http://schemas.openxmlformats.org/drawingml/2006/main">
              <a:ext uri="{FF2B5EF4-FFF2-40B4-BE49-F238E27FC236}">
                <a16:creationId xmlns:a16="http://schemas.microsoft.com/office/drawing/2014/main" id="{AA3DC80A-4B9E-4F7A-A07A-AFF9D54A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Два значения слова «талант»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ab72ff6b964dc8"/>
          <a:stretch xmlns:a="http://schemas.openxmlformats.org/drawingml/2006/main"/>
        </p:blipFill>
        <p:spPr>
          <a:xfrm xmlns:a="http://schemas.openxmlformats.org/drawingml/2006/main">
            <a:off x="7905750" y="2594417"/>
            <a:ext cx="3676650" cy="2069215"/>
          </a:xfrm>
          <a:prstGeom xmlns:a="http://schemas.openxmlformats.org/drawingml/2006/main" prst="rect">
            <a:avLst/>
          </a:prstGeom>
        </p:spPr>
      </p:pic>
      <p:sp>
        <p:nvSpPr>
          <p:cNvPr id="11" name="illustrated-8">
            <a:extLst xmlns:a="http://schemas.openxmlformats.org/drawingml/2006/main">
              <a:ext uri="{FF2B5EF4-FFF2-40B4-BE49-F238E27FC236}">
                <a16:creationId xmlns:a16="http://schemas.microsoft.com/office/drawing/2014/main" id="{B0269F20-3BE6-48F8-984C-4C29C568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877050" cy="437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В притче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Денежная мера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Сегодня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Способность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Что доверено мне и как это использовать?</a:t>
            </a:r>
          </a:p>
        </p:txBody>
      </p:sp>
      <p:sp>
        <p:nvSpPr>
          <p:cNvPr id="12" name="illustrated-9">
            <a:extLst xmlns:a="http://schemas.openxmlformats.org/drawingml/2006/main">
              <a:ext uri="{FF2B5EF4-FFF2-40B4-BE49-F238E27FC236}">
                <a16:creationId xmlns:a16="http://schemas.microsoft.com/office/drawing/2014/main" id="{8CCDCB02-4887-4C70-914A-18775F0C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851792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D00F518A-38E4-456F-838D-9E6D02323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07B55DF-E44B-42AD-BA7E-647E59B1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6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72B61B64-55BB-458B-8FC3-1B1B8176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290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2250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2B3CF672-D2A7-4F04-9B50-A2F36176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05425"/>
            <a:ext cx="1028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A3533E"/>
                </a:solidFill>
                <a:latin typeface="DejaVu Sans"/>
                <a:ea typeface="DejaVu Sans"/>
                <a:cs typeface="DejaVu Sans"/>
              </a:defRPr>
            </a:pPr>
            <a:r>
              <a:rPr sz="2850" b="0">
                <a:solidFill>
                  <a:srgbClr val="A3533E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04084385-3B41-4D54-8AD3-5EB31510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7" name="illustrated-5">
            <a:extLst xmlns:a="http://schemas.openxmlformats.org/drawingml/2006/main">
              <a:ext uri="{FF2B5EF4-FFF2-40B4-BE49-F238E27FC236}">
                <a16:creationId xmlns:a16="http://schemas.microsoft.com/office/drawing/2014/main" id="{F1493304-0C4F-4D5C-B3DC-2512829E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Одинаковая похвала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b657c00af14b63"/>
          <a:stretch xmlns:a="http://schemas.openxmlformats.org/drawingml/2006/main"/>
        </p:blipFill>
        <p:spPr>
          <a:xfrm xmlns:a="http://schemas.openxmlformats.org/drawingml/2006/main">
            <a:off x="7905750" y="2594417"/>
            <a:ext cx="3676650" cy="2069215"/>
          </a:xfrm>
          <a:prstGeom xmlns:a="http://schemas.openxmlformats.org/drawingml/2006/main" prst="rect">
            <a:avLst/>
          </a:prstGeom>
        </p:spPr>
      </p:pic>
      <p:sp>
        <p:nvSpPr>
          <p:cNvPr id="9" name="illustrated-6">
            <a:extLst xmlns:a="http://schemas.openxmlformats.org/drawingml/2006/main">
              <a:ext uri="{FF2B5EF4-FFF2-40B4-BE49-F238E27FC236}">
                <a16:creationId xmlns:a16="http://schemas.microsoft.com/office/drawing/2014/main" id="{2A6539CD-DEA8-4CBC-86BD-87DD5173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877050" cy="437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«В малом ты был верен…»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Мф. 25:21 и 23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За что хозяин хвалит обоих?</a:t>
            </a:r>
          </a:p>
        </p:txBody>
      </p:sp>
      <p:sp>
        <p:nvSpPr>
          <p:cNvPr id="10" name="illustrated-7">
            <a:extLst xmlns:a="http://schemas.openxmlformats.org/drawingml/2006/main">
              <a:ext uri="{FF2B5EF4-FFF2-40B4-BE49-F238E27FC236}">
                <a16:creationId xmlns:a16="http://schemas.microsoft.com/office/drawing/2014/main" id="{75080917-6359-4ACE-B8E6-1DB1CA5E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468178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73DCF818-0228-4B06-98FA-A56B869C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Спрятанное серебро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22F8570A-9E38-4142-9989-04B44AB1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4191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52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52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Он спрятал</a:t>
            </a:r>
          </a:p>
          <a:p xmlns:a="http://schemas.openxmlformats.org/drawingml/2006/main">
            <a:pPr>
              <a:buNone/>
              <a:defRPr sz="352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52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доверенное.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1DAC2CD3-63BE-4515-A446-36D9B4DE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Мф. 25:24–30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c3baba1bba4ef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086350" y="1896290"/>
            <a:ext cx="6496050" cy="3655971"/>
          </a:xfrm>
          <a:prstGeom xmlns:a="http://schemas.openxmlformats.org/drawingml/2006/main" prst="rect">
            <a:avLst/>
          </a:prstGeom>
        </p:spPr>
      </p:pic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02BA7EE6-0EBB-42C0-AE11-6C42CA8A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287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A3533E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A3533E"/>
                </a:solidFill>
                <a:latin typeface="DejaVu Sans"/>
                <a:ea typeface="DejaVu Sans"/>
                <a:cs typeface="DejaVu Sans"/>
              </a:rPr>
              <a:t>Что поможет начать с маленького шага?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40F0AC54-7957-4009-811F-E78CFFC5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27056103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2A4DBC20-C0D8-4F05-A882-5C93640E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Разные возможности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FAFBAA06-4527-4DB5-8D3A-67A65F6F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4572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000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Что у меня</a:t>
            </a:r>
          </a:p>
          <a:p xmlns:a="http://schemas.openxmlformats.org/drawingml/2006/main">
            <a:pPr>
              <a:buNone/>
              <a:defRPr sz="3000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000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уже получается?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3000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000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Чему я хочу</a:t>
            </a:r>
          </a:p>
          <a:p xmlns:a="http://schemas.openxmlformats.org/drawingml/2006/main">
            <a:pPr>
              <a:buNone/>
              <a:defRPr sz="3000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000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научиться?</a:t>
            </a:r>
          </a:p>
        </p:txBody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04e47468bd4c7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91150" y="1991585"/>
            <a:ext cx="6191250" cy="3484430"/>
          </a:xfrm>
          <a:prstGeom xmlns:a="http://schemas.openxmlformats.org/drawingml/2006/main" prst="rect">
            <a:avLst/>
          </a:prstGeom>
        </p:spPr>
      </p:pic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B73D8000-5F6A-4BDA-88C4-E45094A0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999758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D1C6B136-D71D-4754-A4D5-9F153A8A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Помощь начинается с вопроса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DB71FAB-75F9-47D9-8213-984FBEBD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000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«Что поможет тебе</a:t>
            </a:r>
          </a:p>
          <a:p xmlns:a="http://schemas.openxmlformats.org/drawingml/2006/main">
            <a:pPr>
              <a:buNone/>
              <a:defRPr sz="3000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000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присоединиться?»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c5dccb8c044eb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91150" y="1991585"/>
            <a:ext cx="6191250" cy="3484430"/>
          </a:xfrm>
          <a:prstGeom xmlns:a="http://schemas.openxmlformats.org/drawingml/2006/main" prst="rect">
            <a:avLst/>
          </a:prstGeom>
        </p:spPr>
      </p:pic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634C7E7F-78C6-4DE5-A6B0-C60D80F60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57775"/>
            <a:ext cx="419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1 Пет. 4:10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E63E8BC2-827C-44FF-B546-E4DDC6F3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0918042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B98EDFA5-6EC0-43C4-94E1-D21FCDDC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DBF23B1-5B8E-4C66-B62C-1DAD69E15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71675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75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375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00DA1A8-8218-4350-B309-6F130843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48025"/>
            <a:ext cx="10477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150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DDEFA298-0368-4980-A3BD-71911C2E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05425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A3533E"/>
                </a:solidFill>
                <a:latin typeface="DejaVu Sans"/>
                <a:ea typeface="DejaVu Sans"/>
                <a:cs typeface="DejaVu Sans"/>
              </a:defRPr>
            </a:pPr>
            <a:r>
              <a:rPr sz="2775" b="0">
                <a:solidFill>
                  <a:srgbClr val="A3533E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22019B2D-D11E-4704-BE23-D795B6A6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7" name="illustrated-5">
            <a:extLst xmlns:a="http://schemas.openxmlformats.org/drawingml/2006/main">
              <a:ext uri="{FF2B5EF4-FFF2-40B4-BE49-F238E27FC236}">
                <a16:creationId xmlns:a16="http://schemas.microsoft.com/office/drawing/2014/main" id="{36DEA8CE-23E0-4BDE-A8A9-121F76C3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Мастерская помощи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8831d4584b48e3"/>
          <a:stretch xmlns:a="http://schemas.openxmlformats.org/drawingml/2006/main"/>
        </p:blipFill>
        <p:spPr>
          <a:xfrm xmlns:a="http://schemas.openxmlformats.org/drawingml/2006/main">
            <a:off x="7905750" y="2594417"/>
            <a:ext cx="3676650" cy="2069215"/>
          </a:xfrm>
          <a:prstGeom xmlns:a="http://schemas.openxmlformats.org/drawingml/2006/main" prst="rect">
            <a:avLst/>
          </a:prstGeom>
        </p:spPr>
      </p:pic>
      <p:sp>
        <p:nvSpPr>
          <p:cNvPr id="9" name="illustrated-6">
            <a:extLst xmlns:a="http://schemas.openxmlformats.org/drawingml/2006/main">
              <a:ext uri="{FF2B5EF4-FFF2-40B4-BE49-F238E27FC236}">
                <a16:creationId xmlns:a16="http://schemas.microsoft.com/office/drawing/2014/main" id="{3FD89F7A-B327-4F8F-B0EC-C56319BA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877050" cy="437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Приглашение в общую игру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Два понятных первых шага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Приветствие на 30 секунд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6 минут на общее дело</a:t>
            </a:r>
          </a:p>
        </p:txBody>
      </p:sp>
      <p:sp>
        <p:nvSpPr>
          <p:cNvPr id="10" name="illustrated-7">
            <a:extLst xmlns:a="http://schemas.openxmlformats.org/drawingml/2006/main">
              <a:ext uri="{FF2B5EF4-FFF2-40B4-BE49-F238E27FC236}">
                <a16:creationId xmlns:a16="http://schemas.microsoft.com/office/drawing/2014/main" id="{B4CE97E8-95B7-43F1-8BE7-88A2257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7787974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B5A9F0CA-ED0A-4EDC-8E89-3C70D38DB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DC54C37-6DC7-4F5A-89E5-663C8CFA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33575"/>
            <a:ext cx="1047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52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52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15D38B64-4969-421E-A63E-B23C11D2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95725"/>
            <a:ext cx="104775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525" b="0">
                <a:solidFill>
                  <a:srgbClr val="A3533E"/>
                </a:solidFill>
                <a:latin typeface="DejaVu Sans"/>
                <a:ea typeface="DejaVu Sans"/>
                <a:cs typeface="DejaVu Sans"/>
              </a:defRPr>
            </a:pPr>
            <a:r>
              <a:rPr sz="3525" b="0">
                <a:solidFill>
                  <a:srgbClr val="A3533E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76E7427D-21CC-4373-91F4-96BF06CE4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6" name="illustrated-4">
            <a:extLst xmlns:a="http://schemas.openxmlformats.org/drawingml/2006/main">
              <a:ext uri="{FF2B5EF4-FFF2-40B4-BE49-F238E27FC236}">
                <a16:creationId xmlns:a16="http://schemas.microsoft.com/office/drawing/2014/main" id="{AD575859-B396-41DC-B233-FEA13A892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Проверка с гостем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a2ee2bafe44123"/>
          <a:stretch xmlns:a="http://schemas.openxmlformats.org/drawingml/2006/main"/>
        </p:blipFill>
        <p:spPr>
          <a:xfrm xmlns:a="http://schemas.openxmlformats.org/drawingml/2006/main">
            <a:off x="7905750" y="2594417"/>
            <a:ext cx="3676650" cy="2069215"/>
          </a:xfrm>
          <a:prstGeom xmlns:a="http://schemas.openxmlformats.org/drawingml/2006/main" prst="rect">
            <a:avLst/>
          </a:prstGeom>
        </p:spPr>
      </p:pic>
      <p:sp>
        <p:nvSpPr>
          <p:cNvPr id="8" name="illustrated-5">
            <a:extLst xmlns:a="http://schemas.openxmlformats.org/drawingml/2006/main">
              <a:ext uri="{FF2B5EF4-FFF2-40B4-BE49-F238E27FC236}">
                <a16:creationId xmlns:a16="http://schemas.microsoft.com/office/drawing/2014/main" id="{3B4EB6E0-9AD9-4D4A-89A9-76EAA7AE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877050" cy="437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Гость объясняет,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что он понял.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«Мне помогло…»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«Хочу уточнить…»</a:t>
            </a:r>
          </a:p>
        </p:txBody>
      </p:sp>
      <p:sp>
        <p:nvSpPr>
          <p:cNvPr id="9" name="illustrated-6">
            <a:extLst xmlns:a="http://schemas.openxmlformats.org/drawingml/2006/main">
              <a:ext uri="{FF2B5EF4-FFF2-40B4-BE49-F238E27FC236}">
                <a16:creationId xmlns:a16="http://schemas.microsoft.com/office/drawing/2014/main" id="{1E9E5721-9781-4A61-B8A8-5755D8D13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3170822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-0">
            <a:extLst xmlns:a="http://schemas.openxmlformats.org/drawingml/2006/main">
              <a:ext uri="{FF2B5EF4-FFF2-40B4-BE49-F238E27FC236}">
                <a16:creationId xmlns:a16="http://schemas.microsoft.com/office/drawing/2014/main" id="{D30D4EA7-E5B3-4109-B21D-41393F2E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493D5F0-8BD9-4F0A-AA90-B635E0A89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04775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6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79EA41F-E3E9-4891-B632-BE24BB337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5" name="illustrated-3">
            <a:extLst xmlns:a="http://schemas.openxmlformats.org/drawingml/2006/main">
              <a:ext uri="{FF2B5EF4-FFF2-40B4-BE49-F238E27FC236}">
                <a16:creationId xmlns:a16="http://schemas.microsoft.com/office/drawing/2014/main" id="{F7FB601D-EF6B-457B-A82A-93ECE3AA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Мой один шаг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92dafb51034073"/>
          <a:stretch xmlns:a="http://schemas.openxmlformats.org/drawingml/2006/main"/>
        </p:blipFill>
        <p:spPr>
          <a:xfrm xmlns:a="http://schemas.openxmlformats.org/drawingml/2006/main">
            <a:off x="7905750" y="2594417"/>
            <a:ext cx="3676650" cy="2069215"/>
          </a:xfrm>
          <a:prstGeom xmlns:a="http://schemas.openxmlformats.org/drawingml/2006/main" prst="rect">
            <a:avLst/>
          </a:prstGeom>
        </p:spPr>
      </p:pic>
      <p:sp>
        <p:nvSpPr>
          <p:cNvPr id="7" name="illustrated-4">
            <a:extLst xmlns:a="http://schemas.openxmlformats.org/drawingml/2006/main">
              <a:ext uri="{FF2B5EF4-FFF2-40B4-BE49-F238E27FC236}">
                <a16:creationId xmlns:a16="http://schemas.microsoft.com/office/drawing/2014/main" id="{659B9915-3E63-4229-826F-9117E7B7A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877050" cy="437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Кому поможет?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Что сделаю первым?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Когда начну?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Кто поддержит?</a:t>
            </a:r>
          </a:p>
        </p:txBody>
      </p:sp>
      <p:sp>
        <p:nvSpPr>
          <p:cNvPr id="8" name="illustrated-5">
            <a:extLst xmlns:a="http://schemas.openxmlformats.org/drawingml/2006/main">
              <a:ext uri="{FF2B5EF4-FFF2-40B4-BE49-F238E27FC236}">
                <a16:creationId xmlns:a16="http://schemas.microsoft.com/office/drawing/2014/main" id="{5819724C-4A6F-44F4-8A6C-1277A482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7503787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E2BA2EC7-49D9-4C0D-BCF6-FCF90A7D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10F0419-CB93-435C-81E9-FCBC3511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33575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150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1939AA5D-22EA-45C2-8186-36534E65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47750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150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A29BAC1-F82F-4D89-8E2A-FEA7C5A17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6" name="illustrated-4">
            <a:extLst xmlns:a="http://schemas.openxmlformats.org/drawingml/2006/main">
              <a:ext uri="{FF2B5EF4-FFF2-40B4-BE49-F238E27FC236}">
                <a16:creationId xmlns:a16="http://schemas.microsoft.com/office/drawing/2014/main" id="{C7F42D89-D623-4074-8282-5C54166C7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Пример маленького дела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3aa37f044a444a"/>
          <a:stretch xmlns:a="http://schemas.openxmlformats.org/drawingml/2006/main"/>
        </p:blipFill>
        <p:spPr>
          <a:xfrm xmlns:a="http://schemas.openxmlformats.org/drawingml/2006/main">
            <a:off x="7905750" y="2594417"/>
            <a:ext cx="3676650" cy="2069215"/>
          </a:xfrm>
          <a:prstGeom xmlns:a="http://schemas.openxmlformats.org/drawingml/2006/main" prst="rect">
            <a:avLst/>
          </a:prstGeom>
        </p:spPr>
      </p:pic>
      <p:sp>
        <p:nvSpPr>
          <p:cNvPr id="8" name="illustrated-5">
            <a:extLst xmlns:a="http://schemas.openxmlformats.org/drawingml/2006/main">
              <a:ext uri="{FF2B5EF4-FFF2-40B4-BE49-F238E27FC236}">
                <a16:creationId xmlns:a16="http://schemas.microsoft.com/office/drawing/2014/main" id="{7DBE42CD-7C25-46C7-9DE5-16850A03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877050" cy="437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Могу объяснить правило игры.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Спрошу младшего брата.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В субботу покажу один ход.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Если трудно, попрошу совета.</a:t>
            </a:r>
          </a:p>
        </p:txBody>
      </p:sp>
      <p:sp>
        <p:nvSpPr>
          <p:cNvPr id="9" name="illustrated-6">
            <a:extLst xmlns:a="http://schemas.openxmlformats.org/drawingml/2006/main">
              <a:ext uri="{FF2B5EF4-FFF2-40B4-BE49-F238E27FC236}">
                <a16:creationId xmlns:a16="http://schemas.microsoft.com/office/drawing/2014/main" id="{5C9AE6ED-9CB6-4E95-98A7-E2B47DC4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4167014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92DD25E6-F09C-4620-B01E-53B3021A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1A73B0DD-D724-415E-B4D3-51C53625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621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300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693E7C3-C5D8-448E-824C-911DBE1C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19425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300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3120ADC-2463-4837-971E-DDEAF0CC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300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300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D44098B3-8AEF-421C-B2FC-A326D30F9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102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A3533E"/>
                </a:solidFill>
                <a:latin typeface="DejaVu Sans"/>
                <a:ea typeface="DejaVu Sans"/>
                <a:cs typeface="DejaVu Sans"/>
              </a:defRPr>
            </a:pPr>
            <a:r>
              <a:rPr sz="2700" b="0">
                <a:solidFill>
                  <a:srgbClr val="A3533E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5335C0BC-C69B-471D-ADF4-ECEB0148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8" name="illustrated-6">
            <a:extLst xmlns:a="http://schemas.openxmlformats.org/drawingml/2006/main">
              <a:ext uri="{FF2B5EF4-FFF2-40B4-BE49-F238E27FC236}">
                <a16:creationId xmlns:a16="http://schemas.microsoft.com/office/drawing/2014/main" id="{B8B2A30B-15DF-42B5-8483-E43A220E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Помеха и поддержка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3ac7ea7911452c"/>
          <a:stretch xmlns:a="http://schemas.openxmlformats.org/drawingml/2006/main"/>
        </p:blipFill>
        <p:spPr>
          <a:xfrm xmlns:a="http://schemas.openxmlformats.org/drawingml/2006/main">
            <a:off x="7905750" y="2594417"/>
            <a:ext cx="3676650" cy="2069215"/>
          </a:xfrm>
          <a:prstGeom xmlns:a="http://schemas.openxmlformats.org/drawingml/2006/main" prst="rect">
            <a:avLst/>
          </a:prstGeom>
        </p:spPr>
      </p:pic>
      <p:sp>
        <p:nvSpPr>
          <p:cNvPr id="10" name="illustrated-7">
            <a:extLst xmlns:a="http://schemas.openxmlformats.org/drawingml/2006/main">
              <a:ext uri="{FF2B5EF4-FFF2-40B4-BE49-F238E27FC236}">
                <a16:creationId xmlns:a16="http://schemas.microsoft.com/office/drawing/2014/main" id="{2E1B5BBA-0729-48CF-8D85-DDB6D6CE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877050" cy="437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Не умею всего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Сравниваю себя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Не хватает времени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Если это случится, я…</a:t>
            </a:r>
          </a:p>
        </p:txBody>
      </p:sp>
      <p:sp>
        <p:nvSpPr>
          <p:cNvPr id="11" name="illustrated-8">
            <a:extLst xmlns:a="http://schemas.openxmlformats.org/drawingml/2006/main">
              <a:ext uri="{FF2B5EF4-FFF2-40B4-BE49-F238E27FC236}">
                <a16:creationId xmlns:a16="http://schemas.microsoft.com/office/drawing/2014/main" id="{5FD3A31F-FC9F-494D-838D-CAB1387B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0203459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30B81151-2B4E-46BE-B48F-0D930417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9120F4A-5CE0-438B-A43C-F89A850A8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10477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450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04BB022A-4FF8-4B12-A35E-1974C2358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339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5A54080-97AE-46CE-8B7A-B2678BF3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14975"/>
            <a:ext cx="1047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A3533E"/>
                </a:solidFill>
                <a:latin typeface="DejaVu Sans"/>
                <a:ea typeface="DejaVu Sans"/>
                <a:cs typeface="DejaVu Sans"/>
              </a:defRPr>
            </a:pPr>
            <a:r>
              <a:rPr sz="2700" b="0">
                <a:solidFill>
                  <a:srgbClr val="A3533E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8AC21ABA-02A9-44AB-81E2-F17A7CC1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/>
            </a:r>
          </a:p>
        </p:txBody>
      </p:sp>
      <p:sp>
        <p:nvSpPr>
          <p:cNvPr id="7" name="illustrated-5">
            <a:extLst xmlns:a="http://schemas.openxmlformats.org/drawingml/2006/main">
              <a:ext uri="{FF2B5EF4-FFF2-40B4-BE49-F238E27FC236}">
                <a16:creationId xmlns:a16="http://schemas.microsoft.com/office/drawing/2014/main" id="{85E01182-BE35-407D-B1C3-B802F09D7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Доверенное для добра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23ec64f345435b"/>
          <a:stretch xmlns:a="http://schemas.openxmlformats.org/drawingml/2006/main"/>
        </p:blipFill>
        <p:spPr>
          <a:xfrm xmlns:a="http://schemas.openxmlformats.org/drawingml/2006/main">
            <a:off x="7905750" y="2594417"/>
            <a:ext cx="3676650" cy="2069215"/>
          </a:xfrm>
          <a:prstGeom xmlns:a="http://schemas.openxmlformats.org/drawingml/2006/main" prst="rect">
            <a:avLst/>
          </a:prstGeom>
        </p:spPr>
      </p:pic>
      <p:sp>
        <p:nvSpPr>
          <p:cNvPr id="9" name="illustrated-6">
            <a:extLst xmlns:a="http://schemas.openxmlformats.org/drawingml/2006/main">
              <a:ext uri="{FF2B5EF4-FFF2-40B4-BE49-F238E27FC236}">
                <a16:creationId xmlns:a16="http://schemas.microsoft.com/office/drawing/2014/main" id="{07588F9A-39D4-469B-828A-DAB728F0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6877050" cy="437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«Служите друг другу,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каждый тем даром,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какой получил…»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1 Пет. 4:10</a:t>
            </a:r>
          </a:p>
          <a:p xmlns:a="http://schemas.openxmlformats.org/drawingml/2006/main">
            <a:pPr>
              <a:def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233D47"/>
                </a:solidFill>
                <a:latin typeface="DejaVu Sans"/>
                <a:ea typeface="DejaVu Sans"/>
                <a:cs typeface="DejaVu Sans"/>
              </a:rPr>
              <a:t>Мой первый шаг — …</a:t>
            </a:r>
          </a:p>
        </p:txBody>
      </p:sp>
      <p:sp>
        <p:nvSpPr>
          <p:cNvPr id="10" name="illustrated-7">
            <a:extLst xmlns:a="http://schemas.openxmlformats.org/drawingml/2006/main">
              <a:ext uri="{FF2B5EF4-FFF2-40B4-BE49-F238E27FC236}">
                <a16:creationId xmlns:a16="http://schemas.microsoft.com/office/drawing/2014/main" id="{6D64F507-7BA7-4CB3-9CD0-B72C2D37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198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516970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879509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2026-10-02T20:35:30.0280000Z</dcterms:created>
  <dcterms:modified xsi:type="dcterms:W3CDTF">2026-10-02T20:35:30.0290000Z</dcterms:modified>
</coreProperties>
</file>