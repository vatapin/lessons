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7e33335ed14af1" /><Relationship Type="http://schemas.openxmlformats.org/officeDocument/2006/relationships/extended-properties" Target="/docProps/app.xml" Id="Raa5e8c370bfb449e" /><Relationship Type="http://schemas.openxmlformats.org/officeDocument/2006/relationships/officeDocument" Target="/ppt/presentation.xml" Id="R938454219a0648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45c1459e17484b"/>
  </p:sldMasterIdLst>
  <p:notesMasterIdLst>
    <p:notesMasterId xmlns:r="http://schemas.openxmlformats.org/officeDocument/2006/relationships" r:id="Rf70d55e8a5d9414e"/>
  </p:notesMasterIdLst>
  <p:sldIdLst>
    <p:sldId xmlns:r="http://schemas.openxmlformats.org/officeDocument/2006/relationships" id="256" r:id="R29b2732101384e33"/>
    <p:sldId xmlns:r="http://schemas.openxmlformats.org/officeDocument/2006/relationships" id="257" r:id="Rf03cc492b5b448d8"/>
    <p:sldId xmlns:r="http://schemas.openxmlformats.org/officeDocument/2006/relationships" id="258" r:id="R30dc71d41e6b4f98"/>
    <p:sldId xmlns:r="http://schemas.openxmlformats.org/officeDocument/2006/relationships" id="259" r:id="Ref7b54e3ee93408d"/>
    <p:sldId xmlns:r="http://schemas.openxmlformats.org/officeDocument/2006/relationships" id="260" r:id="Rf3917ef4285d4c31"/>
    <p:sldId xmlns:r="http://schemas.openxmlformats.org/officeDocument/2006/relationships" id="261" r:id="Raa0506191cd641ce"/>
    <p:sldId xmlns:r="http://schemas.openxmlformats.org/officeDocument/2006/relationships" id="262" r:id="R05b724f1b9c945a3"/>
    <p:sldId xmlns:r="http://schemas.openxmlformats.org/officeDocument/2006/relationships" id="263" r:id="R1b6164872a0b4ab7"/>
    <p:sldId xmlns:r="http://schemas.openxmlformats.org/officeDocument/2006/relationships" id="264" r:id="R8cf02c9d393a4de4"/>
    <p:sldId xmlns:r="http://schemas.openxmlformats.org/officeDocument/2006/relationships" id="265" r:id="Rc496366eeab44f7f"/>
    <p:sldId xmlns:r="http://schemas.openxmlformats.org/officeDocument/2006/relationships" id="266" r:id="Rfcb20b5577144f2d"/>
    <p:sldId xmlns:r="http://schemas.openxmlformats.org/officeDocument/2006/relationships" id="267" r:id="R6696cefc77fd48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ca63824afa47b8" /><Relationship Type="http://schemas.openxmlformats.org/officeDocument/2006/relationships/slideMaster" Target="/ppt/slideMasters/slideMaster1.xml" Id="Ra845c1459e17484b" /><Relationship Type="http://schemas.openxmlformats.org/officeDocument/2006/relationships/notesMaster" Target="/ppt/notesMasters/notesMaster1.xml" Id="Rf70d55e8a5d9414e" /><Relationship Type="http://schemas.openxmlformats.org/officeDocument/2006/relationships/presProps" Target="/ppt/presProps.xml" Id="R1171f73226354137" /><Relationship Type="http://schemas.openxmlformats.org/officeDocument/2006/relationships/tableStyles" Target="/ppt/tableStyles.xml" Id="R6e98764a751a4a04" /><Relationship Type="http://schemas.openxmlformats.org/officeDocument/2006/relationships/slide" Target="/ppt/slides/slide1.xml" Id="R29b2732101384e33" /><Relationship Type="http://schemas.openxmlformats.org/officeDocument/2006/relationships/slide" Target="/ppt/slides/slide2.xml" Id="Rf03cc492b5b448d8" /><Relationship Type="http://schemas.openxmlformats.org/officeDocument/2006/relationships/slide" Target="/ppt/slides/slide3.xml" Id="R30dc71d41e6b4f98" /><Relationship Type="http://schemas.openxmlformats.org/officeDocument/2006/relationships/slide" Target="/ppt/slides/slide4.xml" Id="Ref7b54e3ee93408d" /><Relationship Type="http://schemas.openxmlformats.org/officeDocument/2006/relationships/slide" Target="/ppt/slides/slide5.xml" Id="Rf3917ef4285d4c31" /><Relationship Type="http://schemas.openxmlformats.org/officeDocument/2006/relationships/slide" Target="/ppt/slides/slide6.xml" Id="Raa0506191cd641ce" /><Relationship Type="http://schemas.openxmlformats.org/officeDocument/2006/relationships/slide" Target="/ppt/slides/slide7.xml" Id="R05b724f1b9c945a3" /><Relationship Type="http://schemas.openxmlformats.org/officeDocument/2006/relationships/slide" Target="/ppt/slides/slide8.xml" Id="R1b6164872a0b4ab7" /><Relationship Type="http://schemas.openxmlformats.org/officeDocument/2006/relationships/slide" Target="/ppt/slides/slide9.xml" Id="R8cf02c9d393a4de4" /><Relationship Type="http://schemas.openxmlformats.org/officeDocument/2006/relationships/slide" Target="/ppt/slides/slide10.xml" Id="Rc496366eeab44f7f" /><Relationship Type="http://schemas.openxmlformats.org/officeDocument/2006/relationships/slide" Target="/ppt/slides/slide11.xml" Id="Rfcb20b5577144f2d" /><Relationship Type="http://schemas.openxmlformats.org/officeDocument/2006/relationships/slide" Target="/ppt/slides/slide12.xml" Id="R6696cefc77fd48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f35d60bcfb43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2ac50a1e224913" /><Relationship Type="http://schemas.openxmlformats.org/officeDocument/2006/relationships/notesMaster" Target="/ppt/notesMasters/notesMaster1.xml" Id="Rac613a7566b148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3866a2cca94244" /><Relationship Type="http://schemas.openxmlformats.org/officeDocument/2006/relationships/notesMaster" Target="/ppt/notesMasters/notesMaster1.xml" Id="Rf8aaa4699a4747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c1e515ce2a4ea9" /><Relationship Type="http://schemas.openxmlformats.org/officeDocument/2006/relationships/notesMaster" Target="/ppt/notesMasters/notesMaster1.xml" Id="R93d38e5042f144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25d9ef4d0244db" /><Relationship Type="http://schemas.openxmlformats.org/officeDocument/2006/relationships/notesMaster" Target="/ppt/notesMasters/notesMaster1.xml" Id="R1f20968ed1074e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2a7a369665470a" /><Relationship Type="http://schemas.openxmlformats.org/officeDocument/2006/relationships/notesMaster" Target="/ppt/notesMasters/notesMaster1.xml" Id="R1de6a984308b44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6dab4febbc4640" /><Relationship Type="http://schemas.openxmlformats.org/officeDocument/2006/relationships/notesMaster" Target="/ppt/notesMasters/notesMaster1.xml" Id="Rd1d98907e6454d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9ff44d87964e2d" /><Relationship Type="http://schemas.openxmlformats.org/officeDocument/2006/relationships/notesMaster" Target="/ppt/notesMasters/notesMaster1.xml" Id="R41e25d49065249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222b6c32d3427f" /><Relationship Type="http://schemas.openxmlformats.org/officeDocument/2006/relationships/notesMaster" Target="/ppt/notesMasters/notesMaster1.xml" Id="R256e4c99a0244c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441ad10e424e51" /><Relationship Type="http://schemas.openxmlformats.org/officeDocument/2006/relationships/notesMaster" Target="/ppt/notesMasters/notesMaster1.xml" Id="Rda44e87e5be140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852b4824904f2d" /><Relationship Type="http://schemas.openxmlformats.org/officeDocument/2006/relationships/notesMaster" Target="/ppt/notesMasters/notesMaster1.xml" Id="Rbc74f9a671e642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a02f3d53cf4afb" /><Relationship Type="http://schemas.openxmlformats.org/officeDocument/2006/relationships/notesMaster" Target="/ppt/notesMasters/notesMaster1.xml" Id="R18a7f6399fcb42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20312b43d348ec" /><Relationship Type="http://schemas.openxmlformats.org/officeDocument/2006/relationships/notesMaster" Target="/ppt/notesMasters/notesMaster1.xml" Id="R7c0cc8eb216741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Что важнее для меня. 2 мин</a:t>
            </a:r>
          </a:p>
          <a:p xmlns:a="http://schemas.openxmlformats.org/drawingml/2006/main">
            <a:r>
              <a:t>Реплика: Представь: у тебя есть любимая вещь, свободный час и умение, которое пригодится другому. Чем легче поделиться? Пока выбери про себя.</a:t>
            </a:r>
          </a:p>
          <a:p xmlns:a="http://schemas.openxmlformats.org/drawingml/2006/main">
            <a:r>
              <a:t>Проведение: Покажите обложку. Дайте 20 секунд тишины. Объясните: сегодня сначала слушаем два евангельских рассказа и сразу разыгрываем их. Ответы обсудим после сценок.</a:t>
            </a:r>
          </a:p>
          <a:p xmlns:a="http://schemas.openxmlformats.org/drawingml/2006/main">
            <a:r>
              <a:t>Вопрос: Что изменится в моём ответе к концу занятия?</a:t>
            </a:r>
          </a:p>
          <a:p xmlns:a="http://schemas.openxmlformats.org/drawingml/2006/main">
            <a:r>
              <a:t>Ориентир: На этом этапе ответы не собираем. Сохраняем личный вопрос до финала.</a:t>
            </a:r>
          </a:p>
          <a:p xmlns:a="http://schemas.openxmlformats.org/drawingml/2006/main">
            <a:r>
              <a:t>Время: 1 минута — вступление; 1 минута — настрой.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https://bible.by/syn/42/12/ ; https://bible.by/syn/40/19/</a:t>
            </a:r>
          </a:p>
          <a:p xmlns:a="http://schemas.openxmlformats.org/drawingml/2006/main">
            <a:r>
              <a:t>Синодальный перевод. Перевод в общественном достоянии. Современные случаи и молитва авторские. Иллюстрация: Личная вещь и выбор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Два евангельских рассказа. 4 мин</a:t>
            </a:r>
          </a:p>
          <a:p xmlns:a="http://schemas.openxmlformats.org/drawingml/2006/main">
            <a:r>
              <a:t>Реплика: Сначала послушаем притчу о богатом урожае, затем встречу Христа с богатым юношей. Обрати внимание, о чём думает каждый герой и что говорит Христос.</a:t>
            </a:r>
          </a:p>
          <a:p xmlns:a="http://schemas.openxmlformats.org/drawingml/2006/main">
            <a:r>
              <a:t>Проведение: Прочитайте полностью Лк. 12:15–21 и Мф. 19:16–26 из приложения. Всего 18 стихов. Между текстами назовите следующую ссылку. Без вопросов сразу переходите к двум сценкам.</a:t>
            </a:r>
          </a:p>
          <a:p xmlns:a="http://schemas.openxmlformats.org/drawingml/2006/main">
            <a:r>
              <a:t>Вопрос: Наблюдаем: какую надежду каждый герой связывает со своим имуществом?</a:t>
            </a:r>
          </a:p>
          <a:p xmlns:a="http://schemas.openxmlformats.org/drawingml/2006/main">
            <a:r>
              <a:t>Ориентир: Чтение включает оба завершения: «не в Бога богатеет» и «Богу же всё возможно».</a:t>
            </a:r>
          </a:p>
          <a:p xmlns:a="http://schemas.openxmlformats.org/drawingml/2006/main">
            <a:r>
              <a:t>Время: 4 минуты — два полных отрывка.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Лк. 12:15–21 Синодальный перевод</a:t>
            </a:r>
          </a:p>
          <a:p xmlns:a="http://schemas.openxmlformats.org/drawingml/2006/main">
            <a:r>
              <a:t>15. При этом сказал им: смотрите, берегитесь любостяжания, ибо жизнь человека не зависит от изобилия его имения.</a:t>
            </a:r>
          </a:p>
          <a:p xmlns:a="http://schemas.openxmlformats.org/drawingml/2006/main">
            <a:r>
              <a:t>16. И сказал им притчу: у одного богатого человека был хороший урожай в поле;</a:t>
            </a:r>
          </a:p>
          <a:p xmlns:a="http://schemas.openxmlformats.org/drawingml/2006/main">
            <a:r>
              <a:t>17. и он рассуждал сам с собою: «что мне делать? некуда мне собрать плодов моих».</a:t>
            </a:r>
          </a:p>
          <a:p xmlns:a="http://schemas.openxmlformats.org/drawingml/2006/main">
            <a:r>
              <a:t>18. И сказал: «вот что сделаю: сломаю житницы мои и построю большие, и соберу туда весь хлеб мой и всё добро моё,</a:t>
            </a:r>
          </a:p>
          <a:p xmlns:a="http://schemas.openxmlformats.org/drawingml/2006/main">
            <a:r>
              <a:t>19. и скажу душе моей: душа! много добра лежит у тебя на многие годы: покойся, ешь, пей, веселись».</a:t>
            </a:r>
          </a:p>
          <a:p xmlns:a="http://schemas.openxmlformats.org/drawingml/2006/main">
            <a:r>
              <a:t>20. Но Бог сказал ему: «безумный! в сию ночь душу твою возьмут у тебя; кому же достанется то, что ты заготовил?»</a:t>
            </a:r>
          </a:p>
          <a:p xmlns:a="http://schemas.openxmlformats.org/drawingml/2006/main">
            <a:r>
              <a:t>21. Так бывает с тем, кто собирает сокровища для себя, а не в Бога богатеет.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Мф. 19:16–26 Синодальный перевод</a:t>
            </a:r>
          </a:p>
          <a:p xmlns:a="http://schemas.openxmlformats.org/drawingml/2006/main">
            <a:r>
              <a:t>16. И вот, некто, подойдя, сказал Ему: Учитель благий! что сделать мне доброго, чтобы иметь жизнь вечную?</a:t>
            </a:r>
          </a:p>
          <a:p xmlns:a="http://schemas.openxmlformats.org/drawingml/2006/main">
            <a:r>
              <a:t>17. Он же сказал ему: что ты называешь Меня благим? Никто не благ, как только один Бог. Если же хочешь войти в жизнь вечную, соблюди заповеди.</a:t>
            </a:r>
          </a:p>
          <a:p xmlns:a="http://schemas.openxmlformats.org/drawingml/2006/main">
            <a:r>
              <a:t>18. Говорит Ему: какие? Иисус же сказал: «не убивай»; «не прелюбодействуй»; «не кради»; «не лжесвидетельствуй»;</a:t>
            </a:r>
          </a:p>
          <a:p xmlns:a="http://schemas.openxmlformats.org/drawingml/2006/main">
            <a:r>
              <a:t>19. «почитай отца и мать»; и: «люби ближнего твоего, как самого себя».</a:t>
            </a:r>
          </a:p>
          <a:p xmlns:a="http://schemas.openxmlformats.org/drawingml/2006/main">
            <a:r>
              <a:t>20. Юноша говорит Ему: всё это сохранил я от юности моей; чего ещё недостаёт мне?</a:t>
            </a:r>
          </a:p>
          <a:p xmlns:a="http://schemas.openxmlformats.org/drawingml/2006/main">
            <a:r>
              <a:t>21. Иисус сказал ему: если хочешь быть совершенным, пойди, продай имение твоё и раздай нищим; и будешь иметь сокровище на небесах; и приходи и следуй за Мною.</a:t>
            </a:r>
          </a:p>
          <a:p xmlns:a="http://schemas.openxmlformats.org/drawingml/2006/main">
            <a:r>
              <a:t>22. Услышав слово сие, юноша отошёл с печалью, потому что у него было большое имение.</a:t>
            </a:r>
          </a:p>
          <a:p xmlns:a="http://schemas.openxmlformats.org/drawingml/2006/main">
            <a:r>
              <a:t>23. Иисус же сказал ученикам Своим: истинно говорю вам, что трудно богатому войти в Царство Небесное;</a:t>
            </a:r>
          </a:p>
          <a:p xmlns:a="http://schemas.openxmlformats.org/drawingml/2006/main">
            <a:r>
              <a:t>24. и ещё говорю вам: удобнее верблюду пройти сквозь игольные уши, нежели богатому войти в Царство Божие.</a:t>
            </a:r>
          </a:p>
          <a:p xmlns:a="http://schemas.openxmlformats.org/drawingml/2006/main">
            <a:r>
              <a:t>25. Услышав это, ученики Его весьма изумились и сказали: так кто же может спастись?</a:t>
            </a:r>
          </a:p>
          <a:p xmlns:a="http://schemas.openxmlformats.org/drawingml/2006/main">
            <a:r>
              <a:t>26. А Иисус, воззрев, сказал им: человекам это невозможно, Богу же всё возможно.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https://bible.by/syn/42/12/ ; https://bible.by/syn/40/19/</a:t>
            </a:r>
          </a:p>
          <a:p xmlns:a="http://schemas.openxmlformats.org/drawingml/2006/main">
            <a:r>
              <a:t>Синодальный перевод. Перевод в общественном достоянии. Современные случаи и молитва авторские. Иллюстрация: Богатый урожай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Два героя и их выбор. 5 мин</a:t>
            </a:r>
          </a:p>
          <a:p xmlns:a="http://schemas.openxmlformats.org/drawingml/2006/main">
            <a:r>
              <a:t>Реплика: Сначала разыграем мысли богача у житниц. Затем перенесёмся к встрече Иисуса с юношей. Зрители следят за тем, что каждый боится потерять.</a:t>
            </a:r>
          </a:p>
          <a:p xmlns:a="http://schemas.openxmlformats.org/drawingml/2006/main">
            <a:r>
              <a:t>Проведение: Распределите шесть карточек ролей со страницы 1 раздатки. По сценарию проведите шесть эпизодов. Слова Бога в притче читает ведущий. После ухода юноши сохраните разговор с учениками до Мф. 19:26.</a:t>
            </a:r>
          </a:p>
          <a:p xmlns:a="http://schemas.openxmlformats.org/drawingml/2006/main">
            <a:r>
              <a:t>Вопрос: Что оказалось для героев труднее всего?</a:t>
            </a:r>
          </a:p>
          <a:p xmlns:a="http://schemas.openxmlformats.org/drawingml/2006/main">
            <a:r>
              <a:t>Ориентир: Вопрос обсуждается после обеих сценок. Не добавляем возвращения юноши или исправленного финала притчи.</a:t>
            </a:r>
          </a:p>
          <a:p xmlns:a="http://schemas.openxmlformats.org/drawingml/2006/main">
            <a:r>
              <a:t>Время: 2 минуты — притча; 3 минуты — встреча и её завершение.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А1 Урожай и вопрос: Ведущий читает Лк. 12:15–16. Богач смотрит на изображение зерна и произносит полный ст. 17. Другие пока наблюдают.</a:t>
            </a:r>
          </a:p>
          <a:p xmlns:a="http://schemas.openxmlformats.org/drawingml/2006/main">
            <a:r>
              <a:t>А2 План и предел: Богач произносит ст. 18–19. Ведущий читает ст. 20 как слова Бога и ст. 21 как заключение Христа. Небольшая пауза завершает притчу; сразу переходим ко второй сценке.</a:t>
            </a:r>
          </a:p>
          <a:p xmlns:a="http://schemas.openxmlformats.org/drawingml/2006/main">
            <a:r>
              <a:t>Б1 Вопрос о жизни: Юноша подходит к Иисусу и читает Мф. 19:16. Иисус отвечает ст. 17. Юноша спрашивает «какие?», Иисус продолжает полный перечень заповедей ст. 18–19.</a:t>
            </a:r>
          </a:p>
          <a:p xmlns:a="http://schemas.openxmlformats.org/drawingml/2006/main">
            <a:r>
              <a:t>Б2 Приглашение: Юноша читает ст. 20. Иисус отвечает полным ст. 21: продажа имения, помощь нищим, сокровище на небесах и «следуй за Мною». Все части призыва сохраняются.</a:t>
            </a:r>
          </a:p>
          <a:p xmlns:a="http://schemas.openxmlformats.org/drawingml/2006/main">
            <a:r>
              <a:t>Б3 Печаль и вопрос учеников: Ведущий читает ст. 22, юноша отходит с печалью. Иисус обращается к двум ученикам со ст. 23–24. Ученики вместе задают вопрос из ст. 25.</a:t>
            </a:r>
          </a:p>
          <a:p xmlns:a="http://schemas.openxmlformats.org/drawingml/2006/main">
            <a:r>
              <a:t>Б4 Надежда: Иисус смотрит на учеников и произносит полный ст. 26. Пауза. Теперь начинается обсуждение обеих историй. О дальнейшей судьбе юноши выбранный текст не сообщает.</a:t>
            </a:r>
          </a:p>
          <a:p xmlns:a="http://schemas.openxmlformats.org/drawingml/2006/main">
            <a:r>
              <a:t>Источники: https://bible.by/syn/42/12/ ; https://bible.by/syn/40/19/</a:t>
            </a:r>
          </a:p>
          <a:p xmlns:a="http://schemas.openxmlformats.org/drawingml/2006/main">
            <a:r>
              <a:t>Синодальный перевод. Перевод в общественном достоянии. Современные случаи и молитва авторские. Иллюстрация: Иисус и богатый юноша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Что удерживает человека. 4 мин</a:t>
            </a:r>
          </a:p>
          <a:p xmlns:a="http://schemas.openxmlformats.org/drawingml/2006/main">
            <a:r>
              <a:t>Реплика: У богача много урожая. Юноша хочет вечной жизни. Почему богатство не приносит им свободы? Найдите опору в услышанных словах.</a:t>
            </a:r>
          </a:p>
          <a:p xmlns:a="http://schemas.openxmlformats.org/drawingml/2006/main">
            <a:r>
              <a:t>Проведение: В парах сравните героев по двум вопросам: «На что он надеется?» и «Чего ему трудно лишиться?» Затем выслушайте две пары. Завершите словами Христа из Мф. 19:26.</a:t>
            </a:r>
          </a:p>
          <a:p xmlns:a="http://schemas.openxmlformats.org/drawingml/2006/main">
            <a:r>
              <a:t>Вопрос: В чём разница между заботой о нуждах и жизнью только ради накопления?</a:t>
            </a:r>
          </a:p>
          <a:p xmlns:a="http://schemas.openxmlformats.org/drawingml/2006/main">
            <a:r>
              <a:t>Ориентир: Богач связывает безопасность с запасами и замыкается на себе. Юношу удерживает большое имение перед призывом следовать за Христом. Надежда на спасение связана с Богом, а не с суммой пожертвования.</a:t>
            </a:r>
          </a:p>
          <a:p xmlns:a="http://schemas.openxmlformats.org/drawingml/2006/main">
            <a:r>
              <a:t>Время: 2 минуты — пары; 2 минуты — общее обсуждение.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https://bible.by/syn/42/12/ ; https://bible.by/syn/40/19/</a:t>
            </a:r>
          </a:p>
          <a:p xmlns:a="http://schemas.openxmlformats.org/drawingml/2006/main">
            <a:r>
              <a:t>Синодальный перевод. Перевод в общественном достоянии. Современные случаи и молитва авторские. Иллюстрация: Христос отвечает ученикам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Истории рядом. 4 мин</a:t>
            </a:r>
          </a:p>
          <a:p xmlns:a="http://schemas.openxmlformats.org/drawingml/2006/main">
            <a:r>
              <a:t>Реплика: Перед вами четыре перемешанные карточки. Разделите их между двумя рассказами. В каждом найдите начало и завершение.</a:t>
            </a:r>
          </a:p>
          <a:p xmlns:a="http://schemas.openxmlformats.org/drawingml/2006/main">
            <a:r>
              <a:t>Проведение: Раздайте страницу 2. Пары составляют две отдельные последовательности, затем записывают общую трудность героев и надежду из финала встречи. Попросите одну пару объяснить порядок.</a:t>
            </a:r>
          </a:p>
          <a:p xmlns:a="http://schemas.openxmlformats.org/drawingml/2006/main">
            <a:r>
              <a:t>Вопрос: Почему рассказ о юноше продолжается после его ухода?</a:t>
            </a:r>
          </a:p>
          <a:p xmlns:a="http://schemas.openxmlformats.org/drawingml/2006/main">
            <a:r>
              <a:t>Ориентир: Ученики спрашивают о спасении, и Христос указывает на возможность Божьего действия. Этот финал не позволяет свести рассказ к покупке спасения добрыми делами.</a:t>
            </a:r>
          </a:p>
          <a:p xmlns:a="http://schemas.openxmlformats.org/drawingml/2006/main">
            <a:r>
              <a:t>Время: 2 минуты — карточки; 1 минута — запись; 1 минута — объяснение.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 Встреча заканчивается: Юноша уходит с печалью. Ученики спрашивают о спасении. Христос говорит, что Богу всё возможно.</a:t>
            </a:r>
          </a:p>
          <a:p xmlns:a="http://schemas.openxmlformats.org/drawingml/2006/main">
            <a:r>
              <a:t>А Богатый урожай: Богач хочет построить большие житницы и рассчитывает на много лет спокойной жизни.</a:t>
            </a:r>
          </a:p>
          <a:p xmlns:a="http://schemas.openxmlformats.org/drawingml/2006/main">
            <a:r>
              <a:t>Б Вопрос юноши: Юноша спрашивает о вечной жизни. Христос говорит о заповедях и зовёт раздать имение нищим и следовать за Ним.</a:t>
            </a:r>
          </a:p>
          <a:p xmlns:a="http://schemas.openxmlformats.org/drawingml/2006/main">
            <a:r>
              <a:t>А Вопрос о душе: В эту ночь у богача потребуют душу. Кому достанется накопленное? Христос говорит о том, кто не в Бога богатеет.</a:t>
            </a:r>
          </a:p>
          <a:p xmlns:a="http://schemas.openxmlformats.org/drawingml/2006/main">
            <a:r>
              <a:t>Источники: https://bible.by/syn/42/12/ ; https://bible.by/syn/40/19/</a:t>
            </a:r>
          </a:p>
          <a:p xmlns:a="http://schemas.openxmlformats.org/drawingml/2006/main">
            <a:r>
              <a:t>Синодальный перевод. Перевод в общественном достоянии. Современные случаи и молитва авторские. Иллюстрация: Юноша уходит с печалью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6. Щедрость в жизни. 4 мин</a:t>
            </a:r>
          </a:p>
          <a:p xmlns:a="http://schemas.openxmlformats.org/drawingml/2006/main">
            <a:r>
              <a:t>Реплика: Разберите шесть случаев. В одних уже можно действовать, в других нужно спросить, а в третьих — изменить само предложение.</a:t>
            </a:r>
          </a:p>
          <a:p xmlns:a="http://schemas.openxmlformats.org/drawingml/2006/main">
            <a:r>
              <a:t>Проведение: Пары раскладывают карточки страницы 3: «Можно действовать», «Сначала уточнить», «Нужно изменить». Для спорной карточки назовите один решающий вопрос. Выслушайте два объяснения.</a:t>
            </a:r>
          </a:p>
          <a:p xmlns:a="http://schemas.openxmlformats.org/drawingml/2006/main">
            <a:r>
              <a:t>Вопрос: По каким признакам видно, что помощь уважает человека?</a:t>
            </a:r>
          </a:p>
          <a:p xmlns:a="http://schemas.openxmlformats.org/drawingml/2006/main">
            <a:r>
              <a:t>Ориентир: Учитывают нужду, согласие, право распоряжаться вещью и выполнимость обещания. Публичная благодарность не становится платой за помощь.</a:t>
            </a:r>
          </a:p>
          <a:p xmlns:a="http://schemas.openxmlformats.org/drawingml/2006/main">
            <a:r>
              <a:t>Время: 2 минуты — сортировка; 2 минуты — объяснение.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Дать книгу: Друг просит твою книгу на два дня. Она твоя, ты сейчас её не читаешь. Вы согласовали возврат.</a:t>
            </a:r>
          </a:p>
          <a:p xmlns:a="http://schemas.openxmlformats.org/drawingml/2006/main">
            <a:r>
              <a:t>2 Общая игра: Ты хочешь подарить игру всей группы. Она тебе не принадлежит. Остальные ещё не согласились.</a:t>
            </a:r>
          </a:p>
          <a:p xmlns:a="http://schemas.openxmlformats.org/drawingml/2006/main">
            <a:r>
              <a:t>3 Плата благодарностью: Ты обещаешь помочь только при условии, что друг публично расскажет всем о твоей щедрости.</a:t>
            </a:r>
          </a:p>
          <a:p xmlns:a="http://schemas.openxmlformats.org/drawingml/2006/main">
            <a:r>
              <a:t>4 Помочь починить: Друг просит помочь с игрой. У тебя есть десять минут и нужное умение. Ты готов прийти в оговорённое время.</a:t>
            </a:r>
          </a:p>
          <a:p xmlns:a="http://schemas.openxmlformats.org/drawingml/2006/main">
            <a:r>
              <a:t>5 Нужен ли подарок: Ты собрал вещи для знакомого, но не спросил, нужны ли они ему. Что нужно узнать перед передачей?</a:t>
            </a:r>
          </a:p>
          <a:p xmlns:a="http://schemas.openxmlformats.org/drawingml/2006/main">
            <a:r>
              <a:t>6 Всё ради впечатления: Ты тратишь обещанные на обратную дорогу деньги на красивые призы. Гостям теперь не на что вернуться.</a:t>
            </a:r>
          </a:p>
          <a:p xmlns:a="http://schemas.openxmlformats.org/drawingml/2006/main">
            <a:r>
              <a:t>Источники: https://bible.by/syn/42/12/ ; https://bible.by/syn/40/19/</a:t>
            </a:r>
          </a:p>
          <a:p xmlns:a="http://schemas.openxmlformats.org/drawingml/2006/main">
            <a:r>
              <a:t>Синодальный перевод. Перевод в общественном достоянии. Современные случаи и молитва авторские. Иллюстрация: Книга на время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7. Делиться можно по-разному. 4 мин</a:t>
            </a:r>
          </a:p>
          <a:p xmlns:a="http://schemas.openxmlformats.org/drawingml/2006/main">
            <a:r>
              <a:t>Реплика: Можно подарить, дать на время, починить вместе или уделить внимание. Возьми обычную вещь в воображении и придумай два разных способа, как она послужит другому.</a:t>
            </a:r>
          </a:p>
          <a:p xmlns:a="http://schemas.openxmlformats.org/drawingml/2006/main">
            <a:r>
              <a:t>Проведение: В парах один владелец, другой просит о помощи. Первый предлагает действие и условие возврата, если это заём. Второй отвечает, удобно ли ему. Через минуту смените роли. Сравните подарок, заём и совместное использование.</a:t>
            </a:r>
          </a:p>
          <a:p xmlns:a="http://schemas.openxmlformats.org/drawingml/2006/main">
            <a:r>
              <a:t>Вопрос: Как сохранить щедрость и ясную договорённость?</a:t>
            </a:r>
          </a:p>
          <a:p xmlns:a="http://schemas.openxmlformats.org/drawingml/2006/main">
            <a:r>
              <a:t>Ориентир: Например: «Могу дать игру до воскресенья. Подойдёт?» Или: «У меня один набор, давай сделаем вместе». Возможен уважительный отказ с другим предложением.</a:t>
            </a:r>
          </a:p>
          <a:p xmlns:a="http://schemas.openxmlformats.org/drawingml/2006/main">
            <a:r>
              <a:t>Время: 1 минута — варианты; 2 минуты — два диалога; 1 минута — вывод.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https://bible.by/syn/42/12/ ; https://bible.by/syn/40/19/</a:t>
            </a:r>
          </a:p>
          <a:p xmlns:a="http://schemas.openxmlformats.org/drawingml/2006/main">
            <a:r>
              <a:t>Синодальный перевод. Перевод в общественном достоянии. Современные случаи и молитва авторские. Иллюстрация: Совместный ремонт игры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8. Игровой вечер и 12 жетонов. 6 мин</a:t>
            </a:r>
          </a:p>
          <a:p xmlns:a="http://schemas.openxmlformats.org/drawingml/2006/main">
            <a:r>
              <a:t>Реплика: Команда готовит общий игровой вечер. У вас 12 условных жетонов. Часть уже обещана на дорогу. Выберите, что действительно поможет гостям, и объясните, от чего откажетесь.</a:t>
            </a:r>
          </a:p>
          <a:p xmlns:a="http://schemas.openxmlformats.org/drawingml/2006/main">
            <a:r>
              <a:t>Проведение: Команды по четыре получают отдельные сведения страницы 5 и шесть вариантов страницы 4. Каждый пересказывает своё. Отложите 3 жетона на дорогу, распределите остальные 9. Запишите первый план и остаток. Каждая покупка возможна один раз; выбирают либо новую игру, либо ремонт старой.</a:t>
            </a:r>
          </a:p>
          <a:p xmlns:a="http://schemas.openxmlformats.org/drawingml/2006/main">
            <a:r>
              <a:t>Вопрос: Кому служит наш план: гостям или желанию произвести впечатление?</a:t>
            </a:r>
          </a:p>
          <a:p xmlns:a="http://schemas.openxmlformats.org/drawingml/2006/main">
            <a:r>
              <a:t>Ориентир: Нужна хотя бы одна доступная игра и участие подростков. Допустимы разные планы в пределах 12. Бесплатное время имеет значение. Пример: дорога 3 + ремонт 2 + украшения 3 = 8, остаток 4.</a:t>
            </a:r>
          </a:p>
          <a:p xmlns:a="http://schemas.openxmlformats.org/drawingml/2006/main">
            <a:r>
              <a:t>Время: 1 минута — сведения; 3 минуты — выбор; 2 минуты — проверка суммы и ролей.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Дорога 3: Уже обещана гостям. Эти 3 жетона откладывают прежде любых покупок.</a:t>
            </a:r>
          </a:p>
          <a:p xmlns:a="http://schemas.openxmlformats.org/drawingml/2006/main">
            <a:r>
              <a:t>Новая игра 7: Полный набор, можно играть сразу. Вместо ремонта старой игры.</a:t>
            </a:r>
          </a:p>
          <a:p xmlns:a="http://schemas.openxmlformats.org/drawingml/2006/main">
            <a:r>
              <a:t>Ремонт игры 2: Нужные детали и клей. За десять минут команда восстанавливает старую игру. Вместо новой.</a:t>
            </a:r>
          </a:p>
          <a:p xmlns:a="http://schemas.openxmlformats.org/drawingml/2006/main">
            <a:r>
              <a:t>Украшения 3: Ленты и оформление комнаты. Для проведения игры не обязательны.</a:t>
            </a:r>
          </a:p>
          <a:p xmlns:a="http://schemas.openxmlformats.org/drawingml/2006/main">
            <a:r>
              <a:t>Призы 5: Небольшие призы победителям. Гости их не просили, можно обойтись без них.</a:t>
            </a:r>
          </a:p>
          <a:p xmlns:a="http://schemas.openxmlformats.org/drawingml/2006/main">
            <a:r>
              <a:t>Участие 0: Двое подростков объясняют правила и играют вместе с гостями. Денег не стоит, но требует времени.</a:t>
            </a:r>
          </a:p>
          <a:p xmlns:a="http://schemas.openxmlformats.org/drawingml/2006/main">
            <a:r>
              <a:t>1 Бюджет: Всего 12 жетонов. Из них 3 уже обещаны на дорогу гостям. Доступны 9. Это учебная игра, настоящие деньги не нужны.</a:t>
            </a:r>
          </a:p>
          <a:p xmlns:a="http://schemas.openxmlformats.org/drawingml/2006/main">
            <a:r>
              <a:t>2 Что уже есть: Старая игра принадлежит группе. Учитель разрешил её использовать и починить за 2 жетона. До встречи есть десять минут. Новая стоит 7.</a:t>
            </a:r>
          </a:p>
          <a:p xmlns:a="http://schemas.openxmlformats.org/drawingml/2006/main">
            <a:r>
              <a:t>3 Чего ждут гости: Приходят младшие дети. Они хотят поиграть вместе со старшими. Нужна одна исправная игра и двое подростков рядом. Призы не просили.</a:t>
            </a:r>
          </a:p>
          <a:p xmlns:a="http://schemas.openxmlformats.org/drawingml/2006/main">
            <a:r>
              <a:t>4 Свободный выбор: Украшения стоят 3, призы 5, время помощников 0. Каждая покупка один раз. Новая игра или ремонт — выбирайте одно. Остаток можно сохранить.</a:t>
            </a:r>
          </a:p>
          <a:p xmlns:a="http://schemas.openxmlformats.org/drawingml/2006/main">
            <a:r>
              <a:t>Источники: https://bible.by/syn/42/12/ ; https://bible.by/syn/40/19/</a:t>
            </a:r>
          </a:p>
          <a:p xmlns:a="http://schemas.openxmlformats.org/drawingml/2006/main">
            <a:r>
              <a:t>Синодальный перевод. Перевод в общественном достоянии. Современные случаи и молитва авторские. Иллюстрация: Команда обсуждает бюджет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9. Ещё деньги с условием. 4 мин</a:t>
            </a:r>
          </a:p>
          <a:p xmlns:a="http://schemas.openxmlformats.org/drawingml/2006/main">
            <a:r>
              <a:t>Реплика: Появилось предложение: «Добавлю 8 жетонов, если вы опубликуете фотографии гостей с моим подарком». Гости говорят, что фотографироваться не хотят. Что теперь?</a:t>
            </a:r>
          </a:p>
          <a:p xmlns:a="http://schemas.openxmlformats.org/drawingml/2006/main">
            <a:r>
              <a:t>Проведение: Сообщите условие только сейчас. Команда сохраняет первый план и составляет второй: ответ дарителю, бюджет без неподтверждённых средств и способ провести вечер. Согласие гостей менять за деньги нельзя.</a:t>
            </a:r>
          </a:p>
          <a:p xmlns:a="http://schemas.openxmlformats.org/drawingml/2006/main">
            <a:r>
              <a:t>Вопрос: Что мы готовы оставить скромным, чтобы услышать гостей?</a:t>
            </a:r>
          </a:p>
          <a:p xmlns:a="http://schemas.openxmlformats.org/drawingml/2006/main">
            <a:r>
              <a:t>Ориентир: Можно поблагодарить, объяснить отказ от фотографий и предложить помощь без этого условия. Пока даритель не согласился, бюджет остаётся 12. Можно провести вечер по первому плану или упростить оформление.</a:t>
            </a:r>
          </a:p>
          <a:p xmlns:a="http://schemas.openxmlformats.org/drawingml/2006/main">
            <a:r>
              <a:t>Время: 2 минуты — второй план; 2 минуты — сравнение решений.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https://bible.by/syn/42/12/ ; https://bible.by/syn/40/19/</a:t>
            </a:r>
          </a:p>
          <a:p xmlns:a="http://schemas.openxmlformats.org/drawingml/2006/main">
            <a:r>
              <a:t>Синодальный перевод. Перевод в общественном достоянии. Современные случаи и молитва авторские. Иллюстрация: Просьба об условии подарка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10. Разговор с дарителем. 3 мин</a:t>
            </a:r>
          </a:p>
          <a:p xmlns:a="http://schemas.openxmlformats.org/drawingml/2006/main">
            <a:r>
              <a:t>Реплика: Поблагодарите за предложение. Назовите просьбу гостей и предложите, как поддержать вечер без фотографий. Не обещайте то, на что гости не согласились.</a:t>
            </a:r>
          </a:p>
          <a:p xmlns:a="http://schemas.openxmlformats.org/drawingml/2006/main">
            <a:r>
              <a:t>Проведение: В парах разыграйте минутный разговор. Даритель отвечает: «Тогда дополнительных жетонов не будет». Команда спокойно подтверждает выполнимый план на 12. Смените роли и сократите ответ до двух предложений.</a:t>
            </a:r>
          </a:p>
          <a:p xmlns:a="http://schemas.openxmlformats.org/drawingml/2006/main">
            <a:r>
              <a:t>Вопрос: Сохраняется ли доброжелательность, если денег не дадут?</a:t>
            </a:r>
          </a:p>
          <a:p xmlns:a="http://schemas.openxmlformats.org/drawingml/2006/main">
            <a:r>
              <a:t>Ориентир: Возможный ответ: «Спасибо за желание помочь. Гости не хотят фотографий, поэтому мы проведём вечер на то, что уже есть; будем рады помощи без этого условия».</a:t>
            </a:r>
          </a:p>
          <a:p xmlns:a="http://schemas.openxmlformats.org/drawingml/2006/main">
            <a:r>
              <a:t>Время: 1 минута — разговор; 1 минута — смена ролей; 1 минута — один пример.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https://bible.by/syn/42/12/ ; https://bible.by/syn/40/19/</a:t>
            </a:r>
          </a:p>
          <a:p xmlns:a="http://schemas.openxmlformats.org/drawingml/2006/main">
            <a:r>
              <a:t>Синодальный перевод. Перевод в общественном достоянии. Современные случаи и молитва авторские. Иллюстрация: Уважительный ответ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11. Мой шаг щедрости. 3 мин</a:t>
            </a:r>
          </a:p>
          <a:p xmlns:a="http://schemas.openxmlformats.org/drawingml/2006/main">
            <a:r>
              <a:t>Реплика: Вспомни начальный вопрос. Чем ты можешь поделиться свободно и разумно на этой неделе? Можно выбрать вещь, время или умение.</a:t>
            </a:r>
          </a:p>
          <a:p xmlns:a="http://schemas.openxmlformats.org/drawingml/2006/main">
            <a:r>
              <a:t>Проведение: Заполните личный лист страницы 6. Допустим вымышленный пример. Лист остаётся у участника. Дайте тихую минуту и прочитайте авторскую молитву.</a:t>
            </a:r>
          </a:p>
          <a:p xmlns:a="http://schemas.openxmlformats.org/drawingml/2006/main">
            <a:r>
              <a:t>Вопрос: Как сделать намерение конкретным?</a:t>
            </a:r>
          </a:p>
          <a:p xmlns:a="http://schemas.openxmlformats.org/drawingml/2006/main">
            <a:r>
              <a:t>Ориентир: Назвать человека, нужду, доступный ресурс, согласование и время. Речь о посильном шаге, без сравнения стоимости подарков.</a:t>
            </a:r>
          </a:p>
          <a:p xmlns:a="http://schemas.openxmlformats.org/drawingml/2006/main">
            <a:r>
              <a:t>Время: 2 минуты — запись; 1 минута — молитва.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Авторская молитва: Господи Иисусе Христе, благодарю Тебя за то, что Ты мне доверил. Помоги мне видеть человека рядом, быть свободным от жадности и делиться с любовью. Научи меня отвечать на Твой призыв и бережно относиться к чужому достоинству. Аминь.</a:t>
            </a:r>
          </a:p>
          <a:p xmlns:a="http://schemas.openxmlformats.org/drawingml/2006/main">
            <a:r>
              <a:t>Источники: https://bible.by/syn/42/12/ ; https://bible.by/syn/40/19/</a:t>
            </a:r>
          </a:p>
          <a:p xmlns:a="http://schemas.openxmlformats.org/drawingml/2006/main">
            <a:r>
              <a:t>Синодальный перевод. Перевод в общественном достоянии. Современные случаи и молитва авторские. Иллюстрация: Личный шаг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12. Что оказалось важнее. 2 мин</a:t>
            </a:r>
          </a:p>
          <a:p xmlns:a="http://schemas.openxmlformats.org/drawingml/2006/main">
            <a:r>
              <a:t>Реплика: Заверши две фразы: «В евангельских рассказах меня удивило…» и «На этой неделе я могу поделиться…».</a:t>
            </a:r>
          </a:p>
          <a:p xmlns:a="http://schemas.openxmlformats.org/drawingml/2006/main">
            <a:r>
              <a:t>Проведение: Выслушайте несколько коротких ответов без оценки достатка. Вернитесь к главной мысли: вещи служат человеку, а щедрость помогает откликнуться на Бога и ближнего. На следующей встрече желающие расскажут о своём шаге.</a:t>
            </a:r>
          </a:p>
          <a:p xmlns:a="http://schemas.openxmlformats.org/drawingml/2006/main">
            <a:r>
              <a:t>Вопрос: Изменился ли мой первоначальный выбор?</a:t>
            </a:r>
          </a:p>
          <a:p xmlns:a="http://schemas.openxmlformats.org/drawingml/2006/main">
            <a:r>
              <a:t>Ориентир: Важны осмысленное действие и уважение к человеку. Малый дар и участие временем не измеряются ценой.</a:t>
            </a:r>
          </a:p>
          <a:p xmlns:a="http://schemas.openxmlformats.org/drawingml/2006/main">
            <a:r>
              <a:t>Время: 1 минута — ответы; 1 минута — завершение.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https://bible.by/syn/42/12/ ; https://bible.by/syn/40/19/</a:t>
            </a:r>
          </a:p>
          <a:p xmlns:a="http://schemas.openxmlformats.org/drawingml/2006/main">
            <a:r>
              <a:t>Синодальный перевод. Перевод в общественном достоянии. Современные случаи и молитва авторские. Иллюстрация: Время и игра вместе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eecd0f039f4d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f5a774762e42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d7acf805004f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a8455735d44e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6e4c3cc864a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cc5f715cf47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C6CA7AD-4C8D-4D62-9998-90087B80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0DC8D78-84D6-4426-8080-F91EA94634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707A127-FB98-45A3-8C31-8D6855EE14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E12D3B8-882E-4585-9B13-808F2F71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FED315B-6122-45BF-A0D9-3FC9015DF6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B1627F8-BA41-41E1-A000-B7765586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7F3AC2-4F63-460B-A6F2-D1942C600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B7C40E1-D9AD-44C7-9DCB-6A0FB78A87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938B648-B161-40E6-BF2A-08B3198E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32CB9F2-4BA7-404C-8184-771FB15BDB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4E3A4F-331D-4C32-B9E9-899D6016D5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B4D0562-9BA2-43F3-8CEF-DAAA65D8B3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54C1873-6F28-4C99-AD73-ECC51EDB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26F2063-3C13-4C27-89DF-0A6A89A9EE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EFDA2E-7EC9-4AD2-8653-506A5FE63A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8d4a7542884d58" /><Relationship Type="http://schemas.openxmlformats.org/officeDocument/2006/relationships/slideLayout" Target="/ppt/slideLayouts/slideLayout1.xml" Id="R053bd04bd74c491f" /><Relationship Type="http://schemas.openxmlformats.org/officeDocument/2006/relationships/slideLayout" Target="/ppt/slideLayouts/slideLayout2.xml" Id="Re46bf10975b0489c" /><Relationship Type="http://schemas.openxmlformats.org/officeDocument/2006/relationships/slideLayout" Target="/ppt/slideLayouts/slideLayout3.xml" Id="R7880d37bc271471f" /><Relationship Type="http://schemas.openxmlformats.org/officeDocument/2006/relationships/slideLayout" Target="/ppt/slideLayouts/slideLayout4.xml" Id="Rbc513487141245b6" /><Relationship Type="http://schemas.openxmlformats.org/officeDocument/2006/relationships/slideLayout" Target="/ppt/slideLayouts/slideLayout5.xml" Id="R2ab3b98864404034" /><Relationship Type="http://schemas.openxmlformats.org/officeDocument/2006/relationships/slideLayout" Target="/ppt/slideLayouts/slideLayout6.xml" Id="Rd884e2fb99be4e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3bd04bd74c491f"/>
    <p:sldLayoutId xmlns:r="http://schemas.openxmlformats.org/officeDocument/2006/relationships" id="2147483650" r:id="Re46bf10975b0489c"/>
    <p:sldLayoutId xmlns:r="http://schemas.openxmlformats.org/officeDocument/2006/relationships" id="2147483651" r:id="R7880d37bc271471f"/>
    <p:sldLayoutId xmlns:r="http://schemas.openxmlformats.org/officeDocument/2006/relationships" id="2147483652" r:id="Rbc513487141245b6"/>
    <p:sldLayoutId xmlns:r="http://schemas.openxmlformats.org/officeDocument/2006/relationships" id="2147483653" r:id="R2ab3b98864404034"/>
    <p:sldLayoutId xmlns:r="http://schemas.openxmlformats.org/officeDocument/2006/relationships" id="2147483654" r:id="Rd884e2fb99be4e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abcc21ce9f4dbb" /><Relationship Type="http://schemas.openxmlformats.org/officeDocument/2006/relationships/image" Target="/ppt/media/image.jpeg" Id="Rbf459b4bcd014899" /><Relationship Type="http://schemas.openxmlformats.org/officeDocument/2006/relationships/notesSlide" Target="/ppt/notesSlides/notesSlide1.xml" Id="R301e8432b9dd42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bf08775e84bab" /><Relationship Type="http://schemas.openxmlformats.org/officeDocument/2006/relationships/image" Target="/ppt/media/image2.jpeg" Id="R5caef02ea2e44fba" /><Relationship Type="http://schemas.openxmlformats.org/officeDocument/2006/relationships/notesSlide" Target="/ppt/notesSlides/notesSlide2.xml" Id="Rd1c8aea2218240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ecbf0c35d64f68" /><Relationship Type="http://schemas.openxmlformats.org/officeDocument/2006/relationships/image" Target="/ppt/media/image3.jpeg" Id="R5c7d186bf7764836" /><Relationship Type="http://schemas.openxmlformats.org/officeDocument/2006/relationships/notesSlide" Target="/ppt/notesSlides/notesSlide3.xml" Id="Rac271521ba9446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b2810931e440fc" /><Relationship Type="http://schemas.openxmlformats.org/officeDocument/2006/relationships/image" Target="/ppt/media/image4.jpeg" Id="R6e7e70be10034ca5" /><Relationship Type="http://schemas.openxmlformats.org/officeDocument/2006/relationships/notesSlide" Target="/ppt/notesSlides/notesSlide4.xml" Id="R0e7f0ef12f214c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85706c8c1b4ed1" /><Relationship Type="http://schemas.openxmlformats.org/officeDocument/2006/relationships/image" Target="/ppt/media/image5.jpeg" Id="Ra1a86eafb65f41cc" /><Relationship Type="http://schemas.openxmlformats.org/officeDocument/2006/relationships/notesSlide" Target="/ppt/notesSlides/notesSlide5.xml" Id="R054813eb7bcf45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7ae9e160c44d8c" /><Relationship Type="http://schemas.openxmlformats.org/officeDocument/2006/relationships/image" Target="/ppt/media/image6.jpeg" Id="R5307691204694996" /><Relationship Type="http://schemas.openxmlformats.org/officeDocument/2006/relationships/notesSlide" Target="/ppt/notesSlides/notesSlide6.xml" Id="Ra36ff7ed37b54f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e39ec5e60d4977" /><Relationship Type="http://schemas.openxmlformats.org/officeDocument/2006/relationships/image" Target="/ppt/media/image7.jpeg" Id="R4be9b4b9ecea41f4" /><Relationship Type="http://schemas.openxmlformats.org/officeDocument/2006/relationships/notesSlide" Target="/ppt/notesSlides/notesSlide7.xml" Id="R5548dc351f034c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20434465d942d4" /><Relationship Type="http://schemas.openxmlformats.org/officeDocument/2006/relationships/image" Target="/ppt/media/image8.jpeg" Id="R1eef1aa0ec0e47f4" /><Relationship Type="http://schemas.openxmlformats.org/officeDocument/2006/relationships/notesSlide" Target="/ppt/notesSlides/notesSlide8.xml" Id="R2e5bf55674c445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cc55ed018243cf" /><Relationship Type="http://schemas.openxmlformats.org/officeDocument/2006/relationships/image" Target="/ppt/media/image9.jpeg" Id="Rb67d39dab8594df1" /><Relationship Type="http://schemas.openxmlformats.org/officeDocument/2006/relationships/notesSlide" Target="/ppt/notesSlides/notesSlide9.xml" Id="R2be5bee6b1ac43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7616b111fd4035" /><Relationship Type="http://schemas.openxmlformats.org/officeDocument/2006/relationships/image" Target="/ppt/media/image10.jpeg" Id="R63db53acd2324900" /><Relationship Type="http://schemas.openxmlformats.org/officeDocument/2006/relationships/notesSlide" Target="/ppt/notesSlides/notesSlide10.xml" Id="Re05e7db4adb148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e80436c5f34001" /><Relationship Type="http://schemas.openxmlformats.org/officeDocument/2006/relationships/image" Target="/ppt/media/image11.jpeg" Id="Rbd1104be71fc482a" /><Relationship Type="http://schemas.openxmlformats.org/officeDocument/2006/relationships/notesSlide" Target="/ppt/notesSlides/notesSlide11.xml" Id="R7f95a6fad77c48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13602821a44062" /><Relationship Type="http://schemas.openxmlformats.org/officeDocument/2006/relationships/image" Target="/ppt/media/image12.jpeg" Id="R833d05cac50d41be" /><Relationship Type="http://schemas.openxmlformats.org/officeDocument/2006/relationships/notesSlide" Target="/ppt/notesSlides/notesSlide12.xml" Id="Rfb2a8b334d9a46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59b4bcd01489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657DE-AE68-419E-92F7-2ADA6F23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71550"/>
            <a:ext cx="5334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Что важнее:</a:t>
            </a:r>
          </a:p>
          <a:p xmlns:a="http://schemas.openxmlformats.org/drawingml/2006/main">
            <a:pPr>
              <a:defRPr sz="3825" b="1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иметь или</a:t>
            </a:r>
          </a:p>
          <a:p xmlns:a="http://schemas.openxmlformats.org/drawingml/2006/main">
            <a:pPr>
              <a:defRPr sz="3825" b="1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делиться?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231DD-084D-49A5-8DFE-439B4474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Вещи, деньги, щедрость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538A3-ED36-42F6-A8C4-26EBF578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7207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12–15 лет · 45 минут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05486-C796-46D0-A610-26E1783F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Лк. 12:15–21; Мф. 19:16–26</a:t>
            </a:r>
          </a:p>
        </p:txBody>
      </p:sp>
    </p:spTree>
    <p:extLst>
      <p:ext uri="{BB962C8B-B14F-4D97-AF65-F5344CB8AC3E}">
        <p14:creationId xmlns:p14="http://schemas.microsoft.com/office/powerpoint/2010/main" val="2031517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93C20-EA66-41D0-A827-07BF9EBF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Два евангельских рассказа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ef02ea2e44fba"/>
          <a:stretch xmlns:a="http://schemas.openxmlformats.org/drawingml/2006/main"/>
        </p:blipFill>
        <p:spPr>
          <a:xfrm xmlns:a="http://schemas.openxmlformats.org/drawingml/2006/main">
            <a:off x="5543550" y="2101145"/>
            <a:ext cx="6038850" cy="339865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49BB9-586C-44E9-A922-48D76001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714875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Лк. 12:15–21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Мф. 19:16–26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Богатый урожай.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Вопрос о вечной жизни.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Читаем оба отрывка.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CAA6E-62F3-4840-8279-023B5FA5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Сразу после чтения разыгрываем обе истории.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D4286-AF55-43F9-97A2-2A18A129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369987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E4ABE-B5FF-43E9-8AE1-82518FA3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Два героя и их выбор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d186bf7764836"/>
          <a:stretch xmlns:a="http://schemas.openxmlformats.org/drawingml/2006/main"/>
        </p:blipFill>
        <p:spPr>
          <a:xfrm xmlns:a="http://schemas.openxmlformats.org/drawingml/2006/main">
            <a:off x="5543550" y="2101145"/>
            <a:ext cx="6038850" cy="339865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A57FD-110A-4FB5-B49F-B5EA822F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714875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Богач и его запасы.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Юноша и призыв Христа.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После ухода юноши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разговор продолжается.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2FB9C-E3D2-4DA7-B3E4-61B8516F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Обсуждение после Мф. 19:26.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2B736-22AB-4457-94F2-5EE559A6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523123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DFCAE-AA05-49E4-87A0-43B18F22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Что удерживает человека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e70be10034ca5"/>
          <a:stretch xmlns:a="http://schemas.openxmlformats.org/drawingml/2006/main"/>
        </p:blipFill>
        <p:spPr>
          <a:xfrm xmlns:a="http://schemas.openxmlformats.org/drawingml/2006/main">
            <a:off x="5543550" y="2101145"/>
            <a:ext cx="6038850" cy="339865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D6C62-75C9-4F63-9072-D2EF2418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714875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На что надеется герой?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Что трудно отпустить?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«Богу же всё возможно».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Мф. 19:26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666C3-0408-4717-8FC1-E9CA9B6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Сравниваем поступки и надежды героев.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9ABD4-0849-4059-BFCA-B6B5E091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587564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2BB77-B0D7-42DA-BF85-E55EB9F5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Истории рядом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86eafb65f41cc"/>
          <a:stretch xmlns:a="http://schemas.openxmlformats.org/drawingml/2006/main"/>
        </p:blipFill>
        <p:spPr>
          <a:xfrm xmlns:a="http://schemas.openxmlformats.org/drawingml/2006/main">
            <a:off x="5543550" y="2101145"/>
            <a:ext cx="6038850" cy="339865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26A37-3789-454E-B542-05CF5264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714875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Два рассказа.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Четыре карточки.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Найдите начало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и завершение каждого.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362CE-3DE8-4869-824B-DF33D0EF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Две отдельные последовательности.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30ED1-D344-4FB3-BB18-6B016AFE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934937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4F942-8EDF-4FDE-A1B1-7256A30F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Щедрость в жизни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7691204694996"/>
          <a:stretch xmlns:a="http://schemas.openxmlformats.org/drawingml/2006/main"/>
        </p:blipFill>
        <p:spPr>
          <a:xfrm xmlns:a="http://schemas.openxmlformats.org/drawingml/2006/main">
            <a:off x="5543550" y="2101145"/>
            <a:ext cx="6038850" cy="339865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1FA08-40BE-4B13-A680-4AE1C447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714875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Можно действовать.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Сначала уточнить.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Нужно изменить.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Чья вещь?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Чего хочет человек?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89E82-7542-4A1C-98F1-FC819400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Решение зависит от условий.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5E06D-9202-4F37-BF5A-DF3A7566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202433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E687E-0F52-4517-8641-3FE42B9C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Делиться можно по-разному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9b4b9ecea41f4"/>
          <a:stretch xmlns:a="http://schemas.openxmlformats.org/drawingml/2006/main"/>
        </p:blipFill>
        <p:spPr>
          <a:xfrm xmlns:a="http://schemas.openxmlformats.org/drawingml/2006/main">
            <a:off x="5543550" y="2101145"/>
            <a:ext cx="6038850" cy="339865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A2840-31C0-4892-99BA-E178981D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714875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Подарить. Дать на время.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Сделать вместе.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Предложи два варианта.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Выслушай ответ.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Поменяйтесь ролями.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204B7-B70F-4B6B-8A37-204BD36A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Подарок и заём требуют разных договорённостей.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6FEEA-A074-430C-B77D-9615509C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80968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A78E1-0069-4754-95A1-FAAEC922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Игровой вечер и 12 жетонов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f1aa0ec0e47f4"/>
          <a:stretch xmlns:a="http://schemas.openxmlformats.org/drawingml/2006/main"/>
        </p:blipFill>
        <p:spPr>
          <a:xfrm xmlns:a="http://schemas.openxmlformats.org/drawingml/2006/main">
            <a:off x="5543550" y="2102951"/>
            <a:ext cx="6038850" cy="339504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4B6C7-21DA-4F4E-BEE2-D1502962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714875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Всего 12 жетонов.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3 обещаны на дорогу.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9 доступны для выбора.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Что поможет гостям?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Что можно не покупать?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8C5C7-6578-4B39-8043-8231E5AA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Запишите первый план и остаток жетонов.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950F1-7870-4C81-BAFE-FAC8E9A9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243626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9724A-F1E3-4446-867F-DD5583B9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Ещё деньги с условием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d39dab8594df1"/>
          <a:stretch xmlns:a="http://schemas.openxmlformats.org/drawingml/2006/main"/>
        </p:blipFill>
        <p:spPr>
          <a:xfrm xmlns:a="http://schemas.openxmlformats.org/drawingml/2006/main">
            <a:off x="5543550" y="2101145"/>
            <a:ext cx="6038850" cy="339865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7A0D5-CB96-409A-A458-F57244C0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714875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Ещё 8 жетонов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за фотографии гостей.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Гости не хотят фото.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Каким будет ответ?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06EF4-D220-44F9-9F4B-0B72659B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Сохраните первый план и добавьте второй.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D4E5E-38A2-4EDB-B8B7-DD016388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981730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52423-CC35-4A9C-A4FC-896179D2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Разговор с дарителем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b53acd2324900"/>
          <a:stretch xmlns:a="http://schemas.openxmlformats.org/drawingml/2006/main"/>
        </p:blipFill>
        <p:spPr>
          <a:xfrm xmlns:a="http://schemas.openxmlformats.org/drawingml/2006/main">
            <a:off x="5543550" y="2101145"/>
            <a:ext cx="6038850" cy="339865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D8F94-853B-4C14-AD30-D24BC812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714875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Спасибо за предложение.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Гости не хотят фотографий.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Как помочь без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этого условия?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2ECB8-1C19-4F9D-A080-356492B9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Разыграйте разговор и поменяйтесь ролями.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1076C-AB93-455F-A686-B3C99946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254532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8E8F2-DAAA-4611-90E1-6E75787E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Мой шаг щедрости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104be71fc482a"/>
          <a:stretch xmlns:a="http://schemas.openxmlformats.org/drawingml/2006/main"/>
        </p:blipFill>
        <p:spPr>
          <a:xfrm xmlns:a="http://schemas.openxmlformats.org/drawingml/2006/main">
            <a:off x="5543550" y="2101145"/>
            <a:ext cx="6038850" cy="339865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DE88C-4193-4C10-B915-1E1ECD72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714875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Чем могу поделиться?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Кому это нужно?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О чём сначала спрошу?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Когда сделаю?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B202C-AB5D-4DA0-8E70-3193D2EA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Личный лист остаётся у тебя.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9C7C9-85E6-44FD-BA83-20A624F6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861745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FC4E9-24C6-4371-8F80-6C1923AD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Что оказалось важнее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d05cac50d41be"/>
          <a:stretch xmlns:a="http://schemas.openxmlformats.org/drawingml/2006/main"/>
        </p:blipFill>
        <p:spPr>
          <a:xfrm xmlns:a="http://schemas.openxmlformats.org/drawingml/2006/main">
            <a:off x="5543550" y="2101145"/>
            <a:ext cx="6038850" cy="339865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82586-6860-4803-952C-EF6B6E2D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714875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«Меня удивило…»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«Я могу поделиться…»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Что изменилось</a:t>
            </a:r>
          </a:p>
          <a:p xmlns:a="http://schemas.openxmlformats.org/drawingml/2006/main">
            <a:pPr>
              <a:def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93F49"/>
                </a:solidFill>
                <a:latin typeface="DejaVu Sans"/>
                <a:ea typeface="DejaVu Sans"/>
                <a:cs typeface="DejaVu Sans"/>
              </a:rPr>
              <a:t>в моём выборе?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18D77-2731-4B81-8AD8-82FD5EF3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Небольшой шаг можно начать на этой неделе.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8019B-D071-4EC1-A25A-2279680D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2503F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86545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2026-10-03T22:17:30.1260000Z</dcterms:created>
  <dcterms:modified xsi:type="dcterms:W3CDTF">2026-10-03T22:17:30.1260000Z</dcterms:modified>
</coreProperties>
</file>