
<file path=[Content_Types].xml><?xml version="1.0" encoding="utf-8"?>
<Types xmlns="http://schemas.openxmlformats.org/package/2006/content-types">
  <Default Extension="xml" ContentType="application/vnd.openxmlformats-package.core-properties+xml"/>
  <Default Extension="jp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b319a1806a4262" /><Relationship Type="http://schemas.openxmlformats.org/officeDocument/2006/relationships/extended-properties" Target="/docProps/app.xml" Id="R94b0997253aa48da" /><Relationship Type="http://schemas.openxmlformats.org/officeDocument/2006/relationships/officeDocument" Target="/ppt/presentation.xml" Id="R83fb31e4cc334ef2" /></Relationships>
</file>

<file path=ppt/presentation.xml><?xml version="1.0" encoding="utf-8"?>
<p:presentation xmlns:p="http://schemas.openxmlformats.org/presentationml/2006/main">
  <p:sldMasterIdLst>
    <p:sldMasterId xmlns:r="http://schemas.openxmlformats.org/officeDocument/2006/relationships" id="2147483648" r:id="R74a2d6b341c74386"/>
  </p:sldMasterIdLst>
  <p:notesMasterIdLst>
    <p:notesMasterId xmlns:r="http://schemas.openxmlformats.org/officeDocument/2006/relationships" r:id="Rd15675a702f14ba0"/>
  </p:notesMasterIdLst>
  <p:sldIdLst>
    <p:sldId xmlns:r="http://schemas.openxmlformats.org/officeDocument/2006/relationships" id="256" r:id="Rc6b61e634cbc41e5"/>
    <p:sldId xmlns:r="http://schemas.openxmlformats.org/officeDocument/2006/relationships" id="257" r:id="Re07270c81c534701"/>
    <p:sldId xmlns:r="http://schemas.openxmlformats.org/officeDocument/2006/relationships" id="258" r:id="R98aec6575ba642eb"/>
    <p:sldId xmlns:r="http://schemas.openxmlformats.org/officeDocument/2006/relationships" id="259" r:id="R193fe42a4ffc4e7c"/>
    <p:sldId xmlns:r="http://schemas.openxmlformats.org/officeDocument/2006/relationships" id="260" r:id="R1cca502e9c1c4a3a"/>
    <p:sldId xmlns:r="http://schemas.openxmlformats.org/officeDocument/2006/relationships" id="261" r:id="Rc4ad0a3925d742d1"/>
    <p:sldId xmlns:r="http://schemas.openxmlformats.org/officeDocument/2006/relationships" id="262" r:id="R07efe658331f4690"/>
    <p:sldId xmlns:r="http://schemas.openxmlformats.org/officeDocument/2006/relationships" id="263" r:id="R87db8d5d53754e39"/>
    <p:sldId xmlns:r="http://schemas.openxmlformats.org/officeDocument/2006/relationships" id="264" r:id="R5bbc65b2248c4bde"/>
    <p:sldId xmlns:r="http://schemas.openxmlformats.org/officeDocument/2006/relationships" id="265" r:id="Rd903d06d25904d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c7947698e14264" /><Relationship Type="http://schemas.openxmlformats.org/officeDocument/2006/relationships/slideMaster" Target="/ppt/slideMasters/slideMaster1.xml" Id="R74a2d6b341c74386" /><Relationship Type="http://schemas.openxmlformats.org/officeDocument/2006/relationships/notesMaster" Target="/ppt/notesMasters/notesMaster1.xml" Id="Rd15675a702f14ba0" /><Relationship Type="http://schemas.openxmlformats.org/officeDocument/2006/relationships/presProps" Target="/ppt/presProps.xml" Id="Rbce854480b334d0b" /><Relationship Type="http://schemas.openxmlformats.org/officeDocument/2006/relationships/tableStyles" Target="/ppt/tableStyles.xml" Id="R7d1f0137fc2b4927" /><Relationship Type="http://schemas.openxmlformats.org/officeDocument/2006/relationships/slide" Target="/ppt/slides/slide1.xml" Id="Rc6b61e634cbc41e5" /><Relationship Type="http://schemas.openxmlformats.org/officeDocument/2006/relationships/slide" Target="/ppt/slides/slide2.xml" Id="Re07270c81c534701" /><Relationship Type="http://schemas.openxmlformats.org/officeDocument/2006/relationships/slide" Target="/ppt/slides/slide3.xml" Id="R98aec6575ba642eb" /><Relationship Type="http://schemas.openxmlformats.org/officeDocument/2006/relationships/slide" Target="/ppt/slides/slide4.xml" Id="R193fe42a4ffc4e7c" /><Relationship Type="http://schemas.openxmlformats.org/officeDocument/2006/relationships/slide" Target="/ppt/slides/slide5.xml" Id="R1cca502e9c1c4a3a" /><Relationship Type="http://schemas.openxmlformats.org/officeDocument/2006/relationships/slide" Target="/ppt/slides/slide6.xml" Id="Rc4ad0a3925d742d1" /><Relationship Type="http://schemas.openxmlformats.org/officeDocument/2006/relationships/slide" Target="/ppt/slides/slide7.xml" Id="R07efe658331f4690" /><Relationship Type="http://schemas.openxmlformats.org/officeDocument/2006/relationships/slide" Target="/ppt/slides/slide8.xml" Id="R87db8d5d53754e39" /><Relationship Type="http://schemas.openxmlformats.org/officeDocument/2006/relationships/slide" Target="/ppt/slides/slide9.xml" Id="R5bbc65b2248c4bde" /><Relationship Type="http://schemas.openxmlformats.org/officeDocument/2006/relationships/slide" Target="/ppt/slides/slide10.xml" Id="Rd903d06d25904d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8a9a04d0f245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aa313de0994b92" /><Relationship Type="http://schemas.openxmlformats.org/officeDocument/2006/relationships/notesMaster" Target="/ppt/notesMasters/notesMaster1.xml" Id="R619728c3f68841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47be01ac7a40b8" /><Relationship Type="http://schemas.openxmlformats.org/officeDocument/2006/relationships/notesMaster" Target="/ppt/notesMasters/notesMaster1.xml" Id="R248978cdeb2945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1b3206dae0459b" /><Relationship Type="http://schemas.openxmlformats.org/officeDocument/2006/relationships/notesMaster" Target="/ppt/notesMasters/notesMaster1.xml" Id="Rb0c429190cc144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f5019ea2924865" /><Relationship Type="http://schemas.openxmlformats.org/officeDocument/2006/relationships/notesMaster" Target="/ppt/notesMasters/notesMaster1.xml" Id="R6e09d5f88eea47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fbff47df0f4d85" /><Relationship Type="http://schemas.openxmlformats.org/officeDocument/2006/relationships/notesMaster" Target="/ppt/notesMasters/notesMaster1.xml" Id="R071dab53332b46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b210d6d05a4282" /><Relationship Type="http://schemas.openxmlformats.org/officeDocument/2006/relationships/notesMaster" Target="/ppt/notesMasters/notesMaster1.xml" Id="R4b625d9b78cd40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7a4b8dd4f240d3" /><Relationship Type="http://schemas.openxmlformats.org/officeDocument/2006/relationships/notesMaster" Target="/ppt/notesMasters/notesMaster1.xml" Id="Re4e21b7e4fde45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b6ab96c8f84746" /><Relationship Type="http://schemas.openxmlformats.org/officeDocument/2006/relationships/notesMaster" Target="/ppt/notesMasters/notesMaster1.xml" Id="R105f439997cc4e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a59376be484f6c" /><Relationship Type="http://schemas.openxmlformats.org/officeDocument/2006/relationships/notesMaster" Target="/ppt/notesMasters/notesMaster1.xml" Id="R2b102b553e4149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4990a549ad46b9" /><Relationship Type="http://schemas.openxmlformats.org/officeDocument/2006/relationships/notesMaster" Target="/ppt/notesMasters/notesMaster1.xml" Id="Rd0d78e7aff7b4a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3 минут</a:t>
            </a:r>
          </a:p>
          <a:p xmlns:a="http://schemas.openxmlformats.org/drawingml/2006/main">
            <a:r>
              <a:t/>
            </a:r>
          </a:p>
          <a:p xmlns:a="http://schemas.openxmlformats.org/drawingml/2006/main">
            <a:r>
              <a:t>Ведущий: «Сегодня попробуем заметить момент, когда мы уже отвечаем, хотя ещё не поняли человека. Выберите одну помеху на экране». 30 секунд на выбор, минута на два коротких объяснения. Запишите количество голосов, не оценивая участников. «В конце проверим, что можем делать иначе. Личными историями делиться необязательно». Участники выбирают и слушают ответы. Переход: «Посмотрим на один обычный вечер».</a:t>
            </a:r>
          </a:p>
          <a:p xmlns:a="http://schemas.openxmlformats.org/drawingml/2006/main">
            <a:r>
              <a:t/>
            </a:r>
          </a:p>
          <a:p xmlns:a="http://schemas.openxmlformats.org/drawingml/2006/main">
            <a:r>
              <a:t>Первый выбор и личная цель.</a:t>
            </a:r>
          </a:p>
          <a:p xmlns:a="http://schemas.openxmlformats.org/drawingml/2006/main">
            <a:r>
              <a:t/>
            </a:r>
          </a:p>
          <a:p xmlns:a="http://schemas.openxmlformats.org/drawingml/2006/main">
            <a:r>
              <a:t>Иллюстрация: ../images/01.png;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6 минут</a:t>
            </a:r>
          </a:p>
          <a:p xmlns:a="http://schemas.openxmlformats.org/drawingml/2006/main">
            <a:r>
              <a:t/>
            </a:r>
          </a:p>
          <a:p xmlns:a="http://schemas.openxmlformats.org/drawingml/2006/main">
            <a:r>
              <a:t>Двое добровольцев получают роли со страницы 1. Ведущий: «Читайте только реплики. Обстоятельства узнаем позже». Анна: «Ты опять в телефоне». Михаил: «Я вообще-то делом занят». Анна: «С тобой невозможно поговорить». Михаил: «А ты можешь без претензий?» После минутной сценки дайте минуту записать отдельно точную реплику и догадку о её смысле. Обсудите: «Что каждый мог услышать? Какие слова вы добавили мысленно?» Примите разные версии без объявления правого. Последняя минута: назовите разницу между услышанными словами и нашей интерпретацией.</a:t>
            </a:r>
          </a:p>
          <a:p xmlns:a="http://schemas.openxmlformats.org/drawingml/2006/main">
            <a:r>
              <a:t/>
            </a:r>
          </a:p>
          <a:p xmlns:a="http://schemas.openxmlformats.org/drawingml/2006/main">
            <a:r>
              <a:t>Дословная реплика отделена от догадки.</a:t>
            </a:r>
          </a:p>
          <a:p xmlns:a="http://schemas.openxmlformats.org/drawingml/2006/main">
            <a:r>
              <a:t/>
            </a:r>
          </a:p>
          <a:p xmlns:a="http://schemas.openxmlformats.org/drawingml/2006/main">
            <a:r>
              <a:t>Иллюстрация: ../images/02.png;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5 минут</a:t>
            </a:r>
          </a:p>
          <a:p xmlns:a="http://schemas.openxmlformats.org/drawingml/2006/main">
            <a:r>
              <a:t/>
            </a:r>
          </a:p>
          <a:p xmlns:a="http://schemas.openxmlformats.org/drawingml/2006/main">
            <a:r>
              <a:t>Прочитайте три ответа: А «Тогда просто ложись раньше»; Б «А я, по-твоему, не устал?»; В «Тебе сейчас хочется, чтобы я послушал, или нужна помощь?» Голосование: какой ответ лучше помогает понять просьбу? Минута обсуждения в тройках, затем два мнения. Разбор: В открывает возможность уточнить; А может оказаться полезным советом, но пока мы не знаем, нужен ли он; Б переводит разговор в соревнование. Ведущий: «Совет может быть хорошим. Важен момент, когда его предлагают». Попросите придумать ещё один вопрос, который не подсказывает ответ.</a:t>
            </a:r>
          </a:p>
          <a:p xmlns:a="http://schemas.openxmlformats.org/drawingml/2006/main">
            <a:r>
              <a:t/>
            </a:r>
          </a:p>
          <a:p xmlns:a="http://schemas.openxmlformats.org/drawingml/2006/main">
            <a:r>
              <a:t>Один вопрос вместо поспешного совета.</a:t>
            </a:r>
          </a:p>
          <a:p xmlns:a="http://schemas.openxmlformats.org/drawingml/2006/main">
            <a:r>
              <a:t/>
            </a:r>
          </a:p>
          <a:p xmlns:a="http://schemas.openxmlformats.org/drawingml/2006/main">
            <a:r>
              <a:t>Иллюстрация: ../images/03.png;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8 минут</a:t>
            </a:r>
          </a:p>
          <a:p xmlns:a="http://schemas.openxmlformats.org/drawingml/2006/main">
            <a:r>
              <a:t/>
            </a:r>
          </a:p>
          <a:p xmlns:a="http://schemas.openxmlformats.org/drawingml/2006/main">
            <a:r>
              <a:t>Ведущий читает оба отрывка полностью со страницы «Библейская основа»; около трёх минут. До конца чтения не обсуждайте. Затем: «Какое действие предлагает Иаков? Что у Павла должно уйти из нашей речи и что появиться?» Две минуты в парах: найдите по одному месту, применимому к сценке. Выслушайте ответы со ссылкой на стих. Ориентиры: слушать прежде ответа; говорить правду; не оправдывать оскорбление гневом; выбирать слова, полезные слушающему; быть добрыми и прощать. Объясните контекст посланий по примечанию к чтению. «Какую свою реплику мог бы изменить каждый герой?»</a:t>
            </a:r>
          </a:p>
          <a:p xmlns:a="http://schemas.openxmlformats.org/drawingml/2006/main">
            <a:r>
              <a:t/>
            </a:r>
          </a:p>
          <a:p xmlns:a="http://schemas.openxmlformats.org/drawingml/2006/main">
            <a:r>
              <a:t>Конкретный поступок связан с библейским стихом.</a:t>
            </a:r>
          </a:p>
          <a:p xmlns:a="http://schemas.openxmlformats.org/drawingml/2006/main">
            <a:r>
              <a:t/>
            </a:r>
          </a:p>
          <a:p xmlns:a="http://schemas.openxmlformats.org/drawingml/2006/main">
            <a:r>
              <a:t>Иак. 1:19–20</a:t>
            </a:r>
          </a:p>
          <a:p xmlns:a="http://schemas.openxmlformats.org/drawingml/2006/main">
            <a:r>
              <a:t>19 Итак, братия мои возлюбленные, всякий человек да будет скор на слышание, медлен на слова, медлен на гнев,</a:t>
            </a:r>
          </a:p>
          <a:p xmlns:a="http://schemas.openxmlformats.org/drawingml/2006/main">
            <a:r>
              <a:t>20 ибо гнев человека не творит правды Божией.</a:t>
            </a:r>
          </a:p>
          <a:p xmlns:a="http://schemas.openxmlformats.org/drawingml/2006/main">
            <a:r>
              <a:t/>
            </a:r>
          </a:p>
          <a:p xmlns:a="http://schemas.openxmlformats.org/drawingml/2006/main">
            <a:r>
              <a:t>Еф. 4:25–32</a:t>
            </a:r>
          </a:p>
          <a:p xmlns:a="http://schemas.openxmlformats.org/drawingml/2006/main">
            <a:r>
              <a:t>25 Посему, отвергнув ложь, говорите истину каждый ближнему своему, потому что мы члены друг другу.</a:t>
            </a:r>
          </a:p>
          <a:p xmlns:a="http://schemas.openxmlformats.org/drawingml/2006/main">
            <a:r>
              <a:t>26 Гневаясь, не согрешайте: солнце да не зайдет во гневе вашем;</a:t>
            </a:r>
          </a:p>
          <a:p xmlns:a="http://schemas.openxmlformats.org/drawingml/2006/main">
            <a:r>
              <a:t>27 и не давайте места диаволу.</a:t>
            </a:r>
          </a:p>
          <a:p xmlns:a="http://schemas.openxmlformats.org/drawingml/2006/main">
            <a:r>
              <a:t>28 Кто крал, вперед не кради, а лучше трудись, делая своими руками полезное, чтобы было из чего уделять нуждающемуся.</a:t>
            </a:r>
          </a:p>
          <a:p xmlns:a="http://schemas.openxmlformats.org/drawingml/2006/main">
            <a:r>
              <a:t>29 Никакое гнилое слово да не исходит из уст ваших, а только доброе для назидания в вере, дабы оно доставляло благодать слушающим.</a:t>
            </a:r>
          </a:p>
          <a:p xmlns:a="http://schemas.openxmlformats.org/drawingml/2006/main">
            <a:r>
              <a:t>30 И не оскорбляйте Святаго Духа Божия, Которым вы запечатлены в день искупления.</a:t>
            </a:r>
          </a:p>
          <a:p xmlns:a="http://schemas.openxmlformats.org/drawingml/2006/main">
            <a:r>
              <a:t>31 Всякое раздражение и ярость, и гнев, и крик, и злоречие со всякою злобою да будут удалены от вас;</a:t>
            </a:r>
          </a:p>
          <a:p xmlns:a="http://schemas.openxmlformats.org/drawingml/2006/main">
            <a:r>
              <a:t>32 но будьте друг ко другу добры, сострадательны, прощайте друг друга, как и Бог во Христе простил вас.</a:t>
            </a:r>
          </a:p>
          <a:p xmlns:a="http://schemas.openxmlformats.org/drawingml/2006/main">
            <a:r>
              <a:t/>
            </a:r>
          </a:p>
          <a:p xmlns:a="http://schemas.openxmlformats.org/drawingml/2006/main">
            <a:r>
              <a:t>Оба послания обращены к христианской общине, а не только к супругам. Иаков связывает слушание со сдержанностью в словах и гневе. Павел говорит о новой жизни во Христе: правдивости, труде, помощи, добрых словах и прощении. Мы применяем эти наставления к повседневному разговору. Пересказ, уточняющий вопрос и формула просьбы — учебные упражнения, а не цитаты из Писания.</a:t>
            </a:r>
          </a:p>
          <a:p xmlns:a="http://schemas.openxmlformats.org/drawingml/2006/main">
            <a:r>
              <a:t>https://bible-teka.com/syn/45/1/</a:t>
            </a:r>
          </a:p>
          <a:p xmlns:a="http://schemas.openxmlformats.org/drawingml/2006/main">
            <a:r>
              <a:t>https://www.bible-center.ru/ru/bibletext/synnew_ru/eph/4:25-32</a:t>
            </a:r>
          </a:p>
          <a:p xmlns:a="http://schemas.openxmlformats.org/drawingml/2006/main">
            <a:r>
              <a:t/>
            </a:r>
          </a:p>
          <a:p xmlns:a="http://schemas.openxmlformats.org/drawingml/2006/main">
            <a:r>
              <a:t>Иллюстрация: ../images/04.png;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7 минут</a:t>
            </a:r>
          </a:p>
          <a:p xmlns:a="http://schemas.openxmlformats.org/drawingml/2006/main">
            <a:r>
              <a:t/>
            </a:r>
          </a:p>
          <a:p xmlns:a="http://schemas.openxmlformats.org/drawingml/2006/main">
            <a:r>
              <a:t>Раздайте четыре карточки страницы 3. За две минуты разложите их на факты и предположения. Карточки 1 и 3 — наблюдения; 2 и 4 — выводы о мотивах. Затем раскройте страницу 2: Анна получила тревожное сообщение от сестры и хотела поговорить; Михаил пытался отправить документ до 20:00. Оба не объяснили этого друг другу. Ведущий: «Это обстоятельства нашей истории. Они объясняют напряжение, но не делают резкость полезной». Команды за две минуты формулируют по одному уточняющему вопросу каждому герою. Примеры: «У тебя срочное дело?»; «С тобой что-то случилось?» Завершите: «Что вы теперь знаете, чего не знали в начале?»</a:t>
            </a:r>
          </a:p>
          <a:p xmlns:a="http://schemas.openxmlformats.org/drawingml/2006/main">
            <a:r>
              <a:t/>
            </a:r>
          </a:p>
          <a:p xmlns:a="http://schemas.openxmlformats.org/drawingml/2006/main">
            <a:r>
              <a:t>Две верные категории и уточняющий вопрос.</a:t>
            </a:r>
          </a:p>
          <a:p xmlns:a="http://schemas.openxmlformats.org/drawingml/2006/main">
            <a:r>
              <a:t/>
            </a:r>
          </a:p>
          <a:p xmlns:a="http://schemas.openxmlformats.org/drawingml/2006/main">
            <a:r>
              <a:t>Иллюстрация: ../images/05.png;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10 минут</a:t>
            </a:r>
          </a:p>
          <a:p xmlns:a="http://schemas.openxmlformats.org/drawingml/2006/main">
            <a:r>
              <a:t/>
            </a:r>
          </a:p>
          <a:p xmlns:a="http://schemas.openxmlformats.org/drawingml/2006/main">
            <a:r>
              <a:t>Раздайте страницу 4. Ведущий за минуту объясняет: «Один рассказывает две минуты о небольшом затруднении. Второй слушает, затем за минуту пересказывает смысл и задаёт один вопрос. Говорящий за 30 секунд уточняет. Советы — только по просьбе». На выбор: план встречи друзей не согласован; коллега перебил рассказ; либо собственный простой случай. Два круга по 3,5 минуты со сменой ролей. Две минуты на обсуждение: «В какой момент вы почувствовали, что вас поняли? Что пришлось исправить в пересказе?» Если пересказ неверен, это повод уточнить, а не проигрыш. Критерий: сам говорящий подтверждает смысл.</a:t>
            </a:r>
          </a:p>
          <a:p xmlns:a="http://schemas.openxmlformats.org/drawingml/2006/main">
            <a:r>
              <a:t/>
            </a:r>
          </a:p>
          <a:p xmlns:a="http://schemas.openxmlformats.org/drawingml/2006/main">
            <a:r>
              <a:t>Оба побывали слушающими и получили обратную связь.</a:t>
            </a:r>
          </a:p>
          <a:p xmlns:a="http://schemas.openxmlformats.org/drawingml/2006/main">
            <a:r>
              <a:t/>
            </a:r>
          </a:p>
          <a:p xmlns:a="http://schemas.openxmlformats.org/drawingml/2006/main">
            <a:r>
              <a:t>Иллюстрация: ../images/06.png;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8 минут</a:t>
            </a:r>
          </a:p>
          <a:p xmlns:a="http://schemas.openxmlformats.org/drawingml/2006/main">
            <a:r>
              <a:t/>
            </a:r>
          </a:p>
          <a:p xmlns:a="http://schemas.openxmlformats.org/drawingml/2006/main">
            <a:r>
              <a:t>Группы по три: Анна, Михаил, наблюдатель. За три минуты напишите новую версию разговора, учитывая раскрытые обстоятельства. В следующие две минуты разыграйте её; наблюдатель отмечает на странице 4: был ли точный пересказ, вопрос и конкретная просьба. Две группы показывают по 30 секунд; остальные за минуту называют работающие фразы. Пример для разбора: «Мне тревожно после сообщения сестры. Ты можешь послушать меня пять минут?» — «Хочу понять, что случилось. Мне осталось отправить документ. Подойдёт через три минуты?» — «Да, я подожду». Договорённость может быть другой. Уточните, что согласие нельзя заранее приписывать собеседнику.</a:t>
            </a:r>
          </a:p>
          <a:p xmlns:a="http://schemas.openxmlformats.org/drawingml/2006/main">
            <a:r>
              <a:t/>
            </a:r>
          </a:p>
          <a:p xmlns:a="http://schemas.openxmlformats.org/drawingml/2006/main">
            <a:r>
              <a:t>Разговор заканчивается ясной взаимной договорённостью.</a:t>
            </a:r>
          </a:p>
          <a:p xmlns:a="http://schemas.openxmlformats.org/drawingml/2006/main">
            <a:r>
              <a:t/>
            </a:r>
          </a:p>
          <a:p xmlns:a="http://schemas.openxmlformats.org/drawingml/2006/main">
            <a:r>
              <a:t>Иллюстрация: ../images/07.png;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5 минут</a:t>
            </a:r>
          </a:p>
          <a:p xmlns:a="http://schemas.openxmlformats.org/drawingml/2006/main">
            <a:r>
              <a:t/>
            </a:r>
          </a:p>
          <a:p xmlns:a="http://schemas.openxmlformats.org/drawingml/2006/main">
            <a:r>
              <a:t>Прочитайте: «Всё, отстань!» и «Я начинаю говорить резко. Мне нужно десять минут. Давай продолжим в 20:30?» Спросите, чем отличаются реплики. Две минуты в парах: перепишите «Не хочу сейчас об этом» так, чтобы другой понимал причину паузы и предложение вернуться. Выслушайте два варианта. Если предложенное время не подходит, собеседники выбирают другое. Свяжите с Еф. 4:26, 29: не подпитывать гнев и отвечать за свои слова. Закончите: «Пауза помогает только тогда, когда мы действительно возвращаемся к разговору».</a:t>
            </a:r>
          </a:p>
          <a:p xmlns:a="http://schemas.openxmlformats.org/drawingml/2006/main">
            <a:r>
              <a:t/>
            </a:r>
          </a:p>
          <a:p xmlns:a="http://schemas.openxmlformats.org/drawingml/2006/main">
            <a:r>
              <a:t>Фраза паузы содержит предложение вернуться.</a:t>
            </a:r>
          </a:p>
          <a:p xmlns:a="http://schemas.openxmlformats.org/drawingml/2006/main">
            <a:r>
              <a:t/>
            </a:r>
          </a:p>
          <a:p xmlns:a="http://schemas.openxmlformats.org/drawingml/2006/main">
            <a:r>
              <a:t>Иллюстрация: ../images/10.png;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5 минут</a:t>
            </a:r>
          </a:p>
          <a:p xmlns:a="http://schemas.openxmlformats.org/drawingml/2006/main">
            <a:r>
              <a:t/>
            </a:r>
          </a:p>
          <a:p xmlns:a="http://schemas.openxmlformats.org/drawingml/2006/main">
            <a:r>
              <a:t>Раздайте личный лист страницы 6. Две минуты тихой работы: выберите человека, подходящий момент и небольшой вопрос. Запишите: «Я хочу понять…», «Я начну со слов…». Ещё минута: представьте, что собеседник не может говорить сейчас; как спросите о другом времени? Желающие за минуту читают только свою начальную фразу. Последняя минута — проверить, есть ли в плане конкретное действие. Листы участники забирают. Никаких обещаний за другого человека не записываем.</a:t>
            </a:r>
          </a:p>
          <a:p xmlns:a="http://schemas.openxmlformats.org/drawingml/2006/main">
            <a:r>
              <a:t/>
            </a:r>
          </a:p>
          <a:p xmlns:a="http://schemas.openxmlformats.org/drawingml/2006/main">
            <a:r>
              <a:t>Записан один выполнимый шаг.</a:t>
            </a:r>
          </a:p>
          <a:p xmlns:a="http://schemas.openxmlformats.org/drawingml/2006/main">
            <a:r>
              <a:t/>
            </a:r>
          </a:p>
          <a:p xmlns:a="http://schemas.openxmlformats.org/drawingml/2006/main">
            <a:r>
              <a:t>Иллюстрация: ../images/08.png;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Урок для взрослых</a:t>
            </a:r>
          </a:p>
          <a:p xmlns:a="http://schemas.openxmlformats.org/drawingml/2006/main">
            <a:r>
              <a:t>3 минут</a:t>
            </a:r>
          </a:p>
          <a:p xmlns:a="http://schemas.openxmlformats.org/drawingml/2006/main">
            <a:r>
              <a:t/>
            </a:r>
          </a:p>
          <a:p xmlns:a="http://schemas.openxmlformats.org/drawingml/2006/main">
            <a:r>
              <a:t>Минута: каждый пишет первый ответ на фразу экрана. Выслушайте два примера. Ориентир: «Похоже, я что-то важное упустил. Что ты хочешь, чтобы я сейчас услышал?» Проверьте: ответ уточняет, не оправдывается и не ставит диагноз другому. Попросите поднять руку тех, кому удалось получить подтверждение точного пересказа в упражнении 6; это проверка навыка, не сравнение людей. Завершите: «Какую одну привычку вы унесёте с собой?» По желанию прочитайте заключительную молитву из пособия.</a:t>
            </a:r>
          </a:p>
          <a:p xmlns:a="http://schemas.openxmlformats.org/drawingml/2006/main">
            <a:r>
              <a:t/>
            </a:r>
          </a:p>
          <a:p xmlns:a="http://schemas.openxmlformats.org/drawingml/2006/main">
            <a:r>
              <a:t>Новая ответная реплика и личный вывод.</a:t>
            </a:r>
          </a:p>
          <a:p xmlns:a="http://schemas.openxmlformats.org/drawingml/2006/main">
            <a:r>
              <a:t/>
            </a:r>
          </a:p>
          <a:p xmlns:a="http://schemas.openxmlformats.org/drawingml/2006/main">
            <a:r>
              <a:t>Господи, помоги нам слышать друг друга, удерживать обидные слова и говорить правду с любовью. Дай нам терпение исправлять свои ошибки и заботиться о ближнем. Аминь.</a:t>
            </a:r>
          </a:p>
          <a:p xmlns:a="http://schemas.openxmlformats.org/drawingml/2006/main">
            <a:r>
              <a:t/>
            </a:r>
          </a:p>
          <a:p xmlns:a="http://schemas.openxmlformats.org/drawingml/2006/main">
            <a:r>
              <a:t>Иллюстрация: ../images/09.png; создана с помощью ИИ для этого урока.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4f4ac9f2c64f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c59f124c1942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d966d3220842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0e4ae9dab74f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f74dc7a86942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e8a6633d444d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471004A-FB7A-4D48-8202-F6FA621808A9}"/>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343C055-EC11-49D2-8B43-08F54F609B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0C87879-64B9-4C16-AC51-E4CF56EB41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2E983E7-C715-4D41-9FD3-BCE1CA1E5D1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8A67E5B-8FDB-41CC-9EB5-882ED3B36E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0C6BA31-ABC2-4D62-9FF6-9C172CC5B1C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A7E5C61-FE71-4203-96E9-E51E843FB0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E7A6E7F-936F-41A7-9F26-6FE500D4748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C0AFC07-9D58-41C5-B92E-08E32F65BB3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3AEC94C-F4AF-455D-99E2-EC69316E9B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EF84D3-CAD5-46E3-A5B6-0F167B0D3A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BBB8147-34B5-4D0D-A5B0-D56423CEDE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2AD85EA-DDA7-47D8-B121-43851B38BF5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7E3FD9C-0276-4F2E-8E53-07B31CBB6F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2BD038B-0C7D-497A-A8DF-F4772FC3F7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2a1cf75a20429d" /><Relationship Type="http://schemas.openxmlformats.org/officeDocument/2006/relationships/slideLayout" Target="/ppt/slideLayouts/slideLayout1.xml" Id="R23ebd2e796874abc" /><Relationship Type="http://schemas.openxmlformats.org/officeDocument/2006/relationships/slideLayout" Target="/ppt/slideLayouts/slideLayout2.xml" Id="R042f5027c0194e6e" /><Relationship Type="http://schemas.openxmlformats.org/officeDocument/2006/relationships/slideLayout" Target="/ppt/slideLayouts/slideLayout3.xml" Id="R221649f406194456" /><Relationship Type="http://schemas.openxmlformats.org/officeDocument/2006/relationships/slideLayout" Target="/ppt/slideLayouts/slideLayout4.xml" Id="Re6d712d60aae4423" /><Relationship Type="http://schemas.openxmlformats.org/officeDocument/2006/relationships/slideLayout" Target="/ppt/slideLayouts/slideLayout5.xml" Id="R40bcf22e26c342cd" /><Relationship Type="http://schemas.openxmlformats.org/officeDocument/2006/relationships/slideLayout" Target="/ppt/slideLayouts/slideLayout6.xml" Id="Rb17817ee89c74b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ebd2e796874abc"/>
    <p:sldLayoutId xmlns:r="http://schemas.openxmlformats.org/officeDocument/2006/relationships" id="2147483650" r:id="R042f5027c0194e6e"/>
    <p:sldLayoutId xmlns:r="http://schemas.openxmlformats.org/officeDocument/2006/relationships" id="2147483651" r:id="R221649f406194456"/>
    <p:sldLayoutId xmlns:r="http://schemas.openxmlformats.org/officeDocument/2006/relationships" id="2147483652" r:id="Re6d712d60aae4423"/>
    <p:sldLayoutId xmlns:r="http://schemas.openxmlformats.org/officeDocument/2006/relationships" id="2147483653" r:id="R40bcf22e26c342cd"/>
    <p:sldLayoutId xmlns:r="http://schemas.openxmlformats.org/officeDocument/2006/relationships" id="2147483654" r:id="Rb17817ee89c74b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88f30a79724fcc" /><Relationship Type="http://schemas.openxmlformats.org/officeDocument/2006/relationships/image" Target="/ppt/media/image.jpg" Id="Rbb2a9f4377ce4954" /><Relationship Type="http://schemas.openxmlformats.org/officeDocument/2006/relationships/notesSlide" Target="/ppt/notesSlides/notesSlide1.xml" Id="R87ce89f8674445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1b17b3a5954b77" /><Relationship Type="http://schemas.openxmlformats.org/officeDocument/2006/relationships/image" Target="/ppt/media/image2.jpg" Id="R9fde6ae2723a4567" /><Relationship Type="http://schemas.openxmlformats.org/officeDocument/2006/relationships/notesSlide" Target="/ppt/notesSlides/notesSlide2.xml" Id="R8efe82709f2b46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7d18e2a9f84be5" /><Relationship Type="http://schemas.openxmlformats.org/officeDocument/2006/relationships/image" Target="/ppt/media/image3.jpg" Id="Rd42acd242c9d4aec" /><Relationship Type="http://schemas.openxmlformats.org/officeDocument/2006/relationships/notesSlide" Target="/ppt/notesSlides/notesSlide3.xml" Id="Racdda37545294e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b3b2aeae744d58" /><Relationship Type="http://schemas.openxmlformats.org/officeDocument/2006/relationships/image" Target="/ppt/media/image4.jpg" Id="Re59158f75f814971" /><Relationship Type="http://schemas.openxmlformats.org/officeDocument/2006/relationships/notesSlide" Target="/ppt/notesSlides/notesSlide4.xml" Id="R4580ec250d5d44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70c87b9ebf4800" /><Relationship Type="http://schemas.openxmlformats.org/officeDocument/2006/relationships/image" Target="/ppt/media/image5.jpg" Id="R3466022cbcf84cd8" /><Relationship Type="http://schemas.openxmlformats.org/officeDocument/2006/relationships/notesSlide" Target="/ppt/notesSlides/notesSlide5.xml" Id="R74b49e01b06946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9401b3ab1a4b97" /><Relationship Type="http://schemas.openxmlformats.org/officeDocument/2006/relationships/image" Target="/ppt/media/image6.jpg" Id="R944edb7fc1a24c5f" /><Relationship Type="http://schemas.openxmlformats.org/officeDocument/2006/relationships/notesSlide" Target="/ppt/notesSlides/notesSlide6.xml" Id="Rd61c99c2535c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2a7c99fa4644fd" /><Relationship Type="http://schemas.openxmlformats.org/officeDocument/2006/relationships/image" Target="/ppt/media/image7.jpg" Id="R4c53301c9147446d" /><Relationship Type="http://schemas.openxmlformats.org/officeDocument/2006/relationships/notesSlide" Target="/ppt/notesSlides/notesSlide7.xml" Id="R6df659a4b499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3db201c228434b" /><Relationship Type="http://schemas.openxmlformats.org/officeDocument/2006/relationships/image" Target="/ppt/media/image8.jpg" Id="Rdb3472d4fa464c44" /><Relationship Type="http://schemas.openxmlformats.org/officeDocument/2006/relationships/notesSlide" Target="/ppt/notesSlides/notesSlide8.xml" Id="R10c21ff4712541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05a3fdfb834bc3" /><Relationship Type="http://schemas.openxmlformats.org/officeDocument/2006/relationships/image" Target="/ppt/media/image9.jpg" Id="R05fb8cbacf4a4f5a" /><Relationship Type="http://schemas.openxmlformats.org/officeDocument/2006/relationships/notesSlide" Target="/ppt/notesSlides/notesSlide9.xml" Id="R1dcd7a74c60c4b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2fb865b0da44ea" /><Relationship Type="http://schemas.openxmlformats.org/officeDocument/2006/relationships/image" Target="/ppt/media/image10.jpg" Id="Ra8d33d49392f4f47" /><Relationship Type="http://schemas.openxmlformats.org/officeDocument/2006/relationships/notesSlide" Target="/ppt/notesSlides/notesSlide10.xml" Id="R3cdf6079d8734c3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b2a9f4377ce495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611B91-A90A-413C-B913-726D580A4C91}"/>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01   3 мин</a:t>
            </a:r>
          </a:p>
        </p:txBody>
      </p:sp>
      <p:sp>
        <p:nvSpPr>
          <p:cNvPr id="3" name="">
            <a:extLst xmlns:a="http://schemas.openxmlformats.org/drawingml/2006/main">
              <a:ext uri="{FF2B5EF4-FFF2-40B4-BE49-F238E27FC236}">
                <a16:creationId xmlns:a16="http://schemas.microsoft.com/office/drawing/2014/main" id="{5AC5BEF7-6B27-4FB4-80F9-8A93709A0909}"/>
              </a:ext>
            </a:extLst>
          </p:cNvPr>
          <p:cNvSpPr>
            <a:spLocks xmlns:a="http://schemas.openxmlformats.org/drawingml/2006/main" noGrp="1"/>
          </p:cNvSpPr>
          <p:nvPr/>
        </p:nvSpPr>
        <p:spPr>
          <a:xfrm xmlns:a="http://schemas.openxmlformats.org/drawingml/2006/main">
            <a:off x="495300" y="1047750"/>
            <a:ext cx="44005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33743"/>
                </a:solidFill>
                <a:latin typeface="DejaVu Sans"/>
                <a:ea typeface="DejaVu Sans"/>
                <a:cs typeface="DejaVu Sans"/>
              </a:defRPr>
            </a:pPr>
            <a:r>
              <a:rPr sz="3300" b="1">
                <a:solidFill>
                  <a:srgbClr val="233743"/>
                </a:solidFill>
                <a:latin typeface="DejaVu Sans"/>
                <a:ea typeface="DejaVu Sans"/>
                <a:cs typeface="DejaVu Sans"/>
              </a:rPr>
              <a:t>Почему мы перестаём слышать друг друга?</a:t>
            </a:r>
          </a:p>
        </p:txBody>
      </p:sp>
      <p:sp>
        <p:nvSpPr>
          <p:cNvPr id="4" name="">
            <a:extLst xmlns:a="http://schemas.openxmlformats.org/drawingml/2006/main">
              <a:ext uri="{FF2B5EF4-FFF2-40B4-BE49-F238E27FC236}">
                <a16:creationId xmlns:a16="http://schemas.microsoft.com/office/drawing/2014/main" id="{DE75827B-79CC-4756-84F3-99D6EF0F4A43}"/>
              </a:ext>
            </a:extLst>
          </p:cNvPr>
          <p:cNvSpPr>
            <a:spLocks xmlns:a="http://schemas.openxmlformats.org/drawingml/2006/main" noGrp="1"/>
          </p:cNvSpPr>
          <p:nvPr/>
        </p:nvSpPr>
        <p:spPr>
          <a:xfrm xmlns:a="http://schemas.openxmlformats.org/drawingml/2006/main">
            <a:off x="495300" y="3571875"/>
            <a:ext cx="4400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3"/>
                </a:solidFill>
                <a:latin typeface="DejaVu Sans"/>
                <a:ea typeface="DejaVu Sans"/>
                <a:cs typeface="DejaVu Sans"/>
              </a:defRPr>
            </a:pPr>
            <a:r>
              <a:rPr sz="1800" b="0">
                <a:solidFill>
                  <a:srgbClr val="233743"/>
                </a:solidFill>
                <a:latin typeface="DejaVu Sans"/>
                <a:ea typeface="DejaVu Sans"/>
                <a:cs typeface="DejaVu Sans"/>
              </a:rPr>
              <a:t>Урок для взрослых</a:t>
            </a:r>
          </a:p>
        </p:txBody>
      </p:sp>
      <p:sp>
        <p:nvSpPr>
          <p:cNvPr id="5" name="">
            <a:extLst xmlns:a="http://schemas.openxmlformats.org/drawingml/2006/main">
              <a:ext uri="{FF2B5EF4-FFF2-40B4-BE49-F238E27FC236}">
                <a16:creationId xmlns:a16="http://schemas.microsoft.com/office/drawing/2014/main" id="{B83DEAE2-EDBF-4FB4-B1E7-CB7A2999C97A}"/>
              </a:ext>
            </a:extLst>
          </p:cNvPr>
          <p:cNvSpPr>
            <a:spLocks xmlns:a="http://schemas.openxmlformats.org/drawingml/2006/main" noGrp="1"/>
          </p:cNvSpPr>
          <p:nvPr/>
        </p:nvSpPr>
        <p:spPr>
          <a:xfrm xmlns:a="http://schemas.openxmlformats.org/drawingml/2006/main">
            <a:off x="495300" y="4524375"/>
            <a:ext cx="44005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Что чаще мешает слушать?</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Спешка / готовый ответ / усталость / догадки</a:t>
            </a:r>
          </a:p>
        </p:txBody>
      </p:sp>
      <p:sp>
        <p:nvSpPr>
          <p:cNvPr id="6" name="">
            <a:extLst xmlns:a="http://schemas.openxmlformats.org/drawingml/2006/main">
              <a:ext uri="{FF2B5EF4-FFF2-40B4-BE49-F238E27FC236}">
                <a16:creationId xmlns:a16="http://schemas.microsoft.com/office/drawing/2014/main" id="{A4EA34F5-8285-4812-8E49-30E343114D6A}"/>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78999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fde6ae2723a456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2EF50C-48FA-4E08-AB12-EAC9B8EB62F4}"/>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02   6 мин</a:t>
            </a:r>
          </a:p>
        </p:txBody>
      </p:sp>
      <p:sp>
        <p:nvSpPr>
          <p:cNvPr id="3" name="">
            <a:extLst xmlns:a="http://schemas.openxmlformats.org/drawingml/2006/main">
              <a:ext uri="{FF2B5EF4-FFF2-40B4-BE49-F238E27FC236}">
                <a16:creationId xmlns:a16="http://schemas.microsoft.com/office/drawing/2014/main" id="{1ACC7D12-17E7-4456-992F-787FDCC1DA08}"/>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Один вечер и два смысла</a:t>
            </a:r>
          </a:p>
        </p:txBody>
      </p:sp>
      <p:sp>
        <p:nvSpPr>
          <p:cNvPr id="4" name="">
            <a:extLst xmlns:a="http://schemas.openxmlformats.org/drawingml/2006/main">
              <a:ext uri="{FF2B5EF4-FFF2-40B4-BE49-F238E27FC236}">
                <a16:creationId xmlns:a16="http://schemas.microsoft.com/office/drawing/2014/main" id="{EE7DDE33-89C6-4306-A9E8-DC77898E4D23}"/>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«Ты опять в телефоне».</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Что было сказано? Что было услышано?</a:t>
            </a:r>
          </a:p>
        </p:txBody>
      </p:sp>
      <p:sp>
        <p:nvSpPr>
          <p:cNvPr id="5" name="">
            <a:extLst xmlns:a="http://schemas.openxmlformats.org/drawingml/2006/main">
              <a:ext uri="{FF2B5EF4-FFF2-40B4-BE49-F238E27FC236}">
                <a16:creationId xmlns:a16="http://schemas.microsoft.com/office/drawing/2014/main" id="{625C1B68-AC0D-4BD1-9EE5-66EF0977CCB9}"/>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9837884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42acd242c9d4ae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FDE2E5-75AF-4A3E-B749-1F5BB31EA8E1}"/>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03   5 мин</a:t>
            </a:r>
          </a:p>
        </p:txBody>
      </p:sp>
      <p:sp>
        <p:nvSpPr>
          <p:cNvPr id="3" name="">
            <a:extLst xmlns:a="http://schemas.openxmlformats.org/drawingml/2006/main">
              <a:ext uri="{FF2B5EF4-FFF2-40B4-BE49-F238E27FC236}">
                <a16:creationId xmlns:a16="http://schemas.microsoft.com/office/drawing/2014/main" id="{A66692A1-2EDC-4196-9B94-2D0E0FB0D902}"/>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Ответ уже готов</a:t>
            </a:r>
          </a:p>
        </p:txBody>
      </p:sp>
      <p:sp>
        <p:nvSpPr>
          <p:cNvPr id="4" name="">
            <a:extLst xmlns:a="http://schemas.openxmlformats.org/drawingml/2006/main">
              <a:ext uri="{FF2B5EF4-FFF2-40B4-BE49-F238E27FC236}">
                <a16:creationId xmlns:a16="http://schemas.microsoft.com/office/drawing/2014/main" id="{E27000C1-8DB1-4ABB-93DF-C228EF38B874}"/>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«Я сегодня совсем вымоталась».</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А  «Просто ложись раньше».</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Б  «А я, по-твоему, не устал?»</a:t>
            </a:r>
          </a:p>
          <a:p xmlns:a="http://schemas.openxmlformats.org/drawingml/2006/main">
            <a:r>
              <a:t/>
            </a:r>
          </a:p>
          <a:p xmlns:a="http://schemas.openxmlformats.org/drawingml/2006/main">
            <a:pPr>
              <a:defRPr sz="1875" b="0">
                <a:solidFill>
                  <a:srgbClr val="233743"/>
                </a:solidFill>
                <a:latin typeface="DejaVu Sans"/>
                <a:ea typeface="DejaVu Sans"/>
                <a:cs typeface="DejaVu Sans"/>
              </a:defRPr>
            </a:pPr>
            <a:r>
              <a:rPr sz="1875" b="0">
                <a:solidFill>
                  <a:srgbClr val="233743"/>
                </a:solidFill>
                <a:latin typeface="DejaVu Sans"/>
                <a:ea typeface="DejaVu Sans"/>
                <a:cs typeface="DejaVu Sans"/>
              </a:rPr>
              <a:t>В  «Послушать или помочь?»</a:t>
            </a:r>
          </a:p>
        </p:txBody>
      </p:sp>
      <p:sp>
        <p:nvSpPr>
          <p:cNvPr id="5" name="">
            <a:extLst xmlns:a="http://schemas.openxmlformats.org/drawingml/2006/main">
              <a:ext uri="{FF2B5EF4-FFF2-40B4-BE49-F238E27FC236}">
                <a16:creationId xmlns:a16="http://schemas.microsoft.com/office/drawing/2014/main" id="{39AA9B6A-8AB8-4BE7-A07B-625D6E0E2B9C}"/>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3148348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59158f75f81497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8CE618-B7E3-4A75-A8C9-6190A92695D7}"/>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04   8 мин</a:t>
            </a:r>
          </a:p>
        </p:txBody>
      </p:sp>
      <p:sp>
        <p:nvSpPr>
          <p:cNvPr id="3" name="">
            <a:extLst xmlns:a="http://schemas.openxmlformats.org/drawingml/2006/main">
              <a:ext uri="{FF2B5EF4-FFF2-40B4-BE49-F238E27FC236}">
                <a16:creationId xmlns:a16="http://schemas.microsoft.com/office/drawing/2014/main" id="{F403AA07-8EA1-4B83-A313-5012EE0F7662}"/>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Слова и христианская жизнь</a:t>
            </a:r>
          </a:p>
        </p:txBody>
      </p:sp>
      <p:sp>
        <p:nvSpPr>
          <p:cNvPr id="4" name="">
            <a:extLst xmlns:a="http://schemas.openxmlformats.org/drawingml/2006/main">
              <a:ext uri="{FF2B5EF4-FFF2-40B4-BE49-F238E27FC236}">
                <a16:creationId xmlns:a16="http://schemas.microsoft.com/office/drawing/2014/main" id="{5DCC57A8-C5BA-4F04-80C1-9D72AD0BEBF2}"/>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Иак. 1:19–20</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Еф. 4:25–32</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Что эти слова меняют в нашем разговоре?</a:t>
            </a:r>
          </a:p>
        </p:txBody>
      </p:sp>
      <p:sp>
        <p:nvSpPr>
          <p:cNvPr id="5" name="">
            <a:extLst xmlns:a="http://schemas.openxmlformats.org/drawingml/2006/main">
              <a:ext uri="{FF2B5EF4-FFF2-40B4-BE49-F238E27FC236}">
                <a16:creationId xmlns:a16="http://schemas.microsoft.com/office/drawing/2014/main" id="{55BB3729-0FE8-465C-A3BF-7E3168C812A1}"/>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248891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466022cbcf84cd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8C1273-931E-4414-B200-AAF307A8BAFA}"/>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05   7 мин</a:t>
            </a:r>
          </a:p>
        </p:txBody>
      </p:sp>
      <p:sp>
        <p:nvSpPr>
          <p:cNvPr id="3" name="">
            <a:extLst xmlns:a="http://schemas.openxmlformats.org/drawingml/2006/main">
              <a:ext uri="{FF2B5EF4-FFF2-40B4-BE49-F238E27FC236}">
                <a16:creationId xmlns:a16="http://schemas.microsoft.com/office/drawing/2014/main" id="{11488A9D-9FF7-4A60-A21C-18F239738755}"/>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Факт или моя версия</a:t>
            </a:r>
          </a:p>
        </p:txBody>
      </p:sp>
      <p:sp>
        <p:nvSpPr>
          <p:cNvPr id="4" name="">
            <a:extLst xmlns:a="http://schemas.openxmlformats.org/drawingml/2006/main">
              <a:ext uri="{FF2B5EF4-FFF2-40B4-BE49-F238E27FC236}">
                <a16:creationId xmlns:a16="http://schemas.microsoft.com/office/drawing/2014/main" id="{58431B5E-4F80-4629-9815-8862F12E5D14}"/>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Что я видел или слышал?</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Что я предположил?</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Что стоит спросить?</a:t>
            </a:r>
          </a:p>
        </p:txBody>
      </p:sp>
      <p:sp>
        <p:nvSpPr>
          <p:cNvPr id="5" name="">
            <a:extLst xmlns:a="http://schemas.openxmlformats.org/drawingml/2006/main">
              <a:ext uri="{FF2B5EF4-FFF2-40B4-BE49-F238E27FC236}">
                <a16:creationId xmlns:a16="http://schemas.microsoft.com/office/drawing/2014/main" id="{56172229-646E-4492-8A22-A92BA38AADB9}"/>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20515510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44edb7fc1a24c5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42820B-6AF5-49FD-867E-9365F45F38A7}"/>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06   10 мин</a:t>
            </a:r>
          </a:p>
        </p:txBody>
      </p:sp>
      <p:sp>
        <p:nvSpPr>
          <p:cNvPr id="3" name="">
            <a:extLst xmlns:a="http://schemas.openxmlformats.org/drawingml/2006/main">
              <a:ext uri="{FF2B5EF4-FFF2-40B4-BE49-F238E27FC236}">
                <a16:creationId xmlns:a16="http://schemas.microsoft.com/office/drawing/2014/main" id="{06669A4D-75C8-43A3-A6A5-056AA2B95C74}"/>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Две минуты внимания</a:t>
            </a:r>
          </a:p>
        </p:txBody>
      </p:sp>
      <p:sp>
        <p:nvSpPr>
          <p:cNvPr id="4" name="">
            <a:extLst xmlns:a="http://schemas.openxmlformats.org/drawingml/2006/main">
              <a:ext uri="{FF2B5EF4-FFF2-40B4-BE49-F238E27FC236}">
                <a16:creationId xmlns:a16="http://schemas.microsoft.com/office/drawing/2014/main" id="{82FD1049-A881-47C8-A81D-2474ABB46A9F}"/>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2 минуты: говорю</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1 минута: слушающий пересказывает и спрашивает</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Уточнение, затем смена ролей</a:t>
            </a:r>
          </a:p>
        </p:txBody>
      </p:sp>
      <p:sp>
        <p:nvSpPr>
          <p:cNvPr id="5" name="">
            <a:extLst xmlns:a="http://schemas.openxmlformats.org/drawingml/2006/main">
              <a:ext uri="{FF2B5EF4-FFF2-40B4-BE49-F238E27FC236}">
                <a16:creationId xmlns:a16="http://schemas.microsoft.com/office/drawing/2014/main" id="{259759BB-559B-464B-BFA2-F79CBB8783CC}"/>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5480185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c53301c9147446d"/>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7E36F6-4890-4763-8259-95612A41894C}"/>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07   8 мин</a:t>
            </a:r>
          </a:p>
        </p:txBody>
      </p:sp>
      <p:sp>
        <p:nvSpPr>
          <p:cNvPr id="3" name="">
            <a:extLst xmlns:a="http://schemas.openxmlformats.org/drawingml/2006/main">
              <a:ext uri="{FF2B5EF4-FFF2-40B4-BE49-F238E27FC236}">
                <a16:creationId xmlns:a16="http://schemas.microsoft.com/office/drawing/2014/main" id="{8AF8FB48-8C89-45F3-927C-ABC9A3F12DB9}"/>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Тот же вечер ещё раз</a:t>
            </a:r>
          </a:p>
        </p:txBody>
      </p:sp>
      <p:sp>
        <p:nvSpPr>
          <p:cNvPr id="4" name="">
            <a:extLst xmlns:a="http://schemas.openxmlformats.org/drawingml/2006/main">
              <a:ext uri="{FF2B5EF4-FFF2-40B4-BE49-F238E27FC236}">
                <a16:creationId xmlns:a16="http://schemas.microsoft.com/office/drawing/2014/main" id="{A09EFB92-A56C-479D-940A-79D71D7D5AC5}"/>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Одна понятная просьба</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Один уточняющий вопрос</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Одна выполнимая договорённость</a:t>
            </a:r>
          </a:p>
        </p:txBody>
      </p:sp>
      <p:sp>
        <p:nvSpPr>
          <p:cNvPr id="5" name="">
            <a:extLst xmlns:a="http://schemas.openxmlformats.org/drawingml/2006/main">
              <a:ext uri="{FF2B5EF4-FFF2-40B4-BE49-F238E27FC236}">
                <a16:creationId xmlns:a16="http://schemas.microsoft.com/office/drawing/2014/main" id="{34E5CE9E-337F-4B69-8BDE-B54EB5E4AC34}"/>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0702679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b3472d4fa464c4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D6D975-9865-4F43-8D6D-AB8EF187A459}"/>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08   5 мин</a:t>
            </a:r>
          </a:p>
        </p:txBody>
      </p:sp>
      <p:sp>
        <p:nvSpPr>
          <p:cNvPr id="3" name="">
            <a:extLst xmlns:a="http://schemas.openxmlformats.org/drawingml/2006/main">
              <a:ext uri="{FF2B5EF4-FFF2-40B4-BE49-F238E27FC236}">
                <a16:creationId xmlns:a16="http://schemas.microsoft.com/office/drawing/2014/main" id="{4712C8A8-42CA-46E9-8DCC-DCBA0213003A}"/>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Пауза с возвращением</a:t>
            </a:r>
          </a:p>
        </p:txBody>
      </p:sp>
      <p:sp>
        <p:nvSpPr>
          <p:cNvPr id="4" name="">
            <a:extLst xmlns:a="http://schemas.openxmlformats.org/drawingml/2006/main">
              <a:ext uri="{FF2B5EF4-FFF2-40B4-BE49-F238E27FC236}">
                <a16:creationId xmlns:a16="http://schemas.microsoft.com/office/drawing/2014/main" id="{0A685562-93EA-4D7A-9941-B7D5DB82ECD2}"/>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«Мне нужна пауза».</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Когда мы продолжим?</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Как дать понять, что разговор важен?</a:t>
            </a:r>
          </a:p>
        </p:txBody>
      </p:sp>
      <p:sp>
        <p:nvSpPr>
          <p:cNvPr id="5" name="">
            <a:extLst xmlns:a="http://schemas.openxmlformats.org/drawingml/2006/main">
              <a:ext uri="{FF2B5EF4-FFF2-40B4-BE49-F238E27FC236}">
                <a16:creationId xmlns:a16="http://schemas.microsoft.com/office/drawing/2014/main" id="{38AD788C-E821-49CE-80A1-B510D4707790}"/>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2431635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5fb8cbacf4a4f5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B228C7-FD8F-4372-BFDE-8AB053589405}"/>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09   5 мин</a:t>
            </a:r>
          </a:p>
        </p:txBody>
      </p:sp>
      <p:sp>
        <p:nvSpPr>
          <p:cNvPr id="3" name="">
            <a:extLst xmlns:a="http://schemas.openxmlformats.org/drawingml/2006/main">
              <a:ext uri="{FF2B5EF4-FFF2-40B4-BE49-F238E27FC236}">
                <a16:creationId xmlns:a16="http://schemas.microsoft.com/office/drawing/2014/main" id="{BC91E5D2-235F-48B0-9EDC-4A2283505E77}"/>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Один разговор на неделе</a:t>
            </a:r>
          </a:p>
        </p:txBody>
      </p:sp>
      <p:sp>
        <p:nvSpPr>
          <p:cNvPr id="4" name="">
            <a:extLst xmlns:a="http://schemas.openxmlformats.org/drawingml/2006/main">
              <a:ext uri="{FF2B5EF4-FFF2-40B4-BE49-F238E27FC236}">
                <a16:creationId xmlns:a16="http://schemas.microsoft.com/office/drawing/2014/main" id="{F932BAB7-3FF8-48E2-9F46-2BE399FCB794}"/>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С кем и когда?</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О чём я хочу спросить?</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Как я проверю, что понял?</a:t>
            </a:r>
          </a:p>
        </p:txBody>
      </p:sp>
      <p:sp>
        <p:nvSpPr>
          <p:cNvPr id="5" name="">
            <a:extLst xmlns:a="http://schemas.openxmlformats.org/drawingml/2006/main">
              <a:ext uri="{FF2B5EF4-FFF2-40B4-BE49-F238E27FC236}">
                <a16:creationId xmlns:a16="http://schemas.microsoft.com/office/drawing/2014/main" id="{95869694-D876-4510-81B1-19FC9250555A}"/>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4137879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8d33d49392f4f4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09A9D7-1D08-4DE6-B710-82EE385621D9}"/>
              </a:ext>
            </a:extLst>
          </p:cNvPr>
          <p:cNvSpPr>
            <a:spLocks xmlns:a="http://schemas.openxmlformats.org/drawingml/2006/main" noGrp="1"/>
          </p:cNvSpPr>
          <p:nvPr/>
        </p:nvSpPr>
        <p:spPr>
          <a:xfrm xmlns:a="http://schemas.openxmlformats.org/drawingml/2006/main">
            <a:off x="495300" y="40005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33743"/>
                </a:solidFill>
                <a:latin typeface="DejaVu Sans"/>
                <a:ea typeface="DejaVu Sans"/>
                <a:cs typeface="DejaVu Sans"/>
              </a:defRPr>
            </a:pPr>
            <a:r>
              <a:rPr sz="1500" b="0">
                <a:solidFill>
                  <a:srgbClr val="233743"/>
                </a:solidFill>
                <a:latin typeface="DejaVu Sans"/>
                <a:ea typeface="DejaVu Sans"/>
                <a:cs typeface="DejaVu Sans"/>
              </a:rPr>
              <a:t>10   3 мин</a:t>
            </a:r>
          </a:p>
        </p:txBody>
      </p:sp>
      <p:sp>
        <p:nvSpPr>
          <p:cNvPr id="3" name="">
            <a:extLst xmlns:a="http://schemas.openxmlformats.org/drawingml/2006/main">
              <a:ext uri="{FF2B5EF4-FFF2-40B4-BE49-F238E27FC236}">
                <a16:creationId xmlns:a16="http://schemas.microsoft.com/office/drawing/2014/main" id="{5243A0BF-E248-4412-B875-0B0F12D2BA44}"/>
              </a:ext>
            </a:extLst>
          </p:cNvPr>
          <p:cNvSpPr>
            <a:spLocks xmlns:a="http://schemas.openxmlformats.org/drawingml/2006/main" noGrp="1"/>
          </p:cNvSpPr>
          <p:nvPr/>
        </p:nvSpPr>
        <p:spPr>
          <a:xfrm xmlns:a="http://schemas.openxmlformats.org/drawingml/2006/main">
            <a:off x="495300" y="1047750"/>
            <a:ext cx="4400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33743"/>
                </a:solidFill>
                <a:latin typeface="DejaVu Sans"/>
                <a:ea typeface="DejaVu Sans"/>
                <a:cs typeface="DejaVu Sans"/>
              </a:defRPr>
            </a:pPr>
            <a:r>
              <a:rPr sz="3150" b="1">
                <a:solidFill>
                  <a:srgbClr val="233743"/>
                </a:solidFill>
                <a:latin typeface="DejaVu Sans"/>
                <a:ea typeface="DejaVu Sans"/>
                <a:cs typeface="DejaVu Sans"/>
              </a:rPr>
              <a:t>Что я теперь услышу</a:t>
            </a:r>
          </a:p>
        </p:txBody>
      </p:sp>
      <p:sp>
        <p:nvSpPr>
          <p:cNvPr id="4" name="">
            <a:extLst xmlns:a="http://schemas.openxmlformats.org/drawingml/2006/main">
              <a:ext uri="{FF2B5EF4-FFF2-40B4-BE49-F238E27FC236}">
                <a16:creationId xmlns:a16="http://schemas.microsoft.com/office/drawing/2014/main" id="{FA1D7D5E-41C7-4A2B-86C3-39564B9A2162}"/>
              </a:ext>
            </a:extLst>
          </p:cNvPr>
          <p:cNvSpPr>
            <a:spLocks xmlns:a="http://schemas.openxmlformats.org/drawingml/2006/main" noGrp="1"/>
          </p:cNvSpPr>
          <p:nvPr/>
        </p:nvSpPr>
        <p:spPr>
          <a:xfrm xmlns:a="http://schemas.openxmlformats.org/drawingml/2006/main">
            <a:off x="495300" y="2914650"/>
            <a:ext cx="44005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«Ты меня совсем не слушаешь».</a:t>
            </a:r>
          </a:p>
          <a:p xmlns:a="http://schemas.openxmlformats.org/drawingml/2006/main">
            <a:r>
              <a:t/>
            </a:r>
          </a:p>
          <a:p xmlns:a="http://schemas.openxmlformats.org/drawingml/2006/main">
            <a:pPr>
              <a:defRPr sz="2175" b="0">
                <a:solidFill>
                  <a:srgbClr val="233743"/>
                </a:solidFill>
                <a:latin typeface="DejaVu Sans"/>
                <a:ea typeface="DejaVu Sans"/>
                <a:cs typeface="DejaVu Sans"/>
              </a:defRPr>
            </a:pPr>
            <a:r>
              <a:rPr sz="2175" b="0">
                <a:solidFill>
                  <a:srgbClr val="233743"/>
                </a:solidFill>
                <a:latin typeface="DejaVu Sans"/>
                <a:ea typeface="DejaVu Sans"/>
                <a:cs typeface="DejaVu Sans"/>
              </a:rPr>
              <a:t>Каким будет ваш первый ответ?</a:t>
            </a:r>
          </a:p>
        </p:txBody>
      </p:sp>
      <p:sp>
        <p:nvSpPr>
          <p:cNvPr id="5" name="">
            <a:extLst xmlns:a="http://schemas.openxmlformats.org/drawingml/2006/main">
              <a:ext uri="{FF2B5EF4-FFF2-40B4-BE49-F238E27FC236}">
                <a16:creationId xmlns:a16="http://schemas.microsoft.com/office/drawing/2014/main" id="{31975CBB-B5F4-48A0-BF24-39AE6F3CE317}"/>
              </a:ext>
            </a:extLst>
          </p:cNvPr>
          <p:cNvSpPr>
            <a:spLocks xmlns:a="http://schemas.openxmlformats.org/drawingml/2006/main" noGrp="1"/>
          </p:cNvSpPr>
          <p:nvPr/>
        </p:nvSpPr>
        <p:spPr>
          <a:xfrm xmlns:a="http://schemas.openxmlformats.org/drawingml/2006/main">
            <a:off x="495300" y="6334125"/>
            <a:ext cx="440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33743"/>
                </a:solidFill>
                <a:latin typeface="DejaVu Sans"/>
                <a:ea typeface="DejaVu Sans"/>
                <a:cs typeface="DejaVu Sans"/>
              </a:defRPr>
            </a:pPr>
            <a:r>
              <a:rPr sz="1200" b="0">
                <a:solidFill>
                  <a:srgbClr val="233743"/>
                </a:solidFill>
                <a:latin typeface="DejaVu Sans"/>
                <a:ea typeface="DejaVu Sans"/>
                <a:cs typeface="DejaVu Sans"/>
              </a:rPr>
              <a:t>lessons.atapin.de</a:t>
            </a:r>
          </a:p>
        </p:txBody>
      </p:sp>
    </p:spTree>
    <p:extLst>
      <p:ext uri="{BB962C8B-B14F-4D97-AF65-F5344CB8AC3E}">
        <p14:creationId xmlns:p14="http://schemas.microsoft.com/office/powerpoint/2010/main" val="12177112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2026-10-03T23:05:38.6590000Z</dcterms:created>
  <dcterms:modified xsi:type="dcterms:W3CDTF">2026-10-03T23:05:38.6600000Z</dcterms:modified>
</coreProperties>
</file>