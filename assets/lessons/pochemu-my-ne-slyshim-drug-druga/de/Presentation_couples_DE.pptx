
<file path=[Content_Types].xml><?xml version="1.0" encoding="utf-8"?>
<Types xmlns="http://schemas.openxmlformats.org/package/2006/content-types">
  <Default Extension="xml" ContentType="application/vnd.openxmlformats-package.core-properties+xml"/>
  <Default Extension="jp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9c7e35d7d047e1" /><Relationship Type="http://schemas.openxmlformats.org/officeDocument/2006/relationships/extended-properties" Target="/docProps/app.xml" Id="R19db90bac627424b" /><Relationship Type="http://schemas.openxmlformats.org/officeDocument/2006/relationships/officeDocument" Target="/ppt/presentation.xml" Id="R4e0daac60a3d4904" /></Relationships>
</file>

<file path=ppt/presentation.xml><?xml version="1.0" encoding="utf-8"?>
<p:presentation xmlns:p="http://schemas.openxmlformats.org/presentationml/2006/main">
  <p:sldMasterIdLst>
    <p:sldMasterId xmlns:r="http://schemas.openxmlformats.org/officeDocument/2006/relationships" id="2147483648" r:id="R1d723de1585443ad"/>
  </p:sldMasterIdLst>
  <p:notesMasterIdLst>
    <p:notesMasterId xmlns:r="http://schemas.openxmlformats.org/officeDocument/2006/relationships" r:id="Rc37c831134844d9d"/>
  </p:notesMasterIdLst>
  <p:sldIdLst>
    <p:sldId xmlns:r="http://schemas.openxmlformats.org/officeDocument/2006/relationships" id="256" r:id="R23e4e069d074462a"/>
    <p:sldId xmlns:r="http://schemas.openxmlformats.org/officeDocument/2006/relationships" id="257" r:id="Rcd630e302e3a46e5"/>
    <p:sldId xmlns:r="http://schemas.openxmlformats.org/officeDocument/2006/relationships" id="258" r:id="R9804e0f04c9f4ab1"/>
    <p:sldId xmlns:r="http://schemas.openxmlformats.org/officeDocument/2006/relationships" id="259" r:id="R6dedcff4b7894922"/>
    <p:sldId xmlns:r="http://schemas.openxmlformats.org/officeDocument/2006/relationships" id="260" r:id="Rb7d68c65fe704d21"/>
    <p:sldId xmlns:r="http://schemas.openxmlformats.org/officeDocument/2006/relationships" id="261" r:id="R5d47befc33ec4d60"/>
    <p:sldId xmlns:r="http://schemas.openxmlformats.org/officeDocument/2006/relationships" id="262" r:id="Reb0fb0c489fb41c9"/>
    <p:sldId xmlns:r="http://schemas.openxmlformats.org/officeDocument/2006/relationships" id="263" r:id="Rc322bcfdab764d17"/>
    <p:sldId xmlns:r="http://schemas.openxmlformats.org/officeDocument/2006/relationships" id="264" r:id="R851244db30304b6d"/>
    <p:sldId xmlns:r="http://schemas.openxmlformats.org/officeDocument/2006/relationships" id="265" r:id="Rac0cc1d35f9f40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24fa96db584439" /><Relationship Type="http://schemas.openxmlformats.org/officeDocument/2006/relationships/slideMaster" Target="/ppt/slideMasters/slideMaster1.xml" Id="R1d723de1585443ad" /><Relationship Type="http://schemas.openxmlformats.org/officeDocument/2006/relationships/notesMaster" Target="/ppt/notesMasters/notesMaster1.xml" Id="Rc37c831134844d9d" /><Relationship Type="http://schemas.openxmlformats.org/officeDocument/2006/relationships/presProps" Target="/ppt/presProps.xml" Id="R7296506771504acd" /><Relationship Type="http://schemas.openxmlformats.org/officeDocument/2006/relationships/tableStyles" Target="/ppt/tableStyles.xml" Id="Re4fe68aa64f54e8f" /><Relationship Type="http://schemas.openxmlformats.org/officeDocument/2006/relationships/slide" Target="/ppt/slides/slide1.xml" Id="R23e4e069d074462a" /><Relationship Type="http://schemas.openxmlformats.org/officeDocument/2006/relationships/slide" Target="/ppt/slides/slide2.xml" Id="Rcd630e302e3a46e5" /><Relationship Type="http://schemas.openxmlformats.org/officeDocument/2006/relationships/slide" Target="/ppt/slides/slide3.xml" Id="R9804e0f04c9f4ab1" /><Relationship Type="http://schemas.openxmlformats.org/officeDocument/2006/relationships/slide" Target="/ppt/slides/slide4.xml" Id="R6dedcff4b7894922" /><Relationship Type="http://schemas.openxmlformats.org/officeDocument/2006/relationships/slide" Target="/ppt/slides/slide5.xml" Id="Rb7d68c65fe704d21" /><Relationship Type="http://schemas.openxmlformats.org/officeDocument/2006/relationships/slide" Target="/ppt/slides/slide6.xml" Id="R5d47befc33ec4d60" /><Relationship Type="http://schemas.openxmlformats.org/officeDocument/2006/relationships/slide" Target="/ppt/slides/slide7.xml" Id="Reb0fb0c489fb41c9" /><Relationship Type="http://schemas.openxmlformats.org/officeDocument/2006/relationships/slide" Target="/ppt/slides/slide8.xml" Id="Rc322bcfdab764d17" /><Relationship Type="http://schemas.openxmlformats.org/officeDocument/2006/relationships/slide" Target="/ppt/slides/slide9.xml" Id="R851244db30304b6d" /><Relationship Type="http://schemas.openxmlformats.org/officeDocument/2006/relationships/slide" Target="/ppt/slides/slide10.xml" Id="Rac0cc1d35f9f40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09204bde4a43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76c8c7de9646ac" /><Relationship Type="http://schemas.openxmlformats.org/officeDocument/2006/relationships/notesMaster" Target="/ppt/notesMasters/notesMaster1.xml" Id="Ra5185f39a9c043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00acc973e64f1f" /><Relationship Type="http://schemas.openxmlformats.org/officeDocument/2006/relationships/notesMaster" Target="/ppt/notesMasters/notesMaster1.xml" Id="R09955dd49dc24f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4d7828f1d24757" /><Relationship Type="http://schemas.openxmlformats.org/officeDocument/2006/relationships/notesMaster" Target="/ppt/notesMasters/notesMaster1.xml" Id="Rf4372b26643647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6442e36dde4e19" /><Relationship Type="http://schemas.openxmlformats.org/officeDocument/2006/relationships/notesMaster" Target="/ppt/notesMasters/notesMaster1.xml" Id="R61575ccc171349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42c6b7b2dc4885" /><Relationship Type="http://schemas.openxmlformats.org/officeDocument/2006/relationships/notesMaster" Target="/ppt/notesMasters/notesMaster1.xml" Id="R6693d2ea7ef841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d2a68b1c5b4bbf" /><Relationship Type="http://schemas.openxmlformats.org/officeDocument/2006/relationships/notesMaster" Target="/ppt/notesMasters/notesMaster1.xml" Id="R65682b22d7264d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acb5c018fd4c99" /><Relationship Type="http://schemas.openxmlformats.org/officeDocument/2006/relationships/notesMaster" Target="/ppt/notesMasters/notesMaster1.xml" Id="R58d53ed0ad1542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a49e584db24de4" /><Relationship Type="http://schemas.openxmlformats.org/officeDocument/2006/relationships/notesMaster" Target="/ppt/notesMasters/notesMaster1.xml" Id="Rbed3389ae46849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a09c8240b24803" /><Relationship Type="http://schemas.openxmlformats.org/officeDocument/2006/relationships/notesMaster" Target="/ppt/notesMasters/notesMaster1.xml" Id="R60ea69cc4e204b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bcbcbf27754464" /><Relationship Type="http://schemas.openxmlformats.org/officeDocument/2006/relationships/notesMaster" Target="/ppt/notesMasters/notesMaster1.xml" Id="Rc85919eb8e6f44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Praktischer Abend für Ehepaare</a:t>
            </a:r>
          </a:p>
          <a:p xmlns:a="http://schemas.openxmlformats.org/drawingml/2006/main">
            <a:r>
              <a:t>4 Minuten</a:t>
            </a:r>
          </a:p>
          <a:p xmlns:a="http://schemas.openxmlformats.org/drawingml/2006/main">
            <a:r>
              <a:t/>
            </a:r>
          </a:p>
          <a:p xmlns:a="http://schemas.openxmlformats.org/drawingml/2006/main">
            <a:r>
              <a:t>Leitung: „Wählt ein Hindernis, das ihr vor allem bei euch selbst bemerkt.“ Beide markieren ihre Antwort einzeln. Dann ergänzt jeder in 30 Sekunden: „Heute möchte ich besser lernen …“ Der andere hört ohne Korrektur zu. „Wir vergleichen nicht, wer schlechter zuhört. Jeder probiert heute eine neue Gesprächsweise aus.“ In der Gruppe nennen Freiwillige nur ihr eigenes Ziel. Bei einem Paar fragt die Leitung beide nacheinander.</a:t>
            </a:r>
          </a:p>
          <a:p xmlns:a="http://schemas.openxmlformats.org/drawingml/2006/main">
            <a:r>
              <a:t/>
            </a:r>
          </a:p>
          <a:p xmlns:a="http://schemas.openxmlformats.org/drawingml/2006/main">
            <a:r>
              <a:t>Erste Einschätzung und persönliches Ziel.</a:t>
            </a:r>
          </a:p>
          <a:p xmlns:a="http://schemas.openxmlformats.org/drawingml/2006/main">
            <a:r>
              <a:t/>
            </a:r>
          </a:p>
          <a:p xmlns:a="http://schemas.openxmlformats.org/drawingml/2006/main">
            <a:r>
              <a:t>Illustration: ../images/01.png;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Praktischer Abend für Ehepaare</a:t>
            </a:r>
          </a:p>
          <a:p xmlns:a="http://schemas.openxmlformats.org/drawingml/2006/main">
            <a:r>
              <a:t>7 Minuten</a:t>
            </a:r>
          </a:p>
          <a:p xmlns:a="http://schemas.openxmlformats.org/drawingml/2006/main">
            <a:r>
              <a:t/>
            </a:r>
          </a:p>
          <a:p xmlns:a="http://schemas.openxmlformats.org/drawingml/2006/main">
            <a:r>
              <a:t>Jedes Paar erhält Blatt 1. Anna: „Du bist schon wieder am Handy.“ Michael: „Ich erledige gerade etwas.“ Anna: „Mit dir kann man einfach nicht reden.“ Michael: „Geht es auch ohne Vorwürfe?“ Dies sind erfundene Figuren. Danach sagen beide nacheinander, was ihre Figur gehört haben könnte. Rollen wechseln und erneut lesen. Leitung: „Hat sich eure Deutung verändert, als ihr die andere Seite übernommen habt?“ Zwei Minuten zu zweit sprechen. Im Plenum nur eine Beobachtung zu den Figuren nennen. Die Hintergrundkarten bleiben noch verdeckt.</a:t>
            </a:r>
          </a:p>
          <a:p xmlns:a="http://schemas.openxmlformats.org/drawingml/2006/main">
            <a:r>
              <a:t/>
            </a:r>
          </a:p>
          <a:p xmlns:a="http://schemas.openxmlformats.org/drawingml/2006/main">
            <a:r>
              <a:t>Wörtlicher Satz und Vermutung sind getrennt.</a:t>
            </a:r>
          </a:p>
          <a:p xmlns:a="http://schemas.openxmlformats.org/drawingml/2006/main">
            <a:r>
              <a:t/>
            </a:r>
          </a:p>
          <a:p xmlns:a="http://schemas.openxmlformats.org/drawingml/2006/main">
            <a:r>
              <a:t>Illustration: ../images/02.png;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Praktischer Abend für Ehepaare</a:t>
            </a:r>
          </a:p>
          <a:p xmlns:a="http://schemas.openxmlformats.org/drawingml/2006/main">
            <a:r>
              <a:t>6 Minuten</a:t>
            </a:r>
          </a:p>
          <a:p xmlns:a="http://schemas.openxmlformats.org/drawingml/2006/main">
            <a:r>
              <a:t/>
            </a:r>
          </a:p>
          <a:p xmlns:a="http://schemas.openxmlformats.org/drawingml/2006/main">
            <a:r>
              <a:t>Beide wählen zunächst einzeln und vergleichen ihre Gründe. Antworten: A „Dann geh doch früher schlafen“; B „Glaubst du, ich bin nicht müde?“; C „Soll ich dir gerade zuhören, oder brauchst du Hilfe?“ C ermöglicht eine Klärung, A gibt schon einen Rat, B macht daraus einen Wettbewerb. Dann fragt jeder: „Woran kann ich erkennen, dass du dich einfach aussprechen möchtest?“ Jeder hat eine Minute. Wer es noch nicht weiß, kann einen Satz ausprobieren: „Ich brauche fünf Minuten, in denen du mir zuhörst.“ Abschlussfrage: „Wie können wir klären, ob der Zeitpunkt für das Gespräch passt?“</a:t>
            </a:r>
          </a:p>
          <a:p xmlns:a="http://schemas.openxmlformats.org/drawingml/2006/main">
            <a:r>
              <a:t/>
            </a:r>
          </a:p>
          <a:p xmlns:a="http://schemas.openxmlformats.org/drawingml/2006/main">
            <a:r>
              <a:t>Eine Rückfrage statt eines vorschnellen Rates.</a:t>
            </a:r>
          </a:p>
          <a:p xmlns:a="http://schemas.openxmlformats.org/drawingml/2006/main">
            <a:r>
              <a:t/>
            </a:r>
          </a:p>
          <a:p xmlns:a="http://schemas.openxmlformats.org/drawingml/2006/main">
            <a:r>
              <a:t>Illustration: ../images/03.png;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Praktischer Abend für Ehepaare</a:t>
            </a:r>
          </a:p>
          <a:p xmlns:a="http://schemas.openxmlformats.org/drawingml/2006/main">
            <a:r>
              <a:t>10 Minuten</a:t>
            </a:r>
          </a:p>
          <a:p xmlns:a="http://schemas.openxmlformats.org/drawingml/2006/main">
            <a:r>
              <a:t/>
            </a:r>
          </a:p>
          <a:p xmlns:a="http://schemas.openxmlformats.org/drawingml/2006/main">
            <a:r>
              <a:t>Jakobus 1,19–20 und Epheser 4,25–32 aus dem Abschnitt „Biblische Grundlage“ vollständig lesen. Jeder wählt einen Vers für sich und ergänzt: „Für mich bedeutet das …“ Der andere gibt den Sinn wieder, ohne den Vers auf Fehler des Partners anzuwenden. Je zwei Minuten, danach ein kurzer gemeinsamer Gedanke. Leitung: „Paulus spricht von Wahrheit und Güte. Wir dürfen ehrlich über Schmerz sprechen, ohne den anderen herabzusetzen.“ Frage: „Welche eigene Gewohnheit möchte ich überdenken?“ Die Antwort darf privat bleiben.</a:t>
            </a:r>
          </a:p>
          <a:p xmlns:a="http://schemas.openxmlformats.org/drawingml/2006/main">
            <a:r>
              <a:t/>
            </a:r>
          </a:p>
          <a:p xmlns:a="http://schemas.openxmlformats.org/drawingml/2006/main">
            <a:r>
              <a:t>Eine konkrete Handlung wird mit einem Bibelvers verbunden.</a:t>
            </a:r>
          </a:p>
          <a:p xmlns:a="http://schemas.openxmlformats.org/drawingml/2006/main">
            <a:r>
              <a:t/>
            </a:r>
          </a:p>
          <a:p xmlns:a="http://schemas.openxmlformats.org/drawingml/2006/main">
            <a:r>
              <a:t>Jakobus 1,19–20</a:t>
            </a:r>
          </a:p>
          <a:p xmlns:a="http://schemas.openxmlformats.org/drawingml/2006/main">
            <a:r>
              <a:t>19 Daher, meine geliebten Brüder, sei jeder Mensch schnell zum Hören, langsam zum Reden, langsam zum Zorn.</a:t>
            </a:r>
          </a:p>
          <a:p xmlns:a="http://schemas.openxmlformats.org/drawingml/2006/main">
            <a:r>
              <a:t>20 Denn eines Mannes Zorn wirkt nicht Gottes Gerechtigkeit.</a:t>
            </a:r>
          </a:p>
          <a:p xmlns:a="http://schemas.openxmlformats.org/drawingml/2006/main">
            <a:r>
              <a:t/>
            </a:r>
          </a:p>
          <a:p xmlns:a="http://schemas.openxmlformats.org/drawingml/2006/main">
            <a:r>
              <a:t>Epheser 4,25–32</a:t>
            </a:r>
          </a:p>
          <a:p xmlns:a="http://schemas.openxmlformats.org/drawingml/2006/main">
            <a:r>
              <a:t>25 Deshalb, da ihr die Lüge abgelegt habt, redet Wahrheit, ein jeder mit seinem Nächsten, denn wir sind Glieder voneinander.</a:t>
            </a:r>
          </a:p>
          <a:p xmlns:a="http://schemas.openxmlformats.org/drawingml/2006/main">
            <a:r>
              <a:t>26 Zürnet, und sündiget nicht. Die Sonne gehe nicht unter über eurem Zorn,</a:t>
            </a:r>
          </a:p>
          <a:p xmlns:a="http://schemas.openxmlformats.org/drawingml/2006/main">
            <a:r>
              <a:t>27 und gebet nicht Raum dem Teufel.</a:t>
            </a:r>
          </a:p>
          <a:p xmlns:a="http://schemas.openxmlformats.org/drawingml/2006/main">
            <a:r>
              <a:t>28 Wer gestohlen hat, stehle nicht mehr, sondern arbeite vielmehr und wirke mit seinen Händen das Gute, auf daß er dem Dürftigen mitzuteilen habe.</a:t>
            </a:r>
          </a:p>
          <a:p xmlns:a="http://schemas.openxmlformats.org/drawingml/2006/main">
            <a:r>
              <a:t>29 Kein faules Wort gehe aus eurem Munde, sondern das irgend gut ist zur notwendigen Erbauung, auf daß es den Hörenden Gnade darreiche.</a:t>
            </a:r>
          </a:p>
          <a:p xmlns:a="http://schemas.openxmlformats.org/drawingml/2006/main">
            <a:r>
              <a:t>30 Und betrübet nicht den Heiligen Geist Gottes, durch welchen ihr versiegelt worden seid auf den Tag der Erlösung.</a:t>
            </a:r>
          </a:p>
          <a:p xmlns:a="http://schemas.openxmlformats.org/drawingml/2006/main">
            <a:r>
              <a:t>31 Alle Bitterkeit und Wut und Zorn und Geschrei und Lästerung sei von euch weggetan, samt aller Bosheit.</a:t>
            </a:r>
          </a:p>
          <a:p xmlns:a="http://schemas.openxmlformats.org/drawingml/2006/main">
            <a:r>
              <a:t>32 Seid aber gegeneinander gütig, mitleidig, einander vergebend, gleichwie auch Gott in Christo euch vergeben hat.</a:t>
            </a:r>
          </a:p>
          <a:p xmlns:a="http://schemas.openxmlformats.org/drawingml/2006/main">
            <a:r>
              <a:t/>
            </a:r>
          </a:p>
          <a:p xmlns:a="http://schemas.openxmlformats.org/drawingml/2006/main">
            <a:r>
              <a:t>Beide Briefe richten sich an die christliche Gemeinde, nicht nur an Ehepaare. Jakobus verbindet das Hören mit Zurückhaltung beim Reden und im Zorn. Paulus beschreibt das neue Leben in Christus: Wahrhaftigkeit, Arbeit, Hilfe, gute Worte und Vergebung. Wir wenden diese Weisungen auf Alltagsgespräche an. Wiedergeben, Nachfragen und die Formulierung einer Bitte sind Lernübungen, keine Bibelzitate.</a:t>
            </a:r>
          </a:p>
          <a:p xmlns:a="http://schemas.openxmlformats.org/drawingml/2006/main">
            <a:r>
              <a:t>https://bibelvers.no/de/elberfelder_1905/ephesians/4</a:t>
            </a:r>
          </a:p>
          <a:p xmlns:a="http://schemas.openxmlformats.org/drawingml/2006/main">
            <a:r>
              <a:t>https://getbible.life/elberfelder1905/Jakobus/1</a:t>
            </a:r>
          </a:p>
          <a:p xmlns:a="http://schemas.openxmlformats.org/drawingml/2006/main">
            <a:r>
              <a:t/>
            </a:r>
          </a:p>
          <a:p xmlns:a="http://schemas.openxmlformats.org/drawingml/2006/main">
            <a:r>
              <a:t>Illustration: ../images/04.png;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Praktischer Abend für Ehepaare</a:t>
            </a:r>
          </a:p>
          <a:p xmlns:a="http://schemas.openxmlformats.org/drawingml/2006/main">
            <a:r>
              <a:t>8 Minuten</a:t>
            </a:r>
          </a:p>
          <a:p xmlns:a="http://schemas.openxmlformats.org/drawingml/2006/main">
            <a:r>
              <a:t/>
            </a:r>
          </a:p>
          <a:p xmlns:a="http://schemas.openxmlformats.org/drawingml/2006/main">
            <a:r>
              <a:t>Die Karten von Blatt 3 zu zweit sortieren und die Zuordnung besprechen. Die Leitung deckt die beiden Hintergründe von Blatt 2 auf. Jeder wählt eine eigene kürzlich entstandene, wenig belastende Vermutung oder bleibt bei den Figuren. Beobachtung, Vermutung und Rückfrage getrennt aufschreiben. Nur freiwillig teilen. Der Zuhörende muss die Vermutung nicht bestätigen, sondern darf den tatsächlichen Hintergrund erklären. Leitung: „Der Satz ,Ich fühle, dass ich dir egal bin‘ enthält weiterhin eine Deutung. Möglich wäre: ,Ich bin traurig, wenn ich erzähle und du weiter auf den Bildschirm schaust.‘“</a:t>
            </a:r>
          </a:p>
          <a:p xmlns:a="http://schemas.openxmlformats.org/drawingml/2006/main">
            <a:r>
              <a:t/>
            </a:r>
          </a:p>
          <a:p xmlns:a="http://schemas.openxmlformats.org/drawingml/2006/main">
            <a:r>
              <a:t>Zwei richtige Kategorien und eine klärende Frage.</a:t>
            </a:r>
          </a:p>
          <a:p xmlns:a="http://schemas.openxmlformats.org/drawingml/2006/main">
            <a:r>
              <a:t/>
            </a:r>
          </a:p>
          <a:p xmlns:a="http://schemas.openxmlformats.org/drawingml/2006/main">
            <a:r>
              <a:t>Illustration: ../images/05.png;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Praktischer Abend für Ehepaare</a:t>
            </a:r>
          </a:p>
          <a:p xmlns:a="http://schemas.openxmlformats.org/drawingml/2006/main">
            <a:r>
              <a:t>14 Minuten</a:t>
            </a:r>
          </a:p>
          <a:p xmlns:a="http://schemas.openxmlformats.org/drawingml/2006/main">
            <a:r>
              <a:t/>
            </a:r>
          </a:p>
          <a:p xmlns:a="http://schemas.openxmlformats.org/drawingml/2006/main">
            <a:r>
              <a:t>Blatt 4. Leitung: „Wählt ein kleines aktuelles Thema, über das ihr beide sprechen möchtet. Ihr dürft bei den erfundenen Figuren bleiben.“ Zwei Minuten für Erklärung und Auswahl. Eine Person spricht zwei Minuten. Die andere gibt in einer Minute wieder, was passiert ist und was wichtig ist, und stellt eine Frage. 30 Sekunden für Klärung, 30 Sekunden für Bestätigung. Nach vier Minuten Rollenwechsel und weitere vier Minuten. Zum Schluss vier Minuten für „Ich habe besser verstanden …“ und „Mir hat geholfen …“. Die Leitung begleitet die Zeit, nicht den Inhalt. Bei Streit zurück zum Satz: „Zuerst möchte ich sicher sein, dass ich dich verstanden habe.“</a:t>
            </a:r>
          </a:p>
          <a:p xmlns:a="http://schemas.openxmlformats.org/drawingml/2006/main">
            <a:r>
              <a:t/>
            </a:r>
          </a:p>
          <a:p xmlns:a="http://schemas.openxmlformats.org/drawingml/2006/main">
            <a:r>
              <a:t>Beide haben zugehört und Rückmeldung erhalten.</a:t>
            </a:r>
          </a:p>
          <a:p xmlns:a="http://schemas.openxmlformats.org/drawingml/2006/main">
            <a:r>
              <a:t/>
            </a:r>
          </a:p>
          <a:p xmlns:a="http://schemas.openxmlformats.org/drawingml/2006/main">
            <a:r>
              <a:t>Illustration: ../images/06.png;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Praktischer Abend für Ehepaare</a:t>
            </a:r>
          </a:p>
          <a:p xmlns:a="http://schemas.openxmlformats.org/drawingml/2006/main">
            <a:r>
              <a:t>10 Minuten</a:t>
            </a:r>
          </a:p>
          <a:p xmlns:a="http://schemas.openxmlformats.org/drawingml/2006/main">
            <a:r>
              <a:t/>
            </a:r>
          </a:p>
          <a:p xmlns:a="http://schemas.openxmlformats.org/drawingml/2006/main">
            <a:r>
              <a:t>Zunächst zwei Minuten: Jeder schreibt einen Satz der Figuren ohne Vorwurf um. Dann drei Minuten für die neue Szene zu zweit. Die drei Punkte auf Blatt 4 prüfen. Weitere drei Minuten mit Rollenwechsel und einer anderen Variante, in der Warten gerade nicht möglich ist. Beispiel: „Ich muss dir dringend etwas Wichtiges sagen. Kannst du kurz unterbrechen?“ Michael entscheidet, ob er unterbrechen kann, und antwortet ehrlich. Zwei Minuten Auswertung: „Haben wir gemeinsam etwas vereinbart, oder hat einer nur nachgegeben, ohne sein Anliegen zu erklären?“ Im Plenum darf eine hilfreiche Formulierung genannt werden.</a:t>
            </a:r>
          </a:p>
          <a:p xmlns:a="http://schemas.openxmlformats.org/drawingml/2006/main">
            <a:r>
              <a:t/>
            </a:r>
          </a:p>
          <a:p xmlns:a="http://schemas.openxmlformats.org/drawingml/2006/main">
            <a:r>
              <a:t>Das Gespräch endet mit einer klaren gemeinsamen Absprache.</a:t>
            </a:r>
          </a:p>
          <a:p xmlns:a="http://schemas.openxmlformats.org/drawingml/2006/main">
            <a:r>
              <a:t/>
            </a:r>
          </a:p>
          <a:p xmlns:a="http://schemas.openxmlformats.org/drawingml/2006/main">
            <a:r>
              <a:t>Illustration: ../images/07.png;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Praktischer Abend für Ehepaare</a:t>
            </a:r>
          </a:p>
          <a:p xmlns:a="http://schemas.openxmlformats.org/drawingml/2006/main">
            <a:r>
              <a:t>7 Minuten</a:t>
            </a:r>
          </a:p>
          <a:p xmlns:a="http://schemas.openxmlformats.org/drawingml/2006/main">
            <a:r>
              <a:t/>
            </a:r>
          </a:p>
          <a:p xmlns:a="http://schemas.openxmlformats.org/drawingml/2006/main">
            <a:r>
              <a:t>Blatt 5. Jeder beschreibt eine Minute lang ein eigenes Zeichen dafür, dass eine Pause nötig wird: schneller sprechen, lauter werden oder das Anliegen nicht mehr wiedergeben können. In drei Minuten einen Pausensatz und die Vereinbarung der Rückkehr besprechen. Kein Signal wählen, das einer als Spott erlebt. In den letzten zwei Minuten proben: Einer bittet um Pause, der andere klärt die Zeit. Rollen wechseln. Wer länger braucht, teilt das mit und schlägt eine neue Zeit vor.</a:t>
            </a:r>
          </a:p>
          <a:p xmlns:a="http://schemas.openxmlformats.org/drawingml/2006/main">
            <a:r>
              <a:t/>
            </a:r>
          </a:p>
          <a:p xmlns:a="http://schemas.openxmlformats.org/drawingml/2006/main">
            <a:r>
              <a:t>Der Pausensatz enthält einen Vorschlag zur Rückkehr.</a:t>
            </a:r>
          </a:p>
          <a:p xmlns:a="http://schemas.openxmlformats.org/drawingml/2006/main">
            <a:r>
              <a:t/>
            </a:r>
          </a:p>
          <a:p xmlns:a="http://schemas.openxmlformats.org/drawingml/2006/main">
            <a:r>
              <a:t>Illustration: ../images/10.png;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Praktischer Abend für Ehepaare</a:t>
            </a:r>
          </a:p>
          <a:p xmlns:a="http://schemas.openxmlformats.org/drawingml/2006/main">
            <a:r>
              <a:t>6 Minuten</a:t>
            </a:r>
          </a:p>
          <a:p xmlns:a="http://schemas.openxmlformats.org/drawingml/2006/main">
            <a:r>
              <a:t/>
            </a:r>
          </a:p>
          <a:p xmlns:a="http://schemas.openxmlformats.org/drawingml/2006/main">
            <a:r>
              <a:t>Blatt 6, ein Exemplar pro Paar. Jeder notiert zunächst eine Minute einzeln ein Gesprächsthema. Dann zwei Minuten gemeinsam ein kleines Thema, einen passenden Zeitpunkt und zehn ungestörte Minuten vereinbaren. Für jeden sind drei Minuten Erzählen und zwei Minuten Wiedergeben und Klären durch den anderen vorgesehen. In den letzten zwei Minuten bestätigen: wann, wo und wie erinnern wir uns? Wer schlägt bei einer Änderung eine neue Zeit vor? Die Leitung fragt nur: „Passt die Absprache für euch beide?“ Die Inhalte werden nicht eingesammelt.</a:t>
            </a:r>
          </a:p>
          <a:p xmlns:a="http://schemas.openxmlformats.org/drawingml/2006/main">
            <a:r>
              <a:t/>
            </a:r>
          </a:p>
          <a:p xmlns:a="http://schemas.openxmlformats.org/drawingml/2006/main">
            <a:r>
              <a:t>Ein machbarer Schritt steht fest.</a:t>
            </a:r>
          </a:p>
          <a:p xmlns:a="http://schemas.openxmlformats.org/drawingml/2006/main">
            <a:r>
              <a:t/>
            </a:r>
          </a:p>
          <a:p xmlns:a="http://schemas.openxmlformats.org/drawingml/2006/main">
            <a:r>
              <a:t>Illustration: ../images/08.png;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Praktischer Abend für Ehepaare</a:t>
            </a:r>
          </a:p>
          <a:p xmlns:a="http://schemas.openxmlformats.org/drawingml/2006/main">
            <a:r>
              <a:t>3 Minuten</a:t>
            </a:r>
          </a:p>
          <a:p xmlns:a="http://schemas.openxmlformats.org/drawingml/2006/main">
            <a:r>
              <a:t/>
            </a:r>
          </a:p>
          <a:p xmlns:a="http://schemas.openxmlformats.org/drawingml/2006/main">
            <a:r>
              <a:t>Jeder formuliert 30 Sekunden lang eine Antwort auf den Satz am Bildschirm. Danach bedankt sich jeder in 30 Sekunden für eine konkrete Handlung heute: „Danke, dass du mich ausreden lassen hast.“ Die Leitung erinnert kurz: „Probiert eure Absprache in dieser Woche aus. Fragt anschließend, was geholfen hat und was ihr ändern möchtet.“ Die verbleibende Zeit ist für ein freiwilliges Abschlussgebet. Bei mehreren Paaren bleiben die persönlichen Antworten zu zweit. Mit einem Paar endet das Treffen mit denselben Worten.</a:t>
            </a:r>
          </a:p>
          <a:p xmlns:a="http://schemas.openxmlformats.org/drawingml/2006/main">
            <a:r>
              <a:t/>
            </a:r>
          </a:p>
          <a:p xmlns:a="http://schemas.openxmlformats.org/drawingml/2006/main">
            <a:r>
              <a:t>Ein neuer Antwortsatz und ein persönlicher Gedanke.</a:t>
            </a:r>
          </a:p>
          <a:p xmlns:a="http://schemas.openxmlformats.org/drawingml/2006/main">
            <a:r>
              <a:t/>
            </a:r>
          </a:p>
          <a:p xmlns:a="http://schemas.openxmlformats.org/drawingml/2006/main">
            <a:r>
              <a:t>Herr, hilf uns, einander zuzuhören, verletzende Worte zurückzuhalten und die Wahrheit in Liebe zu sagen. Gib uns Geduld, eigene Fehler zu korrigieren und für unseren Nächsten zu sorgen. Amen.</a:t>
            </a:r>
          </a:p>
          <a:p xmlns:a="http://schemas.openxmlformats.org/drawingml/2006/main">
            <a:r>
              <a:t/>
            </a:r>
          </a:p>
          <a:p xmlns:a="http://schemas.openxmlformats.org/drawingml/2006/main">
            <a:r>
              <a:t>Illustration: ../images/09.png; für diesen Unterricht mit KI erstellt.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f09220078946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eba3dcac944b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87176da3dd48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57436521a8b42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2006098879414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ee1b3129e9a47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DA0FA59-3C59-41EA-80A4-6DF17AEB0EC5}"/>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BBFAB32-A067-4530-9D51-AD5FC9E1255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1DCE8535-2208-4F85-9A0F-BA89E3AE81D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F409A5AB-8D18-4024-8D2C-9414A1A9D9FB}"/>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786408BE-BA85-48D9-A48B-4B9423C677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8B951EF-A0DB-43E1-A8D7-0E272921CF5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CB0513A-06A4-498B-8D06-97F546CC6E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EAF7D6A9-7583-4B20-8C26-0F363892F6F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C52259C8-7BF8-4385-9140-72EF018555C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5D3CAC7-D8B2-4EDC-A5BB-0E5B24C726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528BF28-D55B-472B-B524-7AD8F803FA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CF3E18-BA15-446D-8BA9-A4F945DD94E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CD06D84-F94D-4E86-A958-6A3669D4A6CD}"/>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DB606D6-5A61-4E0E-B46D-7DE2B752D5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A1362DC-F549-4C87-A7B3-22F014438B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39ac689c2b404f" /><Relationship Type="http://schemas.openxmlformats.org/officeDocument/2006/relationships/slideLayout" Target="/ppt/slideLayouts/slideLayout1.xml" Id="R2846043c2f7e4747" /><Relationship Type="http://schemas.openxmlformats.org/officeDocument/2006/relationships/slideLayout" Target="/ppt/slideLayouts/slideLayout2.xml" Id="R4da8f39d16794aa1" /><Relationship Type="http://schemas.openxmlformats.org/officeDocument/2006/relationships/slideLayout" Target="/ppt/slideLayouts/slideLayout3.xml" Id="R043e476791244a4f" /><Relationship Type="http://schemas.openxmlformats.org/officeDocument/2006/relationships/slideLayout" Target="/ppt/slideLayouts/slideLayout4.xml" Id="R856c01d43ae649f8" /><Relationship Type="http://schemas.openxmlformats.org/officeDocument/2006/relationships/slideLayout" Target="/ppt/slideLayouts/slideLayout5.xml" Id="R0f05deaf764c4cb0" /><Relationship Type="http://schemas.openxmlformats.org/officeDocument/2006/relationships/slideLayout" Target="/ppt/slideLayouts/slideLayout6.xml" Id="R4d797994de074e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46043c2f7e4747"/>
    <p:sldLayoutId xmlns:r="http://schemas.openxmlformats.org/officeDocument/2006/relationships" id="2147483650" r:id="R4da8f39d16794aa1"/>
    <p:sldLayoutId xmlns:r="http://schemas.openxmlformats.org/officeDocument/2006/relationships" id="2147483651" r:id="R043e476791244a4f"/>
    <p:sldLayoutId xmlns:r="http://schemas.openxmlformats.org/officeDocument/2006/relationships" id="2147483652" r:id="R856c01d43ae649f8"/>
    <p:sldLayoutId xmlns:r="http://schemas.openxmlformats.org/officeDocument/2006/relationships" id="2147483653" r:id="R0f05deaf764c4cb0"/>
    <p:sldLayoutId xmlns:r="http://schemas.openxmlformats.org/officeDocument/2006/relationships" id="2147483654" r:id="R4d797994de074e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8ff7a11de44898" /><Relationship Type="http://schemas.openxmlformats.org/officeDocument/2006/relationships/image" Target="/ppt/media/image.jpg" Id="R7a3d2b3359c94b2f" /><Relationship Type="http://schemas.openxmlformats.org/officeDocument/2006/relationships/notesSlide" Target="/ppt/notesSlides/notesSlide1.xml" Id="R478070cc23ff4e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393e1a3cb334324" /><Relationship Type="http://schemas.openxmlformats.org/officeDocument/2006/relationships/image" Target="/ppt/media/image2.jpg" Id="R29dd8e88520a4b15" /><Relationship Type="http://schemas.openxmlformats.org/officeDocument/2006/relationships/notesSlide" Target="/ppt/notesSlides/notesSlide2.xml" Id="Rf0b9e475c2864f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abaf4d082b3468a" /><Relationship Type="http://schemas.openxmlformats.org/officeDocument/2006/relationships/image" Target="/ppt/media/image3.jpg" Id="R6d0edf6902724f81" /><Relationship Type="http://schemas.openxmlformats.org/officeDocument/2006/relationships/notesSlide" Target="/ppt/notesSlides/notesSlide3.xml" Id="Rfbe74747954046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9139f6b14a1464c" /><Relationship Type="http://schemas.openxmlformats.org/officeDocument/2006/relationships/image" Target="/ppt/media/image4.jpg" Id="Rdd522e67275d4908" /><Relationship Type="http://schemas.openxmlformats.org/officeDocument/2006/relationships/notesSlide" Target="/ppt/notesSlides/notesSlide4.xml" Id="R89a4e93897dc4e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22200e6d19b4603" /><Relationship Type="http://schemas.openxmlformats.org/officeDocument/2006/relationships/image" Target="/ppt/media/image5.jpg" Id="R4d4d2ced5ab044bb" /><Relationship Type="http://schemas.openxmlformats.org/officeDocument/2006/relationships/notesSlide" Target="/ppt/notesSlides/notesSlide5.xml" Id="R75bb8f5e1dbb4d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16f676d92c84a84" /><Relationship Type="http://schemas.openxmlformats.org/officeDocument/2006/relationships/image" Target="/ppt/media/image6.jpg" Id="R2ffaedd761a146c5" /><Relationship Type="http://schemas.openxmlformats.org/officeDocument/2006/relationships/notesSlide" Target="/ppt/notesSlides/notesSlide6.xml" Id="R209767b1789446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8782189a82d4487" /><Relationship Type="http://schemas.openxmlformats.org/officeDocument/2006/relationships/image" Target="/ppt/media/image7.jpg" Id="R752b552fbac94589" /><Relationship Type="http://schemas.openxmlformats.org/officeDocument/2006/relationships/notesSlide" Target="/ppt/notesSlides/notesSlide7.xml" Id="R60c2ca29a5534b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403683583584951" /><Relationship Type="http://schemas.openxmlformats.org/officeDocument/2006/relationships/image" Target="/ppt/media/image8.jpg" Id="R41ab1fc129c84b44" /><Relationship Type="http://schemas.openxmlformats.org/officeDocument/2006/relationships/notesSlide" Target="/ppt/notesSlides/notesSlide8.xml" Id="R92ce4beaeac947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2ee60794c5246ba" /><Relationship Type="http://schemas.openxmlformats.org/officeDocument/2006/relationships/image" Target="/ppt/media/image9.jpg" Id="R343161fc85194fd9" /><Relationship Type="http://schemas.openxmlformats.org/officeDocument/2006/relationships/notesSlide" Target="/ppt/notesSlides/notesSlide9.xml" Id="R3b493ea22ad948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5ab5988d4914337" /><Relationship Type="http://schemas.openxmlformats.org/officeDocument/2006/relationships/image" Target="/ppt/media/image10.jpg" Id="Ra4998b6c5c1a4836" /><Relationship Type="http://schemas.openxmlformats.org/officeDocument/2006/relationships/notesSlide" Target="/ppt/notesSlides/notesSlide10.xml" Id="R497b59cb7ee440a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a3d2b3359c94b2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B04966D-7F7B-4DB2-996C-E286B24925A3}"/>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01   4 Min</a:t>
            </a:r>
          </a:p>
        </p:txBody>
      </p:sp>
      <p:sp>
        <p:nvSpPr>
          <p:cNvPr id="3" name="">
            <a:extLst xmlns:a="http://schemas.openxmlformats.org/drawingml/2006/main">
              <a:ext uri="{FF2B5EF4-FFF2-40B4-BE49-F238E27FC236}">
                <a16:creationId xmlns:a16="http://schemas.microsoft.com/office/drawing/2014/main" id="{E6D20B1A-0FC1-4F63-8FEC-0B7D5130C629}"/>
              </a:ext>
            </a:extLst>
          </p:cNvPr>
          <p:cNvSpPr>
            <a:spLocks xmlns:a="http://schemas.openxmlformats.org/drawingml/2006/main" noGrp="1"/>
          </p:cNvSpPr>
          <p:nvPr/>
        </p:nvSpPr>
        <p:spPr>
          <a:xfrm xmlns:a="http://schemas.openxmlformats.org/drawingml/2006/main">
            <a:off x="495300" y="1047750"/>
            <a:ext cx="44005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33743"/>
                </a:solidFill>
                <a:latin typeface="DejaVu Sans"/>
                <a:ea typeface="DejaVu Sans"/>
                <a:cs typeface="DejaVu Sans"/>
              </a:defRPr>
            </a:pPr>
            <a:r>
              <a:rPr sz="3300" b="1">
                <a:solidFill>
                  <a:srgbClr val="233743"/>
                </a:solidFill>
                <a:latin typeface="DejaVu Sans"/>
                <a:ea typeface="DejaVu Sans"/>
                <a:cs typeface="DejaVu Sans"/>
              </a:rPr>
              <a:t>Warum hören wir einander nicht mehr zu?</a:t>
            </a:r>
          </a:p>
        </p:txBody>
      </p:sp>
      <p:sp>
        <p:nvSpPr>
          <p:cNvPr id="4" name="">
            <a:extLst xmlns:a="http://schemas.openxmlformats.org/drawingml/2006/main">
              <a:ext uri="{FF2B5EF4-FFF2-40B4-BE49-F238E27FC236}">
                <a16:creationId xmlns:a16="http://schemas.microsoft.com/office/drawing/2014/main" id="{CC36F300-4381-49A4-98AC-95F790BCAE96}"/>
              </a:ext>
            </a:extLst>
          </p:cNvPr>
          <p:cNvSpPr>
            <a:spLocks xmlns:a="http://schemas.openxmlformats.org/drawingml/2006/main" noGrp="1"/>
          </p:cNvSpPr>
          <p:nvPr/>
        </p:nvSpPr>
        <p:spPr>
          <a:xfrm xmlns:a="http://schemas.openxmlformats.org/drawingml/2006/main">
            <a:off x="495300" y="3571875"/>
            <a:ext cx="4400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743"/>
                </a:solidFill>
                <a:latin typeface="DejaVu Sans"/>
                <a:ea typeface="DejaVu Sans"/>
                <a:cs typeface="DejaVu Sans"/>
              </a:defRPr>
            </a:pPr>
            <a:r>
              <a:rPr sz="1800" b="0">
                <a:solidFill>
                  <a:srgbClr val="233743"/>
                </a:solidFill>
                <a:latin typeface="DejaVu Sans"/>
                <a:ea typeface="DejaVu Sans"/>
                <a:cs typeface="DejaVu Sans"/>
              </a:rPr>
              <a:t>Praktischer Abend für Ehepaare</a:t>
            </a:r>
          </a:p>
        </p:txBody>
      </p:sp>
      <p:sp>
        <p:nvSpPr>
          <p:cNvPr id="5" name="">
            <a:extLst xmlns:a="http://schemas.openxmlformats.org/drawingml/2006/main">
              <a:ext uri="{FF2B5EF4-FFF2-40B4-BE49-F238E27FC236}">
                <a16:creationId xmlns:a16="http://schemas.microsoft.com/office/drawing/2014/main" id="{6B07E553-5D6B-4907-9C5D-93F53C31D857}"/>
              </a:ext>
            </a:extLst>
          </p:cNvPr>
          <p:cNvSpPr>
            <a:spLocks xmlns:a="http://schemas.openxmlformats.org/drawingml/2006/main" noGrp="1"/>
          </p:cNvSpPr>
          <p:nvPr/>
        </p:nvSpPr>
        <p:spPr>
          <a:xfrm xmlns:a="http://schemas.openxmlformats.org/drawingml/2006/main">
            <a:off x="495300" y="4524375"/>
            <a:ext cx="44005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Was erschwert das Zuhören?</a:t>
            </a:r>
          </a:p>
          <a:p xmlns:a="http://schemas.openxmlformats.org/drawingml/2006/main">
            <a:r>
              <a:t/>
            </a:r>
          </a:p>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Zeitdruck / fertige Antwort / Müdigkeit / Vermutungen</a:t>
            </a:r>
          </a:p>
        </p:txBody>
      </p:sp>
      <p:sp>
        <p:nvSpPr>
          <p:cNvPr id="6" name="">
            <a:extLst xmlns:a="http://schemas.openxmlformats.org/drawingml/2006/main">
              <a:ext uri="{FF2B5EF4-FFF2-40B4-BE49-F238E27FC236}">
                <a16:creationId xmlns:a16="http://schemas.microsoft.com/office/drawing/2014/main" id="{988B1E6D-4317-4FF4-8972-AAEC9A46C76D}"/>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59976589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9dd8e88520a4b1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F27EC0-80D6-44DF-9DAD-63D40C3F4075}"/>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02   7 Min</a:t>
            </a:r>
          </a:p>
        </p:txBody>
      </p:sp>
      <p:sp>
        <p:nvSpPr>
          <p:cNvPr id="3" name="">
            <a:extLst xmlns:a="http://schemas.openxmlformats.org/drawingml/2006/main">
              <a:ext uri="{FF2B5EF4-FFF2-40B4-BE49-F238E27FC236}">
                <a16:creationId xmlns:a16="http://schemas.microsoft.com/office/drawing/2014/main" id="{D34F060E-528E-46CE-9B3A-F1EA44EACE36}"/>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Ein Abend und zwei Bedeutungen</a:t>
            </a:r>
          </a:p>
        </p:txBody>
      </p:sp>
      <p:sp>
        <p:nvSpPr>
          <p:cNvPr id="4" name="">
            <a:extLst xmlns:a="http://schemas.openxmlformats.org/drawingml/2006/main">
              <a:ext uri="{FF2B5EF4-FFF2-40B4-BE49-F238E27FC236}">
                <a16:creationId xmlns:a16="http://schemas.microsoft.com/office/drawing/2014/main" id="{92F3AFB6-2B03-4BA2-BD72-4FC37D6C120C}"/>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„Du bist schon wieder am Handy.“</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Was wurde gesagt? Was kam an?</a:t>
            </a:r>
          </a:p>
        </p:txBody>
      </p:sp>
      <p:sp>
        <p:nvSpPr>
          <p:cNvPr id="5" name="">
            <a:extLst xmlns:a="http://schemas.openxmlformats.org/drawingml/2006/main">
              <a:ext uri="{FF2B5EF4-FFF2-40B4-BE49-F238E27FC236}">
                <a16:creationId xmlns:a16="http://schemas.microsoft.com/office/drawing/2014/main" id="{3570A3D2-7443-48E6-825E-7B11B1026513}"/>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72121685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d0edf6902724f81"/>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2395990-C450-4812-BBCF-175152735343}"/>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03   6 Min</a:t>
            </a:r>
          </a:p>
        </p:txBody>
      </p:sp>
      <p:sp>
        <p:nvSpPr>
          <p:cNvPr id="3" name="">
            <a:extLst xmlns:a="http://schemas.openxmlformats.org/drawingml/2006/main">
              <a:ext uri="{FF2B5EF4-FFF2-40B4-BE49-F238E27FC236}">
                <a16:creationId xmlns:a16="http://schemas.microsoft.com/office/drawing/2014/main" id="{05EEA10B-2A08-4817-AB87-FA426FBA227F}"/>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Die Antwort steht schon fest</a:t>
            </a:r>
          </a:p>
        </p:txBody>
      </p:sp>
      <p:sp>
        <p:nvSpPr>
          <p:cNvPr id="4" name="">
            <a:extLst xmlns:a="http://schemas.openxmlformats.org/drawingml/2006/main">
              <a:ext uri="{FF2B5EF4-FFF2-40B4-BE49-F238E27FC236}">
                <a16:creationId xmlns:a16="http://schemas.microsoft.com/office/drawing/2014/main" id="{A74661F3-FB32-4A70-86F3-45CCE274A56A}"/>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„Ich bin völlig erschöpft.“</a:t>
            </a:r>
          </a:p>
          <a:p xmlns:a="http://schemas.openxmlformats.org/drawingml/2006/main">
            <a:r>
              <a:t/>
            </a:r>
          </a:p>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A  „Geh doch früher schlafen.“</a:t>
            </a:r>
          </a:p>
          <a:p xmlns:a="http://schemas.openxmlformats.org/drawingml/2006/main">
            <a:r>
              <a:t/>
            </a:r>
          </a:p>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B  „Ich bin auch müde!“</a:t>
            </a:r>
          </a:p>
          <a:p xmlns:a="http://schemas.openxmlformats.org/drawingml/2006/main">
            <a:r>
              <a:t/>
            </a:r>
          </a:p>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C  „Zuhören oder helfen?“</a:t>
            </a:r>
          </a:p>
        </p:txBody>
      </p:sp>
      <p:sp>
        <p:nvSpPr>
          <p:cNvPr id="5" name="">
            <a:extLst xmlns:a="http://schemas.openxmlformats.org/drawingml/2006/main">
              <a:ext uri="{FF2B5EF4-FFF2-40B4-BE49-F238E27FC236}">
                <a16:creationId xmlns:a16="http://schemas.microsoft.com/office/drawing/2014/main" id="{37B60B87-C70A-4524-94B6-5C85B04A1459}"/>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208572592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d522e67275d4908"/>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8B15B79-945B-4170-908C-1342FE69F8CE}"/>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04   10 Min</a:t>
            </a:r>
          </a:p>
        </p:txBody>
      </p:sp>
      <p:sp>
        <p:nvSpPr>
          <p:cNvPr id="3" name="">
            <a:extLst xmlns:a="http://schemas.openxmlformats.org/drawingml/2006/main">
              <a:ext uri="{FF2B5EF4-FFF2-40B4-BE49-F238E27FC236}">
                <a16:creationId xmlns:a16="http://schemas.microsoft.com/office/drawing/2014/main" id="{DEBAF091-1C03-4E70-A64A-C89E4A731573}"/>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Unsere Worte und der Glaube</a:t>
            </a:r>
          </a:p>
        </p:txBody>
      </p:sp>
      <p:sp>
        <p:nvSpPr>
          <p:cNvPr id="4" name="">
            <a:extLst xmlns:a="http://schemas.openxmlformats.org/drawingml/2006/main">
              <a:ext uri="{FF2B5EF4-FFF2-40B4-BE49-F238E27FC236}">
                <a16:creationId xmlns:a16="http://schemas.microsoft.com/office/drawing/2014/main" id="{55A8D24A-0AFF-4550-86DA-986312C27C97}"/>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Jakobus 1,19–20</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Epheser 4,25–32</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Was verändern diese Worte in unserem Gespräch?</a:t>
            </a:r>
          </a:p>
        </p:txBody>
      </p:sp>
      <p:sp>
        <p:nvSpPr>
          <p:cNvPr id="5" name="">
            <a:extLst xmlns:a="http://schemas.openxmlformats.org/drawingml/2006/main">
              <a:ext uri="{FF2B5EF4-FFF2-40B4-BE49-F238E27FC236}">
                <a16:creationId xmlns:a16="http://schemas.microsoft.com/office/drawing/2014/main" id="{CD692B1F-9BD1-462F-9ED4-938356EC43D9}"/>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176330124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d4d2ced5ab044bb"/>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66B9C30-0CD3-4E88-AF7C-35F77326152C}"/>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05   8 Min</a:t>
            </a:r>
          </a:p>
        </p:txBody>
      </p:sp>
      <p:sp>
        <p:nvSpPr>
          <p:cNvPr id="3" name="">
            <a:extLst xmlns:a="http://schemas.openxmlformats.org/drawingml/2006/main">
              <a:ext uri="{FF2B5EF4-FFF2-40B4-BE49-F238E27FC236}">
                <a16:creationId xmlns:a16="http://schemas.microsoft.com/office/drawing/2014/main" id="{B8910D8A-EDC9-4158-A9DF-CC3EB3075F1D}"/>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Tatsache oder meine Deutung</a:t>
            </a:r>
          </a:p>
        </p:txBody>
      </p:sp>
      <p:sp>
        <p:nvSpPr>
          <p:cNvPr id="4" name="">
            <a:extLst xmlns:a="http://schemas.openxmlformats.org/drawingml/2006/main">
              <a:ext uri="{FF2B5EF4-FFF2-40B4-BE49-F238E27FC236}">
                <a16:creationId xmlns:a16="http://schemas.microsoft.com/office/drawing/2014/main" id="{74690D29-076D-455C-94CA-07FC88E53F8C}"/>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Was habe ich gesehen oder gehört?</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Was vermute ich?</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Was sollte ich fragen?</a:t>
            </a:r>
          </a:p>
        </p:txBody>
      </p:sp>
      <p:sp>
        <p:nvSpPr>
          <p:cNvPr id="5" name="">
            <a:extLst xmlns:a="http://schemas.openxmlformats.org/drawingml/2006/main">
              <a:ext uri="{FF2B5EF4-FFF2-40B4-BE49-F238E27FC236}">
                <a16:creationId xmlns:a16="http://schemas.microsoft.com/office/drawing/2014/main" id="{495A65AC-DF42-4671-A32F-5175B340C511}"/>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51784091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ffaedd761a146c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F337730-C986-432A-AC17-B7C68561F435}"/>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06   14 Min</a:t>
            </a:r>
          </a:p>
        </p:txBody>
      </p:sp>
      <p:sp>
        <p:nvSpPr>
          <p:cNvPr id="3" name="">
            <a:extLst xmlns:a="http://schemas.openxmlformats.org/drawingml/2006/main">
              <a:ext uri="{FF2B5EF4-FFF2-40B4-BE49-F238E27FC236}">
                <a16:creationId xmlns:a16="http://schemas.microsoft.com/office/drawing/2014/main" id="{8F0CF5AF-D0B3-4F2A-AEB0-01E987476C3A}"/>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Zwei Minuten Aufmerksamkeit</a:t>
            </a:r>
          </a:p>
        </p:txBody>
      </p:sp>
      <p:sp>
        <p:nvSpPr>
          <p:cNvPr id="4" name="">
            <a:extLst xmlns:a="http://schemas.openxmlformats.org/drawingml/2006/main">
              <a:ext uri="{FF2B5EF4-FFF2-40B4-BE49-F238E27FC236}">
                <a16:creationId xmlns:a16="http://schemas.microsoft.com/office/drawing/2014/main" id="{1CA8EE56-B9E5-4449-A2A3-0546826AC271}"/>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2 Minuten: erzählen</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1 Minute: Gegenüber gibt wieder und fragt nach</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Klären, dann Rollenwechsel</a:t>
            </a:r>
          </a:p>
        </p:txBody>
      </p:sp>
      <p:sp>
        <p:nvSpPr>
          <p:cNvPr id="5" name="">
            <a:extLst xmlns:a="http://schemas.openxmlformats.org/drawingml/2006/main">
              <a:ext uri="{FF2B5EF4-FFF2-40B4-BE49-F238E27FC236}">
                <a16:creationId xmlns:a16="http://schemas.microsoft.com/office/drawing/2014/main" id="{3F4C3F19-1FED-489B-89CA-2035AE95D69F}"/>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136477882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52b552fbac94589"/>
          <a:stretch xmlns:a="http://schemas.openxmlformats.org/drawingml/2006/main"/>
        </p:blipFill>
        <p:spPr>
          <a:xfrm xmlns:a="http://schemas.openxmlformats.org/drawingml/2006/main">
            <a:off x="0" y="1823"/>
            <a:ext cx="12192000" cy="685435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71FA6EB-0596-4139-BF28-212A17CFD288}"/>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07   10 Min</a:t>
            </a:r>
          </a:p>
        </p:txBody>
      </p:sp>
      <p:sp>
        <p:nvSpPr>
          <p:cNvPr id="3" name="">
            <a:extLst xmlns:a="http://schemas.openxmlformats.org/drawingml/2006/main">
              <a:ext uri="{FF2B5EF4-FFF2-40B4-BE49-F238E27FC236}">
                <a16:creationId xmlns:a16="http://schemas.microsoft.com/office/drawing/2014/main" id="{4B8FA90C-DD4D-4E05-B736-C02F8F18D797}"/>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Derselbe Abend noch einmal</a:t>
            </a:r>
          </a:p>
        </p:txBody>
      </p:sp>
      <p:sp>
        <p:nvSpPr>
          <p:cNvPr id="4" name="">
            <a:extLst xmlns:a="http://schemas.openxmlformats.org/drawingml/2006/main">
              <a:ext uri="{FF2B5EF4-FFF2-40B4-BE49-F238E27FC236}">
                <a16:creationId xmlns:a16="http://schemas.microsoft.com/office/drawing/2014/main" id="{5DBED297-D6F2-493F-B126-F52BE7A1F873}"/>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Eine verständliche Bitte</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Eine klärende Frage</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Eine machbare Absprache</a:t>
            </a:r>
          </a:p>
        </p:txBody>
      </p:sp>
      <p:sp>
        <p:nvSpPr>
          <p:cNvPr id="5" name="">
            <a:extLst xmlns:a="http://schemas.openxmlformats.org/drawingml/2006/main">
              <a:ext uri="{FF2B5EF4-FFF2-40B4-BE49-F238E27FC236}">
                <a16:creationId xmlns:a16="http://schemas.microsoft.com/office/drawing/2014/main" id="{2A0A1B9E-DE44-467C-87DA-1E71FA0F4A74}"/>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50788163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1ab1fc129c84b4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B63050-7830-4F18-8DBD-04C81CCAB992}"/>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08   7 Min</a:t>
            </a:r>
          </a:p>
        </p:txBody>
      </p:sp>
      <p:sp>
        <p:nvSpPr>
          <p:cNvPr id="3" name="">
            <a:extLst xmlns:a="http://schemas.openxmlformats.org/drawingml/2006/main">
              <a:ext uri="{FF2B5EF4-FFF2-40B4-BE49-F238E27FC236}">
                <a16:creationId xmlns:a16="http://schemas.microsoft.com/office/drawing/2014/main" id="{29534F4E-F608-409B-B700-4B76BA3536CC}"/>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Pause mit Rückkehr</a:t>
            </a:r>
          </a:p>
        </p:txBody>
      </p:sp>
      <p:sp>
        <p:nvSpPr>
          <p:cNvPr id="4" name="">
            <a:extLst xmlns:a="http://schemas.openxmlformats.org/drawingml/2006/main">
              <a:ext uri="{FF2B5EF4-FFF2-40B4-BE49-F238E27FC236}">
                <a16:creationId xmlns:a16="http://schemas.microsoft.com/office/drawing/2014/main" id="{9004BB15-C220-4FF3-AB80-A5AD680232ED}"/>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„Ich brauche eine Pause.“</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Wann sprechen wir weiter?</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Wie zeige ich, dass mir das Gespräch wichtig ist?</a:t>
            </a:r>
          </a:p>
        </p:txBody>
      </p:sp>
      <p:sp>
        <p:nvSpPr>
          <p:cNvPr id="5" name="">
            <a:extLst xmlns:a="http://schemas.openxmlformats.org/drawingml/2006/main">
              <a:ext uri="{FF2B5EF4-FFF2-40B4-BE49-F238E27FC236}">
                <a16:creationId xmlns:a16="http://schemas.microsoft.com/office/drawing/2014/main" id="{8CD51FC3-C172-44ED-AD90-88DFAC0313D6}"/>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18973817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43161fc85194fd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32A649E-C725-4852-8178-A72D659BDA0F}"/>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09   6 Min</a:t>
            </a:r>
          </a:p>
        </p:txBody>
      </p:sp>
      <p:sp>
        <p:nvSpPr>
          <p:cNvPr id="3" name="">
            <a:extLst xmlns:a="http://schemas.openxmlformats.org/drawingml/2006/main">
              <a:ext uri="{FF2B5EF4-FFF2-40B4-BE49-F238E27FC236}">
                <a16:creationId xmlns:a16="http://schemas.microsoft.com/office/drawing/2014/main" id="{BFED1F63-AE2C-4C93-840C-A5F7BC76185F}"/>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Ein Gespräch in dieser Woche</a:t>
            </a:r>
          </a:p>
        </p:txBody>
      </p:sp>
      <p:sp>
        <p:nvSpPr>
          <p:cNvPr id="4" name="">
            <a:extLst xmlns:a="http://schemas.openxmlformats.org/drawingml/2006/main">
              <a:ext uri="{FF2B5EF4-FFF2-40B4-BE49-F238E27FC236}">
                <a16:creationId xmlns:a16="http://schemas.microsoft.com/office/drawing/2014/main" id="{6422AC37-655F-4470-B5DE-943B48C073AC}"/>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Unser Thema</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10 ungestörte Minuten</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Wann, wo und wie erinnern wir uns?</a:t>
            </a:r>
          </a:p>
        </p:txBody>
      </p:sp>
      <p:sp>
        <p:nvSpPr>
          <p:cNvPr id="5" name="">
            <a:extLst xmlns:a="http://schemas.openxmlformats.org/drawingml/2006/main">
              <a:ext uri="{FF2B5EF4-FFF2-40B4-BE49-F238E27FC236}">
                <a16:creationId xmlns:a16="http://schemas.microsoft.com/office/drawing/2014/main" id="{A4CE1E1D-CB94-490A-84F3-98620DCCFF1F}"/>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187391641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4998b6c5c1a4836"/>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285589D-4A71-47DC-BCAF-705B8C7D4A05}"/>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10   3 Min</a:t>
            </a:r>
          </a:p>
        </p:txBody>
      </p:sp>
      <p:sp>
        <p:nvSpPr>
          <p:cNvPr id="3" name="">
            <a:extLst xmlns:a="http://schemas.openxmlformats.org/drawingml/2006/main">
              <a:ext uri="{FF2B5EF4-FFF2-40B4-BE49-F238E27FC236}">
                <a16:creationId xmlns:a16="http://schemas.microsoft.com/office/drawing/2014/main" id="{5EFED71B-4912-4626-9AAD-19AA0006A99B}"/>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Was ich künftig besser hören möchte</a:t>
            </a:r>
          </a:p>
        </p:txBody>
      </p:sp>
      <p:sp>
        <p:nvSpPr>
          <p:cNvPr id="4" name="">
            <a:extLst xmlns:a="http://schemas.openxmlformats.org/drawingml/2006/main">
              <a:ext uri="{FF2B5EF4-FFF2-40B4-BE49-F238E27FC236}">
                <a16:creationId xmlns:a16="http://schemas.microsoft.com/office/drawing/2014/main" id="{F7FCA828-1AF3-4DBD-B569-8F0CC2209478}"/>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„Du hörst mir überhaupt nicht zu.“</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Wie lautet eure erste Antwort?</a:t>
            </a:r>
          </a:p>
        </p:txBody>
      </p:sp>
      <p:sp>
        <p:nvSpPr>
          <p:cNvPr id="5" name="">
            <a:extLst xmlns:a="http://schemas.openxmlformats.org/drawingml/2006/main">
              <a:ext uri="{FF2B5EF4-FFF2-40B4-BE49-F238E27FC236}">
                <a16:creationId xmlns:a16="http://schemas.microsoft.com/office/drawing/2014/main" id="{D8174ADC-185B-434B-B8DE-A6DD984D24C6}"/>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10001705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2026-10-03T23:07:39.5560000Z</dcterms:created>
  <dcterms:modified xsi:type="dcterms:W3CDTF">2026-10-03T23:07:39.5560000Z</dcterms:modified>
</coreProperties>
</file>