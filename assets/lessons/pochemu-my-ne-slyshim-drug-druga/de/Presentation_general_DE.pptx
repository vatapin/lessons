
<file path=[Content_Types].xml><?xml version="1.0" encoding="utf-8"?>
<Types xmlns="http://schemas.openxmlformats.org/package/2006/content-types">
  <Default Extension="xml" ContentType="application/vnd.openxmlformats-package.core-properties+xml"/>
  <Default Extension="jp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903c0ee4ef44ce" /><Relationship Type="http://schemas.openxmlformats.org/officeDocument/2006/relationships/extended-properties" Target="/docProps/app.xml" Id="R07662bd5040c48d0" /><Relationship Type="http://schemas.openxmlformats.org/officeDocument/2006/relationships/officeDocument" Target="/ppt/presentation.xml" Id="R79c6929b68004fb6" /></Relationships>
</file>

<file path=ppt/presentation.xml><?xml version="1.0" encoding="utf-8"?>
<p:presentation xmlns:p="http://schemas.openxmlformats.org/presentationml/2006/main">
  <p:sldMasterIdLst>
    <p:sldMasterId xmlns:r="http://schemas.openxmlformats.org/officeDocument/2006/relationships" id="2147483648" r:id="R89d6dcfa85584f6f"/>
  </p:sldMasterIdLst>
  <p:notesMasterIdLst>
    <p:notesMasterId xmlns:r="http://schemas.openxmlformats.org/officeDocument/2006/relationships" r:id="Re3c04c6c87f64da6"/>
  </p:notesMasterIdLst>
  <p:sldIdLst>
    <p:sldId xmlns:r="http://schemas.openxmlformats.org/officeDocument/2006/relationships" id="256" r:id="R513e8d81c18c401d"/>
    <p:sldId xmlns:r="http://schemas.openxmlformats.org/officeDocument/2006/relationships" id="257" r:id="R53f9f899537d4481"/>
    <p:sldId xmlns:r="http://schemas.openxmlformats.org/officeDocument/2006/relationships" id="258" r:id="R913d4f6bb4964f63"/>
    <p:sldId xmlns:r="http://schemas.openxmlformats.org/officeDocument/2006/relationships" id="259" r:id="R644738de134c4f87"/>
    <p:sldId xmlns:r="http://schemas.openxmlformats.org/officeDocument/2006/relationships" id="260" r:id="Rbbd3e34c28ae4c04"/>
    <p:sldId xmlns:r="http://schemas.openxmlformats.org/officeDocument/2006/relationships" id="261" r:id="Rb8c5582bede94f15"/>
    <p:sldId xmlns:r="http://schemas.openxmlformats.org/officeDocument/2006/relationships" id="262" r:id="R4dae51955193418f"/>
    <p:sldId xmlns:r="http://schemas.openxmlformats.org/officeDocument/2006/relationships" id="263" r:id="R35cd0fd67d564c0e"/>
    <p:sldId xmlns:r="http://schemas.openxmlformats.org/officeDocument/2006/relationships" id="264" r:id="R3f68ff3e064744ae"/>
    <p:sldId xmlns:r="http://schemas.openxmlformats.org/officeDocument/2006/relationships" id="265" r:id="Rf794791d9f7148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5b4523aa794185" /><Relationship Type="http://schemas.openxmlformats.org/officeDocument/2006/relationships/slideMaster" Target="/ppt/slideMasters/slideMaster1.xml" Id="R89d6dcfa85584f6f" /><Relationship Type="http://schemas.openxmlformats.org/officeDocument/2006/relationships/notesMaster" Target="/ppt/notesMasters/notesMaster1.xml" Id="Re3c04c6c87f64da6" /><Relationship Type="http://schemas.openxmlformats.org/officeDocument/2006/relationships/presProps" Target="/ppt/presProps.xml" Id="R44348a2aabdf4cef" /><Relationship Type="http://schemas.openxmlformats.org/officeDocument/2006/relationships/tableStyles" Target="/ppt/tableStyles.xml" Id="Rc6b0796f10174e2b" /><Relationship Type="http://schemas.openxmlformats.org/officeDocument/2006/relationships/slide" Target="/ppt/slides/slide1.xml" Id="R513e8d81c18c401d" /><Relationship Type="http://schemas.openxmlformats.org/officeDocument/2006/relationships/slide" Target="/ppt/slides/slide2.xml" Id="R53f9f899537d4481" /><Relationship Type="http://schemas.openxmlformats.org/officeDocument/2006/relationships/slide" Target="/ppt/slides/slide3.xml" Id="R913d4f6bb4964f63" /><Relationship Type="http://schemas.openxmlformats.org/officeDocument/2006/relationships/slide" Target="/ppt/slides/slide4.xml" Id="R644738de134c4f87" /><Relationship Type="http://schemas.openxmlformats.org/officeDocument/2006/relationships/slide" Target="/ppt/slides/slide5.xml" Id="Rbbd3e34c28ae4c04" /><Relationship Type="http://schemas.openxmlformats.org/officeDocument/2006/relationships/slide" Target="/ppt/slides/slide6.xml" Id="Rb8c5582bede94f15" /><Relationship Type="http://schemas.openxmlformats.org/officeDocument/2006/relationships/slide" Target="/ppt/slides/slide7.xml" Id="R4dae51955193418f" /><Relationship Type="http://schemas.openxmlformats.org/officeDocument/2006/relationships/slide" Target="/ppt/slides/slide8.xml" Id="R35cd0fd67d564c0e" /><Relationship Type="http://schemas.openxmlformats.org/officeDocument/2006/relationships/slide" Target="/ppt/slides/slide9.xml" Id="R3f68ff3e064744ae" /><Relationship Type="http://schemas.openxmlformats.org/officeDocument/2006/relationships/slide" Target="/ppt/slides/slide10.xml" Id="Rf794791d9f7148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c15098b9fe44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933c3a597f42db" /><Relationship Type="http://schemas.openxmlformats.org/officeDocument/2006/relationships/notesMaster" Target="/ppt/notesMasters/notesMaster1.xml" Id="Rc84ec210c02b43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0ddf064aca4f5b" /><Relationship Type="http://schemas.openxmlformats.org/officeDocument/2006/relationships/notesMaster" Target="/ppt/notesMasters/notesMaster1.xml" Id="R34ac62cfecf248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07f834cd0e48ad" /><Relationship Type="http://schemas.openxmlformats.org/officeDocument/2006/relationships/notesMaster" Target="/ppt/notesMasters/notesMaster1.xml" Id="R0cef454be6b340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937b435b534a3b" /><Relationship Type="http://schemas.openxmlformats.org/officeDocument/2006/relationships/notesMaster" Target="/ppt/notesMasters/notesMaster1.xml" Id="R42f36a03596747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90d95ff4164966" /><Relationship Type="http://schemas.openxmlformats.org/officeDocument/2006/relationships/notesMaster" Target="/ppt/notesMasters/notesMaster1.xml" Id="R39603504b3db49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05816a42214628" /><Relationship Type="http://schemas.openxmlformats.org/officeDocument/2006/relationships/notesMaster" Target="/ppt/notesMasters/notesMaster1.xml" Id="R55bdf5e6045e41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63496d09fd4bd6" /><Relationship Type="http://schemas.openxmlformats.org/officeDocument/2006/relationships/notesMaster" Target="/ppt/notesMasters/notesMaster1.xml" Id="R4714a5647f9443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6b4220db754f56" /><Relationship Type="http://schemas.openxmlformats.org/officeDocument/2006/relationships/notesMaster" Target="/ppt/notesMasters/notesMaster1.xml" Id="R76bbe667111343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16099b3fd44af3" /><Relationship Type="http://schemas.openxmlformats.org/officeDocument/2006/relationships/notesMaster" Target="/ppt/notesMasters/notesMaster1.xml" Id="Re2625f03adf84c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e1965f75bf4ea6" /><Relationship Type="http://schemas.openxmlformats.org/officeDocument/2006/relationships/notesMaster" Target="/ppt/notesMasters/notesMaster1.xml" Id="Rca2512de4aa440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3 Minuten</a:t>
            </a:r>
          </a:p>
          <a:p xmlns:a="http://schemas.openxmlformats.org/drawingml/2006/main">
            <a:r>
              <a:t/>
            </a:r>
          </a:p>
          <a:p xmlns:a="http://schemas.openxmlformats.org/drawingml/2006/main">
            <a:r>
              <a:t>Leitung: „Heute suchen wir den Moment, in dem wir bereits antworten, obwohl wir den anderen noch nicht verstanden haben. Wählt ein Hindernis auf dem Bildschirm.“ 30 Sekunden für die Wahl, eine Minute für zwei kurze Begründungen. Stimmen ohne Bewertung der Personen notieren. „Am Ende prüfen wir, was wir anders machen können. Persönliche Geschichten sind freiwillig.“ Übergang: „Schauen wir uns einen ganz gewöhnlichen Abend an.“</a:t>
            </a:r>
          </a:p>
          <a:p xmlns:a="http://schemas.openxmlformats.org/drawingml/2006/main">
            <a:r>
              <a:t/>
            </a:r>
          </a:p>
          <a:p xmlns:a="http://schemas.openxmlformats.org/drawingml/2006/main">
            <a:r>
              <a:t>Erste Einschätzung und persönliches Ziel.</a:t>
            </a:r>
          </a:p>
          <a:p xmlns:a="http://schemas.openxmlformats.org/drawingml/2006/main">
            <a:r>
              <a:t/>
            </a:r>
          </a:p>
          <a:p xmlns:a="http://schemas.openxmlformats.org/drawingml/2006/main">
            <a:r>
              <a:t>Illustration: ../images/01.png;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6 Minuten</a:t>
            </a:r>
          </a:p>
          <a:p xmlns:a="http://schemas.openxmlformats.org/drawingml/2006/main">
            <a:r>
              <a:t/>
            </a:r>
          </a:p>
          <a:p xmlns:a="http://schemas.openxmlformats.org/drawingml/2006/main">
            <a:r>
              <a:t>Zwei Freiwillige erhalten die Rollen von Blatt 1. Leitung: „Lest nur die Sätze. Die Hintergründe erfahren wir später.“ Anna: „Du bist schon wieder am Handy.“ Michael: „Ich erledige gerade etwas.“ Anna: „Mit dir kann man einfach nicht reden.“ Michael: „Geht es auch ohne Vorwürfe?“ Nach der einminütigen Szene eine Minute Zeit: einen genauen Satz und eine Vermutung über seine Bedeutung getrennt notieren. Fragen: „Was könnte jeder gehört haben? Welche Worte habt ihr gedanklich ergänzt?“ Verschiedene Deutungen stehen lassen. Zum Schluss Gesagtes und eigene Interpretation unterscheiden.</a:t>
            </a:r>
          </a:p>
          <a:p xmlns:a="http://schemas.openxmlformats.org/drawingml/2006/main">
            <a:r>
              <a:t/>
            </a:r>
          </a:p>
          <a:p xmlns:a="http://schemas.openxmlformats.org/drawingml/2006/main">
            <a:r>
              <a:t>Wörtlicher Satz und Vermutung sind getrennt.</a:t>
            </a:r>
          </a:p>
          <a:p xmlns:a="http://schemas.openxmlformats.org/drawingml/2006/main">
            <a:r>
              <a:t/>
            </a:r>
          </a:p>
          <a:p xmlns:a="http://schemas.openxmlformats.org/drawingml/2006/main">
            <a:r>
              <a:t>Illustration: ../images/02.png;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5 Minuten</a:t>
            </a:r>
          </a:p>
          <a:p xmlns:a="http://schemas.openxmlformats.org/drawingml/2006/main">
            <a:r>
              <a:t/>
            </a:r>
          </a:p>
          <a:p xmlns:a="http://schemas.openxmlformats.org/drawingml/2006/main">
            <a:r>
              <a:t>Drei Antworten vorlesen: A „Dann geh doch früher schlafen“; B „Glaubst du, ich bin nicht müde?“; C „Soll ich dir gerade zuhören, oder brauchst du Hilfe?“ Abstimmen: Welche Antwort hilft, das Anliegen zu verstehen? Eine Minute in Dreiergruppen, danach zwei Wortmeldungen. Auswertung: C ermöglicht eine Klärung. A könnte ein hilfreicher Rat sein, doch der Bedarf ist unklar. B macht daraus einen Wettbewerb. Leitung: „Ein Rat kann gut sein. Entscheidend ist auch, wann wir ihn anbieten.“ Eine weitere offene Frage formulieren lassen.</a:t>
            </a:r>
          </a:p>
          <a:p xmlns:a="http://schemas.openxmlformats.org/drawingml/2006/main">
            <a:r>
              <a:t/>
            </a:r>
          </a:p>
          <a:p xmlns:a="http://schemas.openxmlformats.org/drawingml/2006/main">
            <a:r>
              <a:t>Eine Rückfrage statt eines vorschnellen Rates.</a:t>
            </a:r>
          </a:p>
          <a:p xmlns:a="http://schemas.openxmlformats.org/drawingml/2006/main">
            <a:r>
              <a:t/>
            </a:r>
          </a:p>
          <a:p xmlns:a="http://schemas.openxmlformats.org/drawingml/2006/main">
            <a:r>
              <a:t>Illustration: ../images/03.png;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8 Minuten</a:t>
            </a:r>
          </a:p>
          <a:p xmlns:a="http://schemas.openxmlformats.org/drawingml/2006/main">
            <a:r>
              <a:t/>
            </a:r>
          </a:p>
          <a:p xmlns:a="http://schemas.openxmlformats.org/drawingml/2006/main">
            <a:r>
              <a:t>Die Leitung liest beide Abschnitte vollständig von der Seite „Biblische Grundlage“ vor, etwa drei Minuten. Erst nach dem Lesen sprechen. Fragen: „Zu welcher Handlung ruft Jakobus auf? Was soll nach Paulus aus unserer Sprache verschwinden und was hinzukommen?“ Zwei Minuten zu zweit: eine passende Textstelle für die Szene suchen. Antworten mit Versangabe sammeln. Orientierung: vor der Antwort hören, wahrhaftig sprechen, Verletzungen nicht mit Zorn rechtfertigen, hilfreiche Worte wählen, gütig sein und vergeben. Den Kontext anhand der Anmerkung erklären. „Welchen eigenen Satz könnte jede Figur ändern?“</a:t>
            </a:r>
          </a:p>
          <a:p xmlns:a="http://schemas.openxmlformats.org/drawingml/2006/main">
            <a:r>
              <a:t/>
            </a:r>
          </a:p>
          <a:p xmlns:a="http://schemas.openxmlformats.org/drawingml/2006/main">
            <a:r>
              <a:t>Eine konkrete Handlung wird mit einem Bibelvers verbunden.</a:t>
            </a:r>
          </a:p>
          <a:p xmlns:a="http://schemas.openxmlformats.org/drawingml/2006/main">
            <a:r>
              <a:t/>
            </a:r>
          </a:p>
          <a:p xmlns:a="http://schemas.openxmlformats.org/drawingml/2006/main">
            <a:r>
              <a:t>Jakobus 1,19–20</a:t>
            </a:r>
          </a:p>
          <a:p xmlns:a="http://schemas.openxmlformats.org/drawingml/2006/main">
            <a:r>
              <a:t>19 Daher, meine geliebten Brüder, sei jeder Mensch schnell zum Hören, langsam zum Reden, langsam zum Zorn.</a:t>
            </a:r>
          </a:p>
          <a:p xmlns:a="http://schemas.openxmlformats.org/drawingml/2006/main">
            <a:r>
              <a:t>20 Denn eines Mannes Zorn wirkt nicht Gottes Gerechtigkeit.</a:t>
            </a:r>
          </a:p>
          <a:p xmlns:a="http://schemas.openxmlformats.org/drawingml/2006/main">
            <a:r>
              <a:t/>
            </a:r>
          </a:p>
          <a:p xmlns:a="http://schemas.openxmlformats.org/drawingml/2006/main">
            <a:r>
              <a:t>Epheser 4,25–32</a:t>
            </a:r>
          </a:p>
          <a:p xmlns:a="http://schemas.openxmlformats.org/drawingml/2006/main">
            <a:r>
              <a:t>25 Deshalb, da ihr die Lüge abgelegt habt, redet Wahrheit, ein jeder mit seinem Nächsten, denn wir sind Glieder voneinander.</a:t>
            </a:r>
          </a:p>
          <a:p xmlns:a="http://schemas.openxmlformats.org/drawingml/2006/main">
            <a:r>
              <a:t>26 Zürnet, und sündiget nicht. Die Sonne gehe nicht unter über eurem Zorn,</a:t>
            </a:r>
          </a:p>
          <a:p xmlns:a="http://schemas.openxmlformats.org/drawingml/2006/main">
            <a:r>
              <a:t>27 und gebet nicht Raum dem Teufel.</a:t>
            </a:r>
          </a:p>
          <a:p xmlns:a="http://schemas.openxmlformats.org/drawingml/2006/main">
            <a:r>
              <a:t>28 Wer gestohlen hat, stehle nicht mehr, sondern arbeite vielmehr und wirke mit seinen Händen das Gute, auf daß er dem Dürftigen mitzuteilen habe.</a:t>
            </a:r>
          </a:p>
          <a:p xmlns:a="http://schemas.openxmlformats.org/drawingml/2006/main">
            <a:r>
              <a:t>29 Kein faules Wort gehe aus eurem Munde, sondern das irgend gut ist zur notwendigen Erbauung, auf daß es den Hörenden Gnade darreiche.</a:t>
            </a:r>
          </a:p>
          <a:p xmlns:a="http://schemas.openxmlformats.org/drawingml/2006/main">
            <a:r>
              <a:t>30 Und betrübet nicht den Heiligen Geist Gottes, durch welchen ihr versiegelt worden seid auf den Tag der Erlösung.</a:t>
            </a:r>
          </a:p>
          <a:p xmlns:a="http://schemas.openxmlformats.org/drawingml/2006/main">
            <a:r>
              <a:t>31 Alle Bitterkeit und Wut und Zorn und Geschrei und Lästerung sei von euch weggetan, samt aller Bosheit.</a:t>
            </a:r>
          </a:p>
          <a:p xmlns:a="http://schemas.openxmlformats.org/drawingml/2006/main">
            <a:r>
              <a:t>32 Seid aber gegeneinander gütig, mitleidig, einander vergebend, gleichwie auch Gott in Christo euch vergeben hat.</a:t>
            </a:r>
          </a:p>
          <a:p xmlns:a="http://schemas.openxmlformats.org/drawingml/2006/main">
            <a:r>
              <a:t/>
            </a:r>
          </a:p>
          <a:p xmlns:a="http://schemas.openxmlformats.org/drawingml/2006/main">
            <a:r>
              <a:t>Beide Briefe richten sich an die christliche Gemeinde, nicht nur an Ehepaare. Jakobus verbindet das Hören mit Zurückhaltung beim Reden und im Zorn. Paulus beschreibt das neue Leben in Christus: Wahrhaftigkeit, Arbeit, Hilfe, gute Worte und Vergebung. Wir wenden diese Weisungen auf Alltagsgespräche an. Wiedergeben, Nachfragen und die Formulierung einer Bitte sind Lernübungen, keine Bibelzitate.</a:t>
            </a:r>
          </a:p>
          <a:p xmlns:a="http://schemas.openxmlformats.org/drawingml/2006/main">
            <a:r>
              <a:t>https://bibelvers.no/de/elberfelder_1905/ephesians/4</a:t>
            </a:r>
          </a:p>
          <a:p xmlns:a="http://schemas.openxmlformats.org/drawingml/2006/main">
            <a:r>
              <a:t>https://getbible.life/elberfelder1905/Jakobus/1</a:t>
            </a:r>
          </a:p>
          <a:p xmlns:a="http://schemas.openxmlformats.org/drawingml/2006/main">
            <a:r>
              <a:t/>
            </a:r>
          </a:p>
          <a:p xmlns:a="http://schemas.openxmlformats.org/drawingml/2006/main">
            <a:r>
              <a:t>Illustration: ../images/04.png;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7 Minuten</a:t>
            </a:r>
          </a:p>
          <a:p xmlns:a="http://schemas.openxmlformats.org/drawingml/2006/main">
            <a:r>
              <a:t/>
            </a:r>
          </a:p>
          <a:p xmlns:a="http://schemas.openxmlformats.org/drawingml/2006/main">
            <a:r>
              <a:t>Die vier Karten von Blatt 3 verteilen. Zwei Minuten lang in Beobachtungen und Vermutungen sortieren. Karten 1 und 3 sind Beobachtungen, 2 und 4 Deutungen der Absicht. Dann Blatt 2 aufdecken: Anna hat eine beunruhigende Nachricht ihrer Schwester erhalten und möchte reden. Michael versucht, vor 20 Uhr ein Dokument abzuschicken. Beide haben das nicht erklärt. „Diese Hintergründe gehören zu unserer Geschichte. Sie erklären die Anspannung, machen scharfe Worte aber nicht hilfreich.“ In zwei Minuten je eine Rückfrage an beide Figuren formulieren. Beispiele: „Ist es dringend?“ und „Ist etwas passiert?“ Abschluss: „Was wisst ihr jetzt zusätzlich?“</a:t>
            </a:r>
          </a:p>
          <a:p xmlns:a="http://schemas.openxmlformats.org/drawingml/2006/main">
            <a:r>
              <a:t/>
            </a:r>
          </a:p>
          <a:p xmlns:a="http://schemas.openxmlformats.org/drawingml/2006/main">
            <a:r>
              <a:t>Zwei richtige Kategorien und eine klärende Frage.</a:t>
            </a:r>
          </a:p>
          <a:p xmlns:a="http://schemas.openxmlformats.org/drawingml/2006/main">
            <a:r>
              <a:t/>
            </a:r>
          </a:p>
          <a:p xmlns:a="http://schemas.openxmlformats.org/drawingml/2006/main">
            <a:r>
              <a:t>Illustration: ../images/05.png;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10 Minuten</a:t>
            </a:r>
          </a:p>
          <a:p xmlns:a="http://schemas.openxmlformats.org/drawingml/2006/main">
            <a:r>
              <a:t/>
            </a:r>
          </a:p>
          <a:p xmlns:a="http://schemas.openxmlformats.org/drawingml/2006/main">
            <a:r>
              <a:t>Blatt 4 verteilen. Eine Minute Erklärung: „Eine Person erzählt zwei Minuten von einer kleinen Schwierigkeit. Die andere hört zu, gibt das Anliegen in einer Minute wieder und stellt eine Frage. Die sprechende Person hat 30 Sekunden für eine Korrektur. Ratschläge nur auf Wunsch.“ Themen: ein ungeklärtes Treffen mit Freunden, eine Unterbrechung durch Kollegen oder ein eigener kleiner Fall. Zwei Runden zu je 3,5 Minuten mit Rollenwechsel. Zwei Minuten Auswertung: „Wann habt ihr euch verstanden gefühlt? Was musste am Wiedergeben korrigiert werden?“ Ein ungenauer Versuch ist ein Anlass zum Nachfragen. Maßstab ist die Bestätigung der sprechenden Person.</a:t>
            </a:r>
          </a:p>
          <a:p xmlns:a="http://schemas.openxmlformats.org/drawingml/2006/main">
            <a:r>
              <a:t/>
            </a:r>
          </a:p>
          <a:p xmlns:a="http://schemas.openxmlformats.org/drawingml/2006/main">
            <a:r>
              <a:t>Beide haben zugehört und Rückmeldung erhalten.</a:t>
            </a:r>
          </a:p>
          <a:p xmlns:a="http://schemas.openxmlformats.org/drawingml/2006/main">
            <a:r>
              <a:t/>
            </a:r>
          </a:p>
          <a:p xmlns:a="http://schemas.openxmlformats.org/drawingml/2006/main">
            <a:r>
              <a:t>Illustration: ../images/06.png;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8 Minuten</a:t>
            </a:r>
          </a:p>
          <a:p xmlns:a="http://schemas.openxmlformats.org/drawingml/2006/main">
            <a:r>
              <a:t/>
            </a:r>
          </a:p>
          <a:p xmlns:a="http://schemas.openxmlformats.org/drawingml/2006/main">
            <a:r>
              <a:t>Dreiergruppen: Anna, Michael und Beobachter. Drei Minuten für einen neuen Dialog mit den bekannten Hintergründen. Dann zwei Minuten spielen. Der Beobachter markiert auf Blatt 4: genaues Wiedergeben, Rückfrage, konkrete Bitte. Zwei Gruppen zeigen je 30 Sekunden, anschließend eine Minute für hilfreiche Formulierungen. Beispiel: „Die Nachricht meiner Schwester macht mir Sorgen. Kannst du mir fünf Minuten zuhören?“ — „Ich möchte verstehen, was passiert ist. Ich muss das Dokument noch abschicken. Passt es in drei Minuten?“ — „Ja, ich warte.“ Andere Absprachen sind möglich. Zustimmung darf dem Gegenüber nicht vorweggenommen werden.</a:t>
            </a:r>
          </a:p>
          <a:p xmlns:a="http://schemas.openxmlformats.org/drawingml/2006/main">
            <a:r>
              <a:t/>
            </a:r>
          </a:p>
          <a:p xmlns:a="http://schemas.openxmlformats.org/drawingml/2006/main">
            <a:r>
              <a:t>Das Gespräch endet mit einer klaren gemeinsamen Absprache.</a:t>
            </a:r>
          </a:p>
          <a:p xmlns:a="http://schemas.openxmlformats.org/drawingml/2006/main">
            <a:r>
              <a:t/>
            </a:r>
          </a:p>
          <a:p xmlns:a="http://schemas.openxmlformats.org/drawingml/2006/main">
            <a:r>
              <a:t>Illustration: ../images/07.png;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5 Minuten</a:t>
            </a:r>
          </a:p>
          <a:p xmlns:a="http://schemas.openxmlformats.org/drawingml/2006/main">
            <a:r>
              <a:t/>
            </a:r>
          </a:p>
          <a:p xmlns:a="http://schemas.openxmlformats.org/drawingml/2006/main">
            <a:r>
              <a:t>Vorlesen: „Lass mich endlich in Ruhe!“ und „Ich werde gerade scharf. Ich brauche zehn Minuten. Sprechen wir um 20:30 Uhr weiter?“ Unterschiede benennen lassen. Zwei Minuten zu zweit: „Darüber will ich jetzt nicht reden“ so umformulieren, dass Grund und Rückkehr erkennbar werden. Zwei Beispiele hören. Passt die vorgeschlagene Zeit nicht, wird eine andere vereinbart. Bezug zu Epheser 4,26.29: Zorn nicht nähren und Verantwortung für Worte übernehmen. Abschluss: „Die Pause hilft, wenn wir anschließend wirklich wieder miteinander sprechen.“</a:t>
            </a:r>
          </a:p>
          <a:p xmlns:a="http://schemas.openxmlformats.org/drawingml/2006/main">
            <a:r>
              <a:t/>
            </a:r>
          </a:p>
          <a:p xmlns:a="http://schemas.openxmlformats.org/drawingml/2006/main">
            <a:r>
              <a:t>Der Pausensatz enthält einen Vorschlag zur Rückkehr.</a:t>
            </a:r>
          </a:p>
          <a:p xmlns:a="http://schemas.openxmlformats.org/drawingml/2006/main">
            <a:r>
              <a:t/>
            </a:r>
          </a:p>
          <a:p xmlns:a="http://schemas.openxmlformats.org/drawingml/2006/main">
            <a:r>
              <a:t>Illustration: ../images/10.png;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5 Minuten</a:t>
            </a:r>
          </a:p>
          <a:p xmlns:a="http://schemas.openxmlformats.org/drawingml/2006/main">
            <a:r>
              <a:t/>
            </a:r>
          </a:p>
          <a:p xmlns:a="http://schemas.openxmlformats.org/drawingml/2006/main">
            <a:r>
              <a:t>Das persönliche Blatt 6 verteilen. Zwei Minuten still arbeiten: eine Person, einen passenden Zeitpunkt und ein kleines Anliegen wählen. Aufschreiben: „Ich möchte verstehen …“ und „Ich beginne mit …“. Eine weitere Minute: Was frage ich, wenn die andere Person gerade keine Zeit hat? Freiwillige lesen in einer Minute nur ihren ersten Satz vor. Zum Schluss prüfen, ob der Plan eine konkrete Handlung enthält. Die Blätter bleiben bei den Teilnehmenden. Keine Zusagen im Namen eines anderen aufschreiben.</a:t>
            </a:r>
          </a:p>
          <a:p xmlns:a="http://schemas.openxmlformats.org/drawingml/2006/main">
            <a:r>
              <a:t/>
            </a:r>
          </a:p>
          <a:p xmlns:a="http://schemas.openxmlformats.org/drawingml/2006/main">
            <a:r>
              <a:t>Ein machbarer Schritt steht fest.</a:t>
            </a:r>
          </a:p>
          <a:p xmlns:a="http://schemas.openxmlformats.org/drawingml/2006/main">
            <a:r>
              <a:t/>
            </a:r>
          </a:p>
          <a:p xmlns:a="http://schemas.openxmlformats.org/drawingml/2006/main">
            <a:r>
              <a:t>Illustration: ../images/08.png;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Unterricht für Erwachsene</a:t>
            </a:r>
          </a:p>
          <a:p xmlns:a="http://schemas.openxmlformats.org/drawingml/2006/main">
            <a:r>
              <a:t>3 Minuten</a:t>
            </a:r>
          </a:p>
          <a:p xmlns:a="http://schemas.openxmlformats.org/drawingml/2006/main">
            <a:r>
              <a:t/>
            </a:r>
          </a:p>
          <a:p xmlns:a="http://schemas.openxmlformats.org/drawingml/2006/main">
            <a:r>
              <a:t>Eine Minute: Alle schreiben ihre erste Antwort auf den Satz am Bildschirm. Zwei Beispiele hören. Orientierung: „Offenbar habe ich etwas Wichtiges überhört. Was möchtest du, dass ich jetzt verstehe?“ Prüfen: Die Antwort klärt, rechtfertigt sich nicht und urteilt nicht über die Person. Wer in Übung 6 eine Bestätigung für das Wiedergeben bekommen hat, kann die Hand heben. Das prüft die Übung, nicht den Wert eines Menschen. Abschluss: „Welche eine Gewohnheit nehmt ihr mit?“ Auf Wunsch das Abschlussgebet aus dem Leitfaden sprechen.</a:t>
            </a:r>
          </a:p>
          <a:p xmlns:a="http://schemas.openxmlformats.org/drawingml/2006/main">
            <a:r>
              <a:t/>
            </a:r>
          </a:p>
          <a:p xmlns:a="http://schemas.openxmlformats.org/drawingml/2006/main">
            <a:r>
              <a:t>Ein neuer Antwortsatz und ein persönlicher Gedanke.</a:t>
            </a:r>
          </a:p>
          <a:p xmlns:a="http://schemas.openxmlformats.org/drawingml/2006/main">
            <a:r>
              <a:t/>
            </a:r>
          </a:p>
          <a:p xmlns:a="http://schemas.openxmlformats.org/drawingml/2006/main">
            <a:r>
              <a:t>Herr, hilf uns, einander zuzuhören, verletzende Worte zurückzuhalten und die Wahrheit in Liebe zu sagen. Gib uns Geduld, eigene Fehler zu korrigieren und für unseren Nächsten zu sorgen. Amen.</a:t>
            </a:r>
          </a:p>
          <a:p xmlns:a="http://schemas.openxmlformats.org/drawingml/2006/main">
            <a:r>
              <a:t/>
            </a:r>
          </a:p>
          <a:p xmlns:a="http://schemas.openxmlformats.org/drawingml/2006/main">
            <a:r>
              <a:t>Illustration: ../images/09.png;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a31696d5c74f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cee7e6dbfd48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1c7c9467af48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4d3bda54ce4b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535b0879f047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11934efc7442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33149AE-C4AD-4725-97BE-6598B8E78D3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C3D9A5C-3245-4854-B369-BD342CD058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0C1ED32-D490-41D2-9492-269DBD5303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BD70F28-6392-4B68-A649-967C81DE07F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253B7A4-91FE-4D99-9CD3-AC2531AF26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6691401-18A3-44E9-98C6-ACBC2BBC4EA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5990261-4595-4A04-A485-3DA2BB193C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E873F44-A576-453A-BE05-E113A132F2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AD50324-8F0C-452F-B636-C11F7AF21F0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F5F6DDA-7942-491D-8A67-CADCF82D1A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780A7D3-45E6-492F-99E8-700210C60D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6850EA5-8392-4148-A003-1D99490A5D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8D3B017-E80D-4798-91FB-D740A8D3DDD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F20C292-32A5-4F21-8D19-B44C4989F4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8D70B8B-1E37-4990-BEFE-50D65D2DEF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b7d902cff466a" /><Relationship Type="http://schemas.openxmlformats.org/officeDocument/2006/relationships/slideLayout" Target="/ppt/slideLayouts/slideLayout1.xml" Id="R68fb07ae0c9945f2" /><Relationship Type="http://schemas.openxmlformats.org/officeDocument/2006/relationships/slideLayout" Target="/ppt/slideLayouts/slideLayout2.xml" Id="Rff42fa456fc54195" /><Relationship Type="http://schemas.openxmlformats.org/officeDocument/2006/relationships/slideLayout" Target="/ppt/slideLayouts/slideLayout3.xml" Id="R5cf134cc6d7443db" /><Relationship Type="http://schemas.openxmlformats.org/officeDocument/2006/relationships/slideLayout" Target="/ppt/slideLayouts/slideLayout4.xml" Id="R0b29c26e8dcc49a0" /><Relationship Type="http://schemas.openxmlformats.org/officeDocument/2006/relationships/slideLayout" Target="/ppt/slideLayouts/slideLayout5.xml" Id="R46dbcdf38f0f471d" /><Relationship Type="http://schemas.openxmlformats.org/officeDocument/2006/relationships/slideLayout" Target="/ppt/slideLayouts/slideLayout6.xml" Id="Ra2d3459496a342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fb07ae0c9945f2"/>
    <p:sldLayoutId xmlns:r="http://schemas.openxmlformats.org/officeDocument/2006/relationships" id="2147483650" r:id="Rff42fa456fc54195"/>
    <p:sldLayoutId xmlns:r="http://schemas.openxmlformats.org/officeDocument/2006/relationships" id="2147483651" r:id="R5cf134cc6d7443db"/>
    <p:sldLayoutId xmlns:r="http://schemas.openxmlformats.org/officeDocument/2006/relationships" id="2147483652" r:id="R0b29c26e8dcc49a0"/>
    <p:sldLayoutId xmlns:r="http://schemas.openxmlformats.org/officeDocument/2006/relationships" id="2147483653" r:id="R46dbcdf38f0f471d"/>
    <p:sldLayoutId xmlns:r="http://schemas.openxmlformats.org/officeDocument/2006/relationships" id="2147483654" r:id="Ra2d3459496a342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0ad6d2af874bba" /><Relationship Type="http://schemas.openxmlformats.org/officeDocument/2006/relationships/image" Target="/ppt/media/image.jpg" Id="R33b280a1034c408e" /><Relationship Type="http://schemas.openxmlformats.org/officeDocument/2006/relationships/notesSlide" Target="/ppt/notesSlides/notesSlide1.xml" Id="R4dce7df019c04d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7e036ca8d144d6" /><Relationship Type="http://schemas.openxmlformats.org/officeDocument/2006/relationships/image" Target="/ppt/media/image2.jpg" Id="R80de859528584adf" /><Relationship Type="http://schemas.openxmlformats.org/officeDocument/2006/relationships/notesSlide" Target="/ppt/notesSlides/notesSlide2.xml" Id="R0b1af150763e4f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a1a13560c04513" /><Relationship Type="http://schemas.openxmlformats.org/officeDocument/2006/relationships/image" Target="/ppt/media/image3.jpg" Id="R5dc0f80317884cff" /><Relationship Type="http://schemas.openxmlformats.org/officeDocument/2006/relationships/notesSlide" Target="/ppt/notesSlides/notesSlide3.xml" Id="R84fba6a0b6aa46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b4945ddb0c42bb" /><Relationship Type="http://schemas.openxmlformats.org/officeDocument/2006/relationships/image" Target="/ppt/media/image4.jpg" Id="Rd3febd2491b24dba" /><Relationship Type="http://schemas.openxmlformats.org/officeDocument/2006/relationships/notesSlide" Target="/ppt/notesSlides/notesSlide4.xml" Id="R5bf56a2fe19745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08494976654e33" /><Relationship Type="http://schemas.openxmlformats.org/officeDocument/2006/relationships/image" Target="/ppt/media/image5.jpg" Id="R8eaa83e4538442ec" /><Relationship Type="http://schemas.openxmlformats.org/officeDocument/2006/relationships/notesSlide" Target="/ppt/notesSlides/notesSlide5.xml" Id="Rb315132f770849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aaffe5bfe4416c" /><Relationship Type="http://schemas.openxmlformats.org/officeDocument/2006/relationships/image" Target="/ppt/media/image6.jpg" Id="R537b53ffa862444c" /><Relationship Type="http://schemas.openxmlformats.org/officeDocument/2006/relationships/notesSlide" Target="/ppt/notesSlides/notesSlide6.xml" Id="Re7061fbdb24f4b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2aa5889ced47e9" /><Relationship Type="http://schemas.openxmlformats.org/officeDocument/2006/relationships/image" Target="/ppt/media/image7.jpg" Id="Rf31f2db0930546e2" /><Relationship Type="http://schemas.openxmlformats.org/officeDocument/2006/relationships/notesSlide" Target="/ppt/notesSlides/notesSlide7.xml" Id="R03ce429932a143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2b8ecb248841ce" /><Relationship Type="http://schemas.openxmlformats.org/officeDocument/2006/relationships/image" Target="/ppt/media/image8.jpg" Id="R3c3224ed1d9241fa" /><Relationship Type="http://schemas.openxmlformats.org/officeDocument/2006/relationships/notesSlide" Target="/ppt/notesSlides/notesSlide8.xml" Id="R4f2e2ef140ca42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bb8bc3929f24251" /><Relationship Type="http://schemas.openxmlformats.org/officeDocument/2006/relationships/image" Target="/ppt/media/image9.jpg" Id="R1755f6ac66a04a06" /><Relationship Type="http://schemas.openxmlformats.org/officeDocument/2006/relationships/notesSlide" Target="/ppt/notesSlides/notesSlide9.xml" Id="Rffce862dda874c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0d83a79d1c4a06" /><Relationship Type="http://schemas.openxmlformats.org/officeDocument/2006/relationships/image" Target="/ppt/media/image10.jpg" Id="R77636ea7a79c4194" /><Relationship Type="http://schemas.openxmlformats.org/officeDocument/2006/relationships/notesSlide" Target="/ppt/notesSlides/notesSlide10.xml" Id="R762918386ea74cf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3b280a1034c408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D2FA92-03F6-4E9F-8D45-0BE2FA8D53FB}"/>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01   3 Min</a:t>
            </a:r>
          </a:p>
        </p:txBody>
      </p:sp>
      <p:sp>
        <p:nvSpPr>
          <p:cNvPr id="3" name="">
            <a:extLst xmlns:a="http://schemas.openxmlformats.org/drawingml/2006/main">
              <a:ext uri="{FF2B5EF4-FFF2-40B4-BE49-F238E27FC236}">
                <a16:creationId xmlns:a16="http://schemas.microsoft.com/office/drawing/2014/main" id="{A0B27043-62C0-4E45-A86C-D2FC30BB9471}"/>
              </a:ext>
            </a:extLst>
          </p:cNvPr>
          <p:cNvSpPr>
            <a:spLocks xmlns:a="http://schemas.openxmlformats.org/drawingml/2006/main" noGrp="1"/>
          </p:cNvSpPr>
          <p:nvPr/>
        </p:nvSpPr>
        <p:spPr>
          <a:xfrm xmlns:a="http://schemas.openxmlformats.org/drawingml/2006/main">
            <a:off x="495300" y="1047750"/>
            <a:ext cx="44005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33743"/>
                </a:solidFill>
                <a:latin typeface="DejaVu Sans"/>
                <a:ea typeface="DejaVu Sans"/>
                <a:cs typeface="DejaVu Sans"/>
              </a:defRPr>
            </a:pPr>
            <a:r>
              <a:rPr sz="3300" b="1">
                <a:solidFill>
                  <a:srgbClr val="233743"/>
                </a:solidFill>
                <a:latin typeface="DejaVu Sans"/>
                <a:ea typeface="DejaVu Sans"/>
                <a:cs typeface="DejaVu Sans"/>
              </a:rPr>
              <a:t>Warum hören wir einander nicht mehr zu?</a:t>
            </a:r>
          </a:p>
        </p:txBody>
      </p:sp>
      <p:sp>
        <p:nvSpPr>
          <p:cNvPr id="4" name="">
            <a:extLst xmlns:a="http://schemas.openxmlformats.org/drawingml/2006/main">
              <a:ext uri="{FF2B5EF4-FFF2-40B4-BE49-F238E27FC236}">
                <a16:creationId xmlns:a16="http://schemas.microsoft.com/office/drawing/2014/main" id="{99E841BA-2D9C-4530-AFA2-E66CDCAFCBD0}"/>
              </a:ext>
            </a:extLst>
          </p:cNvPr>
          <p:cNvSpPr>
            <a:spLocks xmlns:a="http://schemas.openxmlformats.org/drawingml/2006/main" noGrp="1"/>
          </p:cNvSpPr>
          <p:nvPr/>
        </p:nvSpPr>
        <p:spPr>
          <a:xfrm xmlns:a="http://schemas.openxmlformats.org/drawingml/2006/main">
            <a:off x="495300" y="3571875"/>
            <a:ext cx="4400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3"/>
                </a:solidFill>
                <a:latin typeface="DejaVu Sans"/>
                <a:ea typeface="DejaVu Sans"/>
                <a:cs typeface="DejaVu Sans"/>
              </a:defRPr>
            </a:pPr>
            <a:r>
              <a:rPr sz="1800" b="0">
                <a:solidFill>
                  <a:srgbClr val="233743"/>
                </a:solidFill>
                <a:latin typeface="DejaVu Sans"/>
                <a:ea typeface="DejaVu Sans"/>
                <a:cs typeface="DejaVu Sans"/>
              </a:rPr>
              <a:t>Unterricht für Erwachsene</a:t>
            </a:r>
          </a:p>
        </p:txBody>
      </p:sp>
      <p:sp>
        <p:nvSpPr>
          <p:cNvPr id="5" name="">
            <a:extLst xmlns:a="http://schemas.openxmlformats.org/drawingml/2006/main">
              <a:ext uri="{FF2B5EF4-FFF2-40B4-BE49-F238E27FC236}">
                <a16:creationId xmlns:a16="http://schemas.microsoft.com/office/drawing/2014/main" id="{F4768AAB-8762-4526-86E7-7A6B876A4999}"/>
              </a:ext>
            </a:extLst>
          </p:cNvPr>
          <p:cNvSpPr>
            <a:spLocks xmlns:a="http://schemas.openxmlformats.org/drawingml/2006/main" noGrp="1"/>
          </p:cNvSpPr>
          <p:nvPr/>
        </p:nvSpPr>
        <p:spPr>
          <a:xfrm xmlns:a="http://schemas.openxmlformats.org/drawingml/2006/main">
            <a:off x="495300" y="4524375"/>
            <a:ext cx="44005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Was erschwert das Zuhören?</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Zeitdruck / fertige Antwort / Müdigkeit / Vermutungen</a:t>
            </a:r>
          </a:p>
        </p:txBody>
      </p:sp>
      <p:sp>
        <p:nvSpPr>
          <p:cNvPr id="6" name="">
            <a:extLst xmlns:a="http://schemas.openxmlformats.org/drawingml/2006/main">
              <a:ext uri="{FF2B5EF4-FFF2-40B4-BE49-F238E27FC236}">
                <a16:creationId xmlns:a16="http://schemas.microsoft.com/office/drawing/2014/main" id="{EB73D66B-6E23-4D4C-9829-340E198AE480}"/>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1269038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0de859528584ad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03262D-27D5-479F-AD8C-69E04887F112}"/>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02   6 Min</a:t>
            </a:r>
          </a:p>
        </p:txBody>
      </p:sp>
      <p:sp>
        <p:nvSpPr>
          <p:cNvPr id="3" name="">
            <a:extLst xmlns:a="http://schemas.openxmlformats.org/drawingml/2006/main">
              <a:ext uri="{FF2B5EF4-FFF2-40B4-BE49-F238E27FC236}">
                <a16:creationId xmlns:a16="http://schemas.microsoft.com/office/drawing/2014/main" id="{F346FB5A-E2E5-4F9A-93DE-3DE0EA296CE1}"/>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Ein Abend und zwei Bedeutungen</a:t>
            </a:r>
          </a:p>
        </p:txBody>
      </p:sp>
      <p:sp>
        <p:nvSpPr>
          <p:cNvPr id="4" name="">
            <a:extLst xmlns:a="http://schemas.openxmlformats.org/drawingml/2006/main">
              <a:ext uri="{FF2B5EF4-FFF2-40B4-BE49-F238E27FC236}">
                <a16:creationId xmlns:a16="http://schemas.microsoft.com/office/drawing/2014/main" id="{58F0AEC8-2C5B-4D07-AD56-010E77639B2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„Du bist schon wieder am Handy.“</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wurde gesagt? Was kam an?</a:t>
            </a:r>
          </a:p>
        </p:txBody>
      </p:sp>
      <p:sp>
        <p:nvSpPr>
          <p:cNvPr id="5" name="">
            <a:extLst xmlns:a="http://schemas.openxmlformats.org/drawingml/2006/main">
              <a:ext uri="{FF2B5EF4-FFF2-40B4-BE49-F238E27FC236}">
                <a16:creationId xmlns:a16="http://schemas.microsoft.com/office/drawing/2014/main" id="{520FB7F3-5F83-4CC2-A698-AE35C4827FB2}"/>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2068677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c0f80317884cf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DEB2AE-638B-4F46-81EA-E2B55079F431}"/>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03   5 Min</a:t>
            </a:r>
          </a:p>
        </p:txBody>
      </p:sp>
      <p:sp>
        <p:nvSpPr>
          <p:cNvPr id="3" name="">
            <a:extLst xmlns:a="http://schemas.openxmlformats.org/drawingml/2006/main">
              <a:ext uri="{FF2B5EF4-FFF2-40B4-BE49-F238E27FC236}">
                <a16:creationId xmlns:a16="http://schemas.microsoft.com/office/drawing/2014/main" id="{107BA491-8711-480C-AA5D-F6517CDE0BDF}"/>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Die Antwort steht schon fest</a:t>
            </a:r>
          </a:p>
        </p:txBody>
      </p:sp>
      <p:sp>
        <p:nvSpPr>
          <p:cNvPr id="4" name="">
            <a:extLst xmlns:a="http://schemas.openxmlformats.org/drawingml/2006/main">
              <a:ext uri="{FF2B5EF4-FFF2-40B4-BE49-F238E27FC236}">
                <a16:creationId xmlns:a16="http://schemas.microsoft.com/office/drawing/2014/main" id="{285CBD14-5B61-4CD5-ADF4-B5431F46168F}"/>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„Ich bin völlig erschöpft.“</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A  „Geh doch früher schlafen.“</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B  „Ich bin auch müde!“</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C  „Zuhören oder helfen?“</a:t>
            </a:r>
          </a:p>
        </p:txBody>
      </p:sp>
      <p:sp>
        <p:nvSpPr>
          <p:cNvPr id="5" name="">
            <a:extLst xmlns:a="http://schemas.openxmlformats.org/drawingml/2006/main">
              <a:ext uri="{FF2B5EF4-FFF2-40B4-BE49-F238E27FC236}">
                <a16:creationId xmlns:a16="http://schemas.microsoft.com/office/drawing/2014/main" id="{DEE4700B-BFE0-409E-A9C7-410DD47FF6E1}"/>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8988905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3febd2491b24db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9D12FA-1DED-4241-A8E2-7A26079A5EF2}"/>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04   8 Min</a:t>
            </a:r>
          </a:p>
        </p:txBody>
      </p:sp>
      <p:sp>
        <p:nvSpPr>
          <p:cNvPr id="3" name="">
            <a:extLst xmlns:a="http://schemas.openxmlformats.org/drawingml/2006/main">
              <a:ext uri="{FF2B5EF4-FFF2-40B4-BE49-F238E27FC236}">
                <a16:creationId xmlns:a16="http://schemas.microsoft.com/office/drawing/2014/main" id="{BD99046A-5C13-4F8D-B6D0-1654E9663881}"/>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Unsere Worte und der Glaube</a:t>
            </a:r>
          </a:p>
        </p:txBody>
      </p:sp>
      <p:sp>
        <p:nvSpPr>
          <p:cNvPr id="4" name="">
            <a:extLst xmlns:a="http://schemas.openxmlformats.org/drawingml/2006/main">
              <a:ext uri="{FF2B5EF4-FFF2-40B4-BE49-F238E27FC236}">
                <a16:creationId xmlns:a16="http://schemas.microsoft.com/office/drawing/2014/main" id="{DABBD8A3-1C10-43B0-AE87-89104DFE80D3}"/>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Jakobus 1,19–20</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Epheser 4,25–32</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verändern diese Worte in unserem Gespräch?</a:t>
            </a:r>
          </a:p>
        </p:txBody>
      </p:sp>
      <p:sp>
        <p:nvSpPr>
          <p:cNvPr id="5" name="">
            <a:extLst xmlns:a="http://schemas.openxmlformats.org/drawingml/2006/main">
              <a:ext uri="{FF2B5EF4-FFF2-40B4-BE49-F238E27FC236}">
                <a16:creationId xmlns:a16="http://schemas.microsoft.com/office/drawing/2014/main" id="{27F0151C-B331-4E1C-B6C4-7121885DFFF6}"/>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7850098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eaa83e4538442e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5A78A5-B243-4D75-BA0D-ADF1F981FF6D}"/>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05   7 Min</a:t>
            </a:r>
          </a:p>
        </p:txBody>
      </p:sp>
      <p:sp>
        <p:nvSpPr>
          <p:cNvPr id="3" name="">
            <a:extLst xmlns:a="http://schemas.openxmlformats.org/drawingml/2006/main">
              <a:ext uri="{FF2B5EF4-FFF2-40B4-BE49-F238E27FC236}">
                <a16:creationId xmlns:a16="http://schemas.microsoft.com/office/drawing/2014/main" id="{B96EAC85-0E30-48AB-963D-2AADE936578D}"/>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Tatsache oder meine Deutung</a:t>
            </a:r>
          </a:p>
        </p:txBody>
      </p:sp>
      <p:sp>
        <p:nvSpPr>
          <p:cNvPr id="4" name="">
            <a:extLst xmlns:a="http://schemas.openxmlformats.org/drawingml/2006/main">
              <a:ext uri="{FF2B5EF4-FFF2-40B4-BE49-F238E27FC236}">
                <a16:creationId xmlns:a16="http://schemas.microsoft.com/office/drawing/2014/main" id="{A54E211F-C88B-4BF0-A36F-49F8318F857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habe ich gesehen oder gehört?</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vermute ich?</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sollte ich fragen?</a:t>
            </a:r>
          </a:p>
        </p:txBody>
      </p:sp>
      <p:sp>
        <p:nvSpPr>
          <p:cNvPr id="5" name="">
            <a:extLst xmlns:a="http://schemas.openxmlformats.org/drawingml/2006/main">
              <a:ext uri="{FF2B5EF4-FFF2-40B4-BE49-F238E27FC236}">
                <a16:creationId xmlns:a16="http://schemas.microsoft.com/office/drawing/2014/main" id="{7AB433DB-4471-4446-853C-E44AAC209A48}"/>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2017554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37b53ffa862444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829709-A7D3-4BB1-83E1-F762A891C4D4}"/>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06   10 Min</a:t>
            </a:r>
          </a:p>
        </p:txBody>
      </p:sp>
      <p:sp>
        <p:nvSpPr>
          <p:cNvPr id="3" name="">
            <a:extLst xmlns:a="http://schemas.openxmlformats.org/drawingml/2006/main">
              <a:ext uri="{FF2B5EF4-FFF2-40B4-BE49-F238E27FC236}">
                <a16:creationId xmlns:a16="http://schemas.microsoft.com/office/drawing/2014/main" id="{DD4C2BD7-D75C-4B7F-B14F-F88A9443CA23}"/>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Zwei Minuten Aufmerksamkeit</a:t>
            </a:r>
          </a:p>
        </p:txBody>
      </p:sp>
      <p:sp>
        <p:nvSpPr>
          <p:cNvPr id="4" name="">
            <a:extLst xmlns:a="http://schemas.openxmlformats.org/drawingml/2006/main">
              <a:ext uri="{FF2B5EF4-FFF2-40B4-BE49-F238E27FC236}">
                <a16:creationId xmlns:a16="http://schemas.microsoft.com/office/drawing/2014/main" id="{36EF1915-238A-4B23-AE0D-94F1BC66C0C5}"/>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2 Minuten: erzählen</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1 Minute: Gegenüber gibt wieder und fragt nach</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Klären, dann Rollenwechsel</a:t>
            </a:r>
          </a:p>
        </p:txBody>
      </p:sp>
      <p:sp>
        <p:nvSpPr>
          <p:cNvPr id="5" name="">
            <a:extLst xmlns:a="http://schemas.openxmlformats.org/drawingml/2006/main">
              <a:ext uri="{FF2B5EF4-FFF2-40B4-BE49-F238E27FC236}">
                <a16:creationId xmlns:a16="http://schemas.microsoft.com/office/drawing/2014/main" id="{0989373B-3DDB-4016-8308-74299873B338}"/>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72183232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31f2db0930546e2"/>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9B5F55-CB6B-4F3A-9465-AAC37C89BDBE}"/>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07   8 Min</a:t>
            </a:r>
          </a:p>
        </p:txBody>
      </p:sp>
      <p:sp>
        <p:nvSpPr>
          <p:cNvPr id="3" name="">
            <a:extLst xmlns:a="http://schemas.openxmlformats.org/drawingml/2006/main">
              <a:ext uri="{FF2B5EF4-FFF2-40B4-BE49-F238E27FC236}">
                <a16:creationId xmlns:a16="http://schemas.microsoft.com/office/drawing/2014/main" id="{5D6F44F6-9886-445F-AB8D-773C4396A334}"/>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Derselbe Abend noch einmal</a:t>
            </a:r>
          </a:p>
        </p:txBody>
      </p:sp>
      <p:sp>
        <p:nvSpPr>
          <p:cNvPr id="4" name="">
            <a:extLst xmlns:a="http://schemas.openxmlformats.org/drawingml/2006/main">
              <a:ext uri="{FF2B5EF4-FFF2-40B4-BE49-F238E27FC236}">
                <a16:creationId xmlns:a16="http://schemas.microsoft.com/office/drawing/2014/main" id="{1B9078FE-71B0-41EF-A2E5-DA509A8DD5BC}"/>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verständliche Bitte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klärende Frage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machbare Absprache</a:t>
            </a:r>
          </a:p>
        </p:txBody>
      </p:sp>
      <p:sp>
        <p:nvSpPr>
          <p:cNvPr id="5" name="">
            <a:extLst xmlns:a="http://schemas.openxmlformats.org/drawingml/2006/main">
              <a:ext uri="{FF2B5EF4-FFF2-40B4-BE49-F238E27FC236}">
                <a16:creationId xmlns:a16="http://schemas.microsoft.com/office/drawing/2014/main" id="{6851E8FB-729D-4D8F-A87F-4D3CEA36D955}"/>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8632403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c3224ed1d9241f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8D2E33-7180-4857-8176-A780B6746F70}"/>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08   5 Min</a:t>
            </a:r>
          </a:p>
        </p:txBody>
      </p:sp>
      <p:sp>
        <p:nvSpPr>
          <p:cNvPr id="3" name="">
            <a:extLst xmlns:a="http://schemas.openxmlformats.org/drawingml/2006/main">
              <a:ext uri="{FF2B5EF4-FFF2-40B4-BE49-F238E27FC236}">
                <a16:creationId xmlns:a16="http://schemas.microsoft.com/office/drawing/2014/main" id="{0592AC25-F275-42B0-A44A-9E2D1A4A55FF}"/>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Pause mit Rückkehr</a:t>
            </a:r>
          </a:p>
        </p:txBody>
      </p:sp>
      <p:sp>
        <p:nvSpPr>
          <p:cNvPr id="4" name="">
            <a:extLst xmlns:a="http://schemas.openxmlformats.org/drawingml/2006/main">
              <a:ext uri="{FF2B5EF4-FFF2-40B4-BE49-F238E27FC236}">
                <a16:creationId xmlns:a16="http://schemas.microsoft.com/office/drawing/2014/main" id="{A7D03665-08AD-4F4B-96B1-8737FD549C4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„Ich brauche eine Pause.“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Wann sprechen wir weiter?</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Wie zeige ich, dass mir das Gespräch wichtig ist?</a:t>
            </a:r>
          </a:p>
        </p:txBody>
      </p:sp>
      <p:sp>
        <p:nvSpPr>
          <p:cNvPr id="5" name="">
            <a:extLst xmlns:a="http://schemas.openxmlformats.org/drawingml/2006/main">
              <a:ext uri="{FF2B5EF4-FFF2-40B4-BE49-F238E27FC236}">
                <a16:creationId xmlns:a16="http://schemas.microsoft.com/office/drawing/2014/main" id="{6A6BD225-8D7B-42F6-A066-3F0F813F77FC}"/>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8763971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55f6ac66a04a0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82C338-A880-4BC2-AB3C-D5B0993386CF}"/>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09   5 Min</a:t>
            </a:r>
          </a:p>
        </p:txBody>
      </p:sp>
      <p:sp>
        <p:nvSpPr>
          <p:cNvPr id="3" name="">
            <a:extLst xmlns:a="http://schemas.openxmlformats.org/drawingml/2006/main">
              <a:ext uri="{FF2B5EF4-FFF2-40B4-BE49-F238E27FC236}">
                <a16:creationId xmlns:a16="http://schemas.microsoft.com/office/drawing/2014/main" id="{03CB3B76-4B60-4562-9243-0BFB3D5CAA61}"/>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Ein Gespräch in dieser Woche</a:t>
            </a:r>
          </a:p>
        </p:txBody>
      </p:sp>
      <p:sp>
        <p:nvSpPr>
          <p:cNvPr id="4" name="">
            <a:extLst xmlns:a="http://schemas.openxmlformats.org/drawingml/2006/main">
              <a:ext uri="{FF2B5EF4-FFF2-40B4-BE49-F238E27FC236}">
                <a16:creationId xmlns:a16="http://schemas.microsoft.com/office/drawing/2014/main" id="{054543A0-F07A-47A6-A161-337B32E08DFD}"/>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Mit wem und wann?</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möchte ich fragen?</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Wie prüfe ich mein Verständnis?</a:t>
            </a:r>
          </a:p>
        </p:txBody>
      </p:sp>
      <p:sp>
        <p:nvSpPr>
          <p:cNvPr id="5" name="">
            <a:extLst xmlns:a="http://schemas.openxmlformats.org/drawingml/2006/main">
              <a:ext uri="{FF2B5EF4-FFF2-40B4-BE49-F238E27FC236}">
                <a16:creationId xmlns:a16="http://schemas.microsoft.com/office/drawing/2014/main" id="{9793ED93-CD81-4FF8-B188-001E003D52E9}"/>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6922978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7636ea7a79c419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4E71D3-F2F1-461A-A147-8FFC05E95865}"/>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10   3 Min</a:t>
            </a:r>
          </a:p>
        </p:txBody>
      </p:sp>
      <p:sp>
        <p:nvSpPr>
          <p:cNvPr id="3" name="">
            <a:extLst xmlns:a="http://schemas.openxmlformats.org/drawingml/2006/main">
              <a:ext uri="{FF2B5EF4-FFF2-40B4-BE49-F238E27FC236}">
                <a16:creationId xmlns:a16="http://schemas.microsoft.com/office/drawing/2014/main" id="{168E2E92-DA20-4CB0-855C-9077A3C5C359}"/>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Was ich künftig besser hören möchte</a:t>
            </a:r>
          </a:p>
        </p:txBody>
      </p:sp>
      <p:sp>
        <p:nvSpPr>
          <p:cNvPr id="4" name="">
            <a:extLst xmlns:a="http://schemas.openxmlformats.org/drawingml/2006/main">
              <a:ext uri="{FF2B5EF4-FFF2-40B4-BE49-F238E27FC236}">
                <a16:creationId xmlns:a16="http://schemas.microsoft.com/office/drawing/2014/main" id="{8A889C5E-E8BF-432E-92F2-FF3E546B4BA9}"/>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„Du hörst mir überhaupt nicht zu.“</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Wie lautet eure erste Antwort?</a:t>
            </a:r>
          </a:p>
        </p:txBody>
      </p:sp>
      <p:sp>
        <p:nvSpPr>
          <p:cNvPr id="5" name="">
            <a:extLst xmlns:a="http://schemas.openxmlformats.org/drawingml/2006/main">
              <a:ext uri="{FF2B5EF4-FFF2-40B4-BE49-F238E27FC236}">
                <a16:creationId xmlns:a16="http://schemas.microsoft.com/office/drawing/2014/main" id="{0E9D7817-33E5-4346-818A-6F57FC47228F}"/>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39264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2026-10-03T23:05:40.0910000Z</dcterms:created>
  <dcterms:modified xsi:type="dcterms:W3CDTF">2026-10-03T23:05:40.0910000Z</dcterms:modified>
</coreProperties>
</file>