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jpg" ContentType="image/jpeg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c832d6ec6e4f94" /><Relationship Type="http://schemas.openxmlformats.org/officeDocument/2006/relationships/extended-properties" Target="/docProps/app.xml" Id="R382dfcba920e4079" /><Relationship Type="http://schemas.openxmlformats.org/officeDocument/2006/relationships/officeDocument" Target="/ppt/presentation.xml" Id="Ra8db2044eef24e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73a0d666c54a7a"/>
  </p:sldMasterIdLst>
  <p:notesMasterIdLst>
    <p:notesMasterId xmlns:r="http://schemas.openxmlformats.org/officeDocument/2006/relationships" r:id="R808739443fe44f5c"/>
  </p:notesMasterIdLst>
  <p:sldIdLst>
    <p:sldId xmlns:r="http://schemas.openxmlformats.org/officeDocument/2006/relationships" id="256" r:id="Re1d4a7fc92b04f30"/>
    <p:sldId xmlns:r="http://schemas.openxmlformats.org/officeDocument/2006/relationships" id="257" r:id="Rcdb48ef1ccd4417d"/>
    <p:sldId xmlns:r="http://schemas.openxmlformats.org/officeDocument/2006/relationships" id="258" r:id="R79c3cd7f20b44bb4"/>
    <p:sldId xmlns:r="http://schemas.openxmlformats.org/officeDocument/2006/relationships" id="259" r:id="Ref3cf06c6d5c4515"/>
    <p:sldId xmlns:r="http://schemas.openxmlformats.org/officeDocument/2006/relationships" id="260" r:id="R411591721a0b44c3"/>
    <p:sldId xmlns:r="http://schemas.openxmlformats.org/officeDocument/2006/relationships" id="261" r:id="R39a55b57f1784151"/>
    <p:sldId xmlns:r="http://schemas.openxmlformats.org/officeDocument/2006/relationships" id="262" r:id="R15d38a918b6c4e42"/>
    <p:sldId xmlns:r="http://schemas.openxmlformats.org/officeDocument/2006/relationships" id="263" r:id="R60a370b8fee945da"/>
    <p:sldId xmlns:r="http://schemas.openxmlformats.org/officeDocument/2006/relationships" id="264" r:id="R333e59effb064d21"/>
    <p:sldId xmlns:r="http://schemas.openxmlformats.org/officeDocument/2006/relationships" id="265" r:id="R3985f255cb4b4708"/>
    <p:sldId xmlns:r="http://schemas.openxmlformats.org/officeDocument/2006/relationships" id="266" r:id="R15ba791742424b84"/>
    <p:sldId xmlns:r="http://schemas.openxmlformats.org/officeDocument/2006/relationships" id="267" r:id="Rca771921f3ed49f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bd4099629f40ad" /><Relationship Type="http://schemas.openxmlformats.org/officeDocument/2006/relationships/slideMaster" Target="/ppt/slideMasters/slideMaster1.xml" Id="R2473a0d666c54a7a" /><Relationship Type="http://schemas.openxmlformats.org/officeDocument/2006/relationships/notesMaster" Target="/ppt/notesMasters/notesMaster1.xml" Id="R808739443fe44f5c" /><Relationship Type="http://schemas.openxmlformats.org/officeDocument/2006/relationships/presProps" Target="/ppt/presProps.xml" Id="R32eb0d269d454267" /><Relationship Type="http://schemas.openxmlformats.org/officeDocument/2006/relationships/tableStyles" Target="/ppt/tableStyles.xml" Id="R3a158afb1fd24086" /><Relationship Type="http://schemas.openxmlformats.org/officeDocument/2006/relationships/slide" Target="/ppt/slides/slide1.xml" Id="Re1d4a7fc92b04f30" /><Relationship Type="http://schemas.openxmlformats.org/officeDocument/2006/relationships/slide" Target="/ppt/slides/slide2.xml" Id="Rcdb48ef1ccd4417d" /><Relationship Type="http://schemas.openxmlformats.org/officeDocument/2006/relationships/slide" Target="/ppt/slides/slide3.xml" Id="R79c3cd7f20b44bb4" /><Relationship Type="http://schemas.openxmlformats.org/officeDocument/2006/relationships/slide" Target="/ppt/slides/slide4.xml" Id="Ref3cf06c6d5c4515" /><Relationship Type="http://schemas.openxmlformats.org/officeDocument/2006/relationships/slide" Target="/ppt/slides/slide5.xml" Id="R411591721a0b44c3" /><Relationship Type="http://schemas.openxmlformats.org/officeDocument/2006/relationships/slide" Target="/ppt/slides/slide6.xml" Id="R39a55b57f1784151" /><Relationship Type="http://schemas.openxmlformats.org/officeDocument/2006/relationships/slide" Target="/ppt/slides/slide7.xml" Id="R15d38a918b6c4e42" /><Relationship Type="http://schemas.openxmlformats.org/officeDocument/2006/relationships/slide" Target="/ppt/slides/slide8.xml" Id="R60a370b8fee945da" /><Relationship Type="http://schemas.openxmlformats.org/officeDocument/2006/relationships/slide" Target="/ppt/slides/slide9.xml" Id="R333e59effb064d21" /><Relationship Type="http://schemas.openxmlformats.org/officeDocument/2006/relationships/slide" Target="/ppt/slides/slide10.xml" Id="R3985f255cb4b4708" /><Relationship Type="http://schemas.openxmlformats.org/officeDocument/2006/relationships/slide" Target="/ppt/slides/slide11.xml" Id="R15ba791742424b84" /><Relationship Type="http://schemas.openxmlformats.org/officeDocument/2006/relationships/slide" Target="/ppt/slides/slide12.xml" Id="Rca771921f3ed49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a5e2616aa6a4d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7234d26ba824d80" /><Relationship Type="http://schemas.openxmlformats.org/officeDocument/2006/relationships/notesMaster" Target="/ppt/notesMasters/notesMaster1.xml" Id="Re1fcd81ec308402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9dca643cc904dcf" /><Relationship Type="http://schemas.openxmlformats.org/officeDocument/2006/relationships/notesMaster" Target="/ppt/notesMasters/notesMaster1.xml" Id="R915fb75e210748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4c9d1cf989d4d05" /><Relationship Type="http://schemas.openxmlformats.org/officeDocument/2006/relationships/notesMaster" Target="/ppt/notesMasters/notesMaster1.xml" Id="R15d5bb3b5c8d404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bc591f82d18455e" /><Relationship Type="http://schemas.openxmlformats.org/officeDocument/2006/relationships/notesMaster" Target="/ppt/notesMasters/notesMaster1.xml" Id="R9b05858777df4e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fdf67c7ede54c2e" /><Relationship Type="http://schemas.openxmlformats.org/officeDocument/2006/relationships/notesMaster" Target="/ppt/notesMasters/notesMaster1.xml" Id="R476db2dba02d4f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ce1b44c68da4c55" /><Relationship Type="http://schemas.openxmlformats.org/officeDocument/2006/relationships/notesMaster" Target="/ppt/notesMasters/notesMaster1.xml" Id="Rc90aa905bb93484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74fcc7fa700484f" /><Relationship Type="http://schemas.openxmlformats.org/officeDocument/2006/relationships/notesMaster" Target="/ppt/notesMasters/notesMaster1.xml" Id="R2fbfe5d089fb4a0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798bc6863174dac" /><Relationship Type="http://schemas.openxmlformats.org/officeDocument/2006/relationships/notesMaster" Target="/ppt/notesMasters/notesMaster1.xml" Id="R4af2f8291e35489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58f0007d1e64d97" /><Relationship Type="http://schemas.openxmlformats.org/officeDocument/2006/relationships/notesMaster" Target="/ppt/notesMasters/notesMaster1.xml" Id="R4930d707857740f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13c6531ecfa4193" /><Relationship Type="http://schemas.openxmlformats.org/officeDocument/2006/relationships/notesMaster" Target="/ppt/notesMasters/notesMaster1.xml" Id="R8fee128a2711417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7ed2d4736204303" /><Relationship Type="http://schemas.openxmlformats.org/officeDocument/2006/relationships/notesMaster" Target="/ppt/notesMasters/notesMaster1.xml" Id="R3ff5247565054b2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ef8d41416fc42fa" /><Relationship Type="http://schemas.openxmlformats.org/officeDocument/2006/relationships/notesMaster" Target="/ppt/notesMasters/notesMaster1.xml" Id="Rce916070b5d740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 минут.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Положите на стол полотенце и небольшую чашу. Спросите: «Как эти вещи могут быть связаны с властью?» Примите два предположения, пока не объясняйте. Объявите тему. Не сообщайте заранее итог игры.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Участники: Два коротких предположения вслух.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Экран и устройства: Изображение и открытый вопрос. Ответы можно собрать устно.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Результат: Возникает вопрос, к которому вернёмся после игры.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Библейская основа: Ин. 13:1–17. Синодальный перевод. https://azbyka.ru/biblia/?Jn.13:1-17</a:t>
            </a:r>
          </a:p>
          <a:p xmlns:a="http://schemas.openxmlformats.org/drawingml/2006/main">
            <a:r>
              <a:t>Иллюстрация создана для этого урока.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 минут.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Скажите: «Нам нужен руководитель команды. Какое качество для вас важнее?» Дайте 20 секунд на личный выбор, затем попросите объяснить разные ответы. Не объявляйте единственный правильный вариант: каждое качество может быть полезным. Запишите распределение голосов, чтобы вернуться к нему в конце.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Участники: Каждый выбирает А, Б, В или Г. Два участника объясняют выбор.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Экран и устройства: Опрос с одним вариантом. Результаты открыть после голосования. Без устройств: пальцы 1–4 или карточки.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Результат: У каждого появляется собственная позиция, а не готовая формула.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Библейская основа: Ин. 13:1–17. Синодальный перевод. https://azbyka.ru/biblia/?Jn.13:1-17</a:t>
            </a:r>
          </a:p>
          <a:p xmlns:a="http://schemas.openxmlformats.org/drawingml/2006/main">
            <a:r>
              <a:t>Иллюстрация создана для этого урока.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 минут.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Разделите класс на команды по 4–5 человек. На столах заранее лежат две одинаковые по высоте книги с промежутком 15 см, два листа А4, 30 см малярной ленты и две одинаковые лёгкие фишки. Пока выдайте только одну фишку. За 30 секунд каждая команда выбирает координатора. Объявите: «Постройте мост между книгами. Опоры двигать нельзя. Мост должен держать фишку в середине без помощи рук пять секунд. Координатор может и руководить, и строить». Включите три минуты. Последнюю минуту используйте для проверки мостов. Наблюдайте: кто предлагает, кого слышат, кто помогает. Не оценивайте нравственность по прочности моста.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Участники: Все строят, координатор согласует работу. Команда сама проверяет результат.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Экран и устройства: Таймер 3:00 и правила на экране. Ответы в этот момент не требуются.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Результат: Общий практический опыт для дальнейшего разговора.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Библейская основа: Ин. 13:1–17. Синодальный перевод. https://azbyka.ru/biblia/?Jn.13:1-17</a:t>
            </a:r>
          </a:p>
          <a:p xmlns:a="http://schemas.openxmlformats.org/drawingml/2006/main">
            <a:r>
              <a:t>Иллюстрация создана для этого урока.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 минут.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Выдайте вторую такую же фишку: «Появился ещё один человек, которому нужен переход. Теперь мост должен одновременно выдержать обе фишки в середине пять секунд». Дайте 90 секунд на доработку. Никакой ребёнок не становится «лишним»: речь только об игровых фишках. После проверки спросите одну команду: «Что вы поменяли в способе договариваться?» Если мост уже выдерживает две фишки, предложите команде объяснить конструкцию другой группе, сохраняя её право строить самостоятельно.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Участники: Команды меняют решение и повторно проверяют мост.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Экран и устройства: Таймер 1:30. После него короткий устный ответ команды.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Результат: Общее дело требует учитывать новую потребность и менять своё решение.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Библейская основа: Ин. 13:1–17. Синодальный перевод. https://azbyka.ru/biblia/?Jn.13:1-17</a:t>
            </a:r>
          </a:p>
          <a:p xmlns:a="http://schemas.openxmlformats.org/drawingml/2006/main">
            <a:r>
              <a:t>Иллюстрация создана для этого урока.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 минут.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Сначала 30 секунд обсуждения внутри команд. Затем попросите назвать по одному наблюдаемому действию: «показал сгиб», «спросила тихого участника», «помог удержать край». Спросите: «Помощь исходила только от координатора? Должен ли руководитель всё делать сам?» Если всё прошло дружно, не придумывайте конфликт. Если кто-то командовал резко, обсуждайте формулировку и её результат, а не личность. Подведите к вопросу: «А как использует Свою власть Христос?»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Участники: Каждый вспоминает конкретный поступок. Команда делится одним примером.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Экран и устройства: Открытый ответ: «Общему делу помогло…». Покажите 3–4 разных ответа.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Результат: Дети отличают должность от полезного действия и замечают вклад других.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Библейская основа: Ин. 13:1–17. Синодальный перевод. https://azbyka.ru/biblia/?Jn.13:1-17</a:t>
            </a:r>
          </a:p>
          <a:p xmlns:a="http://schemas.openxmlformats.org/drawingml/2006/main">
            <a:r>
              <a:t>Иллюстрация создана для этого урока.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 минут.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Покажите чашу и полотенце. Скажите: «Во время вечери Христос Сам берёт полотенце и умывает ноги ученикам. Послушаем весь отрывок». Прочитайте Ин. 13:1–17 по приложенному Синодальному тексту. До окончания чтения не устраивайте обсуждение. Затем оставьте 15 секунд тишины и предложите каждому назвать про себя одну неожиданную деталь. Объясните лишь необходимые слова: «препоясался» — повязал полотенце вокруг себя; «вечеря» — вечерняя трапеза. Не сводите эпизод только к полезной работе: в начале отрывка говорится о любви Христа к ученикам.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Участники: Слушают целиком, затем выбирают одну деталь для обсуждения.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Экран и устройства: Иллюстрация и ссылка на отрывок. Текст читает ведущий, длинный текст на экран не выводится.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Результат: Евангелие становится основанием разговора, а не подписью к игре.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Библейская основа: Ин. 13:1–17. Синодальный перевод. https://azbyka.ru/biblia/?Jn.13:1-17</a:t>
            </a:r>
          </a:p>
          <a:p xmlns:a="http://schemas.openxmlformats.org/drawingml/2006/main">
            <a:r>
              <a:t>Иллюстрация создана для этого урока.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Текст для чтения:</a:t>
            </a:r>
          </a:p>
          <a:p xmlns:a="http://schemas.openxmlformats.org/drawingml/2006/main">
            <a:r>
              <a:t>1. Перед праздником Пасхи Иисус, зная, что пришел час Его перейти от мира сего к Отцу, явил делом, что, возлюбив Своих сущих в мире, до конца возлюбил их.</a:t>
            </a:r>
          </a:p>
          <a:p xmlns:a="http://schemas.openxmlformats.org/drawingml/2006/main">
            <a:r>
              <a:t>2. И во время вечери, когда диавол уже вложил в сердце Иуде Симонову Искариоту предать Его,</a:t>
            </a:r>
          </a:p>
          <a:p xmlns:a="http://schemas.openxmlformats.org/drawingml/2006/main">
            <a:r>
              <a:t>3. Иисус, зная, что Отец все отдал в руки Его, и что Он от Бога исшел и к Богу отходит,</a:t>
            </a:r>
          </a:p>
          <a:p xmlns:a="http://schemas.openxmlformats.org/drawingml/2006/main">
            <a:r>
              <a:t>4. встал с вечери, снял с Себя верхнюю одежду и, взяв полотенце, препоясался.</a:t>
            </a:r>
          </a:p>
          <a:p xmlns:a="http://schemas.openxmlformats.org/drawingml/2006/main">
            <a:r>
              <a:t>5. Потом влил воды в умывальницу и начал умывать ноги ученикам и отирать полотенцем, которым был препоясан.</a:t>
            </a:r>
          </a:p>
          <a:p xmlns:a="http://schemas.openxmlformats.org/drawingml/2006/main">
            <a:r>
              <a:t>6. Подходит к Симону Петру, и тот говорит Ему: Господи! Тебе ли умывать мои ноги?</a:t>
            </a:r>
          </a:p>
          <a:p xmlns:a="http://schemas.openxmlformats.org/drawingml/2006/main">
            <a:r>
              <a:t>7. Иисус сказал ему в ответ: что Я делаю, теперь ты не знаешь, а уразумеешь после.</a:t>
            </a:r>
          </a:p>
          <a:p xmlns:a="http://schemas.openxmlformats.org/drawingml/2006/main">
            <a:r>
              <a:t>8. Петр говорит Ему: не умоешь ног моих вовек. Иисус отвечал ему: если не умою тебя, не имеешь части со Мною.</a:t>
            </a:r>
          </a:p>
          <a:p xmlns:a="http://schemas.openxmlformats.org/drawingml/2006/main">
            <a:r>
              <a:t>9. Симон Петр говорит Ему: Господи! не только ноги мои, но и руки и голову.</a:t>
            </a:r>
          </a:p>
          <a:p xmlns:a="http://schemas.openxmlformats.org/drawingml/2006/main">
            <a:r>
              <a:t>10. Иисус говорит ему: омытому нужно только ноги умыть, потому что чист весь; и вы чисты, но не все.</a:t>
            </a:r>
          </a:p>
          <a:p xmlns:a="http://schemas.openxmlformats.org/drawingml/2006/main">
            <a:r>
              <a:t>11. Ибо знал Он предателя Своего, потому и сказал: не все вы чисты.</a:t>
            </a:r>
          </a:p>
          <a:p xmlns:a="http://schemas.openxmlformats.org/drawingml/2006/main">
            <a:r>
              <a:t>12. Когда же умыл им ноги и надел одежду Свою, то, возлегши опять, сказал им: знаете ли, что Я сделал вам?</a:t>
            </a:r>
          </a:p>
          <a:p xmlns:a="http://schemas.openxmlformats.org/drawingml/2006/main">
            <a:r>
              <a:t>13. Вы называете Меня Учителем и Господом, и правильно говорите, ибо Я точно то.</a:t>
            </a:r>
          </a:p>
          <a:p xmlns:a="http://schemas.openxmlformats.org/drawingml/2006/main">
            <a:r>
              <a:t>14. Итак, если Я, Господь и Учитель, умыл ноги вам, то и вы должны умывать ноги друг другу.</a:t>
            </a:r>
          </a:p>
          <a:p xmlns:a="http://schemas.openxmlformats.org/drawingml/2006/main">
            <a:r>
              <a:t>15. Ибо Я дал вам пример, чтобы и вы делали то же, что Я сделал вам.</a:t>
            </a:r>
          </a:p>
          <a:p xmlns:a="http://schemas.openxmlformats.org/drawingml/2006/main">
            <a:r>
              <a:t>16. Истинно, истинно говорю вам: раб не больше господина своего, и посланник не больше пославшего его.</a:t>
            </a:r>
          </a:p>
          <a:p xmlns:a="http://schemas.openxmlformats.org/drawingml/2006/main">
            <a:r>
              <a:t>17. Если это знаете, блаженны вы, когда исполняете.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 минут.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Дайте парам одну минуту: «Что мог чувствовать Пётр? Почему трудно позволить Учителю служить тебе?» Выслушайте две версии, уточняя: это наши предположения о чувствах, а слова Петра даны в тексте. Спросите: «Когда вы отказывались от нужной помощи из неловкости?» Отвечать личным примером необязательно. Важный смысл: Пётр должен принять то, что делает Христос. Если спросят об ответе «не имеешь части со Мною», объясните: Пётр не может отвергнуть действие Христа и одновременно оставаться в общении с Ним; всё нельзя свести к бытовой вежливости.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Участники: Обсуждение в парах, затем два добровольных ответа.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Экран и устройства: Открытый вопрос или устное обсуждение. Не устраивать тест на «правильные чувства» Петра.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Результат: Служение включает готовность с благодарностью принять помощь.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Библейская основа: Ин. 13:1–17. Синодальный перевод. https://azbyka.ru/biblia/?Jn.13:1-17</a:t>
            </a:r>
          </a:p>
          <a:p xmlns:a="http://schemas.openxmlformats.org/drawingml/2006/main">
            <a:r>
              <a:t>Иллюстрация создана для этого урока.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 минут.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Прочитайте ещё раз Ин. 13:13–15. Спросите: «Перестал ли Христос быть Учителем и Господом, когда умыл ноги? Что Он велит ученикам делать друг для друга?» Сформулируйте вместе: «У кого есть власть и возможности, тот может первым позаботиться о другом». Не делайте из служения способ добиться популярности или власти. Вернитесь к игре: «Как этот пример меняет поведение координатора?» Примите два конкретных действия.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Участники: Дети объясняют связь между примером Христа и поведением руководителя.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Экран и устройства: Короткий ответ: «Руководитель может первым…».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Результат: Главная мысль выражена через Евангелие и конкретный поступок.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Библейская основа: Ин. 13:1–17. Синодальный перевод. https://azbyka.ru/biblia/?Jn.13:1-17</a:t>
            </a:r>
          </a:p>
          <a:p xmlns:a="http://schemas.openxmlformats.org/drawingml/2006/main">
            <a:r>
              <a:t>Иллюстрация создана для этого урока.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 минут.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Раздайте командам карточки ситуаций 1–4. Каждая команда за две минуты готовит сценку на 30–40 секунд: показать затруднение и остановиться перед решением. Одну сценку про уборку покажите всем. Остальные команды в своём кругу тоже проигрывают начало, чтобы участвовали все. Для общей сцены предложите выбор: А — назначить самого тихого; Б — всё сделать самому молча; В — договориться о короткой общей уборке и взять часть работы; Г — свой вариант. Голосование 20 секунд. Попросите объяснить два разных выбора: «Что станет с людьми и общим делом?» Вариант Б иногда помогает срочно, но не учит команду разделять ответственность. Вариант В здесь наиболее полно учитывает людей и задачу. Свой вариант принимается, если он конкретен и обоснован.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Участники: Каждая команда играет начало, все голосуют за решение общей ситуации.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Экран и устройства: Опрос А–Г. Результаты открыть после выбора. Затем один открытый ответ с обоснованием.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Результат: Дети сравнивают последствия решений, а не угадывают нравственный лозунг.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Библейская основа: Ин. 13:1–17. Синодальный перевод. https://azbyka.ru/biblia/?Jn.13:1-17</a:t>
            </a:r>
          </a:p>
          <a:p xmlns:a="http://schemas.openxmlformats.org/drawingml/2006/main">
            <a:r>
              <a:t>Иллюстрация создана для этого урока.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 минут.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Предложите добровольцу заменить руководителя в общей сценке и сыграть выбранное решение. Например: «До фото две минуты. Я собираю бумагу. Кто уберёт кисти? Давайте закончим вместе». После показа дайте всем командам 60 секунд переиграть свои ситуации. Спросите: «Изменилось только настроение или появился работающий план? Все ли получили посильное участие?» Обратите внимание: руководитель берёт свою долю работы и помогает договориться, но не обязан молча делать всё за всех.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Участники: Новый участник пробует роль. Каждая группа переигрывает своё решение.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Экран и устройства: Таймер 1:00 для работы в группах, затем устные ответы.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Результат: Участники тренируют фразу и действие, которые могут использовать в жизни.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Библейская основа: Ин. 13:1–17. Синодальный перевод. https://azbyka.ru/biblia/?Jn.13:1-17</a:t>
            </a:r>
          </a:p>
          <a:p xmlns:a="http://schemas.openxmlformats.org/drawingml/2006/main">
            <a:r>
              <a:t>Иллюстрация создана для этого урока.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 минут.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Прочитайте две просьбы. Пусть все одновременно покажут А — дать списать, Б — объяснить и дать решить самому, В — отказаться от любого участия, Г — свой вариант. Попросите объяснить выбор. Для этой ситуации полезнее Б. Уточните: служение не требует соглашаться на обман или унижение. Можно сказать: «Списать не дам, но помогу разобраться». При травле и опасности нужно обратиться к взрослому. Это короткое уточнение защищает смысл служения, не превращайте его в отдельную лекцию.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Участники: Каждый выбирает и формулирует доброжелательный ответ на просьбу.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Экран и устройства: Опрос А–Г либо жесты. Один ученик произносит свою фразу.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Результат: Служение понимается как реальная забота, а не подчинение любой просьбе.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Библейская основа: Ин. 13:1–17. Синодальный перевод. https://azbyka.ru/biblia/?Jn.13:1-17</a:t>
            </a:r>
          </a:p>
          <a:p xmlns:a="http://schemas.openxmlformats.org/drawingml/2006/main">
            <a:r>
              <a:t>Иллюстрация создана для этого урока.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 минут.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 минута: повторите опрос со слайда 2 без изменения вариантов. Спросите: «Кто изменил выбор и почему? Кто остался при своём, но теперь понимает его иначе?» Не требуйте перехода всех к одной букве. 2 минуты: каждый заполняет личную карточку «Моё дело» с конкретным человеком, действием и временем в ближайшие сутки. План можно оставить личным. 2 минуты: выходной ответ из двух частей: «Почему Христос умыл ноги ученикам?» и «Какой поступок руководителя показывает служение?» Выслушайте 2–3 ответа, остальные сдайте на карточках. 1 минута: произнесите Ин. 13:15 полностью и завершите: «Попробуем продолжить этот пример в обычной жизни». Для воскресной школы можно закончить краткой молитвой: «Господи Иисусе Христе, научи нас замечать ближних и помогать им с любовью. Аминь». На следующей встрече добровольно обсудите, что получилось и что мешало, без соревнования добрыми делами.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Участники: Повторное голосование, личный план и короткий выходной ответ.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Экран и устройства: Повтор опроса; личный ответ и выходной вопрос. Личный план не выводить на общий экран.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Результат: У каждого есть посильный следующий шаг; учитель проверяет понимание.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Библейская основа: Ин. 13:1–17. Синодальный перевод. https://azbyka.ru/biblia/?Jn.13:1-17</a:t>
            </a:r>
          </a:p>
          <a:p xmlns:a="http://schemas.openxmlformats.org/drawingml/2006/main">
            <a:r>
              <a:t>Иллюстрация создана для этого урока.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37aa402e9c4df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2e2006519a41f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3a72023227426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5667279cf04c1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502a944be0429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c67d2b8c484be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4CA4689C-AC0F-4B53-BF77-BB58B3111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F632253-2B90-4EB9-AAE1-6DC3B827F8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D40821D5-86B9-4A77-95E1-022DC62702F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50664DC-4741-453F-9219-76AAF6BB0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C501861-EEBB-4C52-97CC-8AE6CB1A37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C579CEFF-36D6-4062-8A24-85EE8A234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75D119F-1AC8-4D61-A2B3-2FFAD6D990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C1801537-7DB4-464B-A35B-5DC747481B2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AC603D78-1D77-4183-A337-8392EF7A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1CD0283-9DB9-451C-9168-2674D09428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BF46E84-8B19-4BD0-BF27-BE604EFF8D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69F689D-B596-43B8-91B8-3AD02FD601C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9A68255A-444B-4C3D-9056-8BB9A16F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0245116-7CF8-4254-9FCD-000D9D5ED9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7D16434-D09D-43BF-BE74-BE117912061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0bba1a9b6314d8c" /><Relationship Type="http://schemas.openxmlformats.org/officeDocument/2006/relationships/slideLayout" Target="/ppt/slideLayouts/slideLayout1.xml" Id="R7ab848ce7f9347f3" /><Relationship Type="http://schemas.openxmlformats.org/officeDocument/2006/relationships/slideLayout" Target="/ppt/slideLayouts/slideLayout2.xml" Id="Rf5116743821a421c" /><Relationship Type="http://schemas.openxmlformats.org/officeDocument/2006/relationships/slideLayout" Target="/ppt/slideLayouts/slideLayout3.xml" Id="R59fdea918b4241b4" /><Relationship Type="http://schemas.openxmlformats.org/officeDocument/2006/relationships/slideLayout" Target="/ppt/slideLayouts/slideLayout4.xml" Id="Re62d4fb63ffe45dd" /><Relationship Type="http://schemas.openxmlformats.org/officeDocument/2006/relationships/slideLayout" Target="/ppt/slideLayouts/slideLayout5.xml" Id="Re757198fbc594762" /><Relationship Type="http://schemas.openxmlformats.org/officeDocument/2006/relationships/slideLayout" Target="/ppt/slideLayouts/slideLayout6.xml" Id="R8928a699e13e400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b848ce7f9347f3"/>
    <p:sldLayoutId xmlns:r="http://schemas.openxmlformats.org/officeDocument/2006/relationships" id="2147483650" r:id="Rf5116743821a421c"/>
    <p:sldLayoutId xmlns:r="http://schemas.openxmlformats.org/officeDocument/2006/relationships" id="2147483651" r:id="R59fdea918b4241b4"/>
    <p:sldLayoutId xmlns:r="http://schemas.openxmlformats.org/officeDocument/2006/relationships" id="2147483652" r:id="Re62d4fb63ffe45dd"/>
    <p:sldLayoutId xmlns:r="http://schemas.openxmlformats.org/officeDocument/2006/relationships" id="2147483653" r:id="Re757198fbc594762"/>
    <p:sldLayoutId xmlns:r="http://schemas.openxmlformats.org/officeDocument/2006/relationships" id="2147483654" r:id="R8928a699e13e400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b3f001d3df456c" /><Relationship Type="http://schemas.openxmlformats.org/officeDocument/2006/relationships/image" Target="/ppt/media/image.jpg" Id="R209b0b10002c4a6a" /><Relationship Type="http://schemas.openxmlformats.org/officeDocument/2006/relationships/notesSlide" Target="/ppt/notesSlides/notesSlide1.xml" Id="R188c33ac74ba4a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14ba4f08264ed6" /><Relationship Type="http://schemas.openxmlformats.org/officeDocument/2006/relationships/image" Target="/ppt/media/image2.jpg" Id="Re73bb9c5dc1e402c" /><Relationship Type="http://schemas.openxmlformats.org/officeDocument/2006/relationships/notesSlide" Target="/ppt/notesSlides/notesSlide2.xml" Id="Ra6ad0a6ad21c488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98e4684a644fd7" /><Relationship Type="http://schemas.openxmlformats.org/officeDocument/2006/relationships/image" Target="/ppt/media/image3.jpg" Id="R537500afbaab4170" /><Relationship Type="http://schemas.openxmlformats.org/officeDocument/2006/relationships/notesSlide" Target="/ppt/notesSlides/notesSlide3.xml" Id="R701338e53157446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678163024a4747" /><Relationship Type="http://schemas.openxmlformats.org/officeDocument/2006/relationships/image" Target="/ppt/media/image4.jpg" Id="R081127e4790843d5" /><Relationship Type="http://schemas.openxmlformats.org/officeDocument/2006/relationships/notesSlide" Target="/ppt/notesSlides/notesSlide4.xml" Id="Ra7d3dd5d1ede40e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8d8da819564287" /><Relationship Type="http://schemas.openxmlformats.org/officeDocument/2006/relationships/image" Target="/ppt/media/image5.jpg" Id="Re23c8ad6af3c4c99" /><Relationship Type="http://schemas.openxmlformats.org/officeDocument/2006/relationships/notesSlide" Target="/ppt/notesSlides/notesSlide5.xml" Id="R7f2f746d838e451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4a19065f114fcf" /><Relationship Type="http://schemas.openxmlformats.org/officeDocument/2006/relationships/image" Target="/ppt/media/image6.jpg" Id="R09d9c974cec94e7d" /><Relationship Type="http://schemas.openxmlformats.org/officeDocument/2006/relationships/notesSlide" Target="/ppt/notesSlides/notesSlide6.xml" Id="R8c87d6e3fde6493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7e63c201b84831" /><Relationship Type="http://schemas.openxmlformats.org/officeDocument/2006/relationships/image" Target="/ppt/media/image7.jpg" Id="R65017d3f293a4bf8" /><Relationship Type="http://schemas.openxmlformats.org/officeDocument/2006/relationships/notesSlide" Target="/ppt/notesSlides/notesSlide7.xml" Id="R4ed0787c8e65477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f5a7be986a436b" /><Relationship Type="http://schemas.openxmlformats.org/officeDocument/2006/relationships/image" Target="/ppt/media/image8.jpg" Id="Rae727ecccb1c41fb" /><Relationship Type="http://schemas.openxmlformats.org/officeDocument/2006/relationships/notesSlide" Target="/ppt/notesSlides/notesSlide8.xml" Id="R4a060ed913f3426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7110f23de24559" /><Relationship Type="http://schemas.openxmlformats.org/officeDocument/2006/relationships/image" Target="/ppt/media/image9.jpg" Id="R34f4a544e7f34b6c" /><Relationship Type="http://schemas.openxmlformats.org/officeDocument/2006/relationships/notesSlide" Target="/ppt/notesSlides/notesSlide9.xml" Id="R8ce70cb331dd46f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c7eba70ec34aa2" /><Relationship Type="http://schemas.openxmlformats.org/officeDocument/2006/relationships/image" Target="/ppt/media/image10.jpg" Id="R5982702b70d54cb7" /><Relationship Type="http://schemas.openxmlformats.org/officeDocument/2006/relationships/notesSlide" Target="/ppt/notesSlides/notesSlide10.xml" Id="R2c8b8925d2bd418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9c4044698d47b1" /><Relationship Type="http://schemas.openxmlformats.org/officeDocument/2006/relationships/image" Target="/ppt/media/image11.jpg" Id="R40da117e63624679" /><Relationship Type="http://schemas.openxmlformats.org/officeDocument/2006/relationships/notesSlide" Target="/ppt/notesSlides/notesSlide11.xml" Id="R9e5583c67b50490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c6489b02f04678" /><Relationship Type="http://schemas.openxmlformats.org/officeDocument/2006/relationships/image" Target="/ppt/media/image12.jpg" Id="R63ae27cca99643a3" /><Relationship Type="http://schemas.openxmlformats.org/officeDocument/2006/relationships/notesSlide" Target="/ppt/notesSlides/notesSlide12.xml" Id="R32c5ec2e54c843a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6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434420-D8D5-4368-B2EB-089ECF3C6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67047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967047"/>
                </a:solidFill>
                <a:latin typeface="DejaVu Sans"/>
                <a:ea typeface="DejaVu Sans"/>
                <a:cs typeface="DejaVu Sans"/>
              </a:rPr>
              <a:t>Ин. 13:1–17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2160B6-FE70-4D57-AEE6-B6963251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46101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025" b="1">
                <a:solidFill>
                  <a:srgbClr val="233E48"/>
                </a:solidFill>
                <a:latin typeface="DejaVu Sans"/>
                <a:ea typeface="DejaVu Sans"/>
                <a:cs typeface="DejaVu Sans"/>
              </a:defRPr>
            </a:pPr>
            <a:r>
              <a:rPr sz="5025" b="1">
                <a:solidFill>
                  <a:srgbClr val="233E48"/>
                </a:solidFill>
                <a:latin typeface="DejaVu Sans"/>
                <a:ea typeface="DejaVu Sans"/>
                <a:cs typeface="DejaVu Sans"/>
              </a:rPr>
              <a:t>Кто самый</a:t>
            </a:r>
          </a:p>
          <a:p xmlns:a="http://schemas.openxmlformats.org/drawingml/2006/main">
            <a:pPr>
              <a:defRPr sz="5025" b="1">
                <a:solidFill>
                  <a:srgbClr val="233E48"/>
                </a:solidFill>
                <a:latin typeface="DejaVu Sans"/>
                <a:ea typeface="DejaVu Sans"/>
                <a:cs typeface="DejaVu Sans"/>
              </a:defRPr>
            </a:pPr>
            <a:r>
              <a:rPr sz="5025" b="1">
                <a:solidFill>
                  <a:srgbClr val="233E48"/>
                </a:solidFill>
                <a:latin typeface="DejaVu Sans"/>
                <a:ea typeface="DejaVu Sans"/>
                <a:cs typeface="DejaVu Sans"/>
              </a:rPr>
              <a:t>главный?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E75D03-FAF9-4E55-BEEE-CA4B5AD5D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00400"/>
            <a:ext cx="4572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3F555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3F555B"/>
                </a:solidFill>
                <a:latin typeface="DejaVu Sans"/>
                <a:ea typeface="DejaVu Sans"/>
                <a:cs typeface="DejaVu Sans"/>
              </a:rPr>
              <a:t>Лидерство и служение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9b0b10002c4a6a"/>
          <a:stretch xmlns:a="http://schemas.openxmlformats.org/drawingml/2006/main"/>
        </p:blipFill>
        <p:spPr>
          <a:xfrm xmlns:a="http://schemas.openxmlformats.org/drawingml/2006/main">
            <a:off x="5410200" y="1506386"/>
            <a:ext cx="6324600" cy="3559479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CAEC47-9B3F-42CE-A787-7D1EBACF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334000"/>
            <a:ext cx="62293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82553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825534"/>
                </a:solidFill>
                <a:latin typeface="DejaVu Sans"/>
                <a:ea typeface="DejaVu Sans"/>
                <a:cs typeface="DejaVu Sans"/>
              </a:rPr>
              <a:t>Сегодня проверим, что значит быть главным.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FD9C41-D187-4AE1-A1F1-986B9A71F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103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8D9692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8D9692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113341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6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A6522D-1920-4651-9F13-48863D474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67047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967047"/>
                </a:solidFill>
                <a:latin typeface="DejaVu Sans"/>
                <a:ea typeface="DejaVu Sans"/>
                <a:cs typeface="DejaVu Sans"/>
              </a:rPr>
              <a:t>Первый выбор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F04CC0-2676-4052-94DD-21E43C52F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46101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825" b="1">
                <a:solidFill>
                  <a:srgbClr val="233E48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233E48"/>
                </a:solidFill>
                <a:latin typeface="DejaVu Sans"/>
                <a:ea typeface="DejaVu Sans"/>
                <a:cs typeface="DejaVu Sans"/>
              </a:rPr>
              <a:t>Кому доверим</a:t>
            </a:r>
          </a:p>
          <a:p xmlns:a="http://schemas.openxmlformats.org/drawingml/2006/main">
            <a:pPr>
              <a:defRPr sz="3825" b="1">
                <a:solidFill>
                  <a:srgbClr val="233E48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233E48"/>
                </a:solidFill>
                <a:latin typeface="DejaVu Sans"/>
                <a:ea typeface="DejaVu Sans"/>
                <a:cs typeface="DejaVu Sans"/>
              </a:rPr>
              <a:t>команду?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D9A62C-3C2B-4199-9400-A55AB30E1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00400"/>
            <a:ext cx="4572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F555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3F555B"/>
                </a:solidFill>
                <a:latin typeface="DejaVu Sans"/>
                <a:ea typeface="DejaVu Sans"/>
                <a:cs typeface="DejaVu Sans"/>
              </a:rPr>
              <a:t>А  Быстро решает</a:t>
            </a:r>
          </a:p>
          <a:p xmlns:a="http://schemas.openxmlformats.org/drawingml/2006/main">
            <a:pPr>
              <a:defRPr sz="2100" b="0">
                <a:solidFill>
                  <a:srgbClr val="3F555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3F555B"/>
                </a:solidFill>
                <a:latin typeface="DejaVu Sans"/>
                <a:ea typeface="DejaVu Sans"/>
                <a:cs typeface="DejaVu Sans"/>
              </a:rPr>
              <a:t>Б  Умеет слушать</a:t>
            </a:r>
          </a:p>
          <a:p xmlns:a="http://schemas.openxmlformats.org/drawingml/2006/main">
            <a:pPr>
              <a:defRPr sz="2100" b="0">
                <a:solidFill>
                  <a:srgbClr val="3F555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3F555B"/>
                </a:solidFill>
                <a:latin typeface="DejaVu Sans"/>
                <a:ea typeface="DejaVu Sans"/>
                <a:cs typeface="DejaVu Sans"/>
              </a:rPr>
              <a:t>В  Лучше всех умеет</a:t>
            </a:r>
          </a:p>
          <a:p xmlns:a="http://schemas.openxmlformats.org/drawingml/2006/main">
            <a:pPr>
              <a:defRPr sz="2100" b="0">
                <a:solidFill>
                  <a:srgbClr val="3F555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3F555B"/>
                </a:solidFill>
                <a:latin typeface="DejaVu Sans"/>
                <a:ea typeface="DejaVu Sans"/>
                <a:cs typeface="DejaVu Sans"/>
              </a:rPr>
              <a:t>Г  Берёт ответственность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3bb9c5dc1e402c"/>
          <a:stretch xmlns:a="http://schemas.openxmlformats.org/drawingml/2006/main"/>
        </p:blipFill>
        <p:spPr>
          <a:xfrm xmlns:a="http://schemas.openxmlformats.org/drawingml/2006/main">
            <a:off x="5410200" y="1506386"/>
            <a:ext cx="6324600" cy="3559479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1C8021-B64B-4C60-BAD3-9A8EE3EF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334000"/>
            <a:ext cx="62293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82553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825534"/>
                </a:solidFill>
                <a:latin typeface="DejaVu Sans"/>
                <a:ea typeface="DejaVu Sans"/>
                <a:cs typeface="DejaVu Sans"/>
              </a:rPr>
              <a:t>Можно выбрать только одно. Почему?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81A0BC-B188-4E3B-91FA-81BEAB02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103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8D9692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8D9692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019771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6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106EE5-F711-4EF5-A3FA-5CF1CAAA2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67047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967047"/>
                </a:solidFill>
                <a:latin typeface="DejaVu Sans"/>
                <a:ea typeface="DejaVu Sans"/>
                <a:cs typeface="DejaVu Sans"/>
              </a:rPr>
              <a:t>Испытание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0F9147-345B-42EC-AFD8-731F61E0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46101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825" b="1">
                <a:solidFill>
                  <a:srgbClr val="233E48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233E48"/>
                </a:solidFill>
                <a:latin typeface="DejaVu Sans"/>
                <a:ea typeface="DejaVu Sans"/>
                <a:cs typeface="DejaVu Sans"/>
              </a:rPr>
              <a:t>Мост для всей</a:t>
            </a:r>
          </a:p>
          <a:p xmlns:a="http://schemas.openxmlformats.org/drawingml/2006/main">
            <a:pPr>
              <a:defRPr sz="3825" b="1">
                <a:solidFill>
                  <a:srgbClr val="233E48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233E48"/>
                </a:solidFill>
                <a:latin typeface="DejaVu Sans"/>
                <a:ea typeface="DejaVu Sans"/>
                <a:cs typeface="DejaVu Sans"/>
              </a:rPr>
              <a:t>команды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66F152-1C0D-46D1-91AD-2D7012E88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00400"/>
            <a:ext cx="4572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3F555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3F555B"/>
                </a:solidFill>
                <a:latin typeface="DejaVu Sans"/>
                <a:ea typeface="DejaVu Sans"/>
                <a:cs typeface="DejaVu Sans"/>
              </a:rPr>
              <a:t>2 листа и 30 см скотча</a:t>
            </a:r>
          </a:p>
          <a:p xmlns:a="http://schemas.openxmlformats.org/drawingml/2006/main">
            <a:pPr>
              <a:defRPr sz="2325" b="0">
                <a:solidFill>
                  <a:srgbClr val="3F555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3F555B"/>
                </a:solidFill>
                <a:latin typeface="DejaVu Sans"/>
                <a:ea typeface="DejaVu Sans"/>
                <a:cs typeface="DejaVu Sans"/>
              </a:rPr>
              <a:t>Пролёт 15 см</a:t>
            </a:r>
          </a:p>
          <a:p xmlns:a="http://schemas.openxmlformats.org/drawingml/2006/main">
            <a:pPr>
              <a:defRPr sz="2325" b="0">
                <a:solidFill>
                  <a:srgbClr val="3F555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3F555B"/>
                </a:solidFill>
                <a:latin typeface="DejaVu Sans"/>
                <a:ea typeface="DejaVu Sans"/>
                <a:cs typeface="DejaVu Sans"/>
              </a:rPr>
              <a:t>Одна фишка на 5 секунд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7500afbaab4170"/>
          <a:stretch xmlns:a="http://schemas.openxmlformats.org/drawingml/2006/main"/>
        </p:blipFill>
        <p:spPr>
          <a:xfrm xmlns:a="http://schemas.openxmlformats.org/drawingml/2006/main">
            <a:off x="5410200" y="1506386"/>
            <a:ext cx="6324600" cy="3559479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887747-D1C9-4047-ACAB-0D6C9141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334000"/>
            <a:ext cx="62293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82553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825534"/>
                </a:solidFill>
                <a:latin typeface="DejaVu Sans"/>
                <a:ea typeface="DejaVu Sans"/>
                <a:cs typeface="DejaVu Sans"/>
              </a:rPr>
              <a:t>На строительство — 3 минуты.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C93B1D-B5C8-4FE1-8633-8CBA0C413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103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8D9692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8D9692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516917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6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937F71-FF5D-4316-8446-B1649AC56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67047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967047"/>
                </a:solidFill>
                <a:latin typeface="DejaVu Sans"/>
                <a:ea typeface="DejaVu Sans"/>
                <a:cs typeface="DejaVu Sans"/>
              </a:rPr>
              <a:t>Неожиданное условие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F80CA3-1B5A-4E7D-AC66-57055552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46101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825" b="1">
                <a:solidFill>
                  <a:srgbClr val="233E48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233E48"/>
                </a:solidFill>
                <a:latin typeface="DejaVu Sans"/>
                <a:ea typeface="DejaVu Sans"/>
                <a:cs typeface="DejaVu Sans"/>
              </a:rPr>
              <a:t>На мосту ещё</a:t>
            </a:r>
          </a:p>
          <a:p xmlns:a="http://schemas.openxmlformats.org/drawingml/2006/main">
            <a:pPr>
              <a:defRPr sz="3825" b="1">
                <a:solidFill>
                  <a:srgbClr val="233E48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233E48"/>
                </a:solidFill>
                <a:latin typeface="DejaVu Sans"/>
                <a:ea typeface="DejaVu Sans"/>
                <a:cs typeface="DejaVu Sans"/>
              </a:rPr>
              <a:t>один человек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614BB0-AB10-45F4-B49C-43C734ACB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00400"/>
            <a:ext cx="4572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3F555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3F555B"/>
                </a:solidFill>
                <a:latin typeface="DejaVu Sans"/>
                <a:ea typeface="DejaVu Sans"/>
                <a:cs typeface="DejaVu Sans"/>
              </a:rPr>
              <a:t>Теперь две фишки</a:t>
            </a:r>
          </a:p>
          <a:p xmlns:a="http://schemas.openxmlformats.org/drawingml/2006/main">
            <a:pPr>
              <a:defRPr sz="2325" b="0">
                <a:solidFill>
                  <a:srgbClr val="3F555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3F555B"/>
                </a:solidFill>
                <a:latin typeface="DejaVu Sans"/>
                <a:ea typeface="DejaVu Sans"/>
                <a:cs typeface="DejaVu Sans"/>
              </a:rPr>
              <a:t>Тот же материал</a:t>
            </a:r>
          </a:p>
          <a:p xmlns:a="http://schemas.openxmlformats.org/drawingml/2006/main">
            <a:pPr>
              <a:defRPr sz="2325" b="0">
                <a:solidFill>
                  <a:srgbClr val="3F555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3F555B"/>
                </a:solidFill>
                <a:latin typeface="DejaVu Sans"/>
                <a:ea typeface="DejaVu Sans"/>
                <a:cs typeface="DejaVu Sans"/>
              </a:rPr>
              <a:t>Ещё 90 секунд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1127e4790843d5"/>
          <a:stretch xmlns:a="http://schemas.openxmlformats.org/drawingml/2006/main"/>
        </p:blipFill>
        <p:spPr>
          <a:xfrm xmlns:a="http://schemas.openxmlformats.org/drawingml/2006/main">
            <a:off x="5410200" y="1506386"/>
            <a:ext cx="6324600" cy="3559479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7A6529-F9BD-4844-A1AA-50D245C94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334000"/>
            <a:ext cx="62293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82553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825534"/>
                </a:solidFill>
                <a:latin typeface="DejaVu Sans"/>
                <a:ea typeface="DejaVu Sans"/>
                <a:cs typeface="DejaVu Sans"/>
              </a:rPr>
              <a:t>Что изменится в вашей работе?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81639D-AB77-4968-8AF4-3C22173B6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103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8D9692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8D9692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723525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6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09FAF3-BB1D-46EB-A022-14EEFC415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67047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967047"/>
                </a:solidFill>
                <a:latin typeface="DejaVu Sans"/>
                <a:ea typeface="DejaVu Sans"/>
                <a:cs typeface="DejaVu Sans"/>
              </a:rPr>
              <a:t>Разбор игры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A4CC8A-29FA-4239-A3ED-943608440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46101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825" b="1">
                <a:solidFill>
                  <a:srgbClr val="233E48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233E48"/>
                </a:solidFill>
                <a:latin typeface="DejaVu Sans"/>
                <a:ea typeface="DejaVu Sans"/>
                <a:cs typeface="DejaVu Sans"/>
              </a:rPr>
              <a:t>Кто помог</a:t>
            </a:r>
          </a:p>
          <a:p xmlns:a="http://schemas.openxmlformats.org/drawingml/2006/main">
            <a:pPr>
              <a:defRPr sz="3825" b="1">
                <a:solidFill>
                  <a:srgbClr val="233E48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233E48"/>
                </a:solidFill>
                <a:latin typeface="DejaVu Sans"/>
                <a:ea typeface="DejaVu Sans"/>
                <a:cs typeface="DejaVu Sans"/>
              </a:rPr>
              <a:t>общему делу?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3B5EA6-1C39-4628-82B0-82A662167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00400"/>
            <a:ext cx="4572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3F555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3F555B"/>
                </a:solidFill>
                <a:latin typeface="DejaVu Sans"/>
                <a:ea typeface="DejaVu Sans"/>
                <a:cs typeface="DejaVu Sans"/>
              </a:rPr>
              <a:t>Какое действие помогло?</a:t>
            </a:r>
          </a:p>
          <a:p xmlns:a="http://schemas.openxmlformats.org/drawingml/2006/main">
            <a:pPr>
              <a:defRPr sz="2325" b="0">
                <a:solidFill>
                  <a:srgbClr val="3F555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3F555B"/>
                </a:solidFill>
                <a:latin typeface="DejaVu Sans"/>
                <a:ea typeface="DejaVu Sans"/>
                <a:cs typeface="DejaVu Sans"/>
              </a:rPr>
              <a:t>Кого услышали?</a:t>
            </a:r>
          </a:p>
          <a:p xmlns:a="http://schemas.openxmlformats.org/drawingml/2006/main">
            <a:pPr>
              <a:defRPr sz="2325" b="0">
                <a:solidFill>
                  <a:srgbClr val="3F555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3F555B"/>
                </a:solidFill>
                <a:latin typeface="DejaVu Sans"/>
                <a:ea typeface="DejaVu Sans"/>
                <a:cs typeface="DejaVu Sans"/>
              </a:rPr>
              <a:t>Что сделал координатор?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3c8ad6af3c4c99"/>
          <a:stretch xmlns:a="http://schemas.openxmlformats.org/drawingml/2006/main"/>
        </p:blipFill>
        <p:spPr>
          <a:xfrm xmlns:a="http://schemas.openxmlformats.org/drawingml/2006/main">
            <a:off x="5410200" y="1506386"/>
            <a:ext cx="6324600" cy="3559479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31938A-DDA2-4974-835B-09BD39A8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334000"/>
            <a:ext cx="62293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82553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825534"/>
                </a:solidFill>
                <a:latin typeface="DejaVu Sans"/>
                <a:ea typeface="DejaVu Sans"/>
                <a:cs typeface="DejaVu Sans"/>
              </a:rPr>
              <a:t>Говорим о поступках, без рейтинга людей.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A5973B-3354-4A13-8736-FD33154C3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103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8D9692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8D9692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652416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6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9DFE84-9AAA-4036-9A89-9100CD83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67047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967047"/>
                </a:solidFill>
                <a:latin typeface="DejaVu Sans"/>
                <a:ea typeface="DejaVu Sans"/>
                <a:cs typeface="DejaVu Sans"/>
              </a:rPr>
              <a:t>Читаем Евангелие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FC3241-E752-4149-B9AC-A748667A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46101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825" b="1">
                <a:solidFill>
                  <a:srgbClr val="233E48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233E48"/>
                </a:solidFill>
                <a:latin typeface="DejaVu Sans"/>
                <a:ea typeface="DejaVu Sans"/>
                <a:cs typeface="DejaVu Sans"/>
              </a:rPr>
              <a:t>Учитель берёт</a:t>
            </a:r>
          </a:p>
          <a:p xmlns:a="http://schemas.openxmlformats.org/drawingml/2006/main">
            <a:pPr>
              <a:defRPr sz="3825" b="1">
                <a:solidFill>
                  <a:srgbClr val="233E48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233E48"/>
                </a:solidFill>
                <a:latin typeface="DejaVu Sans"/>
                <a:ea typeface="DejaVu Sans"/>
                <a:cs typeface="DejaVu Sans"/>
              </a:rPr>
              <a:t>полотенце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5F5B4D-E2DD-4100-8DB0-EFED79EF2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00400"/>
            <a:ext cx="4572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3F555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3F555B"/>
                </a:solidFill>
                <a:latin typeface="DejaVu Sans"/>
                <a:ea typeface="DejaVu Sans"/>
                <a:cs typeface="DejaVu Sans"/>
              </a:rPr>
              <a:t>Ин. 13:1–17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d9c974cec94e7d"/>
          <a:stretch xmlns:a="http://schemas.openxmlformats.org/drawingml/2006/main"/>
        </p:blipFill>
        <p:spPr>
          <a:xfrm xmlns:a="http://schemas.openxmlformats.org/drawingml/2006/main">
            <a:off x="5410200" y="1506386"/>
            <a:ext cx="6324600" cy="3559479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D7A362-FE2A-427E-92D1-C4A016A0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334000"/>
            <a:ext cx="62293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82553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825534"/>
                </a:solidFill>
                <a:latin typeface="DejaVu Sans"/>
                <a:ea typeface="DejaVu Sans"/>
                <a:cs typeface="DejaVu Sans"/>
              </a:rPr>
              <a:t>Что в поступке Христа вас удивляет?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4A8303-0682-4230-9F80-4D681777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103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8D9692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8D9692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1028220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6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6D5368-ABF2-4311-A05C-759A14258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67047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967047"/>
                </a:solidFill>
                <a:latin typeface="DejaVu Sans"/>
                <a:ea typeface="DejaVu Sans"/>
                <a:cs typeface="DejaVu Sans"/>
              </a:rPr>
              <a:t>Разговор в парах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B961C7-E5C0-4C91-9FA8-C15C23020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46101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825" b="1">
                <a:solidFill>
                  <a:srgbClr val="233E48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233E48"/>
                </a:solidFill>
                <a:latin typeface="DejaVu Sans"/>
                <a:ea typeface="DejaVu Sans"/>
                <a:cs typeface="DejaVu Sans"/>
              </a:rPr>
              <a:t>Почему Пётр</a:t>
            </a:r>
          </a:p>
          <a:p xmlns:a="http://schemas.openxmlformats.org/drawingml/2006/main">
            <a:pPr>
              <a:defRPr sz="3825" b="1">
                <a:solidFill>
                  <a:srgbClr val="233E48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233E48"/>
                </a:solidFill>
                <a:latin typeface="DejaVu Sans"/>
                <a:ea typeface="DejaVu Sans"/>
                <a:cs typeface="DejaVu Sans"/>
              </a:rPr>
              <a:t>возражает?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222BF9-23CC-4F43-A3FA-4EB775F5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00400"/>
            <a:ext cx="4572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3F555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3F555B"/>
                </a:solidFill>
                <a:latin typeface="DejaVu Sans"/>
                <a:ea typeface="DejaVu Sans"/>
                <a:cs typeface="DejaVu Sans"/>
              </a:rPr>
              <a:t>«Господи! Тебе ли</a:t>
            </a:r>
          </a:p>
          <a:p xmlns:a="http://schemas.openxmlformats.org/drawingml/2006/main">
            <a:pPr>
              <a:defRPr sz="2325" b="0">
                <a:solidFill>
                  <a:srgbClr val="3F555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3F555B"/>
                </a:solidFill>
                <a:latin typeface="DejaVu Sans"/>
                <a:ea typeface="DejaVu Sans"/>
                <a:cs typeface="DejaVu Sans"/>
              </a:rPr>
              <a:t>умывать мои ноги?»</a:t>
            </a:r>
          </a:p>
          <a:p xmlns:a="http://schemas.openxmlformats.org/drawingml/2006/main">
            <a:pPr>
              <a:defRPr sz="2325" b="0">
                <a:solidFill>
                  <a:srgbClr val="3F555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3F555B"/>
                </a:solidFill>
                <a:latin typeface="DejaVu Sans"/>
                <a:ea typeface="DejaVu Sans"/>
                <a:cs typeface="DejaVu Sans"/>
              </a:rPr>
              <a:t>Ин. 13:6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017d3f293a4bf8"/>
          <a:stretch xmlns:a="http://schemas.openxmlformats.org/drawingml/2006/main"/>
        </p:blipFill>
        <p:spPr>
          <a:xfrm xmlns:a="http://schemas.openxmlformats.org/drawingml/2006/main">
            <a:off x="5410200" y="1506386"/>
            <a:ext cx="6324600" cy="3559479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544B49-5605-4AB7-B27C-5E845C84A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334000"/>
            <a:ext cx="62293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82553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825534"/>
                </a:solidFill>
                <a:latin typeface="DejaVu Sans"/>
                <a:ea typeface="DejaVu Sans"/>
                <a:cs typeface="DejaVu Sans"/>
              </a:rPr>
              <a:t>Легко ли самому принять помощь?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4DC129-34A3-4AD5-9A41-9AA204D3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103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8D9692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8D9692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765350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6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060977-0EDB-4B1F-BF6B-4D181780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67047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967047"/>
                </a:solidFill>
                <a:latin typeface="DejaVu Sans"/>
                <a:ea typeface="DejaVu Sans"/>
                <a:cs typeface="DejaVu Sans"/>
              </a:rPr>
              <a:t>Ин. 13:15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F91886-4249-469F-B1D1-D4790E171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46101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825" b="1">
                <a:solidFill>
                  <a:srgbClr val="233E48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233E48"/>
                </a:solidFill>
                <a:latin typeface="DejaVu Sans"/>
                <a:ea typeface="DejaVu Sans"/>
                <a:cs typeface="DejaVu Sans"/>
              </a:rPr>
              <a:t>«Я дал</a:t>
            </a:r>
          </a:p>
          <a:p xmlns:a="http://schemas.openxmlformats.org/drawingml/2006/main">
            <a:pPr>
              <a:defRPr sz="3825" b="1">
                <a:solidFill>
                  <a:srgbClr val="233E48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233E48"/>
                </a:solidFill>
                <a:latin typeface="DejaVu Sans"/>
                <a:ea typeface="DejaVu Sans"/>
                <a:cs typeface="DejaVu Sans"/>
              </a:rPr>
              <a:t>вам пример»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B057DC-6018-4903-8B3A-5A30CF007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00400"/>
            <a:ext cx="4572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3F555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3F555B"/>
                </a:solidFill>
                <a:latin typeface="DejaVu Sans"/>
                <a:ea typeface="DejaVu Sans"/>
                <a:cs typeface="DejaVu Sans"/>
              </a:rPr>
              <a:t>Христос остаётся</a:t>
            </a:r>
          </a:p>
          <a:p xmlns:a="http://schemas.openxmlformats.org/drawingml/2006/main">
            <a:pPr>
              <a:defRPr sz="2325" b="0">
                <a:solidFill>
                  <a:srgbClr val="3F555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3F555B"/>
                </a:solidFill>
                <a:latin typeface="DejaVu Sans"/>
                <a:ea typeface="DejaVu Sans"/>
                <a:cs typeface="DejaVu Sans"/>
              </a:rPr>
              <a:t>Учителем и Господом.</a:t>
            </a:r>
          </a:p>
          <a:p xmlns:a="http://schemas.openxmlformats.org/drawingml/2006/main">
            <a:pPr>
              <a:defRPr sz="2325" b="0">
                <a:solidFill>
                  <a:srgbClr val="3F555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3F555B"/>
                </a:solidFill>
                <a:latin typeface="DejaVu Sans"/>
                <a:ea typeface="DejaVu Sans"/>
                <a:cs typeface="DejaVu Sans"/>
              </a:rPr>
              <a:t>И Сам служит ученикам.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727ecccb1c41fb"/>
          <a:stretch xmlns:a="http://schemas.openxmlformats.org/drawingml/2006/main"/>
        </p:blipFill>
        <p:spPr>
          <a:xfrm xmlns:a="http://schemas.openxmlformats.org/drawingml/2006/main">
            <a:off x="5410200" y="1506386"/>
            <a:ext cx="6324600" cy="3559479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351985-1765-48E3-9CAC-B8774840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334000"/>
            <a:ext cx="62293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82553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825534"/>
                </a:solidFill>
                <a:latin typeface="DejaVu Sans"/>
                <a:ea typeface="DejaVu Sans"/>
                <a:cs typeface="DejaVu Sans"/>
              </a:rPr>
              <a:t>Какой пример Он предлагает нам?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C99CA9-B944-4DA9-9CA4-77A20B1A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103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8D9692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8D9692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434181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6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7B108A-A368-42AD-9F72-5684EA3F1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67047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967047"/>
                </a:solidFill>
                <a:latin typeface="DejaVu Sans"/>
                <a:ea typeface="DejaVu Sans"/>
                <a:cs typeface="DejaVu Sans"/>
              </a:rPr>
              <a:t>Сценки с выбором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A0C0DC-A72C-46FC-88AB-D8403AFA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4610100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825" b="1">
                <a:solidFill>
                  <a:srgbClr val="233E48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233E48"/>
                </a:solidFill>
                <a:latin typeface="DejaVu Sans"/>
                <a:ea typeface="DejaVu Sans"/>
                <a:cs typeface="DejaVu Sans"/>
              </a:rPr>
              <a:t>Стоп-кадр:</a:t>
            </a:r>
          </a:p>
          <a:p xmlns:a="http://schemas.openxmlformats.org/drawingml/2006/main">
            <a:pPr>
              <a:defRPr sz="3825" b="1">
                <a:solidFill>
                  <a:srgbClr val="233E48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233E48"/>
                </a:solidFill>
                <a:latin typeface="DejaVu Sans"/>
                <a:ea typeface="DejaVu Sans"/>
                <a:cs typeface="DejaVu Sans"/>
              </a:rPr>
              <a:t>теперь</a:t>
            </a:r>
          </a:p>
          <a:p xmlns:a="http://schemas.openxmlformats.org/drawingml/2006/main">
            <a:pPr>
              <a:defRPr sz="3825" b="1">
                <a:solidFill>
                  <a:srgbClr val="233E48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233E48"/>
                </a:solidFill>
                <a:latin typeface="DejaVu Sans"/>
                <a:ea typeface="DejaVu Sans"/>
                <a:cs typeface="DejaVu Sans"/>
              </a:rPr>
              <a:t>решаешь ты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04418F-B6FD-47FD-8F38-9BC3F90D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0"/>
            <a:ext cx="4572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3F555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3F555B"/>
                </a:solidFill>
                <a:latin typeface="DejaVu Sans"/>
                <a:ea typeface="DejaVu Sans"/>
                <a:cs typeface="DejaVu Sans"/>
              </a:rPr>
              <a:t>Праздник закончился.</a:t>
            </a:r>
          </a:p>
          <a:p xmlns:a="http://schemas.openxmlformats.org/drawingml/2006/main">
            <a:pPr>
              <a:defRPr sz="2325" b="0">
                <a:solidFill>
                  <a:srgbClr val="3F555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3F555B"/>
                </a:solidFill>
                <a:latin typeface="DejaVu Sans"/>
                <a:ea typeface="DejaVu Sans"/>
                <a:cs typeface="DejaVu Sans"/>
              </a:rPr>
              <a:t>Все хотят на общее фото.</a:t>
            </a:r>
          </a:p>
          <a:p xmlns:a="http://schemas.openxmlformats.org/drawingml/2006/main">
            <a:pPr>
              <a:defRPr sz="2325" b="0">
                <a:solidFill>
                  <a:srgbClr val="3F555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3F555B"/>
                </a:solidFill>
                <a:latin typeface="DejaVu Sans"/>
                <a:ea typeface="DejaVu Sans"/>
                <a:cs typeface="DejaVu Sans"/>
              </a:rPr>
              <a:t>Кто уберёт материалы?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f4a544e7f34b6c"/>
          <a:stretch xmlns:a="http://schemas.openxmlformats.org/drawingml/2006/main"/>
        </p:blipFill>
        <p:spPr>
          <a:xfrm xmlns:a="http://schemas.openxmlformats.org/drawingml/2006/main">
            <a:off x="5410200" y="1506386"/>
            <a:ext cx="6324600" cy="3559479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01E18A-61AE-4170-BBD0-07E7C69F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334000"/>
            <a:ext cx="62293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82553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825534"/>
                </a:solidFill>
                <a:latin typeface="DejaVu Sans"/>
                <a:ea typeface="DejaVu Sans"/>
                <a:cs typeface="DejaVu Sans"/>
              </a:rPr>
              <a:t>Что скажет и сделает руководитель?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08222E-727F-445D-8614-232B2B154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103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8D9692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8D9692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800093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6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D9378C-C83A-4674-B5BD-6D8666BD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67047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967047"/>
                </a:solidFill>
                <a:latin typeface="DejaVu Sans"/>
                <a:ea typeface="DejaVu Sans"/>
                <a:cs typeface="DejaVu Sans"/>
              </a:rPr>
              <a:t>Переигрываем решение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911FD0-BB69-447B-B3D4-A488FE87E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46101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825" b="1">
                <a:solidFill>
                  <a:srgbClr val="233E48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233E48"/>
                </a:solidFill>
                <a:latin typeface="DejaVu Sans"/>
                <a:ea typeface="DejaVu Sans"/>
                <a:cs typeface="DejaVu Sans"/>
              </a:rPr>
              <a:t>Ту же сцену</a:t>
            </a:r>
          </a:p>
          <a:p xmlns:a="http://schemas.openxmlformats.org/drawingml/2006/main">
            <a:pPr>
              <a:defRPr sz="3825" b="1">
                <a:solidFill>
                  <a:srgbClr val="233E48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233E48"/>
                </a:solidFill>
                <a:latin typeface="DejaVu Sans"/>
                <a:ea typeface="DejaVu Sans"/>
                <a:cs typeface="DejaVu Sans"/>
              </a:rPr>
              <a:t>можно изменить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0FB403-B264-41F7-88DD-E68B78149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00400"/>
            <a:ext cx="4572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3F555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3F555B"/>
                </a:solidFill>
                <a:latin typeface="DejaVu Sans"/>
                <a:ea typeface="DejaVu Sans"/>
                <a:cs typeface="DejaVu Sans"/>
              </a:rPr>
              <a:t>Одна новая фраза</a:t>
            </a:r>
          </a:p>
          <a:p xmlns:a="http://schemas.openxmlformats.org/drawingml/2006/main">
            <a:pPr>
              <a:defRPr sz="2325" b="0">
                <a:solidFill>
                  <a:srgbClr val="3F555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3F555B"/>
                </a:solidFill>
                <a:latin typeface="DejaVu Sans"/>
                <a:ea typeface="DejaVu Sans"/>
                <a:cs typeface="DejaVu Sans"/>
              </a:rPr>
              <a:t>Одно новое действие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82702b70d54cb7"/>
          <a:stretch xmlns:a="http://schemas.openxmlformats.org/drawingml/2006/main"/>
        </p:blipFill>
        <p:spPr>
          <a:xfrm xmlns:a="http://schemas.openxmlformats.org/drawingml/2006/main">
            <a:off x="5410200" y="1506386"/>
            <a:ext cx="6324600" cy="3559479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EF51F6-7BBC-48D1-A754-CBB5104C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334000"/>
            <a:ext cx="62293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82553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825534"/>
                </a:solidFill>
                <a:latin typeface="DejaVu Sans"/>
                <a:ea typeface="DejaVu Sans"/>
                <a:cs typeface="DejaVu Sans"/>
              </a:rPr>
              <a:t>Что изменилось для остальных?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4BAE17-F51F-4C75-B6E3-5773C1011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103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8D9692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8D9692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0939527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6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9A564B-D59C-4AD8-A7E0-421258BBA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67047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967047"/>
                </a:solidFill>
                <a:latin typeface="DejaVu Sans"/>
                <a:ea typeface="DejaVu Sans"/>
                <a:cs typeface="DejaVu Sans"/>
              </a:rPr>
              <a:t>Проверяем смысл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76D344-779B-4E35-9490-DBCD0469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46101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825" b="1">
                <a:solidFill>
                  <a:srgbClr val="233E48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233E48"/>
                </a:solidFill>
                <a:latin typeface="DejaVu Sans"/>
                <a:ea typeface="DejaVu Sans"/>
                <a:cs typeface="DejaVu Sans"/>
              </a:rPr>
              <a:t>Всегда ли</a:t>
            </a:r>
          </a:p>
          <a:p xmlns:a="http://schemas.openxmlformats.org/drawingml/2006/main">
            <a:pPr>
              <a:defRPr sz="3825" b="1">
                <a:solidFill>
                  <a:srgbClr val="233E48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233E48"/>
                </a:solidFill>
                <a:latin typeface="DejaVu Sans"/>
                <a:ea typeface="DejaVu Sans"/>
                <a:cs typeface="DejaVu Sans"/>
              </a:rPr>
              <a:t>соглашаться?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17AE4F-52DC-4934-B461-A74E2807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00400"/>
            <a:ext cx="4572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3F555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3F555B"/>
                </a:solidFill>
                <a:latin typeface="DejaVu Sans"/>
                <a:ea typeface="DejaVu Sans"/>
                <a:cs typeface="DejaVu Sans"/>
              </a:rPr>
              <a:t>«Дай списать».</a:t>
            </a:r>
          </a:p>
          <a:p xmlns:a="http://schemas.openxmlformats.org/drawingml/2006/main">
            <a:pPr>
              <a:defRPr sz="2325" b="0">
                <a:solidFill>
                  <a:srgbClr val="3F555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3F555B"/>
                </a:solidFill>
                <a:latin typeface="DejaVu Sans"/>
                <a:ea typeface="DejaVu Sans"/>
                <a:cs typeface="DejaVu Sans"/>
              </a:rPr>
              <a:t>«Объясни, я не понял».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da117e63624679"/>
          <a:stretch xmlns:a="http://schemas.openxmlformats.org/drawingml/2006/main"/>
        </p:blipFill>
        <p:spPr>
          <a:xfrm xmlns:a="http://schemas.openxmlformats.org/drawingml/2006/main">
            <a:off x="5410200" y="1506386"/>
            <a:ext cx="6324600" cy="3559479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1E5809-8D0B-4436-A9BA-CB91A0FE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334000"/>
            <a:ext cx="62293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82553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825534"/>
                </a:solidFill>
                <a:latin typeface="DejaVu Sans"/>
                <a:ea typeface="DejaVu Sans"/>
                <a:cs typeface="DejaVu Sans"/>
              </a:rPr>
              <a:t>Как помочь человеку стать сильнее?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9EC021-FBF6-4323-9891-9E1EF928F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103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8D9692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8D9692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3538052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6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850591-343E-4B40-B404-F84A17678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67047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967047"/>
                </a:solidFill>
                <a:latin typeface="DejaVu Sans"/>
                <a:ea typeface="DejaVu Sans"/>
                <a:cs typeface="DejaVu Sans"/>
              </a:rPr>
              <a:t>От слов к поступку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67C3F2-F484-4E0D-BAD0-CB1FDE40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4610100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825" b="1">
                <a:solidFill>
                  <a:srgbClr val="233E48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233E48"/>
                </a:solidFill>
                <a:latin typeface="DejaVu Sans"/>
                <a:ea typeface="DejaVu Sans"/>
                <a:cs typeface="DejaVu Sans"/>
              </a:rPr>
              <a:t>Моё дело</a:t>
            </a:r>
          </a:p>
          <a:p xmlns:a="http://schemas.openxmlformats.org/drawingml/2006/main">
            <a:pPr>
              <a:defRPr sz="3825" b="1">
                <a:solidFill>
                  <a:srgbClr val="233E48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233E48"/>
                </a:solidFill>
                <a:latin typeface="DejaVu Sans"/>
                <a:ea typeface="DejaVu Sans"/>
                <a:cs typeface="DejaVu Sans"/>
              </a:rPr>
              <a:t>на ближайший</a:t>
            </a:r>
          </a:p>
          <a:p xmlns:a="http://schemas.openxmlformats.org/drawingml/2006/main">
            <a:pPr>
              <a:defRPr sz="3825" b="1">
                <a:solidFill>
                  <a:srgbClr val="233E48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233E48"/>
                </a:solidFill>
                <a:latin typeface="DejaVu Sans"/>
                <a:ea typeface="DejaVu Sans"/>
                <a:cs typeface="DejaVu Sans"/>
              </a:rPr>
              <a:t>день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186AC7-9D8F-457A-AE52-1C26F5DAA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0"/>
            <a:ext cx="4572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3F555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3F555B"/>
                </a:solidFill>
                <a:latin typeface="DejaVu Sans"/>
                <a:ea typeface="DejaVu Sans"/>
                <a:cs typeface="DejaVu Sans"/>
              </a:rPr>
              <a:t>Кому нужна моя помощь?</a:t>
            </a:r>
          </a:p>
          <a:p xmlns:a="http://schemas.openxmlformats.org/drawingml/2006/main">
            <a:pPr>
              <a:defRPr sz="2325" b="0">
                <a:solidFill>
                  <a:srgbClr val="3F555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3F555B"/>
                </a:solidFill>
                <a:latin typeface="DejaVu Sans"/>
                <a:ea typeface="DejaVu Sans"/>
                <a:cs typeface="DejaVu Sans"/>
              </a:rPr>
              <a:t>Что именно я сделаю?</a:t>
            </a:r>
          </a:p>
          <a:p xmlns:a="http://schemas.openxmlformats.org/drawingml/2006/main">
            <a:pPr>
              <a:defRPr sz="2325" b="0">
                <a:solidFill>
                  <a:srgbClr val="3F555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3F555B"/>
                </a:solidFill>
                <a:latin typeface="DejaVu Sans"/>
                <a:ea typeface="DejaVu Sans"/>
                <a:cs typeface="DejaVu Sans"/>
              </a:rPr>
              <a:t>Когда?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ae27cca99643a3"/>
          <a:stretch xmlns:a="http://schemas.openxmlformats.org/drawingml/2006/main"/>
        </p:blipFill>
        <p:spPr>
          <a:xfrm xmlns:a="http://schemas.openxmlformats.org/drawingml/2006/main">
            <a:off x="5410200" y="1506386"/>
            <a:ext cx="6324600" cy="3559479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29A060-DD3C-46B1-A312-AC4F00A53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334000"/>
            <a:ext cx="62293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82553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825534"/>
                </a:solidFill>
                <a:latin typeface="DejaVu Sans"/>
                <a:ea typeface="DejaVu Sans"/>
                <a:cs typeface="DejaVu Sans"/>
              </a:rPr>
              <a:t>Небольшое дело. Настоящий человек. Конкретное время.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192380-0486-4883-AA78-EE68EAA4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103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8D9692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8D9692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813544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2026-10-03T21:31:10.8340000Z</dcterms:created>
  <dcterms:modified xsi:type="dcterms:W3CDTF">2026-10-03T21:31:10.8340000Z</dcterms:modified>
</coreProperties>
</file>