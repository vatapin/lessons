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9e62f213e14023" /><Relationship Type="http://schemas.openxmlformats.org/officeDocument/2006/relationships/extended-properties" Target="/docProps/app.xml" Id="R8f790f39eaf84b76" /><Relationship Type="http://schemas.openxmlformats.org/officeDocument/2006/relationships/officeDocument" Target="/ppt/presentation.xml" Id="R3ec18234055d45b9" /></Relationships>
</file>

<file path=ppt/presentation.xml><?xml version="1.0" encoding="utf-8"?>
<p:presentation xmlns:p="http://schemas.openxmlformats.org/presentationml/2006/main">
  <p:sldMasterIdLst>
    <p:sldMasterId xmlns:r="http://schemas.openxmlformats.org/officeDocument/2006/relationships" id="2147483648" r:id="R0c150488614040b4"/>
  </p:sldMasterIdLst>
  <p:notesMasterIdLst>
    <p:notesMasterId xmlns:r="http://schemas.openxmlformats.org/officeDocument/2006/relationships" r:id="Rb106055a906143b3"/>
  </p:notesMasterIdLst>
  <p:sldIdLst>
    <p:sldId xmlns:r="http://schemas.openxmlformats.org/officeDocument/2006/relationships" id="256" r:id="Rc1cefc73fd7c4548"/>
    <p:sldId xmlns:r="http://schemas.openxmlformats.org/officeDocument/2006/relationships" id="257" r:id="R8b5355921a79421d"/>
    <p:sldId xmlns:r="http://schemas.openxmlformats.org/officeDocument/2006/relationships" id="258" r:id="R2cacf9e663ce4691"/>
    <p:sldId xmlns:r="http://schemas.openxmlformats.org/officeDocument/2006/relationships" id="259" r:id="R017ab9903c014322"/>
    <p:sldId xmlns:r="http://schemas.openxmlformats.org/officeDocument/2006/relationships" id="260" r:id="Raa4d7f2b244040be"/>
    <p:sldId xmlns:r="http://schemas.openxmlformats.org/officeDocument/2006/relationships" id="261" r:id="R4d3a013dd6064ff8"/>
    <p:sldId xmlns:r="http://schemas.openxmlformats.org/officeDocument/2006/relationships" id="262" r:id="R67bc0ed645b741d4"/>
    <p:sldId xmlns:r="http://schemas.openxmlformats.org/officeDocument/2006/relationships" id="263" r:id="R084baf5a1ffe45bf"/>
    <p:sldId xmlns:r="http://schemas.openxmlformats.org/officeDocument/2006/relationships" id="264" r:id="Re8ec38b82b114a06"/>
    <p:sldId xmlns:r="http://schemas.openxmlformats.org/officeDocument/2006/relationships" id="265" r:id="R4e89c033b51340d2"/>
    <p:sldId xmlns:r="http://schemas.openxmlformats.org/officeDocument/2006/relationships" id="266" r:id="R2d88a1cd741b4626"/>
    <p:sldId xmlns:r="http://schemas.openxmlformats.org/officeDocument/2006/relationships" id="267" r:id="R71058b6a56b745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7a187cf3e24786" /><Relationship Type="http://schemas.openxmlformats.org/officeDocument/2006/relationships/slideMaster" Target="/ppt/slideMasters/slideMaster1.xml" Id="R0c150488614040b4" /><Relationship Type="http://schemas.openxmlformats.org/officeDocument/2006/relationships/notesMaster" Target="/ppt/notesMasters/notesMaster1.xml" Id="Rb106055a906143b3" /><Relationship Type="http://schemas.openxmlformats.org/officeDocument/2006/relationships/presProps" Target="/ppt/presProps.xml" Id="Rd4da5dba8e704a4b" /><Relationship Type="http://schemas.openxmlformats.org/officeDocument/2006/relationships/tableStyles" Target="/ppt/tableStyles.xml" Id="Rdd7cd64c5f2b4359" /><Relationship Type="http://schemas.openxmlformats.org/officeDocument/2006/relationships/slide" Target="/ppt/slides/slide1.xml" Id="Rc1cefc73fd7c4548" /><Relationship Type="http://schemas.openxmlformats.org/officeDocument/2006/relationships/slide" Target="/ppt/slides/slide2.xml" Id="R8b5355921a79421d" /><Relationship Type="http://schemas.openxmlformats.org/officeDocument/2006/relationships/slide" Target="/ppt/slides/slide3.xml" Id="R2cacf9e663ce4691" /><Relationship Type="http://schemas.openxmlformats.org/officeDocument/2006/relationships/slide" Target="/ppt/slides/slide4.xml" Id="R017ab9903c014322" /><Relationship Type="http://schemas.openxmlformats.org/officeDocument/2006/relationships/slide" Target="/ppt/slides/slide5.xml" Id="Raa4d7f2b244040be" /><Relationship Type="http://schemas.openxmlformats.org/officeDocument/2006/relationships/slide" Target="/ppt/slides/slide6.xml" Id="R4d3a013dd6064ff8" /><Relationship Type="http://schemas.openxmlformats.org/officeDocument/2006/relationships/slide" Target="/ppt/slides/slide7.xml" Id="R67bc0ed645b741d4" /><Relationship Type="http://schemas.openxmlformats.org/officeDocument/2006/relationships/slide" Target="/ppt/slides/slide8.xml" Id="R084baf5a1ffe45bf" /><Relationship Type="http://schemas.openxmlformats.org/officeDocument/2006/relationships/slide" Target="/ppt/slides/slide9.xml" Id="Re8ec38b82b114a06" /><Relationship Type="http://schemas.openxmlformats.org/officeDocument/2006/relationships/slide" Target="/ppt/slides/slide10.xml" Id="R4e89c033b51340d2" /><Relationship Type="http://schemas.openxmlformats.org/officeDocument/2006/relationships/slide" Target="/ppt/slides/slide11.xml" Id="R2d88a1cd741b4626" /><Relationship Type="http://schemas.openxmlformats.org/officeDocument/2006/relationships/slide" Target="/ppt/slides/slide12.xml" Id="R71058b6a56b745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c051dd92444f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7238740371487f" /><Relationship Type="http://schemas.openxmlformats.org/officeDocument/2006/relationships/notesMaster" Target="/ppt/notesMasters/notesMaster1.xml" Id="Rce8695451bc048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7b8e0744a94cdc" /><Relationship Type="http://schemas.openxmlformats.org/officeDocument/2006/relationships/notesMaster" Target="/ppt/notesMasters/notesMaster1.xml" Id="Rc44860b985ff4d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2eb887352f493d" /><Relationship Type="http://schemas.openxmlformats.org/officeDocument/2006/relationships/notesMaster" Target="/ppt/notesMasters/notesMaster1.xml" Id="R78e9326e00a648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85d10278fb4d32" /><Relationship Type="http://schemas.openxmlformats.org/officeDocument/2006/relationships/notesMaster" Target="/ppt/notesMasters/notesMaster1.xml" Id="Rea4c4ab911d34a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b5bab66e6b4ed3" /><Relationship Type="http://schemas.openxmlformats.org/officeDocument/2006/relationships/notesMaster" Target="/ppt/notesMasters/notesMaster1.xml" Id="Rbebb0522de4440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90cd485d554661" /><Relationship Type="http://schemas.openxmlformats.org/officeDocument/2006/relationships/notesMaster" Target="/ppt/notesMasters/notesMaster1.xml" Id="R93ee49689cf449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d5153fcacf4898" /><Relationship Type="http://schemas.openxmlformats.org/officeDocument/2006/relationships/notesMaster" Target="/ppt/notesMasters/notesMaster1.xml" Id="R9293022ce2a94a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56de1e2da24f8d" /><Relationship Type="http://schemas.openxmlformats.org/officeDocument/2006/relationships/notesMaster" Target="/ppt/notesMasters/notesMaster1.xml" Id="R2d2a5832e08643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55628357b4433d" /><Relationship Type="http://schemas.openxmlformats.org/officeDocument/2006/relationships/notesMaster" Target="/ppt/notesMasters/notesMaster1.xml" Id="Rec21d2531b1c42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da66aa1dac48b2" /><Relationship Type="http://schemas.openxmlformats.org/officeDocument/2006/relationships/notesMaster" Target="/ppt/notesMasters/notesMaster1.xml" Id="R84f9747cab7442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a88add9a6c4290" /><Relationship Type="http://schemas.openxmlformats.org/officeDocument/2006/relationships/notesMaster" Target="/ppt/notesMasters/notesMaster1.xml" Id="R4d870f97238049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5f5c98d88548fc" /><Relationship Type="http://schemas.openxmlformats.org/officeDocument/2006/relationships/notesMaster" Target="/ppt/notesMasters/notesMaster1.xml" Id="Rd3ab4dc9724e41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Schaut auf das Bild. Was können wir sicher benennen, und was haben wir schon hinzugedacht? Wir sehen einen Schüler am Tisch und Jugendliche an der Tür. Wir wissen noch nicht, warum er allein geblieben ist. Heute achten wir auf den Moment, in dem eine Beobachtung zum Urteil über einen Menschen wird. Die Situationen sind erfunden; ihr müsst nichts Persönliches erzählen.</a:t>
            </a:r>
          </a:p>
          <a:p xmlns:a="http://schemas.openxmlformats.org/drawingml/2006/main">
            <a:r>
              <a:t>Aufgabe: Benennt Fakten ohne Motive.</a:t>
            </a:r>
          </a:p>
          <a:p xmlns:a="http://schemas.openxmlformats.org/drawingml/2006/main">
            <a:r>
              <a:t>Orientierung: Der Schüler sitzt am Tisch, niemand sitzt neben ihm. „Er fühlt sich einsam“ vermutet bereits sein Erleben.</a:t>
            </a:r>
          </a:p>
          <a:p xmlns:a="http://schemas.openxmlformats.org/drawingml/2006/main">
            <a:r>
              <a:t>Fazit: Ein sichtbarer Moment zeigt nicht das ganze Bild.</a:t>
            </a:r>
          </a:p>
          <a:p xmlns:a="http://schemas.openxmlformats.org/drawingml/2006/main">
            <a:r>
              <a:t>Zeit: 30 Sekunden Einstieg, 1 Minute Bild betrachten, 1 Minute Beobachtungen, 30 Sekunden Übergang.</a:t>
            </a:r>
          </a:p>
          <a:p xmlns:a="http://schemas.openxmlformats.org/drawingml/2006/main">
            <a:r>
              <a:t/>
            </a:r>
          </a:p>
          <a:p xmlns:a="http://schemas.openxmlformats.org/drawingml/2006/main">
            <a:r>
              <a:t>Lies Matthäus 7,1–5 vollständig. Bereite zwölf Folien vor. Drucke die erste Seite der Kopiervorlage pro Paar und die zweite pro Person aus. Stifte werden benötigt. Schneide drei Kategorien und sechs Aussagen aus. Für Schritt 3 genügen die ersten drei; die übrigen eignen sich als Zusatzbeispiel. Bewahrt die erste Entscheidung und Sicherheit bis Schritt 5 auf. An der Tafel können nur die Gesamtzahlen je Antwort stehen. Online sind gemeinsamer Bildschirm, mündliche Antworten oder Chat möglich; Kategorien und Nummern können ohne Ausdruck genannt werden.</a:t>
            </a:r>
          </a:p>
          <a:p xmlns:a="http://schemas.openxmlformats.org/drawingml/2006/main">
            <a:r>
              <a:t/>
            </a:r>
          </a:p>
          <a:p xmlns:a="http://schemas.openxmlformats.org/drawingml/2006/main">
            <a:r>
              <a:t>„Richtet nicht“ verbietet nicht, Unrecht zu erkennen oder Betroffene zu schützen. Man kann eine schädliche Handlung benennen und Hilfe holen. Vers 5 beginnt beim eigenen Balken und führt zur Hilfe für den Bruder. Es geht auch um Selbstprüfung. Die moderne Geschichte ist vollständig erfunden. Neuer Kontext bietet eine mögliche Erklärung, keine Diagnose und keine Rechtfertigung jedes Schadens. Bewertet Jugendliche nicht nach ihrer ersten Antwort. Eine Änderung nach neuen Informationen ist ein Lernanlass, kein Grund zur Beschämung. Ein Splitter ist ein kleines Holzstück. Heuchelei zeigt sich hier in unterschiedlichen Maßstäben für sich und andere. Eine Bitte um Hilfe beweist keinen bestimmten Grund. Im Dialog sind verschiedene Erklärungen und vernünftige Vereinbarungen möglich. Die ursprüngliche PowerPoint begleitet das Gespräch und benötigt keine automatische Abstimmung.</a:t>
            </a:r>
          </a:p>
          <a:p xmlns:a="http://schemas.openxmlformats.org/drawingml/2006/main">
            <a:r>
              <a:t/>
            </a:r>
          </a:p>
          <a:p xmlns:a="http://schemas.openxmlformats.org/drawingml/2006/main">
            <a:r>
              <a:t>Matthäus 7,1–5 · Übersetzung des bereitgestellten russischen Textes:</a:t>
            </a:r>
          </a:p>
          <a:p xmlns:a="http://schemas.openxmlformats.org/drawingml/2006/main">
            <a:r>
              <a:t>1 Richtet nicht, damit ihr nicht gerichtet werdet.</a:t>
            </a:r>
          </a:p>
          <a:p xmlns:a="http://schemas.openxmlformats.org/drawingml/2006/main">
            <a:r>
              <a:t>2 Denn mit dem Urteil, mit dem ihr richtet, werdet ihr gerichtet; und mit dem Maß, mit dem ihr messt, wird euch gemessen werden.</a:t>
            </a:r>
          </a:p>
          <a:p xmlns:a="http://schemas.openxmlformats.org/drawingml/2006/main">
            <a:r>
              <a:t>3 Warum siehst du den Splitter im Auge deines Bruders, bemerkst aber den Balken in deinem eigenen Auge nicht?</a:t>
            </a:r>
          </a:p>
          <a:p xmlns:a="http://schemas.openxmlformats.org/drawingml/2006/main">
            <a:r>
              <a:t>4 Oder wie kannst du deinem Bruder sagen: Lass mich den Splitter aus deinem Auge ziehen, während in deinem Auge ein Balken ist?</a:t>
            </a:r>
          </a:p>
          <a:p xmlns:a="http://schemas.openxmlformats.org/drawingml/2006/main">
            <a:r>
              <a:t>5 Heuchler! Ziehe zuerst den Balken aus deinem Auge. Dann wirst du klar sehen, wie du den Splitter aus dem Auge deines Bruders ziehen kannst.</a:t>
            </a:r>
          </a:p>
          <a:p xmlns:a="http://schemas.openxmlformats.org/drawingml/2006/main">
            <a:r>
              <a:t/>
            </a:r>
          </a:p>
          <a:p xmlns:a="http://schemas.openxmlformats.org/drawingml/2006/main">
            <a:r>
              <a:t>Die vier Bilder bilden erfundene moderne Situationen ab. Der Gesichtsausdruck lässt verschiedene Erklärungen zu: erster Eindruck; allein sitzender Schüler; Gespräch mit der Lehrkraft; Gespräch nach dem Unterricht.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Die Gruppe hat mit der gemeinsamen Arbeit begonnen, ein Schüler sitzt noch allein und macht nicht mit. Wählt eine erste Erklärung aus vier Möglichkeiten. Notiert den Buchstaben und eure Sicherheit: 0 weiß nicht, 1 vermute, 2 fast sicher, 3 ganz sicher. Behaltet euer Blatt zunächst selbst. Welche Informationen fehlen? Wir sammeln Vermutungen, wir bestimmen keinen Schuldigen.</a:t>
            </a:r>
          </a:p>
          <a:p xmlns:a="http://schemas.openxmlformats.org/drawingml/2006/main">
            <a:r>
              <a:t>Alle vier Antworten sind als erster Eindruck möglich. Das Motiv ist anhand der Situation nicht festgestellt.</a:t>
            </a:r>
          </a:p>
          <a:p xmlns:a="http://schemas.openxmlformats.org/drawingml/2006/main">
            <a:r>
              <a:t>Fazit: Der erste Eindruck kann unvollständig sein.</a:t>
            </a:r>
          </a:p>
          <a:p xmlns:a="http://schemas.openxmlformats.org/drawingml/2006/main">
            <a:r>
              <a:t>Zeit: Je 1 Minute Situation und Möglichkeiten, Entscheidung und Sicherheit, Antworten, fehlende Informationen.</a:t>
            </a:r>
          </a:p>
          <a:p xmlns:a="http://schemas.openxmlformats.org/drawingml/2006/main">
            <a:r>
              <a:t/>
            </a:r>
          </a:p>
          <a:p xmlns:a="http://schemas.openxmlformats.org/drawingml/2006/main">
            <a:r>
              <a:t>Lies Matthäus 7,1–5 vollständig. Bereite zwölf Folien vor. Drucke die erste Seite der Kopiervorlage pro Paar und die zweite pro Person aus. Stifte werden benötigt. Schneide drei Kategorien und sechs Aussagen aus. Für Schritt 3 genügen die ersten drei; die übrigen eignen sich als Zusatzbeispiel. Bewahrt die erste Entscheidung und Sicherheit bis Schritt 5 auf. An der Tafel können nur die Gesamtzahlen je Antwort stehen. Online sind gemeinsamer Bildschirm, mündliche Antworten oder Chat möglich; Kategorien und Nummern können ohne Ausdruck genannt werden.</a:t>
            </a:r>
          </a:p>
          <a:p xmlns:a="http://schemas.openxmlformats.org/drawingml/2006/main">
            <a:r>
              <a:t/>
            </a:r>
          </a:p>
          <a:p xmlns:a="http://schemas.openxmlformats.org/drawingml/2006/main">
            <a:r>
              <a:t>„Richtet nicht“ verbietet nicht, Unrecht zu erkennen oder Betroffene zu schützen. Man kann eine schädliche Handlung benennen und Hilfe holen. Vers 5 beginnt beim eigenen Balken und führt zur Hilfe für den Bruder. Es geht auch um Selbstprüfung. Die moderne Geschichte ist vollständig erfunden. Neuer Kontext bietet eine mögliche Erklärung, keine Diagnose und keine Rechtfertigung jedes Schadens. Bewertet Jugendliche nicht nach ihrer ersten Antwort. Eine Änderung nach neuen Informationen ist ein Lernanlass, kein Grund zur Beschämung. Ein Splitter ist ein kleines Holzstück. Heuchelei zeigt sich hier in unterschiedlichen Maßstäben für sich und andere. Eine Bitte um Hilfe beweist keinen bestimmten Grund. Im Dialog sind verschiedene Erklärungen und vernünftige Vereinbarungen möglich. Die ursprüngliche PowerPoint begleitet das Gespräch und benötigt keine automatische Abstimmung.</a:t>
            </a:r>
          </a:p>
          <a:p xmlns:a="http://schemas.openxmlformats.org/drawingml/2006/main">
            <a:r>
              <a:t/>
            </a:r>
          </a:p>
          <a:p xmlns:a="http://schemas.openxmlformats.org/drawingml/2006/main">
            <a:r>
              <a:t>Matthäus 7,1–5 · Übersetzung des bereitgestellten russischen Textes:</a:t>
            </a:r>
          </a:p>
          <a:p xmlns:a="http://schemas.openxmlformats.org/drawingml/2006/main">
            <a:r>
              <a:t>1 Richtet nicht, damit ihr nicht gerichtet werdet.</a:t>
            </a:r>
          </a:p>
          <a:p xmlns:a="http://schemas.openxmlformats.org/drawingml/2006/main">
            <a:r>
              <a:t>2 Denn mit dem Urteil, mit dem ihr richtet, werdet ihr gerichtet; und mit dem Maß, mit dem ihr messt, wird euch gemessen werden.</a:t>
            </a:r>
          </a:p>
          <a:p xmlns:a="http://schemas.openxmlformats.org/drawingml/2006/main">
            <a:r>
              <a:t>3 Warum siehst du den Splitter im Auge deines Bruders, bemerkst aber den Balken in deinem eigenen Auge nicht?</a:t>
            </a:r>
          </a:p>
          <a:p xmlns:a="http://schemas.openxmlformats.org/drawingml/2006/main">
            <a:r>
              <a:t>4 Oder wie kannst du deinem Bruder sagen: Lass mich den Splitter aus deinem Auge ziehen, während in deinem Auge ein Balken ist?</a:t>
            </a:r>
          </a:p>
          <a:p xmlns:a="http://schemas.openxmlformats.org/drawingml/2006/main">
            <a:r>
              <a:t>5 Heuchler! Ziehe zuerst den Balken aus deinem Auge. Dann wirst du klar sehen, wie du den Splitter aus dem Auge deines Bruders ziehen kannst.</a:t>
            </a:r>
          </a:p>
          <a:p xmlns:a="http://schemas.openxmlformats.org/drawingml/2006/main">
            <a:r>
              <a:t/>
            </a:r>
          </a:p>
          <a:p xmlns:a="http://schemas.openxmlformats.org/drawingml/2006/main">
            <a:r>
              <a:t>Die vier Bilder bilden erfundene moderne Situationen ab. Der Gesichtsausdruck lässt verschiedene Erklärungen zu: erster Eindruck; allein sitzender Schüler; Gespräch mit der Lehrkraft; Gespräch nach dem Unterricht.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„Er sitzt allein“ beschreibt das Sichtbare. „Er will nicht helfen“ erklärt ein unbekanntes Motiv. „Er ist immer egoistisch“ überträgt einen Moment auf die ganze Person. Ordnet die Karten unter Fakt, Vermutung und pauschales Urteil. Was kann man am Bild prüfen? Was muss man die Person fragen? Auch mehrere unangenehme Fälle geben uns kein Wissen über den ganzen Menschen.</a:t>
            </a:r>
          </a:p>
          <a:p xmlns:a="http://schemas.openxmlformats.org/drawingml/2006/main">
            <a:r>
              <a:t>Orientierung: Allein sitzen ist ein Fakt, nicht helfen wollen eine Vermutung, immer egoistisch sein ein pauschales Urteil.</a:t>
            </a:r>
          </a:p>
          <a:p xmlns:a="http://schemas.openxmlformats.org/drawingml/2006/main">
            <a:r>
              <a:t>Fazit: Der Fakt beschreibt eine Handlung, die Vermutung erklärt, das pauschale Urteil richtet über die Person.</a:t>
            </a:r>
          </a:p>
          <a:p xmlns:a="http://schemas.openxmlformats.org/drawingml/2006/main">
            <a:r>
              <a:t>Zeit: 1 Minute Kategorien, 1,5 Minuten Zuordnung, 1 Minute Begründungen, 30 Sekunden Fazit.</a:t>
            </a:r>
          </a:p>
          <a:p xmlns:a="http://schemas.openxmlformats.org/drawingml/2006/main">
            <a:r>
              <a:t/>
            </a:r>
          </a:p>
          <a:p xmlns:a="http://schemas.openxmlformats.org/drawingml/2006/main">
            <a:r>
              <a:t>Lies Matthäus 7,1–5 vollständig. Bereite zwölf Folien vor. Drucke die erste Seite der Kopiervorlage pro Paar und die zweite pro Person aus. Stifte werden benötigt. Schneide drei Kategorien und sechs Aussagen aus. Für Schritt 3 genügen die ersten drei; die übrigen eignen sich als Zusatzbeispiel. Bewahrt die erste Entscheidung und Sicherheit bis Schritt 5 auf. An der Tafel können nur die Gesamtzahlen je Antwort stehen. Online sind gemeinsamer Bildschirm, mündliche Antworten oder Chat möglich; Kategorien und Nummern können ohne Ausdruck genannt werden.</a:t>
            </a:r>
          </a:p>
          <a:p xmlns:a="http://schemas.openxmlformats.org/drawingml/2006/main">
            <a:r>
              <a:t/>
            </a:r>
          </a:p>
          <a:p xmlns:a="http://schemas.openxmlformats.org/drawingml/2006/main">
            <a:r>
              <a:t>„Richtet nicht“ verbietet nicht, Unrecht zu erkennen oder Betroffene zu schützen. Man kann eine schädliche Handlung benennen und Hilfe holen. Vers 5 beginnt beim eigenen Balken und führt zur Hilfe für den Bruder. Es geht auch um Selbstprüfung. Die moderne Geschichte ist vollständig erfunden. Neuer Kontext bietet eine mögliche Erklärung, keine Diagnose und keine Rechtfertigung jedes Schadens. Bewertet Jugendliche nicht nach ihrer ersten Antwort. Eine Änderung nach neuen Informationen ist ein Lernanlass, kein Grund zur Beschämung. Ein Splitter ist ein kleines Holzstück. Heuchelei zeigt sich hier in unterschiedlichen Maßstäben für sich und andere. Eine Bitte um Hilfe beweist keinen bestimmten Grund. Im Dialog sind verschiedene Erklärungen und vernünftige Vereinbarungen möglich. Die ursprüngliche PowerPoint begleitet das Gespräch und benötigt keine automatische Abstimmung.</a:t>
            </a:r>
          </a:p>
          <a:p xmlns:a="http://schemas.openxmlformats.org/drawingml/2006/main">
            <a:r>
              <a:t/>
            </a:r>
          </a:p>
          <a:p xmlns:a="http://schemas.openxmlformats.org/drawingml/2006/main">
            <a:r>
              <a:t>Matthäus 7,1–5 · Übersetzung des bereitgestellten russischen Textes:</a:t>
            </a:r>
          </a:p>
          <a:p xmlns:a="http://schemas.openxmlformats.org/drawingml/2006/main">
            <a:r>
              <a:t>1 Richtet nicht, damit ihr nicht gerichtet werdet.</a:t>
            </a:r>
          </a:p>
          <a:p xmlns:a="http://schemas.openxmlformats.org/drawingml/2006/main">
            <a:r>
              <a:t>2 Denn mit dem Urteil, mit dem ihr richtet, werdet ihr gerichtet; und mit dem Maß, mit dem ihr messt, wird euch gemessen werden.</a:t>
            </a:r>
          </a:p>
          <a:p xmlns:a="http://schemas.openxmlformats.org/drawingml/2006/main">
            <a:r>
              <a:t>3 Warum siehst du den Splitter im Auge deines Bruders, bemerkst aber den Balken in deinem eigenen Auge nicht?</a:t>
            </a:r>
          </a:p>
          <a:p xmlns:a="http://schemas.openxmlformats.org/drawingml/2006/main">
            <a:r>
              <a:t>4 Oder wie kannst du deinem Bruder sagen: Lass mich den Splitter aus deinem Auge ziehen, während in deinem Auge ein Balken ist?</a:t>
            </a:r>
          </a:p>
          <a:p xmlns:a="http://schemas.openxmlformats.org/drawingml/2006/main">
            <a:r>
              <a:t>5 Heuchler! Ziehe zuerst den Balken aus deinem Auge. Dann wirst du klar sehen, wie du den Splitter aus dem Auge deines Bruders ziehen kannst.</a:t>
            </a:r>
          </a:p>
          <a:p xmlns:a="http://schemas.openxmlformats.org/drawingml/2006/main">
            <a:r>
              <a:t/>
            </a:r>
          </a:p>
          <a:p xmlns:a="http://schemas.openxmlformats.org/drawingml/2006/main">
            <a:r>
              <a:t>Die vier Bilder bilden erfundene moderne Situationen ab. Der Gesichtsausdruck lässt verschiedene Erklärungen zu: erster Eindruck; allein sitzender Schüler; Gespräch mit der Lehrkraft; Gespräch nach dem Unterricht.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Wir lesen Jesu Worte aus Matthäus 7,1–5. Ein Splitter ist klein, ein Balken viel größer. Das starke Bild zeigt einen Menschen, der die Fehler anderer sieht und seine eigenen übersieht. Warum richtet Jesus den Blick zuerst auf uns selbst? Was geschieht in Vers 5 nach dem Balken? Die Hilfe für den Bruder bleibt, aber erst nach einem ehrlichen Blick auf das eigene Unrecht.</a:t>
            </a:r>
          </a:p>
          <a:p xmlns:a="http://schemas.openxmlformats.org/drawingml/2006/main">
            <a:r>
              <a:t>Orientierung: Zuerst eigenes Unrecht erkennen und daran arbeiten, dann mit Klarheit und Demut helfen.</a:t>
            </a:r>
          </a:p>
          <a:p xmlns:a="http://schemas.openxmlformats.org/drawingml/2006/main">
            <a:r>
              <a:t>Fazit: Hilfe beginnt mit einem ehrlichen Blick auf sich selbst.</a:t>
            </a:r>
          </a:p>
          <a:p xmlns:a="http://schemas.openxmlformats.org/drawingml/2006/main">
            <a:r>
              <a:t>Zeit: 1,5 Minuten lesen, 1 Minute Bild erklären, 1 Minute Vers 5 besprechen, 30 Sekunden Fazit.</a:t>
            </a:r>
          </a:p>
          <a:p xmlns:a="http://schemas.openxmlformats.org/drawingml/2006/main">
            <a:r>
              <a:t/>
            </a:r>
          </a:p>
          <a:p xmlns:a="http://schemas.openxmlformats.org/drawingml/2006/main">
            <a:r>
              <a:t>Lies Matthäus 7,1–5 vollständig. Bereite zwölf Folien vor. Drucke die erste Seite der Kopiervorlage pro Paar und die zweite pro Person aus. Stifte werden benötigt. Schneide drei Kategorien und sechs Aussagen aus. Für Schritt 3 genügen die ersten drei; die übrigen eignen sich als Zusatzbeispiel. Bewahrt die erste Entscheidung und Sicherheit bis Schritt 5 auf. An der Tafel können nur die Gesamtzahlen je Antwort stehen. Online sind gemeinsamer Bildschirm, mündliche Antworten oder Chat möglich; Kategorien und Nummern können ohne Ausdruck genannt werden.</a:t>
            </a:r>
          </a:p>
          <a:p xmlns:a="http://schemas.openxmlformats.org/drawingml/2006/main">
            <a:r>
              <a:t/>
            </a:r>
          </a:p>
          <a:p xmlns:a="http://schemas.openxmlformats.org/drawingml/2006/main">
            <a:r>
              <a:t>„Richtet nicht“ verbietet nicht, Unrecht zu erkennen oder Betroffene zu schützen. Man kann eine schädliche Handlung benennen und Hilfe holen. Vers 5 beginnt beim eigenen Balken und führt zur Hilfe für den Bruder. Es geht auch um Selbstprüfung. Die moderne Geschichte ist vollständig erfunden. Neuer Kontext bietet eine mögliche Erklärung, keine Diagnose und keine Rechtfertigung jedes Schadens. Bewertet Jugendliche nicht nach ihrer ersten Antwort. Eine Änderung nach neuen Informationen ist ein Lernanlass, kein Grund zur Beschämung. Ein Splitter ist ein kleines Holzstück. Heuchelei zeigt sich hier in unterschiedlichen Maßstäben für sich und andere. Eine Bitte um Hilfe beweist keinen bestimmten Grund. Im Dialog sind verschiedene Erklärungen und vernünftige Vereinbarungen möglich. Die ursprüngliche PowerPoint begleitet das Gespräch und benötigt keine automatische Abstimmung.</a:t>
            </a:r>
          </a:p>
          <a:p xmlns:a="http://schemas.openxmlformats.org/drawingml/2006/main">
            <a:r>
              <a:t/>
            </a:r>
          </a:p>
          <a:p xmlns:a="http://schemas.openxmlformats.org/drawingml/2006/main">
            <a:r>
              <a:t>Matthäus 7,1–5 · Übersetzung des bereitgestellten russischen Textes:</a:t>
            </a:r>
          </a:p>
          <a:p xmlns:a="http://schemas.openxmlformats.org/drawingml/2006/main">
            <a:r>
              <a:t>1 Richtet nicht, damit ihr nicht gerichtet werdet.</a:t>
            </a:r>
          </a:p>
          <a:p xmlns:a="http://schemas.openxmlformats.org/drawingml/2006/main">
            <a:r>
              <a:t>2 Denn mit dem Urteil, mit dem ihr richtet, werdet ihr gerichtet; und mit dem Maß, mit dem ihr messt, wird euch gemessen werden.</a:t>
            </a:r>
          </a:p>
          <a:p xmlns:a="http://schemas.openxmlformats.org/drawingml/2006/main">
            <a:r>
              <a:t>3 Warum siehst du den Splitter im Auge deines Bruders, bemerkst aber den Balken in deinem eigenen Auge nicht?</a:t>
            </a:r>
          </a:p>
          <a:p xmlns:a="http://schemas.openxmlformats.org/drawingml/2006/main">
            <a:r>
              <a:t>4 Oder wie kannst du deinem Bruder sagen: Lass mich den Splitter aus deinem Auge ziehen, während in deinem Auge ein Balken ist?</a:t>
            </a:r>
          </a:p>
          <a:p xmlns:a="http://schemas.openxmlformats.org/drawingml/2006/main">
            <a:r>
              <a:t>5 Heuchler! Ziehe zuerst den Balken aus deinem Auge. Dann wirst du klar sehen, wie du den Splitter aus dem Auge deines Bruders ziehen kannst.</a:t>
            </a:r>
          </a:p>
          <a:p xmlns:a="http://schemas.openxmlformats.org/drawingml/2006/main">
            <a:r>
              <a:t/>
            </a:r>
          </a:p>
          <a:p xmlns:a="http://schemas.openxmlformats.org/drawingml/2006/main">
            <a:r>
              <a:t>Die vier Bilder bilden erfundene moderne Situationen ab. Der Gesichtsausdruck lässt verschiedene Erklärungen zu: erster Eindruck; allein sitzender Schüler; Gespräch mit der Lehrkraft; Gespräch nach dem Unterricht.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Es gibt einen neuen Fakt: Der Schüler hat die Lehrkraft um Hilfe gebeten. Was genau er gefragt hat, haben wir noch nicht gehört. Wählt erneut eine der gleichen vier Möglichkeiten und notiert die Sicherheit. Vergleicht die Notizen. Ihr dürft ändern oder beibehalten; begründet eure Entscheidung. Die Hilfe der Lehrkraft verrät nicht das ganze Motiv. Was ist nun bekannt, was bleibt eine Vermutung?</a:t>
            </a:r>
          </a:p>
          <a:p xmlns:a="http://schemas.openxmlformats.org/drawingml/2006/main">
            <a:r>
              <a:t>Orientierung: Die Bitte um Hilfe ist ein neuer Fakt. Ihr Grund und der Grund für das ursprüngliche Verhalten sind noch unbekannt.</a:t>
            </a:r>
          </a:p>
          <a:p xmlns:a="http://schemas.openxmlformats.org/drawingml/2006/main">
            <a:r>
              <a:t>Fazit: Neue Information kann die erste Vermutung verändern.</a:t>
            </a:r>
          </a:p>
          <a:p xmlns:a="http://schemas.openxmlformats.org/drawingml/2006/main">
            <a:r>
              <a:t>Zeit: 1 Minute neuer Fakt, 1 Minute erneute Wahl, 1,5 Minuten Vergleich, 30 Sekunden Fazit.</a:t>
            </a:r>
          </a:p>
          <a:p xmlns:a="http://schemas.openxmlformats.org/drawingml/2006/main">
            <a:r>
              <a:t/>
            </a:r>
          </a:p>
          <a:p xmlns:a="http://schemas.openxmlformats.org/drawingml/2006/main">
            <a:r>
              <a:t>Lies Matthäus 7,1–5 vollständig. Bereite zwölf Folien vor. Drucke die erste Seite der Kopiervorlage pro Paar und die zweite pro Person aus. Stifte werden benötigt. Schneide drei Kategorien und sechs Aussagen aus. Für Schritt 3 genügen die ersten drei; die übrigen eignen sich als Zusatzbeispiel. Bewahrt die erste Entscheidung und Sicherheit bis Schritt 5 auf. An der Tafel können nur die Gesamtzahlen je Antwort stehen. Online sind gemeinsamer Bildschirm, mündliche Antworten oder Chat möglich; Kategorien und Nummern können ohne Ausdruck genannt werden.</a:t>
            </a:r>
          </a:p>
          <a:p xmlns:a="http://schemas.openxmlformats.org/drawingml/2006/main">
            <a:r>
              <a:t/>
            </a:r>
          </a:p>
          <a:p xmlns:a="http://schemas.openxmlformats.org/drawingml/2006/main">
            <a:r>
              <a:t>„Richtet nicht“ verbietet nicht, Unrecht zu erkennen oder Betroffene zu schützen. Man kann eine schädliche Handlung benennen und Hilfe holen. Vers 5 beginnt beim eigenen Balken und führt zur Hilfe für den Bruder. Es geht auch um Selbstprüfung. Die moderne Geschichte ist vollständig erfunden. Neuer Kontext bietet eine mögliche Erklärung, keine Diagnose und keine Rechtfertigung jedes Schadens. Bewertet Jugendliche nicht nach ihrer ersten Antwort. Eine Änderung nach neuen Informationen ist ein Lernanlass, kein Grund zur Beschämung. Ein Splitter ist ein kleines Holzstück. Heuchelei zeigt sich hier in unterschiedlichen Maßstäben für sich und andere. Eine Bitte um Hilfe beweist keinen bestimmten Grund. Im Dialog sind verschiedene Erklärungen und vernünftige Vereinbarungen möglich. Die ursprüngliche PowerPoint begleitet das Gespräch und benötigt keine automatische Abstimmung.</a:t>
            </a:r>
          </a:p>
          <a:p xmlns:a="http://schemas.openxmlformats.org/drawingml/2006/main">
            <a:r>
              <a:t/>
            </a:r>
          </a:p>
          <a:p xmlns:a="http://schemas.openxmlformats.org/drawingml/2006/main">
            <a:r>
              <a:t>Matthäus 7,1–5 · Übersetzung des bereitgestellten russischen Textes:</a:t>
            </a:r>
          </a:p>
          <a:p xmlns:a="http://schemas.openxmlformats.org/drawingml/2006/main">
            <a:r>
              <a:t>1 Richtet nicht, damit ihr nicht gerichtet werdet.</a:t>
            </a:r>
          </a:p>
          <a:p xmlns:a="http://schemas.openxmlformats.org/drawingml/2006/main">
            <a:r>
              <a:t>2 Denn mit dem Urteil, mit dem ihr richtet, werdet ihr gerichtet; und mit dem Maß, mit dem ihr messt, wird euch gemessen werden.</a:t>
            </a:r>
          </a:p>
          <a:p xmlns:a="http://schemas.openxmlformats.org/drawingml/2006/main">
            <a:r>
              <a:t>3 Warum siehst du den Splitter im Auge deines Bruders, bemerkst aber den Balken in deinem eigenen Auge nicht?</a:t>
            </a:r>
          </a:p>
          <a:p xmlns:a="http://schemas.openxmlformats.org/drawingml/2006/main">
            <a:r>
              <a:t>4 Oder wie kannst du deinem Bruder sagen: Lass mich den Splitter aus deinem Auge ziehen, während in deinem Auge ein Balken ist?</a:t>
            </a:r>
          </a:p>
          <a:p xmlns:a="http://schemas.openxmlformats.org/drawingml/2006/main">
            <a:r>
              <a:t>5 Heuchler! Ziehe zuerst den Balken aus deinem Auge. Dann wirst du klar sehen, wie du den Splitter aus dem Auge deines Bruders ziehen kannst.</a:t>
            </a:r>
          </a:p>
          <a:p xmlns:a="http://schemas.openxmlformats.org/drawingml/2006/main">
            <a:r>
              <a:t/>
            </a:r>
          </a:p>
          <a:p xmlns:a="http://schemas.openxmlformats.org/drawingml/2006/main">
            <a:r>
              <a:t>Die vier Bilder bilden erfundene moderne Situationen ab. Der Gesichtsausdruck lässt verschiedene Erklärungen zu: erster Eindruck; allein sitzender Schüler; Gespräch mit der Lehrkraft; Gespräch nach dem Unterricht.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Eine Figur verurteilt das Schweigen eines Mitschülers. Gestern hat sie selbst im Gruppenchat nicht geantwortet: Sie war beschäftigt und wollte verstanden werden. Heute nennt sie fremdes Schweigen sofort Gleichgültigkeit. Wo nutzt sie unterschiedliche Maßstäbe? Was kann sie zugeben und ändern? Schreibt über die Figur oder euch selbst. Persönliche Notizen dürfen bei euch bleiben. Christus ruft uns, bei unserem eigenen Unrecht anzufangen.</a:t>
            </a:r>
          </a:p>
          <a:p xmlns:a="http://schemas.openxmlformats.org/drawingml/2006/main">
            <a:r>
              <a:t>Orientierung: Die Figur entschuldigt sich mit Umständen und schreibt anderen einen schlechten Charakter zu. Sie kann ihre Voreiligkeit erkennen und zuerst fragen.</a:t>
            </a:r>
          </a:p>
          <a:p xmlns:a="http://schemas.openxmlformats.org/drawingml/2006/main">
            <a:r>
              <a:t>Fazit: Selbstprüfung verringert Heuchelei und hilft, behutsam zu sprechen.</a:t>
            </a:r>
          </a:p>
          <a:p xmlns:a="http://schemas.openxmlformats.org/drawingml/2006/main">
            <a:r>
              <a:t>Zeit: 1 Minute Chatbeispiel, 1 Minute Paargespräch, 2 Minuten private Notiz oder Figurenbeispiel, 1 Minute Fazit.</a:t>
            </a:r>
          </a:p>
          <a:p xmlns:a="http://schemas.openxmlformats.org/drawingml/2006/main">
            <a:r>
              <a:t/>
            </a:r>
          </a:p>
          <a:p xmlns:a="http://schemas.openxmlformats.org/drawingml/2006/main">
            <a:r>
              <a:t>Lies Matthäus 7,1–5 vollständig. Bereite zwölf Folien vor. Drucke die erste Seite der Kopiervorlage pro Paar und die zweite pro Person aus. Stifte werden benötigt. Schneide drei Kategorien und sechs Aussagen aus. Für Schritt 3 genügen die ersten drei; die übrigen eignen sich als Zusatzbeispiel. Bewahrt die erste Entscheidung und Sicherheit bis Schritt 5 auf. An der Tafel können nur die Gesamtzahlen je Antwort stehen. Online sind gemeinsamer Bildschirm, mündliche Antworten oder Chat möglich; Kategorien und Nummern können ohne Ausdruck genannt werden.</a:t>
            </a:r>
          </a:p>
          <a:p xmlns:a="http://schemas.openxmlformats.org/drawingml/2006/main">
            <a:r>
              <a:t/>
            </a:r>
          </a:p>
          <a:p xmlns:a="http://schemas.openxmlformats.org/drawingml/2006/main">
            <a:r>
              <a:t>„Richtet nicht“ verbietet nicht, Unrecht zu erkennen oder Betroffene zu schützen. Man kann eine schädliche Handlung benennen und Hilfe holen. Vers 5 beginnt beim eigenen Balken und führt zur Hilfe für den Bruder. Es geht auch um Selbstprüfung. Die moderne Geschichte ist vollständig erfunden. Neuer Kontext bietet eine mögliche Erklärung, keine Diagnose und keine Rechtfertigung jedes Schadens. Bewertet Jugendliche nicht nach ihrer ersten Antwort. Eine Änderung nach neuen Informationen ist ein Lernanlass, kein Grund zur Beschämung. Ein Splitter ist ein kleines Holzstück. Heuchelei zeigt sich hier in unterschiedlichen Maßstäben für sich und andere. Eine Bitte um Hilfe beweist keinen bestimmten Grund. Im Dialog sind verschiedene Erklärungen und vernünftige Vereinbarungen möglich. Die ursprüngliche PowerPoint begleitet das Gespräch und benötigt keine automatische Abstimmung.</a:t>
            </a:r>
          </a:p>
          <a:p xmlns:a="http://schemas.openxmlformats.org/drawingml/2006/main">
            <a:r>
              <a:t/>
            </a:r>
          </a:p>
          <a:p xmlns:a="http://schemas.openxmlformats.org/drawingml/2006/main">
            <a:r>
              <a:t>Matthäus 7,1–5 · Übersetzung des bereitgestellten russischen Textes:</a:t>
            </a:r>
          </a:p>
          <a:p xmlns:a="http://schemas.openxmlformats.org/drawingml/2006/main">
            <a:r>
              <a:t>1 Richtet nicht, damit ihr nicht gerichtet werdet.</a:t>
            </a:r>
          </a:p>
          <a:p xmlns:a="http://schemas.openxmlformats.org/drawingml/2006/main">
            <a:r>
              <a:t>2 Denn mit dem Urteil, mit dem ihr richtet, werdet ihr gerichtet; und mit dem Maß, mit dem ihr messt, wird euch gemessen werden.</a:t>
            </a:r>
          </a:p>
          <a:p xmlns:a="http://schemas.openxmlformats.org/drawingml/2006/main">
            <a:r>
              <a:t>3 Warum siehst du den Splitter im Auge deines Bruders, bemerkst aber den Balken in deinem eigenen Auge nicht?</a:t>
            </a:r>
          </a:p>
          <a:p xmlns:a="http://schemas.openxmlformats.org/drawingml/2006/main">
            <a:r>
              <a:t>4 Oder wie kannst du deinem Bruder sagen: Lass mich den Splitter aus deinem Auge ziehen, während in deinem Auge ein Balken ist?</a:t>
            </a:r>
          </a:p>
          <a:p xmlns:a="http://schemas.openxmlformats.org/drawingml/2006/main">
            <a:r>
              <a:t>5 Heuchler! Ziehe zuerst den Balken aus deinem Auge. Dann wirst du klar sehen, wie du den Splitter aus dem Auge deines Bruders ziehen kannst.</a:t>
            </a:r>
          </a:p>
          <a:p xmlns:a="http://schemas.openxmlformats.org/drawingml/2006/main">
            <a:r>
              <a:t/>
            </a:r>
          </a:p>
          <a:p xmlns:a="http://schemas.openxmlformats.org/drawingml/2006/main">
            <a:r>
              <a:t>Die vier Bilder bilden erfundene moderne Situationen ab. Der Gesichtsausdruck lässt verschiedene Erklärungen zu: erster Eindruck; allein sitzender Schüler; Gespräch mit der Lehrkraft; Gespräch nach dem Unterricht.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Vergleicht „Du bist faul“ mit „Dein Teil ist noch nicht fertig“. Der zweite Satz benennt ein konkretes Problem. Man kann nach dem Grund fragen und einen Termin vereinbaren. Ergänzt ihn im Paar: „Was ist passiert? Was schaffst du heute?“ Welche Verantwortung bleibt?</a:t>
            </a:r>
          </a:p>
          <a:p xmlns:a="http://schemas.openxmlformats.org/drawingml/2006/main">
            <a:r>
              <a:t>Orientierung: „Dein Teil ist noch nicht fertig. Was ist passiert? Wann kannst du ihn fertigstellen?“ Die Arbeit bleibt Aufgabe des Teilnehmers.</a:t>
            </a:r>
          </a:p>
          <a:p xmlns:a="http://schemas.openxmlformats.org/drawingml/2006/main">
            <a:r>
              <a:t>Fazit: Man kann über konkretes Verhalten sprechen, ohne die Person zu verurteilen.</a:t>
            </a:r>
          </a:p>
          <a:p xmlns:a="http://schemas.openxmlformats.org/drawingml/2006/main">
            <a:r>
              <a:t>Zeit: 1 Minute Vergleich, 1,5 Minuten im Paar ergänzen, 1 Minute zwei Beispiele, 30 Sekunden Verantwortung.</a:t>
            </a:r>
          </a:p>
          <a:p xmlns:a="http://schemas.openxmlformats.org/drawingml/2006/main">
            <a:r>
              <a:t/>
            </a:r>
          </a:p>
          <a:p xmlns:a="http://schemas.openxmlformats.org/drawingml/2006/main">
            <a:r>
              <a:t>Lies Matthäus 7,1–5 vollständig. Bereite zwölf Folien vor. Drucke die erste Seite der Kopiervorlage pro Paar und die zweite pro Person aus. Stifte werden benötigt. Schneide drei Kategorien und sechs Aussagen aus. Für Schritt 3 genügen die ersten drei; die übrigen eignen sich als Zusatzbeispiel. Bewahrt die erste Entscheidung und Sicherheit bis Schritt 5 auf. An der Tafel können nur die Gesamtzahlen je Antwort stehen. Online sind gemeinsamer Bildschirm, mündliche Antworten oder Chat möglich; Kategorien und Nummern können ohne Ausdruck genannt werden.</a:t>
            </a:r>
          </a:p>
          <a:p xmlns:a="http://schemas.openxmlformats.org/drawingml/2006/main">
            <a:r>
              <a:t/>
            </a:r>
          </a:p>
          <a:p xmlns:a="http://schemas.openxmlformats.org/drawingml/2006/main">
            <a:r>
              <a:t>„Richtet nicht“ verbietet nicht, Unrecht zu erkennen oder Betroffene zu schützen. Man kann eine schädliche Handlung benennen und Hilfe holen. Vers 5 beginnt beim eigenen Balken und führt zur Hilfe für den Bruder. Es geht auch um Selbstprüfung. Die moderne Geschichte ist vollständig erfunden. Neuer Kontext bietet eine mögliche Erklärung, keine Diagnose und keine Rechtfertigung jedes Schadens. Bewertet Jugendliche nicht nach ihrer ersten Antwort. Eine Änderung nach neuen Informationen ist ein Lernanlass, kein Grund zur Beschämung. Ein Splitter ist ein kleines Holzstück. Heuchelei zeigt sich hier in unterschiedlichen Maßstäben für sich und andere. Eine Bitte um Hilfe beweist keinen bestimmten Grund. Im Dialog sind verschiedene Erklärungen und vernünftige Vereinbarungen möglich. Die ursprüngliche PowerPoint begleitet das Gespräch und benötigt keine automatische Abstimmung.</a:t>
            </a:r>
          </a:p>
          <a:p xmlns:a="http://schemas.openxmlformats.org/drawingml/2006/main">
            <a:r>
              <a:t/>
            </a:r>
          </a:p>
          <a:p xmlns:a="http://schemas.openxmlformats.org/drawingml/2006/main">
            <a:r>
              <a:t>Matthäus 7,1–5 · Übersetzung des bereitgestellten russischen Textes:</a:t>
            </a:r>
          </a:p>
          <a:p xmlns:a="http://schemas.openxmlformats.org/drawingml/2006/main">
            <a:r>
              <a:t>1 Richtet nicht, damit ihr nicht gerichtet werdet.</a:t>
            </a:r>
          </a:p>
          <a:p xmlns:a="http://schemas.openxmlformats.org/drawingml/2006/main">
            <a:r>
              <a:t>2 Denn mit dem Urteil, mit dem ihr richtet, werdet ihr gerichtet; und mit dem Maß, mit dem ihr messt, wird euch gemessen werden.</a:t>
            </a:r>
          </a:p>
          <a:p xmlns:a="http://schemas.openxmlformats.org/drawingml/2006/main">
            <a:r>
              <a:t>3 Warum siehst du den Splitter im Auge deines Bruders, bemerkst aber den Balken in deinem eigenen Auge nicht?</a:t>
            </a:r>
          </a:p>
          <a:p xmlns:a="http://schemas.openxmlformats.org/drawingml/2006/main">
            <a:r>
              <a:t>4 Oder wie kannst du deinem Bruder sagen: Lass mich den Splitter aus deinem Auge ziehen, während in deinem Auge ein Balken ist?</a:t>
            </a:r>
          </a:p>
          <a:p xmlns:a="http://schemas.openxmlformats.org/drawingml/2006/main">
            <a:r>
              <a:t>5 Heuchler! Ziehe zuerst den Balken aus deinem Auge. Dann wirst du klar sehen, wie du den Splitter aus dem Auge deines Bruders ziehen kannst.</a:t>
            </a:r>
          </a:p>
          <a:p xmlns:a="http://schemas.openxmlformats.org/drawingml/2006/main">
            <a:r>
              <a:t/>
            </a:r>
          </a:p>
          <a:p xmlns:a="http://schemas.openxmlformats.org/drawingml/2006/main">
            <a:r>
              <a:t>Die vier Bilder bilden erfundene moderne Situationen ab. Der Gesichtsausdruck lässt verschiedene Erklärungen zu: erster Eindruck; allein sitzender Schüler; Gespräch mit der Lehrkraft; Gespräch nach dem Unterricht.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Mehrere Jugendliche erniedrigen im Chat ständig einen Schüler. Wählt eine Antwort und nennt eine konkrete Handlung. Wir können schädliche Nachrichten benennen, nicht mitlachen, den Schüler unterstützen und einen Erwachsenen hinzuziehen. Wenn „Richte nicht“ als Aufforderung zum Schweigen über Mobbing benutzt wird: Jesu Worte führen zur Demut, Hilfe für den Nächsten erfordert aber, Schaden zu stoppen.</a:t>
            </a:r>
          </a:p>
          <a:p xmlns:a="http://schemas.openxmlformats.org/drawingml/2006/main">
            <a:r>
              <a:t>Orientierung: Die zweite Antwort. Abwertende Nachrichten nicht weiterleiten, dem Betroffenen schreiben und einen Erwachsenen holen.</a:t>
            </a:r>
          </a:p>
          <a:p xmlns:a="http://schemas.openxmlformats.org/drawingml/2006/main">
            <a:r>
              <a:t>Fazit: Auf Verurteilung zu verzichten hindert nicht daran, Schaden zu stoppen.</a:t>
            </a:r>
          </a:p>
          <a:p xmlns:a="http://schemas.openxmlformats.org/drawingml/2006/main">
            <a:r>
              <a:t>Zeit: 1 Minute Situation und Wahl, 1,5 Minuten Hilfe, 1 Minute Gespräch, 30 Sekunden Fazit.</a:t>
            </a:r>
          </a:p>
          <a:p xmlns:a="http://schemas.openxmlformats.org/drawingml/2006/main">
            <a:r>
              <a:t/>
            </a:r>
          </a:p>
          <a:p xmlns:a="http://schemas.openxmlformats.org/drawingml/2006/main">
            <a:r>
              <a:t>Lies Matthäus 7,1–5 vollständig. Bereite zwölf Folien vor. Drucke die erste Seite der Kopiervorlage pro Paar und die zweite pro Person aus. Stifte werden benötigt. Schneide drei Kategorien und sechs Aussagen aus. Für Schritt 3 genügen die ersten drei; die übrigen eignen sich als Zusatzbeispiel. Bewahrt die erste Entscheidung und Sicherheit bis Schritt 5 auf. An der Tafel können nur die Gesamtzahlen je Antwort stehen. Online sind gemeinsamer Bildschirm, mündliche Antworten oder Chat möglich; Kategorien und Nummern können ohne Ausdruck genannt werden.</a:t>
            </a:r>
          </a:p>
          <a:p xmlns:a="http://schemas.openxmlformats.org/drawingml/2006/main">
            <a:r>
              <a:t/>
            </a:r>
          </a:p>
          <a:p xmlns:a="http://schemas.openxmlformats.org/drawingml/2006/main">
            <a:r>
              <a:t>„Richtet nicht“ verbietet nicht, Unrecht zu erkennen oder Betroffene zu schützen. Man kann eine schädliche Handlung benennen und Hilfe holen. Vers 5 beginnt beim eigenen Balken und führt zur Hilfe für den Bruder. Es geht auch um Selbstprüfung. Die moderne Geschichte ist vollständig erfunden. Neuer Kontext bietet eine mögliche Erklärung, keine Diagnose und keine Rechtfertigung jedes Schadens. Bewertet Jugendliche nicht nach ihrer ersten Antwort. Eine Änderung nach neuen Informationen ist ein Lernanlass, kein Grund zur Beschämung. Ein Splitter ist ein kleines Holzstück. Heuchelei zeigt sich hier in unterschiedlichen Maßstäben für sich und andere. Eine Bitte um Hilfe beweist keinen bestimmten Grund. Im Dialog sind verschiedene Erklärungen und vernünftige Vereinbarungen möglich. Die ursprüngliche PowerPoint begleitet das Gespräch und benötigt keine automatische Abstimmung.</a:t>
            </a:r>
          </a:p>
          <a:p xmlns:a="http://schemas.openxmlformats.org/drawingml/2006/main">
            <a:r>
              <a:t/>
            </a:r>
          </a:p>
          <a:p xmlns:a="http://schemas.openxmlformats.org/drawingml/2006/main">
            <a:r>
              <a:t>Matthäus 7,1–5 · Übersetzung des bereitgestellten russischen Textes:</a:t>
            </a:r>
          </a:p>
          <a:p xmlns:a="http://schemas.openxmlformats.org/drawingml/2006/main">
            <a:r>
              <a:t>1 Richtet nicht, damit ihr nicht gerichtet werdet.</a:t>
            </a:r>
          </a:p>
          <a:p xmlns:a="http://schemas.openxmlformats.org/drawingml/2006/main">
            <a:r>
              <a:t>2 Denn mit dem Urteil, mit dem ihr richtet, werdet ihr gerichtet; und mit dem Maß, mit dem ihr messt, wird euch gemessen werden.</a:t>
            </a:r>
          </a:p>
          <a:p xmlns:a="http://schemas.openxmlformats.org/drawingml/2006/main">
            <a:r>
              <a:t>3 Warum siehst du den Splitter im Auge deines Bruders, bemerkst aber den Balken in deinem eigenen Auge nicht?</a:t>
            </a:r>
          </a:p>
          <a:p xmlns:a="http://schemas.openxmlformats.org/drawingml/2006/main">
            <a:r>
              <a:t>4 Oder wie kannst du deinem Bruder sagen: Lass mich den Splitter aus deinem Auge ziehen, während in deinem Auge ein Balken ist?</a:t>
            </a:r>
          </a:p>
          <a:p xmlns:a="http://schemas.openxmlformats.org/drawingml/2006/main">
            <a:r>
              <a:t>5 Heuchler! Ziehe zuerst den Balken aus deinem Auge. Dann wirst du klar sehen, wie du den Splitter aus dem Auge deines Bruders ziehen kannst.</a:t>
            </a:r>
          </a:p>
          <a:p xmlns:a="http://schemas.openxmlformats.org/drawingml/2006/main">
            <a:r>
              <a:t/>
            </a:r>
          </a:p>
          <a:p xmlns:a="http://schemas.openxmlformats.org/drawingml/2006/main">
            <a:r>
              <a:t>Die vier Bilder bilden erfundene moderne Situationen ab. Der Gesichtsausdruck lässt verschiedene Erklärungen zu: erster Eindruck; allein sitzender Schüler; Gespräch mit der Lehrkraft; Gespräch nach dem Unterricht.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Vergleicht „Warum ist dir schon wieder alles egal?“ mit „Was ist mit deinem Teil der Arbeit passiert?“ Der erste Satz enthält eine Beschuldigung, der zweite lässt eine echte Antwort zu. Fragt den Schüler, der allein saß. Prüft im Paar: Betrifft die Frage ein bekanntes Ereignis oder fordert sie Rechtfertigung für ein erfundenes Motiv? Beginnt mit „Ich habe bemerkt …“ und fragt nach dem Unbekannten.</a:t>
            </a:r>
          </a:p>
          <a:p xmlns:a="http://schemas.openxmlformats.org/drawingml/2006/main">
            <a:r>
              <a:t>Orientierung: „Ich habe bemerkt, dass du allein saßt. Was ist passiert?“ Ohne Behauptung, die Person sei gleichgültig.</a:t>
            </a:r>
          </a:p>
          <a:p xmlns:a="http://schemas.openxmlformats.org/drawingml/2006/main">
            <a:r>
              <a:t>Fazit: Eine offene Frage lässt die echte Geschichte hörbar werden.</a:t>
            </a:r>
          </a:p>
          <a:p xmlns:a="http://schemas.openxmlformats.org/drawingml/2006/main">
            <a:r>
              <a:t>Zeit: 1 Minute Vergleich, 1 Minute eigene Frage, 1,5 Minuten Paarprüfung, 30 Sekunden Fazit.</a:t>
            </a:r>
          </a:p>
          <a:p xmlns:a="http://schemas.openxmlformats.org/drawingml/2006/main">
            <a:r>
              <a:t/>
            </a:r>
          </a:p>
          <a:p xmlns:a="http://schemas.openxmlformats.org/drawingml/2006/main">
            <a:r>
              <a:t>Lies Matthäus 7,1–5 vollständig. Bereite zwölf Folien vor. Drucke die erste Seite der Kopiervorlage pro Paar und die zweite pro Person aus. Stifte werden benötigt. Schneide drei Kategorien und sechs Aussagen aus. Für Schritt 3 genügen die ersten drei; die übrigen eignen sich als Zusatzbeispiel. Bewahrt die erste Entscheidung und Sicherheit bis Schritt 5 auf. An der Tafel können nur die Gesamtzahlen je Antwort stehen. Online sind gemeinsamer Bildschirm, mündliche Antworten oder Chat möglich; Kategorien und Nummern können ohne Ausdruck genannt werden.</a:t>
            </a:r>
          </a:p>
          <a:p xmlns:a="http://schemas.openxmlformats.org/drawingml/2006/main">
            <a:r>
              <a:t/>
            </a:r>
          </a:p>
          <a:p xmlns:a="http://schemas.openxmlformats.org/drawingml/2006/main">
            <a:r>
              <a:t>„Richtet nicht“ verbietet nicht, Unrecht zu erkennen oder Betroffene zu schützen. Man kann eine schädliche Handlung benennen und Hilfe holen. Vers 5 beginnt beim eigenen Balken und führt zur Hilfe für den Bruder. Es geht auch um Selbstprüfung. Die moderne Geschichte ist vollständig erfunden. Neuer Kontext bietet eine mögliche Erklärung, keine Diagnose und keine Rechtfertigung jedes Schadens. Bewertet Jugendliche nicht nach ihrer ersten Antwort. Eine Änderung nach neuen Informationen ist ein Lernanlass, kein Grund zur Beschämung. Ein Splitter ist ein kleines Holzstück. Heuchelei zeigt sich hier in unterschiedlichen Maßstäben für sich und andere. Eine Bitte um Hilfe beweist keinen bestimmten Grund. Im Dialog sind verschiedene Erklärungen und vernünftige Vereinbarungen möglich. Die ursprüngliche PowerPoint begleitet das Gespräch und benötigt keine automatische Abstimmung.</a:t>
            </a:r>
          </a:p>
          <a:p xmlns:a="http://schemas.openxmlformats.org/drawingml/2006/main">
            <a:r>
              <a:t/>
            </a:r>
          </a:p>
          <a:p xmlns:a="http://schemas.openxmlformats.org/drawingml/2006/main">
            <a:r>
              <a:t>Matthäus 7,1–5 · Übersetzung des bereitgestellten russischen Textes:</a:t>
            </a:r>
          </a:p>
          <a:p xmlns:a="http://schemas.openxmlformats.org/drawingml/2006/main">
            <a:r>
              <a:t>1 Richtet nicht, damit ihr nicht gerichtet werdet.</a:t>
            </a:r>
          </a:p>
          <a:p xmlns:a="http://schemas.openxmlformats.org/drawingml/2006/main">
            <a:r>
              <a:t>2 Denn mit dem Urteil, mit dem ihr richtet, werdet ihr gerichtet; und mit dem Maß, mit dem ihr messt, wird euch gemessen werden.</a:t>
            </a:r>
          </a:p>
          <a:p xmlns:a="http://schemas.openxmlformats.org/drawingml/2006/main">
            <a:r>
              <a:t>3 Warum siehst du den Splitter im Auge deines Bruders, bemerkst aber den Balken in deinem eigenen Auge nicht?</a:t>
            </a:r>
          </a:p>
          <a:p xmlns:a="http://schemas.openxmlformats.org/drawingml/2006/main">
            <a:r>
              <a:t>4 Oder wie kannst du deinem Bruder sagen: Lass mich den Splitter aus deinem Auge ziehen, während in deinem Auge ein Balken ist?</a:t>
            </a:r>
          </a:p>
          <a:p xmlns:a="http://schemas.openxmlformats.org/drawingml/2006/main">
            <a:r>
              <a:t>5 Heuchler! Ziehe zuerst den Balken aus deinem Auge. Dann wirst du klar sehen, wie du den Splitter aus dem Auge deines Bruders ziehen kannst.</a:t>
            </a:r>
          </a:p>
          <a:p xmlns:a="http://schemas.openxmlformats.org/drawingml/2006/main">
            <a:r>
              <a:t/>
            </a:r>
          </a:p>
          <a:p xmlns:a="http://schemas.openxmlformats.org/drawingml/2006/main">
            <a:r>
              <a:t>Die vier Bilder bilden erfundene moderne Situationen ab. Der Gesichtsausdruck lässt verschiedene Erklärungen zu: erster Eindruck; allein sitzender Schüler; Gespräch mit der Lehrkraft; Gespräch nach dem Unterricht.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Spielt einen kurzen Dialog. Die erste Person beginnt mit einem Fakt und einer Frage. Die zweite wählt „Ich habe die Aufgabe nicht verstanden“ oder „Ich habe es nicht geschafft, weil ich es aufgeschoben habe“. Vereinbart danach, wer welchen Teil bis wann erledigt. Wechselt die Rollen. Zuhören bedeutet, Raum für eine Erklärung und Mitarbeit an einer Lösung zu geben.</a:t>
            </a:r>
          </a:p>
          <a:p xmlns:a="http://schemas.openxmlformats.org/drawingml/2006/main">
            <a:r>
              <a:t>Orientierung: „Ich habe die Aufgabe nicht verstanden.“ — „Was genau ist unklar? Fragen wir die Lehrkraft, und anschließend bereitest du deinen Teil vor.“</a:t>
            </a:r>
          </a:p>
          <a:p xmlns:a="http://schemas.openxmlformats.org/drawingml/2006/main">
            <a:r>
              <a:t>Fazit: Wir können zuhören und einen konkreten nächsten Schritt besprechen.</a:t>
            </a:r>
          </a:p>
          <a:p xmlns:a="http://schemas.openxmlformats.org/drawingml/2006/main">
            <a:r>
              <a:t>Zeit: 30 Sekunden Rollen, 1,5 Minuten erster Dialog, 1,5 Minuten Rollenwechsel, 30 Sekunden Fazit.</a:t>
            </a:r>
          </a:p>
          <a:p xmlns:a="http://schemas.openxmlformats.org/drawingml/2006/main">
            <a:r>
              <a:t/>
            </a:r>
          </a:p>
          <a:p xmlns:a="http://schemas.openxmlformats.org/drawingml/2006/main">
            <a:r>
              <a:t>Lies Matthäus 7,1–5 vollständig. Bereite zwölf Folien vor. Drucke die erste Seite der Kopiervorlage pro Paar und die zweite pro Person aus. Stifte werden benötigt. Schneide drei Kategorien und sechs Aussagen aus. Für Schritt 3 genügen die ersten drei; die übrigen eignen sich als Zusatzbeispiel. Bewahrt die erste Entscheidung und Sicherheit bis Schritt 5 auf. An der Tafel können nur die Gesamtzahlen je Antwort stehen. Online sind gemeinsamer Bildschirm, mündliche Antworten oder Chat möglich; Kategorien und Nummern können ohne Ausdruck genannt werden.</a:t>
            </a:r>
          </a:p>
          <a:p xmlns:a="http://schemas.openxmlformats.org/drawingml/2006/main">
            <a:r>
              <a:t/>
            </a:r>
          </a:p>
          <a:p xmlns:a="http://schemas.openxmlformats.org/drawingml/2006/main">
            <a:r>
              <a:t>„Richtet nicht“ verbietet nicht, Unrecht zu erkennen oder Betroffene zu schützen. Man kann eine schädliche Handlung benennen und Hilfe holen. Vers 5 beginnt beim eigenen Balken und führt zur Hilfe für den Bruder. Es geht auch um Selbstprüfung. Die moderne Geschichte ist vollständig erfunden. Neuer Kontext bietet eine mögliche Erklärung, keine Diagnose und keine Rechtfertigung jedes Schadens. Bewertet Jugendliche nicht nach ihrer ersten Antwort. Eine Änderung nach neuen Informationen ist ein Lernanlass, kein Grund zur Beschämung. Ein Splitter ist ein kleines Holzstück. Heuchelei zeigt sich hier in unterschiedlichen Maßstäben für sich und andere. Eine Bitte um Hilfe beweist keinen bestimmten Grund. Im Dialog sind verschiedene Erklärungen und vernünftige Vereinbarungen möglich. Die ursprüngliche PowerPoint begleitet das Gespräch und benötigt keine automatische Abstimmung.</a:t>
            </a:r>
          </a:p>
          <a:p xmlns:a="http://schemas.openxmlformats.org/drawingml/2006/main">
            <a:r>
              <a:t/>
            </a:r>
          </a:p>
          <a:p xmlns:a="http://schemas.openxmlformats.org/drawingml/2006/main">
            <a:r>
              <a:t>Matthäus 7,1–5 · Übersetzung des bereitgestellten russischen Textes:</a:t>
            </a:r>
          </a:p>
          <a:p xmlns:a="http://schemas.openxmlformats.org/drawingml/2006/main">
            <a:r>
              <a:t>1 Richtet nicht, damit ihr nicht gerichtet werdet.</a:t>
            </a:r>
          </a:p>
          <a:p xmlns:a="http://schemas.openxmlformats.org/drawingml/2006/main">
            <a:r>
              <a:t>2 Denn mit dem Urteil, mit dem ihr richtet, werdet ihr gerichtet; und mit dem Maß, mit dem ihr messt, wird euch gemessen werden.</a:t>
            </a:r>
          </a:p>
          <a:p xmlns:a="http://schemas.openxmlformats.org/drawingml/2006/main">
            <a:r>
              <a:t>3 Warum siehst du den Splitter im Auge deines Bruders, bemerkst aber den Balken in deinem eigenen Auge nicht?</a:t>
            </a:r>
          </a:p>
          <a:p xmlns:a="http://schemas.openxmlformats.org/drawingml/2006/main">
            <a:r>
              <a:t>4 Oder wie kannst du deinem Bruder sagen: Lass mich den Splitter aus deinem Auge ziehen, während in deinem Auge ein Balken ist?</a:t>
            </a:r>
          </a:p>
          <a:p xmlns:a="http://schemas.openxmlformats.org/drawingml/2006/main">
            <a:r>
              <a:t>5 Heuchler! Ziehe zuerst den Balken aus deinem Auge. Dann wirst du klar sehen, wie du den Splitter aus dem Auge deines Bruders ziehen kannst.</a:t>
            </a:r>
          </a:p>
          <a:p xmlns:a="http://schemas.openxmlformats.org/drawingml/2006/main">
            <a:r>
              <a:t/>
            </a:r>
          </a:p>
          <a:p xmlns:a="http://schemas.openxmlformats.org/drawingml/2006/main">
            <a:r>
              <a:t>Die vier Bilder bilden erfundene moderne Situationen ab. Der Gesichtsausdruck lässt verschiedene Erklärungen zu: erster Eindruck; allein sitzender Schüler; Gespräch mit der Lehrkraft; Gespräch nach dem Unterricht.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Für „Sie macht immer alles kaputt“ brauchen wir einen konkreten Fall. Im gemeinsamen Dokument fehlt ein Absatz, aber wer ihn gelöscht hat, ist unbekannt. Formuliert einen Fakt und eine Frage: „Der Absatz, den wir gestern hinzugefügt haben, fehlt. Weißt du, was passiert ist?“ Wählt danach einen Schritt für die Woche: vor dem Urteil innehalten, einen Fakt klären oder eigene Voreiligkeit zugeben.</a:t>
            </a:r>
          </a:p>
          <a:p xmlns:a="http://schemas.openxmlformats.org/drawingml/2006/main">
            <a:r>
              <a:t>Orientierung: Die Frage betrifft ein Ereignis, sie beschuldigt niemanden, den Absatz gelöscht zu haben.</a:t>
            </a:r>
          </a:p>
          <a:p xmlns:a="http://schemas.openxmlformats.org/drawingml/2006/main">
            <a:r>
              <a:t>Fazit: Ein Fakt und eine Frage eröffnen ein ehrliches Gespräch.</a:t>
            </a:r>
          </a:p>
          <a:p xmlns:a="http://schemas.openxmlformats.org/drawingml/2006/main">
            <a:r>
              <a:t>Zeit: 30 Sekunden Fall, 1 Minute neuer Satz, 1 Minute Antworten, 30 Sekunden Wochenschritt.</a:t>
            </a:r>
          </a:p>
          <a:p xmlns:a="http://schemas.openxmlformats.org/drawingml/2006/main">
            <a:r>
              <a:t/>
            </a:r>
          </a:p>
          <a:p xmlns:a="http://schemas.openxmlformats.org/drawingml/2006/main">
            <a:r>
              <a:t>Lies Matthäus 7,1–5 vollständig. Bereite zwölf Folien vor. Drucke die erste Seite der Kopiervorlage pro Paar und die zweite pro Person aus. Stifte werden benötigt. Schneide drei Kategorien und sechs Aussagen aus. Für Schritt 3 genügen die ersten drei; die übrigen eignen sich als Zusatzbeispiel. Bewahrt die erste Entscheidung und Sicherheit bis Schritt 5 auf. An der Tafel können nur die Gesamtzahlen je Antwort stehen. Online sind gemeinsamer Bildschirm, mündliche Antworten oder Chat möglich; Kategorien und Nummern können ohne Ausdruck genannt werden.</a:t>
            </a:r>
          </a:p>
          <a:p xmlns:a="http://schemas.openxmlformats.org/drawingml/2006/main">
            <a:r>
              <a:t/>
            </a:r>
          </a:p>
          <a:p xmlns:a="http://schemas.openxmlformats.org/drawingml/2006/main">
            <a:r>
              <a:t>„Richtet nicht“ verbietet nicht, Unrecht zu erkennen oder Betroffene zu schützen. Man kann eine schädliche Handlung benennen und Hilfe holen. Vers 5 beginnt beim eigenen Balken und führt zur Hilfe für den Bruder. Es geht auch um Selbstprüfung. Die moderne Geschichte ist vollständig erfunden. Neuer Kontext bietet eine mögliche Erklärung, keine Diagnose und keine Rechtfertigung jedes Schadens. Bewertet Jugendliche nicht nach ihrer ersten Antwort. Eine Änderung nach neuen Informationen ist ein Lernanlass, kein Grund zur Beschämung. Ein Splitter ist ein kleines Holzstück. Heuchelei zeigt sich hier in unterschiedlichen Maßstäben für sich und andere. Eine Bitte um Hilfe beweist keinen bestimmten Grund. Im Dialog sind verschiedene Erklärungen und vernünftige Vereinbarungen möglich. Die ursprüngliche PowerPoint begleitet das Gespräch und benötigt keine automatische Abstimmung.</a:t>
            </a:r>
          </a:p>
          <a:p xmlns:a="http://schemas.openxmlformats.org/drawingml/2006/main">
            <a:r>
              <a:t/>
            </a:r>
          </a:p>
          <a:p xmlns:a="http://schemas.openxmlformats.org/drawingml/2006/main">
            <a:r>
              <a:t>Matthäus 7,1–5 · Übersetzung des bereitgestellten russischen Textes:</a:t>
            </a:r>
          </a:p>
          <a:p xmlns:a="http://schemas.openxmlformats.org/drawingml/2006/main">
            <a:r>
              <a:t>1 Richtet nicht, damit ihr nicht gerichtet werdet.</a:t>
            </a:r>
          </a:p>
          <a:p xmlns:a="http://schemas.openxmlformats.org/drawingml/2006/main">
            <a:r>
              <a:t>2 Denn mit dem Urteil, mit dem ihr richtet, werdet ihr gerichtet; und mit dem Maß, mit dem ihr messt, wird euch gemessen werden.</a:t>
            </a:r>
          </a:p>
          <a:p xmlns:a="http://schemas.openxmlformats.org/drawingml/2006/main">
            <a:r>
              <a:t>3 Warum siehst du den Splitter im Auge deines Bruders, bemerkst aber den Balken in deinem eigenen Auge nicht?</a:t>
            </a:r>
          </a:p>
          <a:p xmlns:a="http://schemas.openxmlformats.org/drawingml/2006/main">
            <a:r>
              <a:t>4 Oder wie kannst du deinem Bruder sagen: Lass mich den Splitter aus deinem Auge ziehen, während in deinem Auge ein Balken ist?</a:t>
            </a:r>
          </a:p>
          <a:p xmlns:a="http://schemas.openxmlformats.org/drawingml/2006/main">
            <a:r>
              <a:t>5 Heuchler! Ziehe zuerst den Balken aus deinem Auge. Dann wirst du klar sehen, wie du den Splitter aus dem Auge deines Bruders ziehen kannst.</a:t>
            </a:r>
          </a:p>
          <a:p xmlns:a="http://schemas.openxmlformats.org/drawingml/2006/main">
            <a:r>
              <a:t/>
            </a:r>
          </a:p>
          <a:p xmlns:a="http://schemas.openxmlformats.org/drawingml/2006/main">
            <a:r>
              <a:t>Die vier Bilder bilden erfundene moderne Situationen ab. Der Gesichtsausdruck lässt verschiedene Erklärungen zu: erster Eindruck; allein sitzender Schüler; Gespräch mit der Lehrkraft; Gespräch nach dem Unterricht.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Vergleicht eure erste und erneute Erklärung. Hat sich die Antwort oder die Sicherheit verändert? Was zeigt die Grenzen unseres Wissens? Jesus spricht vom eigenen Balken: Bevor wir andere verbessern, sollen wir unser Unrecht sehen. Beendet freiwillig den Satz „Bevor ich einen Menschen verurteile, kann ich …“. Auf Wunsch beten wir: „Herr, hilf uns, unsere Fehler zu sehen und den Nächsten liebevoll zu unterstützen.“</a:t>
            </a:r>
          </a:p>
          <a:p xmlns:a="http://schemas.openxmlformats.org/drawingml/2006/main">
            <a:r>
              <a:t>Orientierung: Die Antwort darf sich ändern oder gleich bleiben. Entscheidend sind die Begründung und die Bereitschaft, Grenzen des Wissens anzuerkennen.</a:t>
            </a:r>
          </a:p>
          <a:p xmlns:a="http://schemas.openxmlformats.org/drawingml/2006/main">
            <a:r>
              <a:t>Fazit: Ein klarer Blick auf uns selbst hilft, anderen ehrlich und behutsam zu begegnen.</a:t>
            </a:r>
          </a:p>
          <a:p xmlns:a="http://schemas.openxmlformats.org/drawingml/2006/main">
            <a:r>
              <a:t>Zeit: 30 Sekunden Notizen vergleichen, 1 Minute Abschlussantworten, 30 Sekunden Abschluss oder Gebet.</a:t>
            </a:r>
          </a:p>
          <a:p xmlns:a="http://schemas.openxmlformats.org/drawingml/2006/main">
            <a:r>
              <a:t/>
            </a:r>
          </a:p>
          <a:p xmlns:a="http://schemas.openxmlformats.org/drawingml/2006/main">
            <a:r>
              <a:t>Lies Matthäus 7,1–5 vollständig. Bereite zwölf Folien vor. Drucke die erste Seite der Kopiervorlage pro Paar und die zweite pro Person aus. Stifte werden benötigt. Schneide drei Kategorien und sechs Aussagen aus. Für Schritt 3 genügen die ersten drei; die übrigen eignen sich als Zusatzbeispiel. Bewahrt die erste Entscheidung und Sicherheit bis Schritt 5 auf. An der Tafel können nur die Gesamtzahlen je Antwort stehen. Online sind gemeinsamer Bildschirm, mündliche Antworten oder Chat möglich; Kategorien und Nummern können ohne Ausdruck genannt werden.</a:t>
            </a:r>
          </a:p>
          <a:p xmlns:a="http://schemas.openxmlformats.org/drawingml/2006/main">
            <a:r>
              <a:t/>
            </a:r>
          </a:p>
          <a:p xmlns:a="http://schemas.openxmlformats.org/drawingml/2006/main">
            <a:r>
              <a:t>„Richtet nicht“ verbietet nicht, Unrecht zu erkennen oder Betroffene zu schützen. Man kann eine schädliche Handlung benennen und Hilfe holen. Vers 5 beginnt beim eigenen Balken und führt zur Hilfe für den Bruder. Es geht auch um Selbstprüfung. Die moderne Geschichte ist vollständig erfunden. Neuer Kontext bietet eine mögliche Erklärung, keine Diagnose und keine Rechtfertigung jedes Schadens. Bewertet Jugendliche nicht nach ihrer ersten Antwort. Eine Änderung nach neuen Informationen ist ein Lernanlass, kein Grund zur Beschämung. Ein Splitter ist ein kleines Holzstück. Heuchelei zeigt sich hier in unterschiedlichen Maßstäben für sich und andere. Eine Bitte um Hilfe beweist keinen bestimmten Grund. Im Dialog sind verschiedene Erklärungen und vernünftige Vereinbarungen möglich. Die ursprüngliche PowerPoint begleitet das Gespräch und benötigt keine automatische Abstimmung.</a:t>
            </a:r>
          </a:p>
          <a:p xmlns:a="http://schemas.openxmlformats.org/drawingml/2006/main">
            <a:r>
              <a:t/>
            </a:r>
          </a:p>
          <a:p xmlns:a="http://schemas.openxmlformats.org/drawingml/2006/main">
            <a:r>
              <a:t>Matthäus 7,1–5 · Übersetzung des bereitgestellten russischen Textes:</a:t>
            </a:r>
          </a:p>
          <a:p xmlns:a="http://schemas.openxmlformats.org/drawingml/2006/main">
            <a:r>
              <a:t>1 Richtet nicht, damit ihr nicht gerichtet werdet.</a:t>
            </a:r>
          </a:p>
          <a:p xmlns:a="http://schemas.openxmlformats.org/drawingml/2006/main">
            <a:r>
              <a:t>2 Denn mit dem Urteil, mit dem ihr richtet, werdet ihr gerichtet; und mit dem Maß, mit dem ihr messt, wird euch gemessen werden.</a:t>
            </a:r>
          </a:p>
          <a:p xmlns:a="http://schemas.openxmlformats.org/drawingml/2006/main">
            <a:r>
              <a:t>3 Warum siehst du den Splitter im Auge deines Bruders, bemerkst aber den Balken in deinem eigenen Auge nicht?</a:t>
            </a:r>
          </a:p>
          <a:p xmlns:a="http://schemas.openxmlformats.org/drawingml/2006/main">
            <a:r>
              <a:t>4 Oder wie kannst du deinem Bruder sagen: Lass mich den Splitter aus deinem Auge ziehen, während in deinem Auge ein Balken ist?</a:t>
            </a:r>
          </a:p>
          <a:p xmlns:a="http://schemas.openxmlformats.org/drawingml/2006/main">
            <a:r>
              <a:t>5 Heuchler! Ziehe zuerst den Balken aus deinem Auge. Dann wirst du klar sehen, wie du den Splitter aus dem Auge deines Bruders ziehen kannst.</a:t>
            </a:r>
          </a:p>
          <a:p xmlns:a="http://schemas.openxmlformats.org/drawingml/2006/main">
            <a:r>
              <a:t/>
            </a:r>
          </a:p>
          <a:p xmlns:a="http://schemas.openxmlformats.org/drawingml/2006/main">
            <a:r>
              <a:t>Die vier Bilder bilden erfundene moderne Situationen ab. Der Gesichtsausdruck lässt verschiedene Erklärungen zu: erster Eindruck; allein sitzender Schüler; Gespräch mit der Lehrkraft; Gespräch nach dem Unterricht.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b166635b9d49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a460a8bd4142de" /><Relationship Type="http://schemas.openxmlformats.org/officeDocument/2006/relationships/slideLayout" Target="/ppt/slideLayouts/slideLayout1.xml" Id="R518334dde7af48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8334dde7af48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15f04c65f242fd" /><Relationship Type="http://schemas.openxmlformats.org/officeDocument/2006/relationships/image" Target="/ppt/media/image.jpeg" Id="R963e770090d74fbd" /><Relationship Type="http://schemas.openxmlformats.org/officeDocument/2006/relationships/notesSlide" Target="/ppt/notesSlides/notesSlide1.xml" Id="R72f9ee1163bc46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ca268f93d3489b" /><Relationship Type="http://schemas.openxmlformats.org/officeDocument/2006/relationships/image" Target="/ppt/media/image2.jpeg" Id="Rd2cc0a7eb3674f1b" /><Relationship Type="http://schemas.openxmlformats.org/officeDocument/2006/relationships/notesSlide" Target="/ppt/notesSlides/notesSlide2.xml" Id="R0a10905eaebc45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14a1cb8a784437" /><Relationship Type="http://schemas.openxmlformats.org/officeDocument/2006/relationships/image" Target="/ppt/media/image3.jpeg" Id="R01839b5ce0c04144" /><Relationship Type="http://schemas.openxmlformats.org/officeDocument/2006/relationships/notesSlide" Target="/ppt/notesSlides/notesSlide3.xml" Id="R4dcfba2de32742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2b13bb82a0b48d6" /><Relationship Type="http://schemas.openxmlformats.org/officeDocument/2006/relationships/image" Target="/ppt/media/image4.jpeg" Id="R6efbcde0a9554a3b" /><Relationship Type="http://schemas.openxmlformats.org/officeDocument/2006/relationships/notesSlide" Target="/ppt/notesSlides/notesSlide4.xml" Id="Rd9c6cf6ed0e74f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f04e876eb94ab2" /><Relationship Type="http://schemas.openxmlformats.org/officeDocument/2006/relationships/image" Target="/ppt/media/image5.jpeg" Id="Ra8e9a230ac514229" /><Relationship Type="http://schemas.openxmlformats.org/officeDocument/2006/relationships/notesSlide" Target="/ppt/notesSlides/notesSlide5.xml" Id="R6d3c138eb2324a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7df2c6955424dbc" /><Relationship Type="http://schemas.openxmlformats.org/officeDocument/2006/relationships/image" Target="/ppt/media/image6.jpeg" Id="R0627c661ea8f41ff" /><Relationship Type="http://schemas.openxmlformats.org/officeDocument/2006/relationships/notesSlide" Target="/ppt/notesSlides/notesSlide6.xml" Id="R8c96139434ba41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86be22e7524e86" /><Relationship Type="http://schemas.openxmlformats.org/officeDocument/2006/relationships/image" Target="/ppt/media/image7.jpeg" Id="R4249b1f4db104807" /><Relationship Type="http://schemas.openxmlformats.org/officeDocument/2006/relationships/notesSlide" Target="/ppt/notesSlides/notesSlide7.xml" Id="R1ba46d6ab6fb43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6085f10e06b49c3" /><Relationship Type="http://schemas.openxmlformats.org/officeDocument/2006/relationships/image" Target="/ppt/media/image8.jpeg" Id="Rd376704945264adb" /><Relationship Type="http://schemas.openxmlformats.org/officeDocument/2006/relationships/notesSlide" Target="/ppt/notesSlides/notesSlide8.xml" Id="R73e1163d254b48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ad14dcb96141ba" /><Relationship Type="http://schemas.openxmlformats.org/officeDocument/2006/relationships/image" Target="/ppt/media/image9.jpeg" Id="Re61da311d1cd4c3c" /><Relationship Type="http://schemas.openxmlformats.org/officeDocument/2006/relationships/notesSlide" Target="/ppt/notesSlides/notesSlide9.xml" Id="R83952bfea4334a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4df618163214ff5" /><Relationship Type="http://schemas.openxmlformats.org/officeDocument/2006/relationships/image" Target="/ppt/media/image10.jpeg" Id="R2c331e17f998434d" /><Relationship Type="http://schemas.openxmlformats.org/officeDocument/2006/relationships/notesSlide" Target="/ppt/notesSlides/notesSlide10.xml" Id="Rca1bf672fc1a4a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1b228f5463e4b75" /><Relationship Type="http://schemas.openxmlformats.org/officeDocument/2006/relationships/image" Target="/ppt/media/image11.jpeg" Id="Rab89e2de0bb84a2d" /><Relationship Type="http://schemas.openxmlformats.org/officeDocument/2006/relationships/notesSlide" Target="/ppt/notesSlides/notesSlide11.xml" Id="R49a2f1b0135449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2e94cadcdd147df" /><Relationship Type="http://schemas.openxmlformats.org/officeDocument/2006/relationships/image" Target="/ppt/media/image12.jpeg" Id="Rc9554bcd4a504e71" /><Relationship Type="http://schemas.openxmlformats.org/officeDocument/2006/relationships/notesSlide" Target="/ppt/notesSlides/notesSlide12.xml" Id="R2e182ba488534411"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7395BF-9ED2-4C37-8C4E-DD28F85DC823}"/>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Urteile nicht vorschnell</a:t>
            </a:r>
          </a:p>
        </p:txBody>
      </p:sp>
      <p:sp>
        <p:nvSpPr>
          <p:cNvPr id="2" name="">
            <a:extLst xmlns:a="http://schemas.openxmlformats.org/drawingml/2006/main">
              <a:ext uri="{FF2B5EF4-FFF2-40B4-BE49-F238E27FC236}">
                <a16:creationId xmlns:a16="http://schemas.microsoft.com/office/drawing/2014/main" id="{A98A4872-C151-48AB-9840-741752E7406F}"/>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13–15 Jahre · 45 Minuten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63e770090d74fbd"/>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0FDA3C7-0C9D-467E-AB8E-E0667B682A7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12</a:t>
            </a:r>
          </a:p>
        </p:txBody>
      </p:sp>
    </p:spTree>
    <p:extLst>
      <p:ext uri="{BB962C8B-B14F-4D97-AF65-F5344CB8AC3E}">
        <p14:creationId xmlns:p14="http://schemas.microsoft.com/office/powerpoint/2010/main" val="203080090"/>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F7E494-B03E-4281-985E-0AF404EC3CC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Der erste Eindruck</a:t>
            </a:r>
          </a:p>
        </p:txBody>
      </p:sp>
      <p:sp>
        <p:nvSpPr>
          <p:cNvPr id="2" name="">
            <a:extLst xmlns:a="http://schemas.openxmlformats.org/drawingml/2006/main">
              <a:ext uri="{FF2B5EF4-FFF2-40B4-BE49-F238E27FC236}">
                <a16:creationId xmlns:a16="http://schemas.microsoft.com/office/drawing/2014/main" id="{AEE22C03-2ED8-4029-A148-A5E983AA9DE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Schüler beteiligt sich nicht an der gemeinsamen Arbeit.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2cc0a7eb3674f1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6FFF526-5CC3-4AB2-A7E0-D200622963F0}"/>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12</a:t>
            </a:r>
          </a:p>
        </p:txBody>
      </p:sp>
    </p:spTree>
    <p:extLst>
      <p:ext uri="{BB962C8B-B14F-4D97-AF65-F5344CB8AC3E}">
        <p14:creationId xmlns:p14="http://schemas.microsoft.com/office/powerpoint/2010/main" val="765979046"/>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9ECC4F-6CB7-4054-86BC-9FC7AFB1ADF2}"/>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Gesehen und hinzugedacht</a:t>
            </a:r>
          </a:p>
        </p:txBody>
      </p:sp>
      <p:sp>
        <p:nvSpPr>
          <p:cNvPr id="2" name="">
            <a:extLst xmlns:a="http://schemas.openxmlformats.org/drawingml/2006/main">
              <a:ext uri="{FF2B5EF4-FFF2-40B4-BE49-F238E27FC236}">
                <a16:creationId xmlns:a16="http://schemas.microsoft.com/office/drawing/2014/main" id="{0D3C6CB0-B90D-4181-A66B-8C685FC0D535}"/>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sitzt allein.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will nicht helfen.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ist immer egoistisch.</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1839b5ce0c04144"/>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B9192B3-D373-4CA8-B3C5-37A45AC7BCDF}"/>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12</a:t>
            </a:r>
          </a:p>
        </p:txBody>
      </p:sp>
    </p:spTree>
    <p:extLst>
      <p:ext uri="{BB962C8B-B14F-4D97-AF65-F5344CB8AC3E}">
        <p14:creationId xmlns:p14="http://schemas.microsoft.com/office/powerpoint/2010/main" val="563152128"/>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34BF13-AF6B-49E2-9109-77739E9C6502}"/>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Splitter und Balken</a:t>
            </a:r>
          </a:p>
        </p:txBody>
      </p:sp>
      <p:sp>
        <p:nvSpPr>
          <p:cNvPr id="2" name="">
            <a:extLst xmlns:a="http://schemas.openxmlformats.org/drawingml/2006/main">
              <a:ext uri="{FF2B5EF4-FFF2-40B4-BE49-F238E27FC236}">
                <a16:creationId xmlns:a16="http://schemas.microsoft.com/office/drawing/2014/main" id="{46C09861-016C-42C8-BC0E-929506BA8E15}"/>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„Ziehe zuerst den Balken aus deinem Auge.“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efbcde0a9554a3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2C7117F-4609-40A3-939F-4866ABCAB2D6}"/>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Matthäus 7,1–5 · Übersetzung des bereitgestellten russischen Textes</a:t>
            </a:r>
          </a:p>
        </p:txBody>
      </p:sp>
      <p:sp>
        <p:nvSpPr>
          <p:cNvPr id="5" name="">
            <a:extLst xmlns:a="http://schemas.openxmlformats.org/drawingml/2006/main">
              <a:ext uri="{FF2B5EF4-FFF2-40B4-BE49-F238E27FC236}">
                <a16:creationId xmlns:a16="http://schemas.microsoft.com/office/drawing/2014/main" id="{ABF16C63-53CE-4EB7-ABB8-CE2D23F6BDBA}"/>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12</a:t>
            </a:r>
          </a:p>
        </p:txBody>
      </p:sp>
    </p:spTree>
    <p:extLst>
      <p:ext uri="{BB962C8B-B14F-4D97-AF65-F5344CB8AC3E}">
        <p14:creationId xmlns:p14="http://schemas.microsoft.com/office/powerpoint/2010/main" val="325623870"/>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E7ADB81-40F7-4495-BF6E-9D33856AD4BB}"/>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Neuer Kontext</a:t>
            </a:r>
          </a:p>
        </p:txBody>
      </p:sp>
      <p:sp>
        <p:nvSpPr>
          <p:cNvPr id="2" name="">
            <a:extLst xmlns:a="http://schemas.openxmlformats.org/drawingml/2006/main">
              <a:ext uri="{FF2B5EF4-FFF2-40B4-BE49-F238E27FC236}">
                <a16:creationId xmlns:a16="http://schemas.microsoft.com/office/drawing/2014/main" id="{36BB0447-2144-4A54-86A6-DAD0439D902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bittet die Lehrkraft um Hilfe.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kennen noch immer nicht die ganze Geschichte.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8e9a230ac514229"/>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A88B103-4ED9-430E-82C9-D886DB8EC82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12</a:t>
            </a:r>
          </a:p>
        </p:txBody>
      </p:sp>
    </p:spTree>
    <p:extLst>
      <p:ext uri="{BB962C8B-B14F-4D97-AF65-F5344CB8AC3E}">
        <p14:creationId xmlns:p14="http://schemas.microsoft.com/office/powerpoint/2010/main" val="2131824282"/>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3683DB-71E6-4FD0-BFE9-279F1E5545E6}"/>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Mein Balken</a:t>
            </a:r>
          </a:p>
        </p:txBody>
      </p:sp>
      <p:sp>
        <p:nvSpPr>
          <p:cNvPr id="2" name="">
            <a:extLst xmlns:a="http://schemas.openxmlformats.org/drawingml/2006/main">
              <a:ext uri="{FF2B5EF4-FFF2-40B4-BE49-F238E27FC236}">
                <a16:creationId xmlns:a16="http://schemas.microsoft.com/office/drawing/2014/main" id="{2F1CA648-875F-4B05-9FB7-775CDC105FBC}"/>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Auch ich ziehe manchmal Schlüsse, ohne vorher zu fragen.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627c661ea8f41ff"/>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B484677-FB4A-42AB-98EE-F5332EDF13C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12</a:t>
            </a:r>
          </a:p>
        </p:txBody>
      </p:sp>
    </p:spTree>
    <p:extLst>
      <p:ext uri="{BB962C8B-B14F-4D97-AF65-F5344CB8AC3E}">
        <p14:creationId xmlns:p14="http://schemas.microsoft.com/office/powerpoint/2010/main" val="561332377"/>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333151-ECDE-4566-BC05-77DD422471E0}"/>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Die Handlung und der Mensch</a:t>
            </a:r>
          </a:p>
        </p:txBody>
      </p:sp>
      <p:sp>
        <p:nvSpPr>
          <p:cNvPr id="2" name="">
            <a:extLst xmlns:a="http://schemas.openxmlformats.org/drawingml/2006/main">
              <a:ext uri="{FF2B5EF4-FFF2-40B4-BE49-F238E27FC236}">
                <a16:creationId xmlns:a16="http://schemas.microsoft.com/office/drawing/2014/main" id="{3272510B-C5B7-4FF3-8722-FC8C12F80758}"/>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„Du bist faul.“</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„Dein Teil ist noch nicht fertig.“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249b1f4db10480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D1D6552-4314-4777-8B00-C67E1E276E09}"/>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12</a:t>
            </a:r>
          </a:p>
        </p:txBody>
      </p:sp>
    </p:spTree>
    <p:extLst>
      <p:ext uri="{BB962C8B-B14F-4D97-AF65-F5344CB8AC3E}">
        <p14:creationId xmlns:p14="http://schemas.microsoft.com/office/powerpoint/2010/main" val="1578274048"/>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A662D5-A0C4-4E07-8365-BF8890B801D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Wenn eine Handlung gefährlich ist</a:t>
            </a:r>
          </a:p>
        </p:txBody>
      </p:sp>
      <p:sp>
        <p:nvSpPr>
          <p:cNvPr id="2" name="">
            <a:extLst xmlns:a="http://schemas.openxmlformats.org/drawingml/2006/main">
              <a:ext uri="{FF2B5EF4-FFF2-40B4-BE49-F238E27FC236}">
                <a16:creationId xmlns:a16="http://schemas.microsoft.com/office/drawing/2014/main" id="{49B64597-8C85-438B-BF35-EE6318822788}"/>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Schüler wird im Chat gemobbt. Darf man das als schädlich benennen?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376704945264ad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AB95B3C-132C-4778-BB72-7990B88C204F}"/>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12</a:t>
            </a:r>
          </a:p>
        </p:txBody>
      </p:sp>
    </p:spTree>
    <p:extLst>
      <p:ext uri="{BB962C8B-B14F-4D97-AF65-F5344CB8AC3E}">
        <p14:creationId xmlns:p14="http://schemas.microsoft.com/office/powerpoint/2010/main" val="1921849370"/>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5DD8E7-FEC7-4397-9D26-CA03C39752C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Eine Frage vor dem Urteil</a:t>
            </a:r>
          </a:p>
        </p:txBody>
      </p:sp>
      <p:sp>
        <p:nvSpPr>
          <p:cNvPr id="2" name="">
            <a:extLst xmlns:a="http://schemas.openxmlformats.org/drawingml/2006/main">
              <a:ext uri="{FF2B5EF4-FFF2-40B4-BE49-F238E27FC236}">
                <a16:creationId xmlns:a16="http://schemas.microsoft.com/office/drawing/2014/main" id="{552A9A7B-5A24-49B1-9BA5-9BF149364327}"/>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ist passiert?“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„Habe ich das richtig verstanden?“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 Hilfe brauchst du?“</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61da311d1cd4c3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8DF9832-2242-4E13-B750-C416F3E0AEA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12</a:t>
            </a:r>
          </a:p>
        </p:txBody>
      </p:sp>
    </p:spTree>
    <p:extLst>
      <p:ext uri="{BB962C8B-B14F-4D97-AF65-F5344CB8AC3E}">
        <p14:creationId xmlns:p14="http://schemas.microsoft.com/office/powerpoint/2010/main" val="223876163"/>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0A9D33-8D13-412E-8EA0-B35F5AAA3E97}"/>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Gespräch nach dem Unterricht</a:t>
            </a:r>
          </a:p>
        </p:txBody>
      </p:sp>
      <p:sp>
        <p:nvSpPr>
          <p:cNvPr id="2" name="">
            <a:extLst xmlns:a="http://schemas.openxmlformats.org/drawingml/2006/main">
              <a:ext uri="{FF2B5EF4-FFF2-40B4-BE49-F238E27FC236}">
                <a16:creationId xmlns:a16="http://schemas.microsoft.com/office/drawing/2014/main" id="{EE29AF64-ACDA-4A52-BEEB-6773A4DB8942}"/>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habe bemerkt, dass die Arbeit noch nicht fertig ist. Was ist passiert?“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c331e17f998434d"/>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BE07592-7290-42C1-91DC-EC8EA1EBAA75}"/>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12</a:t>
            </a:r>
          </a:p>
        </p:txBody>
      </p:sp>
    </p:spTree>
    <p:extLst>
      <p:ext uri="{BB962C8B-B14F-4D97-AF65-F5344CB8AC3E}">
        <p14:creationId xmlns:p14="http://schemas.microsoft.com/office/powerpoint/2010/main" val="1187463281"/>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5AEAAC4-1B6C-4542-9A72-30120C6CC75B}"/>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pauschales Urteil umformulieren</a:t>
            </a:r>
          </a:p>
        </p:txBody>
      </p:sp>
      <p:sp>
        <p:nvSpPr>
          <p:cNvPr id="2" name="">
            <a:extLst xmlns:a="http://schemas.openxmlformats.org/drawingml/2006/main">
              <a:ext uri="{FF2B5EF4-FFF2-40B4-BE49-F238E27FC236}">
                <a16:creationId xmlns:a16="http://schemas.microsoft.com/office/drawing/2014/main" id="{822EC413-408B-4BED-BBD9-B4C4975B380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„Sie macht immer alles kaputt.“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b89e2de0bb84a2d"/>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7B2A9BA-BABC-4E6D-A86A-C3E7C0E7A5B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12</a:t>
            </a:r>
          </a:p>
        </p:txBody>
      </p:sp>
    </p:spTree>
    <p:extLst>
      <p:ext uri="{BB962C8B-B14F-4D97-AF65-F5344CB8AC3E}">
        <p14:creationId xmlns:p14="http://schemas.microsoft.com/office/powerpoint/2010/main" val="721651392"/>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17E989-F834-4200-9727-D1C94E834FE6}"/>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aufmerksamer Blick</a:t>
            </a:r>
          </a:p>
        </p:txBody>
      </p:sp>
      <p:sp>
        <p:nvSpPr>
          <p:cNvPr id="2" name="">
            <a:extLst xmlns:a="http://schemas.openxmlformats.org/drawingml/2006/main">
              <a:ext uri="{FF2B5EF4-FFF2-40B4-BE49-F238E27FC236}">
                <a16:creationId xmlns:a16="http://schemas.microsoft.com/office/drawing/2014/main" id="{D2EEAA67-AF34-4962-8A71-90F376104B71}"/>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kann einen Fakt prüfen, meinen Fehler erkennen und eine Frage stellen.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9554bcd4a504e71"/>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069DB0A-00B2-428F-B426-5A7190E014C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12</a:t>
            </a:r>
          </a:p>
        </p:txBody>
      </p:sp>
    </p:spTree>
    <p:extLst>
      <p:ext uri="{BB962C8B-B14F-4D97-AF65-F5344CB8AC3E}">
        <p14:creationId xmlns:p14="http://schemas.microsoft.com/office/powerpoint/2010/main" val="7743945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2026-10-03T22:18:54.0470000Z</dcterms:created>
  <dcterms:modified xsi:type="dcterms:W3CDTF">2026-10-03T22:18:54.0470000Z</dcterms:modified>
</coreProperties>
</file>