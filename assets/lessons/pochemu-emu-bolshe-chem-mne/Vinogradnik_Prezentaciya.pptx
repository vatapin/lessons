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a4524fb6f4f68" /><Relationship Type="http://schemas.openxmlformats.org/officeDocument/2006/relationships/extended-properties" Target="/docProps/app.xml" Id="R1bcc491b08694943" /><Relationship Type="http://schemas.openxmlformats.org/officeDocument/2006/relationships/officeDocument" Target="/ppt/presentation.xml" Id="R09655878ddef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8db21e9054731"/>
  </p:sldMasterIdLst>
  <p:notesMasterIdLst>
    <p:notesMasterId xmlns:r="http://schemas.openxmlformats.org/officeDocument/2006/relationships" r:id="Rb6cbe586dfd84f93"/>
  </p:notesMasterIdLst>
  <p:sldIdLst>
    <p:sldId xmlns:r="http://schemas.openxmlformats.org/officeDocument/2006/relationships" id="256" r:id="R4af76abbe9b241a9"/>
    <p:sldId xmlns:r="http://schemas.openxmlformats.org/officeDocument/2006/relationships" id="257" r:id="Rfc9a42297663406e"/>
    <p:sldId xmlns:r="http://schemas.openxmlformats.org/officeDocument/2006/relationships" id="258" r:id="Rcf891d608da34438"/>
    <p:sldId xmlns:r="http://schemas.openxmlformats.org/officeDocument/2006/relationships" id="259" r:id="R2ddadc98e23046ee"/>
    <p:sldId xmlns:r="http://schemas.openxmlformats.org/officeDocument/2006/relationships" id="260" r:id="R0a5da6097b3c428b"/>
    <p:sldId xmlns:r="http://schemas.openxmlformats.org/officeDocument/2006/relationships" id="261" r:id="Rd2b9ef48a42f4e4e"/>
    <p:sldId xmlns:r="http://schemas.openxmlformats.org/officeDocument/2006/relationships" id="262" r:id="Ra5dd6a6e77f14e4a"/>
    <p:sldId xmlns:r="http://schemas.openxmlformats.org/officeDocument/2006/relationships" id="263" r:id="R4256821e68784e39"/>
    <p:sldId xmlns:r="http://schemas.openxmlformats.org/officeDocument/2006/relationships" id="264" r:id="Rc733d208f63c4cd2"/>
    <p:sldId xmlns:r="http://schemas.openxmlformats.org/officeDocument/2006/relationships" id="265" r:id="R389bcf52884246a2"/>
    <p:sldId xmlns:r="http://schemas.openxmlformats.org/officeDocument/2006/relationships" id="266" r:id="Ra58fe84547a840a2"/>
    <p:sldId xmlns:r="http://schemas.openxmlformats.org/officeDocument/2006/relationships" id="267" r:id="Rb02926ad785e47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b2cab2afd4772" /><Relationship Type="http://schemas.openxmlformats.org/officeDocument/2006/relationships/slideMaster" Target="/ppt/slideMasters/slideMaster1.xml" Id="R15e8db21e9054731" /><Relationship Type="http://schemas.openxmlformats.org/officeDocument/2006/relationships/notesMaster" Target="/ppt/notesMasters/notesMaster1.xml" Id="Rb6cbe586dfd84f93" /><Relationship Type="http://schemas.openxmlformats.org/officeDocument/2006/relationships/presProps" Target="/ppt/presProps.xml" Id="Rcba260c4567e4c71" /><Relationship Type="http://schemas.openxmlformats.org/officeDocument/2006/relationships/tableStyles" Target="/ppt/tableStyles.xml" Id="R467ee22e3c3e4e36" /><Relationship Type="http://schemas.openxmlformats.org/officeDocument/2006/relationships/slide" Target="/ppt/slides/slide1.xml" Id="R4af76abbe9b241a9" /><Relationship Type="http://schemas.openxmlformats.org/officeDocument/2006/relationships/slide" Target="/ppt/slides/slide2.xml" Id="Rfc9a42297663406e" /><Relationship Type="http://schemas.openxmlformats.org/officeDocument/2006/relationships/slide" Target="/ppt/slides/slide3.xml" Id="Rcf891d608da34438" /><Relationship Type="http://schemas.openxmlformats.org/officeDocument/2006/relationships/slide" Target="/ppt/slides/slide4.xml" Id="R2ddadc98e23046ee" /><Relationship Type="http://schemas.openxmlformats.org/officeDocument/2006/relationships/slide" Target="/ppt/slides/slide5.xml" Id="R0a5da6097b3c428b" /><Relationship Type="http://schemas.openxmlformats.org/officeDocument/2006/relationships/slide" Target="/ppt/slides/slide6.xml" Id="Rd2b9ef48a42f4e4e" /><Relationship Type="http://schemas.openxmlformats.org/officeDocument/2006/relationships/slide" Target="/ppt/slides/slide7.xml" Id="Ra5dd6a6e77f14e4a" /><Relationship Type="http://schemas.openxmlformats.org/officeDocument/2006/relationships/slide" Target="/ppt/slides/slide8.xml" Id="R4256821e68784e39" /><Relationship Type="http://schemas.openxmlformats.org/officeDocument/2006/relationships/slide" Target="/ppt/slides/slide9.xml" Id="Rc733d208f63c4cd2" /><Relationship Type="http://schemas.openxmlformats.org/officeDocument/2006/relationships/slide" Target="/ppt/slides/slide10.xml" Id="R389bcf52884246a2" /><Relationship Type="http://schemas.openxmlformats.org/officeDocument/2006/relationships/slide" Target="/ppt/slides/slide11.xml" Id="Ra58fe84547a840a2" /><Relationship Type="http://schemas.openxmlformats.org/officeDocument/2006/relationships/slide" Target="/ppt/slides/slide12.xml" Id="Rb02926ad785e47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6d775c97a5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56ea1f0564bed" /><Relationship Type="http://schemas.openxmlformats.org/officeDocument/2006/relationships/notesMaster" Target="/ppt/notesMasters/notesMaster1.xml" Id="Rfbba8e36762d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61f06f18e4236" /><Relationship Type="http://schemas.openxmlformats.org/officeDocument/2006/relationships/notesMaster" Target="/ppt/notesMasters/notesMaster1.xml" Id="R2504f3b6fba949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2e18a678804606" /><Relationship Type="http://schemas.openxmlformats.org/officeDocument/2006/relationships/notesMaster" Target="/ppt/notesMasters/notesMaster1.xml" Id="R6118d507b99640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52c4e822c24b92" /><Relationship Type="http://schemas.openxmlformats.org/officeDocument/2006/relationships/notesMaster" Target="/ppt/notesMasters/notesMaster1.xml" Id="R7cbd10feed1a46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e510b253c4c4c" /><Relationship Type="http://schemas.openxmlformats.org/officeDocument/2006/relationships/notesMaster" Target="/ppt/notesMasters/notesMaster1.xml" Id="Rbecd1d549756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d2090433e84a54" /><Relationship Type="http://schemas.openxmlformats.org/officeDocument/2006/relationships/notesMaster" Target="/ppt/notesMasters/notesMaster1.xml" Id="R09d10700e28a45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0b350f47c4400a" /><Relationship Type="http://schemas.openxmlformats.org/officeDocument/2006/relationships/notesMaster" Target="/ppt/notesMasters/notesMaster1.xml" Id="R57e9cd1258fa4e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cf45a0caa6495a" /><Relationship Type="http://schemas.openxmlformats.org/officeDocument/2006/relationships/notesMaster" Target="/ppt/notesMasters/notesMaster1.xml" Id="R1e582a828c984d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e9427364a4614" /><Relationship Type="http://schemas.openxmlformats.org/officeDocument/2006/relationships/notesMaster" Target="/ppt/notesMasters/notesMaster1.xml" Id="R84cc66d19d7d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6438db14b9411c" /><Relationship Type="http://schemas.openxmlformats.org/officeDocument/2006/relationships/notesMaster" Target="/ppt/notesMasters/notesMaster1.xml" Id="R291962090acf4d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9bc18c2aa74f3d" /><Relationship Type="http://schemas.openxmlformats.org/officeDocument/2006/relationships/notesMaster" Target="/ppt/notesMasters/notesMaster1.xml" Id="Rd697414e5125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f330a4bc52471b" /><Relationship Type="http://schemas.openxmlformats.org/officeDocument/2006/relationships/notesMaster" Target="/ppt/notesMasters/notesMaster1.xml" Id="R6b10a1703211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Почему ему столько же, сколько мне? — 2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Один работник трудился с утра, другой только час. Вечером каждому дали по одному динарию. Первый говорит: «Почему ему столько же, сколько мне?» Что именно его возмущает?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Покажите два одинаковых жетона. Участники молча замечают первую реакцию. Не проводите голосование о правильности хозяина до чтения.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Кому дали больше монет?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Никому. Различается время труда, плата одинакова. Вопрос первых — почему последних уравняли с ними. Ответ будем искать в полной притче о Царстве Небесном.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1+1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Работники в винограднике — 3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Прочитаем Мф. 20:1–16 целиком. Заметим договор утром, пять приглашений, порядок платы и слова хозяина.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Читайте все шестнадцать стихов подряд. Семь участников заранее получают роли. Сразу после чтения начинайте сценку; обсуждение после её финала.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Что обещали первым и что получили последние?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Первым обещали динарий за день. Последние получили динарий; первые получили столько же. Последних никто не нанял.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2,5+0,5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Мф. 20:1–16. Синодальный перевод. Источник: https://bible.by/syn/40/20/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20:1.** Ибо Царство Небесное подобно хозяину дома, который вышел рано поутру нанять работников в виноградник свой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20:2.** и, договорившись с работниками по динарию на день, послал их в виноградник свой;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20:3.** выйдя около третьего часа, он увидел других, стоящих на торжище праздно,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20:4.** и им сказал: «идите и вы в виноградник мой, и что следовать будет, дам вам». Они пошли.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20:5.** Опять выйдя около шестого и девятого часа, сделал то 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20:6.** Наконец, выйдя около одиннадцатого часа, он нашёл других, стоящих праздно, и говорит им: «что вы стоите здесь целый день праздно?»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20:7.** Они говорят ему: «никто нас не нанял». Он говорит им: «идите и вы в виноградник мой, и что следовать будет, получите».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20:8.** Когда же наступил вечер, говорит господин виноградника управителю своему: «позови работников и отдай им плату, начав с последних до первых».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20:9.** И пришедшие около одиннадцатого часа получили по динарию.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20:10.** Пришедшие же первыми думали, что они получат больше, но получили и они по динарию;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20:11.** и, получив, стали роптать на хозяина дома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20:12.** и говорили: «эти последние работали один час, и ты сравнял их с нами, перенёсшими тягость дня и зной».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20:13.** Он же в ответ сказал одному из них: «друг! я не обижаю тебя; не за динарий ли ты договорился со мною?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20:14.** возьми своё и пойди; я же хочу дать этому последнему то же, что и тебе;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20:15.** разве я не властен в своём делать, что хочу? или глаз твой завистлив оттого, что я добр?»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20:16.** Так будут последние первыми, и первые последними, ибо много званых, а мало избранных.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**Начало и утренний договор:** Семь ролей: хозяин, управитель и пять работников по времени найма. Каждый работник представляет группу; всего работников в притче не подсчитываем. Ведущий читает повествование. Рано утром хозяин договаривается с первым по динарию на день и посылает в виноградник. Первый принимает договор и начинает 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**Третий, шестой и девятый часы:** Около третьего часа хозяин приглашает следующего: «идите и вы в виноградник мой, и что следовать будет, дам вам». Работник присоединяется. Ведущий объявляет шестой час, затем девятый: хозяин делает то же, каждый соответствующий представитель начинает работу. Между выходами показываем течение дня, не останавливая сценку для обсуждения.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**Одиннадцатый час:** Хозяин находит последнего: «что вы стоите здесь целый день праздно?» Представитель отвечает: «никто нас не нанял». Хозяин: «идите и вы в виноградник мой, и что следовать будет, получите». Последний идёт работать. Причину не подменяем ленью или опозданием.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**Вечер и плата:** Хозяин управителю: «позови работников и отдай им плату, начав с последних до первых». Управитель приглашает в порядке: одиннадцатый, девятый, шестой, третий, раннее утро. Каждый из пяти представителей получает один одинаковый жетон. Ведущий читает ст. 9–10: пришедшие около одиннадцатого часа получают по динарию; первые думают получить больше, но получают тоже по динарию.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**Ропот и ответ:** Первый от имени ропщущих: «эти последние работали один час, и ты сравнял их с нами, перенёсшими тягость дня и зной». Хозяин: «друг! я не обижаю тебя; не за динарий ли ты договорился со мною? возьми своё и пойди; я же хочу дать этому последнему то же, что и тебе; разве я не властен в своём делать, что хочу? или глаз твой завистлив оттого, что я добр?»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**Заключение:** Ведущий читает слова Христа: «Так будут последние первыми, и первые последними, ибо много званых, а мало избранных». На этом сценка заканчивается; только теперь обсуждение. Не придумываем ответ работников после слов хозяина.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Разный труд и один динарий — 7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Разыграем весь день и вечер. Каждый представитель получает один одинаковый жетон. Первые ожидали большего, но договор хозяин исполнил.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Семь ролей: хозяин, управитель и пять представителей времени найма. Ведущий читает повествование и заключение Христа. Сохраните все выходы и плату с последних. Не добавляйте примирение или наказание.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Наблюдаем: когда у первых возникает ожидание получить больше?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После платы последним первые думают, что получат больше. Они ропщут, потому что хозяин сравнял последних с ними. Первым не уменьшили обещанный динарий.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3+2+2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Мф. 20:1–16. Синодальный перевод. Источник: https://bible.by/syn/40/20/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20:1.** Ибо Царство Небесное подобно хозяину дома, который вышел рано поутру нанять работников в виноградник свой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20:2.** и, договорившись с работниками по динарию на день, послал их в виноградник свой;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20:3.** выйдя около третьего часа, он увидел других, стоящих на торжище праздно,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20:4.** и им сказал: «идите и вы в виноградник мой, и что следовать будет, дам вам». Они пошли.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20:5.** Опять выйдя около шестого и девятого часа, сделал то 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20:6.** Наконец, выйдя около одиннадцатого часа, он нашёл других, стоящих праздно, и говорит им: «что вы стоите здесь целый день праздно?»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20:7.** Они говорят ему: «никто нас не нанял». Он говорит им: «идите и вы в виноградник мой, и что следовать будет, получите».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20:8.** Когда же наступил вечер, говорит господин виноградника управителю своему: «позови работников и отдай им плату, начав с последних до первых».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20:9.** И пришедшие около одиннадцатого часа получили по динарию.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20:10.** Пришедшие же первыми думали, что они получат больше, но получили и они по динарию;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20:11.** и, получив, стали роптать на хозяина дома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20:12.** и говорили: «эти последние работали один час, и ты сравнял их с нами, перенёсшими тягость дня и зной».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20:13.** Он же в ответ сказал одному из них: «друг! я не обижаю тебя; не за динарий ли ты договорился со мною?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20:14.** возьми своё и пойди; я же хочу дать этому последнему то же, что и тебе;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20:15.** разве я не властен в своём делать, что хочу? или глаз твой завистлив оттого, что я добр?»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**Мф. 20:16.** Так будут последние первыми, и первые последними, ибо много званых, а мало избранных.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**Начало и утренний договор:** Семь ролей: хозяин, управитель и пять работников по времени найма. Каждый работник представляет группу; всего работников в притче не подсчитываем. Ведущий читает повествование. Рано утром хозяин договаривается с первым по динарию на день и посылает в виноградник. Первый принимает договор и начинает 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**Третий, шестой и девятый часы:** Около третьего часа хозяин приглашает следующего: «идите и вы в виноградник мой, и что следовать будет, дам вам». Работник присоединяется. Ведущий объявляет шестой час, затем девятый: хозяин делает то же, каждый соответствующий представитель начинает работу. Между выходами показываем течение дня, не останавливая сценку для обсуждения.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**Одиннадцатый час:** Хозяин находит последнего: «что вы стоите здесь целый день праздно?» Представитель отвечает: «никто нас не нанял». Хозяин: «идите и вы в виноградник мой, и что следовать будет, получите». Последний идёт работать. Причину не подменяем ленью или опозданием.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**Вечер и плата:** Хозяин управителю: «позови работников и отдай им плату, начав с последних до первых». Управитель приглашает в порядке: одиннадцатый, девятый, шестой, третий, раннее утро. Каждый из пяти представителей получает один одинаковый жетон. Ведущий читает ст. 9–10: пришедшие около одиннадцатого часа получают по динарию; первые думают получить больше, но получают тоже по динарию.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**Ропот и ответ:** Первый от имени ропщущих: «эти последние работали один час, и ты сравнял их с нами, перенёсшими тягость дня и зной». Хозяин: «друг! я не обижаю тебя; не за динарий ли ты договорился со мною? возьми своё и пойди; я же хочу дать этому последнему то же, что и тебе; разве я не властен в своём делать, что хочу? или глаз твой завистлив оттого, что я добр?»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**Заключение:** Ведущий читает слова Христа: «Так будут последние первыми, и первые последними, ибо много званых, а мало избранных». На этом сценка заканчивается; только теперь обсуждение. Не придумываем ответ работников после слов хозяина.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Что вызвало ропот — 3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Прочитаем ст. 10, 12–15 ещё раз. Первые несут тягость дня и зной, но говорят: «ты сравнял их с нами». Хозяин отвечает о договоре и своей доброте.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Два участника находят слова о равной плате и разном труде. Затем прочитайте ст. 1: речь о Царстве Небесном. Отделите слова текста от наших предположений.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Первым недодали обещанное или они не приняли равный дар последним?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Обещанное получили полностью. Их возмущает равная плата последним. Христос открывает щедрость Бога: Его милость к поздно пришедшему не отнимает добра у первого и не зависит от нашего требования превосходства.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1+1+1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Договор и новое ожидание — 4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Соберите четыре события. Запишите: обещали один динарий, получили один динарий, ожидали больше после чужой платы. Найдите, что действительно изменилось.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Пары получают перемешанные карточки. Восстановите порядок и заполните два поля. Одна пара объясняет переход от договора к новому ожиданию.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Кто изменил ожидание и кто изменил договор?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Ожидание изменили первые работники. Хозяин договор не изменял. Поздние ответили «никто нас не нанял»; их не объявляем ленивыми.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2+1+1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Одинаковый дар или нарушенное правило — 4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В каждом случае проверьте: это общий дар или оплата по заранее известному правилу? Сегодня наш главный случай — одинаковый дар при разном времени участия.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Пары распределяют шесть карточек: «Общий дар», «Нарушенное правило», «Нужно уточнить». Сначала объясняют два случая с одинаковым даром. Случаи нарушения нужны, чтобы не переносить притчу на любую зарплату или оценку.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Когда равное получение вызывает ропот, хотя обещание выполнено?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При общем даре долгий участник может требовать преимущества. Это похоже на ропот первых. Если обещали плату за каждый час и не заплатили, нужно исправлять нарушение. Притча не разрешает обман или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2+2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Слова первого работника — 4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Первый работник говорит: «Я трудился дольше. Почему он получил столько же?» Один произносит эту реплику, другой отвечает с опорой на договор и доброту хозяина.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В парах один играет первого, второй объясняет ответ хозяина своими словами. Используйте ст. 13–15. Затем смена ролей. Признайте реальный труд первого, не унижая позднего.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Как признать труд первого и сохранить добро к последнему?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«Ты действительно трудился дольше и получил обещанный динарий. Хозяин захотел дать последнему столько же. Его доброта не отменяет твоего труда». Это объяснение смысла, не выдуманный ответ персонажа после финала.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2+2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Один стол для всех — 6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После добровольной мастерской всех приглашают к общему столу. Саша помогал с утра, Миша присоединился в конце. Каждому дают одинаковый полный ужин. Саша требует уменьшить порцию Миши. Услышьте четыре сведения и составьте первый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Команды по четыре читают раздельные сведения. Запишите общий дар, разницу участия, известное обещание и ответ Саше. Не вводите награду за часы. Новое сведение пока у ведущего.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Как связать этот случай с одинаковой платой в притче?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Ужин — общий дар, заранее объявленный для всех участников, а не оплата часов. Саша получил обещанную полную порцию. Его труд можно поблагодарить без уменьшения чужой порции. Причину позднего прихода пока не знаем.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1+3+2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Последний тоже приглашён — 3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Новое сведение: до мастерской Миша сопровождал бабушку, которой трудно ходить. Он пришёл поздно и сразу включился. Порции остаются одинаковыми. Как теперь ответить Саше?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Сохраните первый ответ. Допишите второй: какие предположения пришлось исправить и что осталось неизменным? Не вводите недоданное обещание и не назначайте Мише больше.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Нужно ли узнать уважительную причину, чтобы разрешить хозяину быть щедрым?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Новая информация помогает не судить поспешно. Но общий дар не нужно заслуживать оправданием: приглашение и полная порция были для всех. В притче причина поздних — «никто нас не нанял»; причина Миши относится только к авторскому примеру.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2+1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Ответ без требования преимущества — 4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Саша может сказать: «Мне было трудно весь день, и я хотел, чтобы это заметили. Я получил обещанное. Миша тоже приглашён к общему столу». Продолжите разговор и предложите доброе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В парах один говорит от лица Саши, другой слушает и отвечает без обвинения. Смена ролей. В конце назовите способ отметить труд Саши, сохранив одинаковый ужин для всех.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Можно ли просить признать труд, не требуя меньшего дара другому?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Да. Можно поблагодарить Сашу за помощь и выслушать его усталость. Само признание труда не даёт права уменьшать чужой дар. Добрый шаг — пригласить Мишу сесть рядом или вместе убрать стол.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2+2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 Мой ответ на милость — 3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Вспомни настоящий или вымышленный случай, когда другой получил такое же добро, хотя ты участвовал дольше. Что я получил? Чего стал ожидать? Как отвечу на доброту к другому?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Шесть полей личного листа. Можно выбрать вымышленный случай, лист остаётся у подростка. Не требуйте публичного признания. Затем тишина и добровольная авторская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Какой шаг возможен, даже если чувство ропота ещё осталось?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Назвать труд и чувство, вспомнить полученное, отказаться от требования уменьшить чужое добро, поблагодарить или принять человека рядом. Божья милость не становится моим исключительным преимуществом.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2+1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Господи Иисусе Христе, благодарю Тебя за Твою милость. Прости мой ропот, когда Ты принимаешь другого так же щедро. Помоги мне трудиться с любовью, не требовать преимущества и радоваться возвращению ближнего к Тебе. Аминь.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12. Щедрость хозяина — 2 мин.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**Реплика:** Завершите: «При разном времени труда все получили…» и «Доброта хозяина учит меня…». Назовите стих, который помогает вашему ответу.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**Как провести:** Примите два независимых ответа до завершения. Вернитесь к ст. 1 и 13–16. Каждый выбирает посильный шаг на неделю; отчёт добровольный.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**Вопрос:** Что говорит притча о Божьей милости к поздно пришедшим?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**Ориентир:** Каждому дали по динарию. Бог зовёт и принимает пришедших поздно; первым не следует роптать на Его доброту. Это не разрешение откладывать отклик: приглашённые идут трудиться. Не выводим из притчи одинаковые зарплаты или отметки.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**Ритм:** 1+1 минут, по порядку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Материалы для учителя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Подготовьте полное Мф. 20:1–16, пять одинаковых жетонов и семь ролей. Пять работников представляют группы по времени найма; общее число работников в притче неизвестно. Читайте всё, затем сразу сценка, обсуждение после финала. Пары получают страницы 3–4, команды страницу 5, каждый личный лист страницы 6. Первый ответ команды сохраняется при новом сведении.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Смысл и границы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Каждому по динарию: первые работали дольше, последние один час. Первые получили обещанное; ропот вызван словами «ты сравнял их с нами». Последним дали столько же, а не больше. Начало «Царство Небесное» задаёт смысл: Божья милость к поздно пришедшим не подчиняется требованию первых быть выше. Не утверждаем, что труд не имеет значения: все приглашённые идут трудиться. Не учим откладывать покаяние.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Блаженный Феофилакт связывает притчу с принятием пришедших поздно через покаяние. Это опора для обсуждения, а не универсальная система зарплат, отметок или соревнований. Источник: https://azbyka.ru/otechnik/Feofilakt_Bolgarskij/tolkovanie-na-evangelie-ot-matfeja/20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Слова «никто нас не нанял» сохраняются. Не заменяем их ленью или опозданием. Причину Миши не переносим на евангельских работников. Новое сведение команды объясняет поздний приход, не меняет порции и не вводит невыполненное обещание. Признавать усталость и труд Саши можно, уменьшать чужой общий дар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Ключи и бережное проведение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Порядок событий: утренний договор, новые приглашения, плата с последних, ропот и ответ. Карточки случаев: общий дар — 1, 2, 3; нарушенное правило — 4, 5; нужно уточнить — 6. Главные примеры обсуждаем до случаев нарушения. Обещанный почасовой труд должен оплачиваться; притча не оправдывает эксплуатацию.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требуйте немедленно почувствовать радость или публично признать зависть. Личный лист остаётся у подростка. Молитва авторская и добровольная. Обсуждение покаяния не превращайте в оценку чужой искренности; при личных вопросах предложите разговор со священником.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Quelle: https://bible.by/syn/40/20/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03a5c9a384b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32d3717ce4f88" /><Relationship Type="http://schemas.openxmlformats.org/officeDocument/2006/relationships/slideLayout" Target="/ppt/slideLayouts/slideLayout1.xml" Id="R178bd9a69e1e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8bd9a69e1e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931bb4fd541d6" /><Relationship Type="http://schemas.openxmlformats.org/officeDocument/2006/relationships/image" Target="/ppt/media/image.jpeg" Id="R9e6ee2053abf4552" /><Relationship Type="http://schemas.openxmlformats.org/officeDocument/2006/relationships/notesSlide" Target="/ppt/notesSlides/notesSlide1.xml" Id="Rade38a6d5ca849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af663f3c14672" /><Relationship Type="http://schemas.openxmlformats.org/officeDocument/2006/relationships/image" Target="/ppt/media/image2.jpeg" Id="Rba19735611c142c7" /><Relationship Type="http://schemas.openxmlformats.org/officeDocument/2006/relationships/notesSlide" Target="/ppt/notesSlides/notesSlide2.xml" Id="R454e978379f6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f180666c04190" /><Relationship Type="http://schemas.openxmlformats.org/officeDocument/2006/relationships/image" Target="/ppt/media/image3.jpeg" Id="R5180c8841c5d4811" /><Relationship Type="http://schemas.openxmlformats.org/officeDocument/2006/relationships/notesSlide" Target="/ppt/notesSlides/notesSlide3.xml" Id="R14249713324f4c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2a5f7b1f149ce" /><Relationship Type="http://schemas.openxmlformats.org/officeDocument/2006/relationships/image" Target="/ppt/media/image4.jpeg" Id="R418182846a264048" /><Relationship Type="http://schemas.openxmlformats.org/officeDocument/2006/relationships/notesSlide" Target="/ppt/notesSlides/notesSlide4.xml" Id="Rd34e87b4b35345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fc1184404692" /><Relationship Type="http://schemas.openxmlformats.org/officeDocument/2006/relationships/image" Target="/ppt/media/image5.jpeg" Id="R0da5ae1e65a04d88" /><Relationship Type="http://schemas.openxmlformats.org/officeDocument/2006/relationships/notesSlide" Target="/ppt/notesSlides/notesSlide5.xml" Id="R921bf970e31e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bbf5a2b546b2" /><Relationship Type="http://schemas.openxmlformats.org/officeDocument/2006/relationships/image" Target="/ppt/media/image6.jpeg" Id="R19d5492a7e824044" /><Relationship Type="http://schemas.openxmlformats.org/officeDocument/2006/relationships/notesSlide" Target="/ppt/notesSlides/notesSlide6.xml" Id="R8f8b670f78994d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4589993444c87" /><Relationship Type="http://schemas.openxmlformats.org/officeDocument/2006/relationships/image" Target="/ppt/media/image7.jpeg" Id="R7c5abd0e964d4290" /><Relationship Type="http://schemas.openxmlformats.org/officeDocument/2006/relationships/notesSlide" Target="/ppt/notesSlides/notesSlide7.xml" Id="R53254717592e43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cb46e7d60467a" /><Relationship Type="http://schemas.openxmlformats.org/officeDocument/2006/relationships/image" Target="/ppt/media/image8.jpeg" Id="R76b42b538aac4a7e" /><Relationship Type="http://schemas.openxmlformats.org/officeDocument/2006/relationships/notesSlide" Target="/ppt/notesSlides/notesSlide8.xml" Id="R7e54c035e4c84e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3d78eed0e415d" /><Relationship Type="http://schemas.openxmlformats.org/officeDocument/2006/relationships/image" Target="/ppt/media/image9.jpeg" Id="Rdbbea1d3913443c6" /><Relationship Type="http://schemas.openxmlformats.org/officeDocument/2006/relationships/notesSlide" Target="/ppt/notesSlides/notesSlide9.xml" Id="Rf97ebee2af8547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52e18cfa8427c" /><Relationship Type="http://schemas.openxmlformats.org/officeDocument/2006/relationships/image" Target="/ppt/media/image10.jpeg" Id="R92f65df1d2b4407e" /><Relationship Type="http://schemas.openxmlformats.org/officeDocument/2006/relationships/notesSlide" Target="/ppt/notesSlides/notesSlide10.xml" Id="Rd18de0cedb7548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0ebf101d74932" /><Relationship Type="http://schemas.openxmlformats.org/officeDocument/2006/relationships/image" Target="/ppt/media/image11.jpeg" Id="R3958321b432b46bf" /><Relationship Type="http://schemas.openxmlformats.org/officeDocument/2006/relationships/notesSlide" Target="/ppt/notesSlides/notesSlide11.xml" Id="Rc0af02122ac249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52065d914ea3" /><Relationship Type="http://schemas.openxmlformats.org/officeDocument/2006/relationships/image" Target="/ppt/media/image12.jpeg" Id="R1050d45f0f9d4de2" /><Relationship Type="http://schemas.openxmlformats.org/officeDocument/2006/relationships/notesSlide" Target="/ppt/notesSlides/notesSlide12.xml" Id="Reb3c5c8734a2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28C69-478D-4075-B339-337E11B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Почему ему столько же, сколько мне?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42721-8C11-45F5-A77C-F349B3E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Разное время труда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Одинаковая плата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ee2053abf4552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FDED7-C834-4A93-8800-38C5C490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56C7C-7A15-43B4-B7EA-A2A00F37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56854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98102-7F9A-46BA-9943-B5D27E2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Работники в винограднике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40889-A51E-4F1A-A931-8EDEE2F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Пять приглашений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Договор утром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Плата с последних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Полное чтение, затем сценка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9735611c142c7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B71A8-172F-491B-87E3-C1289AB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5A6B1-B72B-49ED-A251-9E0FFB71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665143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49E5-7055-4DFD-8A18-1E9EF8C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Разный труд и один динарий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E5F4-081C-4AE1-B40F-757A9D3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Первый трудился весь день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Последний трудился один час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Каждому по динарию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0c8841c5d4811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90E35-94CE-41C0-886E-F288985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6E070-B083-48EC-80E6-97DF61D5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681063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13175-D91E-4F8F-B9AB-4608F1B7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Что вызвало ропот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59884-A85A-4DAB-98C5-D19EB751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«Ты сравнял их с нами»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«Я не обижаю тебя»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«Я добр»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182846a264048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8ED1-8BB4-4D48-A39D-D0C008D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D5733-6B13-45FB-855A-3D5022A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517244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DCCD1-46E6-44A6-AA08-CD8A7379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Договор и новое ожидание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AD8A6-38EA-4E35-8AA7-0FF5DF89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Обещали один динарий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Получили один динарий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Стали ожидать больше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5ae1e65a04d88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F1D6E-6A0C-476E-A050-0F0A4069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AC401-F689-45BA-8D98-90E2AD16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1330954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0DA70-67FF-4A72-8215-48D72916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Одинаковый дар или нарушенное правило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D5FE-1ED5-4B87-9F18-061498FE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Общий дар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Нарушенное правило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Нужно уточнить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Шесть случаев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5492a7e824044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34C17-4C30-484E-B533-D7AA104F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97704-52EF-402E-B2F8-AD918A25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236645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5FDC7-63C1-4A65-AE1B-E05EC4F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Слова первого работника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8B78A-412F-4B94-B8ED-0E6AA93F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Я трудился дольше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Он получил столько же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Что ответил хозяин?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abd0e964d4290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BF669-78EC-46C3-9A10-F1C9720C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52253-31A1-41B8-B0C8-9F092DC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836425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76214-D624-45D0-B3A8-D43142B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Один стол для всех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02320-BEF4-487D-9C0F-CBFFF259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Саша помогал с утра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Миша пришёл в конце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Ужин одинаковый для всех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Четыре сведения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42b538aac4a7e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39B5A-E494-4532-9F1D-CF0C1B70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93AC-1DB1-4B50-ABD9-1562F558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896403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FCB03-E63E-4122-ABDD-02EA364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Последний тоже приглашён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8AAD1-616B-4049-9B3E-0612FCD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Миша сопровождал бабушку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Порции остаются одинаковыми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Что изменилось в нашем ответе?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ea1d3913443c6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E24DA-E5DC-409A-A493-EC88262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D835C-1720-4048-9A98-C8BFBA51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386295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FA5B4-8B09-4F56-8F97-0E22AEA8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Ответ без требования преимущества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62E25-3189-4808-B8A1-4755C112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Признать труд Саши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Сохранить полный ужин Мише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Пригласить его сесть рядом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65df1d2b4407e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25877-2572-40B3-BC34-26B49F26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DF32E-B807-43F8-A450-60EC1190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364297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97F8A-1837-48D7-9DC6-48002A97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Мой ответ на милость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3ECFE-5680-480E-819B-F1230A0C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Что я получил?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Чего стал ожидать?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Как отвечу на милость?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8321b432b46bf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30BAD-62A1-41B2-8E2F-05DD7A3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74D0D-78A6-4F56-A75D-5080EC0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693828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F45A4-7A61-4C8E-9268-07054C9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51F"/>
                </a:solidFill>
                <a:latin typeface="Arial"/>
                <a:ea typeface="Arial"/>
                <a:cs typeface="Arial"/>
              </a:rPr>
              <a:t>Щедрость хозяина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B5B6D-C41E-4E9B-A693-75F4513C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5524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При разном времени труда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все получили…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Доброта хозяина</a:t>
            </a:r>
          </a:p>
          <a:p xmlns:a="http://schemas.openxmlformats.org/drawingml/2006/main">
            <a:pPr>
              <a:defRPr sz="240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учит меня…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0d45f0f9d4de2"/>
          <a:stretch xmlns:a="http://schemas.openxmlformats.org/drawingml/2006/main"/>
        </p:blipFill>
        <p:spPr>
          <a:xfrm xmlns:a="http://schemas.openxmlformats.org/drawingml/2006/main">
            <a:off x="6381750" y="2155190"/>
            <a:ext cx="5238750" cy="294767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46D88-BA18-4BEE-BDF9-90BD9C78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Мф. 20:1–16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FA0A7-DF06-4D2C-99BC-40DD77B8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9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251F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09352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2026-10-03T23:35:06.9690000Z</dcterms:created>
  <dcterms:modified xsi:type="dcterms:W3CDTF">2026-10-03T23:35:06.9690000Z</dcterms:modified>
</coreProperties>
</file>