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f7ba9b4cf894cb2" /><Relationship Type="http://schemas.openxmlformats.org/officeDocument/2006/relationships/extended-properties" Target="/docProps/app.xml" Id="R8890dffb534b4cb0" /><Relationship Type="http://schemas.openxmlformats.org/officeDocument/2006/relationships/officeDocument" Target="/ppt/presentation.xml" Id="R3b99cc87e8314688" /></Relationships>
</file>

<file path=ppt/presentation.xml><?xml version="1.0" encoding="utf-8"?>
<p:presentation xmlns:p="http://schemas.openxmlformats.org/presentationml/2006/main">
  <p:sldMasterIdLst>
    <p:sldMasterId xmlns:r="http://schemas.openxmlformats.org/officeDocument/2006/relationships" id="2147483648" r:id="Rb5e6bd24996a4642"/>
  </p:sldMasterIdLst>
  <p:notesMasterIdLst>
    <p:notesMasterId xmlns:r="http://schemas.openxmlformats.org/officeDocument/2006/relationships" r:id="R3a285930f0a64737"/>
  </p:notesMasterIdLst>
  <p:sldIdLst>
    <p:sldId xmlns:r="http://schemas.openxmlformats.org/officeDocument/2006/relationships" id="256" r:id="Rbc43a22e9ac0464c"/>
    <p:sldId xmlns:r="http://schemas.openxmlformats.org/officeDocument/2006/relationships" id="257" r:id="Rb637f3db5958424c"/>
    <p:sldId xmlns:r="http://schemas.openxmlformats.org/officeDocument/2006/relationships" id="258" r:id="R2645faca3aa34702"/>
    <p:sldId xmlns:r="http://schemas.openxmlformats.org/officeDocument/2006/relationships" id="259" r:id="R22e4e8a6da174da5"/>
    <p:sldId xmlns:r="http://schemas.openxmlformats.org/officeDocument/2006/relationships" id="260" r:id="Rbdac87879c624d8f"/>
    <p:sldId xmlns:r="http://schemas.openxmlformats.org/officeDocument/2006/relationships" id="261" r:id="Rc9a3425941e74fd5"/>
    <p:sldId xmlns:r="http://schemas.openxmlformats.org/officeDocument/2006/relationships" id="262" r:id="R342ebe3a48cf48ff"/>
    <p:sldId xmlns:r="http://schemas.openxmlformats.org/officeDocument/2006/relationships" id="263" r:id="Rbc44aaf9ea9b4bec"/>
    <p:sldId xmlns:r="http://schemas.openxmlformats.org/officeDocument/2006/relationships" id="264" r:id="R214304afe0c04889"/>
    <p:sldId xmlns:r="http://schemas.openxmlformats.org/officeDocument/2006/relationships" id="265" r:id="Ra21dab8f374a4d6a"/>
    <p:sldId xmlns:r="http://schemas.openxmlformats.org/officeDocument/2006/relationships" id="266" r:id="Rfb49cf5234f44837"/>
    <p:sldId xmlns:r="http://schemas.openxmlformats.org/officeDocument/2006/relationships" id="267" r:id="Rd42f27a0ad8a46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914b8944bd4af2" /><Relationship Type="http://schemas.openxmlformats.org/officeDocument/2006/relationships/slideMaster" Target="/ppt/slideMasters/slideMaster1.xml" Id="Rb5e6bd24996a4642" /><Relationship Type="http://schemas.openxmlformats.org/officeDocument/2006/relationships/notesMaster" Target="/ppt/notesMasters/notesMaster1.xml" Id="R3a285930f0a64737" /><Relationship Type="http://schemas.openxmlformats.org/officeDocument/2006/relationships/presProps" Target="/ppt/presProps.xml" Id="Rc902e5b725b64e4c" /><Relationship Type="http://schemas.openxmlformats.org/officeDocument/2006/relationships/tableStyles" Target="/ppt/tableStyles.xml" Id="R45b9b53a8e694eb6" /><Relationship Type="http://schemas.openxmlformats.org/officeDocument/2006/relationships/slide" Target="/ppt/slides/slide1.xml" Id="Rbc43a22e9ac0464c" /><Relationship Type="http://schemas.openxmlformats.org/officeDocument/2006/relationships/slide" Target="/ppt/slides/slide2.xml" Id="Rb637f3db5958424c" /><Relationship Type="http://schemas.openxmlformats.org/officeDocument/2006/relationships/slide" Target="/ppt/slides/slide3.xml" Id="R2645faca3aa34702" /><Relationship Type="http://schemas.openxmlformats.org/officeDocument/2006/relationships/slide" Target="/ppt/slides/slide4.xml" Id="R22e4e8a6da174da5" /><Relationship Type="http://schemas.openxmlformats.org/officeDocument/2006/relationships/slide" Target="/ppt/slides/slide5.xml" Id="Rbdac87879c624d8f" /><Relationship Type="http://schemas.openxmlformats.org/officeDocument/2006/relationships/slide" Target="/ppt/slides/slide6.xml" Id="Rc9a3425941e74fd5" /><Relationship Type="http://schemas.openxmlformats.org/officeDocument/2006/relationships/slide" Target="/ppt/slides/slide7.xml" Id="R342ebe3a48cf48ff" /><Relationship Type="http://schemas.openxmlformats.org/officeDocument/2006/relationships/slide" Target="/ppt/slides/slide8.xml" Id="Rbc44aaf9ea9b4bec" /><Relationship Type="http://schemas.openxmlformats.org/officeDocument/2006/relationships/slide" Target="/ppt/slides/slide9.xml" Id="R214304afe0c04889" /><Relationship Type="http://schemas.openxmlformats.org/officeDocument/2006/relationships/slide" Target="/ppt/slides/slide10.xml" Id="Ra21dab8f374a4d6a" /><Relationship Type="http://schemas.openxmlformats.org/officeDocument/2006/relationships/slide" Target="/ppt/slides/slide11.xml" Id="Rfb49cf5234f44837" /><Relationship Type="http://schemas.openxmlformats.org/officeDocument/2006/relationships/slide" Target="/ppt/slides/slide12.xml" Id="Rd42f27a0ad8a46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b24a86f83643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5ca8665a4e4513" /><Relationship Type="http://schemas.openxmlformats.org/officeDocument/2006/relationships/notesMaster" Target="/ppt/notesMasters/notesMaster1.xml" Id="R65c2706deb0b4a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6961aa5c2a40ae" /><Relationship Type="http://schemas.openxmlformats.org/officeDocument/2006/relationships/notesMaster" Target="/ppt/notesMasters/notesMaster1.xml" Id="R0c796f85ad8844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c27b0b964d4523" /><Relationship Type="http://schemas.openxmlformats.org/officeDocument/2006/relationships/notesMaster" Target="/ppt/notesMasters/notesMaster1.xml" Id="Rcdf3c229365144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d4e86b086745f2" /><Relationship Type="http://schemas.openxmlformats.org/officeDocument/2006/relationships/notesMaster" Target="/ppt/notesMasters/notesMaster1.xml" Id="R10b472ef6d5947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e534398e914182" /><Relationship Type="http://schemas.openxmlformats.org/officeDocument/2006/relationships/notesMaster" Target="/ppt/notesMasters/notesMaster1.xml" Id="Rb1ca79cb217046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0efcd52c504545" /><Relationship Type="http://schemas.openxmlformats.org/officeDocument/2006/relationships/notesMaster" Target="/ppt/notesMasters/notesMaster1.xml" Id="R0e14c9e4d28844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3b8a1941af4862" /><Relationship Type="http://schemas.openxmlformats.org/officeDocument/2006/relationships/notesMaster" Target="/ppt/notesMasters/notesMaster1.xml" Id="R39997a61766442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65793424d947dd" /><Relationship Type="http://schemas.openxmlformats.org/officeDocument/2006/relationships/notesMaster" Target="/ppt/notesMasters/notesMaster1.xml" Id="Rf64148fa48354f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261d93c7b6469c" /><Relationship Type="http://schemas.openxmlformats.org/officeDocument/2006/relationships/notesMaster" Target="/ppt/notesMasters/notesMaster1.xml" Id="R9ef57372af784e4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4bcb2dd2b744844" /><Relationship Type="http://schemas.openxmlformats.org/officeDocument/2006/relationships/notesMaster" Target="/ppt/notesMasters/notesMaster1.xml" Id="Rbfe9e5ca30a04d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cae9843f894fe0" /><Relationship Type="http://schemas.openxmlformats.org/officeDocument/2006/relationships/notesMaster" Target="/ppt/notesMasters/notesMaster1.xml" Id="R6003252efc2d4c4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37382409a604faa" /><Relationship Type="http://schemas.openxmlformats.org/officeDocument/2006/relationships/notesMaster" Target="/ppt/notesMasters/notesMaster1.xml" Id="R299d56c36ad94b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Warum bekommt er mehr als ich? — 2 Minuten.</a:t>
            </a:r>
          </a:p>
          <a:p xmlns:a="http://schemas.openxmlformats.org/drawingml/2006/main">
            <a:r>
              <a:t>Worte: Ein anderer bekam einen neuen Malkasten. Ich schaue auf meinen und denke: Warum bekommt er mehr? Was weiß ich, was vermute ich? Hören wir eine Geschichte, in der die ersten Arbeiter mehr erwarteten.</a:t>
            </a:r>
          </a:p>
          <a:p xmlns:a="http://schemas.openxmlformats.org/drawingml/2006/main">
            <a:r>
              <a:t>Durchführung: Erfundenes Beispiel eines Geschenks nennen. Jeder bemerkt still sein erstes Gefühl. Keine persönlichen Bekenntnisse sammeln; zum Lesen übergehen.</a:t>
            </a:r>
          </a:p>
          <a:p xmlns:a="http://schemas.openxmlformats.org/drawingml/2006/main">
            <a:r>
              <a:t>Frage: Denke ich zuerst an mein Bedürfnis oder an das, was ein anderer bekam?</a:t>
            </a:r>
          </a:p>
          <a:p xmlns:a="http://schemas.openxmlformats.org/drawingml/2006/main">
            <a:r>
              <a:t>Orientierung: Gefühl bemerken. Der Schluss „Ich werde weniger geschätzt“ muss geprüft werden. Heute geht es um Zusagen, Großzügigkeit und Vergleiche.</a:t>
            </a:r>
          </a:p>
          <a:p xmlns:a="http://schemas.openxmlformats.org/drawingml/2006/main">
            <a:r>
              <a:t>Rhythmus: 1 Minute Beispiel; 1 Minute persönliche Wahl und Übergang.</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Die Arbeiter im Weinberg — 3 Minuten.</a:t>
            </a:r>
          </a:p>
          <a:p xmlns:a="http://schemas.openxmlformats.org/drawingml/2006/main">
            <a:r>
              <a:t>Worte: Wir lesen Matthäus 20,1–16 vollständig. Hören wir alle fünf Ausgänge des Hausherrn und die Auszahlungsreihenfolge. Sofort danach spielen wir das Gleichnis.</a:t>
            </a:r>
          </a:p>
          <a:p xmlns:a="http://schemas.openxmlformats.org/drawingml/2006/main">
            <a:r>
              <a:t>Durchführung: Alle 16 Verse ohne Zwischenbesprechung lesen. Sieben Teilnehmende erhalten vorher Rollen. Die Lehrkraft liest Erzähler und Schlussworte Christi. Danach sofort beginnen.</a:t>
            </a:r>
          </a:p>
          <a:p xmlns:a="http://schemas.openxmlformats.org/drawingml/2006/main">
            <a:r>
              <a:t>Auftrag: Vereinbarung, Antwort der späten Arbeiter und Reihenfolge merken.</a:t>
            </a:r>
          </a:p>
          <a:p xmlns:a="http://schemas.openxmlformats.org/drawingml/2006/main">
            <a:r>
              <a:t>Orientierung: Früh am Morgen ein Denar; dann dritte, sechste, neunte, elfte Stunde. Niemand stellte die Letzten ein. Abends Auszahlung von den Letzten an.</a:t>
            </a:r>
          </a:p>
          <a:p xmlns:a="http://schemas.openxmlformats.org/drawingml/2006/main">
            <a:r>
              <a:t>Rhythmus: 2,5 Minuten Lesen; 30 Sekunden Übergang.</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Deutsche Übertragung der vollständigen russischen Synodallesung des bereitgestellten Materials. Matthäus 20,1–16.</a:t>
            </a:r>
          </a:p>
          <a:p xmlns:a="http://schemas.openxmlformats.org/drawingml/2006/main">
            <a:r>
              <a:t>Matthäus 20,1. Denn das Himmelreich gleicht einem Hausherrn, der früh am Morgen ausging, Arbeiter für seinen Weinberg einzustellen,</a:t>
            </a:r>
          </a:p>
          <a:p xmlns:a="http://schemas.openxmlformats.org/drawingml/2006/main">
            <a:r>
              <a:t>Matthäus 20,2. und nachdem er mit den Arbeitern einen Denar für den Tag vereinbart hatte, schickte er sie in seinen Weinberg.</a:t>
            </a:r>
          </a:p>
          <a:p xmlns:a="http://schemas.openxmlformats.org/drawingml/2006/main">
            <a:r>
              <a:t>Matthäus 20,3. Um die dritte Stunde ging er hinaus und sah andere untätig auf dem Marktplatz stehen,</a:t>
            </a:r>
          </a:p>
          <a:p xmlns:a="http://schemas.openxmlformats.org/drawingml/2006/main">
            <a:r>
              <a:t>Matthäus 20,4. und sagte ihnen: „Geht auch ihr in meinen Weinberg; was recht ist, werde ich euch geben“. Sie gingen.</a:t>
            </a:r>
          </a:p>
          <a:p xmlns:a="http://schemas.openxmlformats.org/drawingml/2006/main">
            <a:r>
              <a:t>Matthäus 20,5. Um die sechste und neunte Stunde ging er wieder hinaus und tat dasselbe.</a:t>
            </a:r>
          </a:p>
          <a:p xmlns:a="http://schemas.openxmlformats.org/drawingml/2006/main">
            <a:r>
              <a:t>Matthäus 20,6. Schließlich, um die elfte Stunde, fand er andere untätig stehen und sagte: „Warum steht ihr hier den ganzen Tag untätig?“</a:t>
            </a:r>
          </a:p>
          <a:p xmlns:a="http://schemas.openxmlformats.org/drawingml/2006/main">
            <a:r>
              <a:t>Matthäus 20,7. Sie sagten: „Niemand hat uns eingestellt“. Er sagte: „Geht auch ihr in meinen Weinberg; was recht ist, werdet ihr bekommen“.</a:t>
            </a:r>
          </a:p>
          <a:p xmlns:a="http://schemas.openxmlformats.org/drawingml/2006/main">
            <a:r>
              <a:t>Matthäus 20,8. Als es Abend wurde, sagte der Herr des Weinbergs seinem Verwalter: „Ruf die Arbeiter und gib ihnen den Lohn, beginnend bei den Letzten bis zu den Ersten“.</a:t>
            </a:r>
          </a:p>
          <a:p xmlns:a="http://schemas.openxmlformats.org/drawingml/2006/main">
            <a:r>
              <a:t>Matthäus 20,9. Die um die elfte Stunde Gekommenen erhielten einen Denar.</a:t>
            </a:r>
          </a:p>
          <a:p xmlns:a="http://schemas.openxmlformats.org/drawingml/2006/main">
            <a:r>
              <a:t>Matthäus 20,10. Die zuerst Gekommenen dachten, mehr zu bekommen, erhielten aber ebenfalls einen Denar;</a:t>
            </a:r>
          </a:p>
          <a:p xmlns:a="http://schemas.openxmlformats.org/drawingml/2006/main">
            <a:r>
              <a:t>Matthäus 20,11. nachdem sie ihn erhalten hatten, murrten sie gegen den Hausherrn</a:t>
            </a:r>
          </a:p>
          <a:p xmlns:a="http://schemas.openxmlformats.org/drawingml/2006/main">
            <a:r>
              <a:t>Matthäus 20,12. und sagten: „Diese Letzten haben eine Stunde gearbeitet, und du hast sie uns gleichgestellt, die wir die Last des Tages und die Hitze trugen“.</a:t>
            </a:r>
          </a:p>
          <a:p xmlns:a="http://schemas.openxmlformats.org/drawingml/2006/main">
            <a:r>
              <a:t>Matthäus 20,13. Er antwortete einem: „Freund, ich tue dir kein Unrecht; hast du nicht einen Denar mit mir vereinbart?</a:t>
            </a:r>
          </a:p>
          <a:p xmlns:a="http://schemas.openxmlformats.org/drawingml/2006/main">
            <a:r>
              <a:t>Matthäus 20,14. Nimm das Deine und geh; ich will diesem Letzten genauso viel geben wie dir.</a:t>
            </a:r>
          </a:p>
          <a:p xmlns:a="http://schemas.openxmlformats.org/drawingml/2006/main">
            <a:r>
              <a:t>Matthäus 20,15. Darf ich mit dem Meinen nicht tun, was ich will? Oder ist dein Auge neidisch, weil ich gütig bin?“</a:t>
            </a:r>
          </a:p>
          <a:p xmlns:a="http://schemas.openxmlformats.org/drawingml/2006/main">
            <a:r>
              <a:t>Matthäus 20,16. So werden die Letzten Erste sein und die Ersten Letzte; denn viele sind berufen, aber wenige auserwählt.</a:t>
            </a:r>
          </a:p>
          <a:p xmlns:a="http://schemas.openxmlformats.org/drawingml/2006/main">
            <a:r>
              <a:t/>
            </a:r>
          </a:p>
          <a:p xmlns:a="http://schemas.openxmlformats.org/drawingml/2006/main">
            <a:r>
              <a:t>Anfang und morgendliche Vereinbarung: Sieben Rollen: Hausherr, Verwalter und fünf Vertreter der Einstellungszeiten. Jeder Arbeiter vertritt eine Gruppe; Gesamtzahl nicht zählen. Moderation liest Erzählung. Früh am Morgen vereinbart der Hausherr mit dem Ersten einen Denar pro Tag und schickt ihn in den Weinberg. Der Erste nimmt an und beginnt.</a:t>
            </a:r>
          </a:p>
          <a:p xmlns:a="http://schemas.openxmlformats.org/drawingml/2006/main">
            <a:r>
              <a:t/>
            </a:r>
          </a:p>
          <a:p xmlns:a="http://schemas.openxmlformats.org/drawingml/2006/main">
            <a:r>
              <a:t>Dritte, sechste und neunte Stunde: Um die dritte Stunde ruft der Hausherr den nächsten: „Geht auch ihr in meinen Weinberg; was recht ist, werde ich euch geben“. Arbeiter schließt sich an. Moderation nennt sechste, dann neunte Stunde: Hausherr tut dasselbe, entsprechender Vertreter beginnt. Tagesverlauf zeigen, keine Zwischenbesprechung.</a:t>
            </a:r>
          </a:p>
          <a:p xmlns:a="http://schemas.openxmlformats.org/drawingml/2006/main">
            <a:r>
              <a:t/>
            </a:r>
          </a:p>
          <a:p xmlns:a="http://schemas.openxmlformats.org/drawingml/2006/main">
            <a:r>
              <a:t>Elfte Stunde: Hausherr findet Letzten: „Warum steht ihr hier den ganzen Tag untätig?“ Vertreter: „Niemand hat uns eingestellt“. Hausherr: „Geht auch ihr in meinen Weinberg; was recht ist, werdet ihr bekommen“. Letzter arbeitet. Grund nicht durch Faulheit oder Verspätung ersetzen.</a:t>
            </a:r>
          </a:p>
          <a:p xmlns:a="http://schemas.openxmlformats.org/drawingml/2006/main">
            <a:r>
              <a:t/>
            </a:r>
          </a:p>
          <a:p xmlns:a="http://schemas.openxmlformats.org/drawingml/2006/main">
            <a:r>
              <a:t>Abend und Auszahlung: Hausherr zum Verwalter: „Ruf die Arbeiter und gib ihnen den Lohn, beginnend bei den Letzten bis zu den Ersten“. Verwalter ruft: elfte, neunte, sechste, dritte Stunde, früher Morgen. Jeder Vertreter bekommt einen gleichen Spielstein. Moderation liest Verse 9–10: Elfte-Stunde-Arbeiter bekommen einen Denar; Erste erwarten mehr, bekommen ebenfalls einen Denar.</a:t>
            </a:r>
          </a:p>
          <a:p xmlns:a="http://schemas.openxmlformats.org/drawingml/2006/main">
            <a:r>
              <a:t/>
            </a:r>
          </a:p>
          <a:p xmlns:a="http://schemas.openxmlformats.org/drawingml/2006/main">
            <a:r>
              <a:t>Murren und Antwort: Erster für Murrende: „Diese Letzten haben eine Stunde gearbeitet, und du hast sie uns gleichgestellt, die wir die Last des Tages und die Hitze trugen“. Hausherr: „Freund, ich tue dir kein Unrecht; hast du nicht einen Denar mit mir vereinbart? Nimm das Deine und geh; ich will diesem Letzten genauso viel geben wie dir. Darf ich mit dem Meinen nicht tun, was ich will? Oder ist dein Auge neidisch, weil ich gütig bin?“</a:t>
            </a:r>
          </a:p>
          <a:p xmlns:a="http://schemas.openxmlformats.org/drawingml/2006/main">
            <a:r>
              <a:t/>
            </a:r>
          </a:p>
          <a:p xmlns:a="http://schemas.openxmlformats.org/drawingml/2006/main">
            <a:r>
              <a:t>Schluss: Moderation liest Christi Worte: „So werden die Letzten Erste sein und die Ersten Letzte; denn viele sind berufen, aber wenige auserwählt“. Hier endet das Spiel; erst jetzt besprechen. Keine Antwort der Arbeiter nach dem Hausherrn erfinden.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Ein Denar für jeden — 7 Minuten.</a:t>
            </a:r>
          </a:p>
          <a:p xmlns:a="http://schemas.openxmlformats.org/drawingml/2006/main">
            <a:r>
              <a:t>Worte: Der Hausherr ruft zu verschiedenen Zeiten. Der Verwalter bezahlt von den Letzten an. Die Ersten erwarten mehr, obwohl sie einen Denar vereinbart hatten. Bis zur Antwort des Hausherrn und den Schlussworten Christi spielen.</a:t>
            </a:r>
          </a:p>
          <a:p xmlns:a="http://schemas.openxmlformats.org/drawingml/2006/main">
            <a:r>
              <a:t>Durchführung: Hausherr, Verwalter, fünf Vertreter der Einstellungszeiten. Alle Einladungen, Auszahlung, Murren und Antwort nach dem vollständigen Text spielen. Fünf Vertreter stehen für Gruppen; der Text nennt keine Gesamtzahl. Besprechung erst nach dem Schluss.</a:t>
            </a:r>
          </a:p>
          <a:p xmlns:a="http://schemas.openxmlformats.org/drawingml/2006/main">
            <a:r>
              <a:t>Beobachtung: Was wurde den Ersten versprochen, wie änderte fremder Lohn ihre Erwartung?</a:t>
            </a:r>
          </a:p>
          <a:p xmlns:a="http://schemas.openxmlformats.org/drawingml/2006/main">
            <a:r>
              <a:t>Orientierung: Jeder Vertreter bekommt einen gleichen Spielstein. Der vereinbarte Lohn des Ersten wurde nicht gekürzt. Der Letzte bekam gleich viel. Keine Versöhnung oder Strafe hinzuerfinden.</a:t>
            </a:r>
          </a:p>
          <a:p xmlns:a="http://schemas.openxmlformats.org/drawingml/2006/main">
            <a:r>
              <a:t>Rhythmus: 3 Minuten fünf Einladungen; 2 Minuten Auszahlung; 2 Minuten Murren, Antwort und Schluss.</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Deutsche Übertragung der vollständigen russischen Synodallesung des bereitgestellten Materials. Matthäus 20,1–16.</a:t>
            </a:r>
          </a:p>
          <a:p xmlns:a="http://schemas.openxmlformats.org/drawingml/2006/main">
            <a:r>
              <a:t>Matthäus 20,1. Denn das Himmelreich gleicht einem Hausherrn, der früh am Morgen ausging, Arbeiter für seinen Weinberg einzustellen,</a:t>
            </a:r>
          </a:p>
          <a:p xmlns:a="http://schemas.openxmlformats.org/drawingml/2006/main">
            <a:r>
              <a:t>Matthäus 20,2. und nachdem er mit den Arbeitern einen Denar für den Tag vereinbart hatte, schickte er sie in seinen Weinberg.</a:t>
            </a:r>
          </a:p>
          <a:p xmlns:a="http://schemas.openxmlformats.org/drawingml/2006/main">
            <a:r>
              <a:t>Matthäus 20,3. Um die dritte Stunde ging er hinaus und sah andere untätig auf dem Marktplatz stehen,</a:t>
            </a:r>
          </a:p>
          <a:p xmlns:a="http://schemas.openxmlformats.org/drawingml/2006/main">
            <a:r>
              <a:t>Matthäus 20,4. und sagte ihnen: „Geht auch ihr in meinen Weinberg; was recht ist, werde ich euch geben“. Sie gingen.</a:t>
            </a:r>
          </a:p>
          <a:p xmlns:a="http://schemas.openxmlformats.org/drawingml/2006/main">
            <a:r>
              <a:t>Matthäus 20,5. Um die sechste und neunte Stunde ging er wieder hinaus und tat dasselbe.</a:t>
            </a:r>
          </a:p>
          <a:p xmlns:a="http://schemas.openxmlformats.org/drawingml/2006/main">
            <a:r>
              <a:t>Matthäus 20,6. Schließlich, um die elfte Stunde, fand er andere untätig stehen und sagte: „Warum steht ihr hier den ganzen Tag untätig?“</a:t>
            </a:r>
          </a:p>
          <a:p xmlns:a="http://schemas.openxmlformats.org/drawingml/2006/main">
            <a:r>
              <a:t>Matthäus 20,7. Sie sagten: „Niemand hat uns eingestellt“. Er sagte: „Geht auch ihr in meinen Weinberg; was recht ist, werdet ihr bekommen“.</a:t>
            </a:r>
          </a:p>
          <a:p xmlns:a="http://schemas.openxmlformats.org/drawingml/2006/main">
            <a:r>
              <a:t>Matthäus 20,8. Als es Abend wurde, sagte der Herr des Weinbergs seinem Verwalter: „Ruf die Arbeiter und gib ihnen den Lohn, beginnend bei den Letzten bis zu den Ersten“.</a:t>
            </a:r>
          </a:p>
          <a:p xmlns:a="http://schemas.openxmlformats.org/drawingml/2006/main">
            <a:r>
              <a:t>Matthäus 20,9. Die um die elfte Stunde Gekommenen erhielten einen Denar.</a:t>
            </a:r>
          </a:p>
          <a:p xmlns:a="http://schemas.openxmlformats.org/drawingml/2006/main">
            <a:r>
              <a:t>Matthäus 20,10. Die zuerst Gekommenen dachten, mehr zu bekommen, erhielten aber ebenfalls einen Denar;</a:t>
            </a:r>
          </a:p>
          <a:p xmlns:a="http://schemas.openxmlformats.org/drawingml/2006/main">
            <a:r>
              <a:t>Matthäus 20,11. nachdem sie ihn erhalten hatten, murrten sie gegen den Hausherrn</a:t>
            </a:r>
          </a:p>
          <a:p xmlns:a="http://schemas.openxmlformats.org/drawingml/2006/main">
            <a:r>
              <a:t>Matthäus 20,12. und sagten: „Diese Letzten haben eine Stunde gearbeitet, und du hast sie uns gleichgestellt, die wir die Last des Tages und die Hitze trugen“.</a:t>
            </a:r>
          </a:p>
          <a:p xmlns:a="http://schemas.openxmlformats.org/drawingml/2006/main">
            <a:r>
              <a:t>Matthäus 20,13. Er antwortete einem: „Freund, ich tue dir kein Unrecht; hast du nicht einen Denar mit mir vereinbart?</a:t>
            </a:r>
          </a:p>
          <a:p xmlns:a="http://schemas.openxmlformats.org/drawingml/2006/main">
            <a:r>
              <a:t>Matthäus 20,14. Nimm das Deine und geh; ich will diesem Letzten genauso viel geben wie dir.</a:t>
            </a:r>
          </a:p>
          <a:p xmlns:a="http://schemas.openxmlformats.org/drawingml/2006/main">
            <a:r>
              <a:t>Matthäus 20,15. Darf ich mit dem Meinen nicht tun, was ich will? Oder ist dein Auge neidisch, weil ich gütig bin?“</a:t>
            </a:r>
          </a:p>
          <a:p xmlns:a="http://schemas.openxmlformats.org/drawingml/2006/main">
            <a:r>
              <a:t>Matthäus 20,16. So werden die Letzten Erste sein und die Ersten Letzte; denn viele sind berufen, aber wenige auserwählt.</a:t>
            </a:r>
          </a:p>
          <a:p xmlns:a="http://schemas.openxmlformats.org/drawingml/2006/main">
            <a:r>
              <a:t/>
            </a:r>
          </a:p>
          <a:p xmlns:a="http://schemas.openxmlformats.org/drawingml/2006/main">
            <a:r>
              <a:t>Anfang und morgendliche Vereinbarung: Sieben Rollen: Hausherr, Verwalter und fünf Vertreter der Einstellungszeiten. Jeder Arbeiter vertritt eine Gruppe; Gesamtzahl nicht zählen. Moderation liest Erzählung. Früh am Morgen vereinbart der Hausherr mit dem Ersten einen Denar pro Tag und schickt ihn in den Weinberg. Der Erste nimmt an und beginnt.</a:t>
            </a:r>
          </a:p>
          <a:p xmlns:a="http://schemas.openxmlformats.org/drawingml/2006/main">
            <a:r>
              <a:t/>
            </a:r>
          </a:p>
          <a:p xmlns:a="http://schemas.openxmlformats.org/drawingml/2006/main">
            <a:r>
              <a:t>Dritte, sechste und neunte Stunde: Um die dritte Stunde ruft der Hausherr den nächsten: „Geht auch ihr in meinen Weinberg; was recht ist, werde ich euch geben“. Arbeiter schließt sich an. Moderation nennt sechste, dann neunte Stunde: Hausherr tut dasselbe, entsprechender Vertreter beginnt. Tagesverlauf zeigen, keine Zwischenbesprechung.</a:t>
            </a:r>
          </a:p>
          <a:p xmlns:a="http://schemas.openxmlformats.org/drawingml/2006/main">
            <a:r>
              <a:t/>
            </a:r>
          </a:p>
          <a:p xmlns:a="http://schemas.openxmlformats.org/drawingml/2006/main">
            <a:r>
              <a:t>Elfte Stunde: Hausherr findet Letzten: „Warum steht ihr hier den ganzen Tag untätig?“ Vertreter: „Niemand hat uns eingestellt“. Hausherr: „Geht auch ihr in meinen Weinberg; was recht ist, werdet ihr bekommen“. Letzter arbeitet. Grund nicht durch Faulheit oder Verspätung ersetzen.</a:t>
            </a:r>
          </a:p>
          <a:p xmlns:a="http://schemas.openxmlformats.org/drawingml/2006/main">
            <a:r>
              <a:t/>
            </a:r>
          </a:p>
          <a:p xmlns:a="http://schemas.openxmlformats.org/drawingml/2006/main">
            <a:r>
              <a:t>Abend und Auszahlung: Hausherr zum Verwalter: „Ruf die Arbeiter und gib ihnen den Lohn, beginnend bei den Letzten bis zu den Ersten“. Verwalter ruft: elfte, neunte, sechste, dritte Stunde, früher Morgen. Jeder Vertreter bekommt einen gleichen Spielstein. Moderation liest Verse 9–10: Elfte-Stunde-Arbeiter bekommen einen Denar; Erste erwarten mehr, bekommen ebenfalls einen Denar.</a:t>
            </a:r>
          </a:p>
          <a:p xmlns:a="http://schemas.openxmlformats.org/drawingml/2006/main">
            <a:r>
              <a:t/>
            </a:r>
          </a:p>
          <a:p xmlns:a="http://schemas.openxmlformats.org/drawingml/2006/main">
            <a:r>
              <a:t>Murren und Antwort: Erster für Murrende: „Diese Letzten haben eine Stunde gearbeitet, und du hast sie uns gleichgestellt, die wir die Last des Tages und die Hitze trugen“. Hausherr: „Freund, ich tue dir kein Unrecht; hast du nicht einen Denar mit mir vereinbart? Nimm das Deine und geh; ich will diesem Letzten genauso viel geben wie dir. Darf ich mit dem Meinen nicht tun, was ich will? Oder ist dein Auge neidisch, weil ich gütig bin?“</a:t>
            </a:r>
          </a:p>
          <a:p xmlns:a="http://schemas.openxmlformats.org/drawingml/2006/main">
            <a:r>
              <a:t/>
            </a:r>
          </a:p>
          <a:p xmlns:a="http://schemas.openxmlformats.org/drawingml/2006/main">
            <a:r>
              <a:t>Schluss: Moderation liest Christi Worte: „So werden die Letzten Erste sein und die Ersten Letzte; denn viele sind berufen, aber wenige auserwählt“. Hier endet das Spiel; erst jetzt besprechen. Keine Antwort der Arbeiter nach dem Hausherrn erfinden.</a:t>
            </a:r>
          </a:p>
          <a:p xmlns:a="http://schemas.openxmlformats.org/drawingml/2006/main">
            <a:r>
              <a:t/>
            </a:r>
          </a:p>
          <a:p xmlns:a="http://schemas.openxmlformats.org/drawingml/2006/main">
            <a:r>
              <a:t>Hausherr</a:t>
            </a:r>
          </a:p>
          <a:p xmlns:a="http://schemas.openxmlformats.org/drawingml/2006/main">
            <a:r>
              <a:t>Rufe früh am Morgen, zur dritten, sechsten, neunten und elften Stunde. Abends Auszahlung von den Letzten an anordnen. Erstem nach Versen 13–15 antworten. Vollständige Worte im Lehrerheft.</a:t>
            </a:r>
          </a:p>
          <a:p xmlns:a="http://schemas.openxmlformats.org/drawingml/2006/main">
            <a:r>
              <a:t/>
            </a:r>
          </a:p>
          <a:p xmlns:a="http://schemas.openxmlformats.org/drawingml/2006/main">
            <a:r>
              <a:t>Verwalter</a:t>
            </a:r>
          </a:p>
          <a:p xmlns:a="http://schemas.openxmlformats.org/drawingml/2006/main">
            <a:r>
              <a:t>Abends Vertreter rufen: elfte, neunte, sechste, dritte Stunde, früher Morgen. Jedem gleichen Spielstein als Denar geben.</a:t>
            </a:r>
          </a:p>
          <a:p xmlns:a="http://schemas.openxmlformats.org/drawingml/2006/main">
            <a:r>
              <a:t/>
            </a:r>
          </a:p>
          <a:p xmlns:a="http://schemas.openxmlformats.org/drawingml/2006/main">
            <a:r>
              <a:t>Früher Morgen</a:t>
            </a:r>
          </a:p>
          <a:p xmlns:a="http://schemas.openxmlformats.org/drawingml/2006/main">
            <a:r>
              <a:t>Einen Denar für den Tag vereinbaren, zuerst arbeiten. Bei Auszahlung mehr erwarten, aber einen bekommen. Murren nach Vers 12 sprechen.</a:t>
            </a:r>
          </a:p>
          <a:p xmlns:a="http://schemas.openxmlformats.org/drawingml/2006/main">
            <a:r>
              <a:t/>
            </a:r>
          </a:p>
          <a:p xmlns:a="http://schemas.openxmlformats.org/drawingml/2006/main">
            <a:r>
              <a:t>Dritte Stunde</a:t>
            </a:r>
          </a:p>
          <a:p xmlns:a="http://schemas.openxmlformats.org/drawingml/2006/main">
            <a:r>
              <a:t>Nach Einladung um dritte Stunde beginnen. Abends als Vorletzter einen Spielstein bekommen.</a:t>
            </a:r>
          </a:p>
          <a:p xmlns:a="http://schemas.openxmlformats.org/drawingml/2006/main">
            <a:r>
              <a:t/>
            </a:r>
          </a:p>
          <a:p xmlns:a="http://schemas.openxmlformats.org/drawingml/2006/main">
            <a:r>
              <a:t>Sechste Stunde</a:t>
            </a:r>
          </a:p>
          <a:p xmlns:a="http://schemas.openxmlformats.org/drawingml/2006/main">
            <a:r>
              <a:t>Nach Einladung um sechste Stunde beginnen. Bei Auszahlung als Dritter einen Spielstein bekommen.</a:t>
            </a:r>
          </a:p>
          <a:p xmlns:a="http://schemas.openxmlformats.org/drawingml/2006/main">
            <a:r>
              <a:t/>
            </a:r>
          </a:p>
          <a:p xmlns:a="http://schemas.openxmlformats.org/drawingml/2006/main">
            <a:r>
              <a:t>Neunte Stunde</a:t>
            </a:r>
          </a:p>
          <a:p xmlns:a="http://schemas.openxmlformats.org/drawingml/2006/main">
            <a:r>
              <a:t>Nach Einladung um neunte Stunde beginnen. Bei Auszahlung als Zweiter einen Spielstein bekommen.</a:t>
            </a:r>
          </a:p>
          <a:p xmlns:a="http://schemas.openxmlformats.org/drawingml/2006/main">
            <a:r>
              <a:t/>
            </a:r>
          </a:p>
          <a:p xmlns:a="http://schemas.openxmlformats.org/drawingml/2006/main">
            <a:r>
              <a:t>Elfte Stunde</a:t>
            </a:r>
          </a:p>
          <a:p xmlns:a="http://schemas.openxmlformats.org/drawingml/2006/main">
            <a:r>
              <a:t>Auf Frage antworten: „Niemand hat uns eingestellt“. Im Weinberg arbeiten. Bei Auszahlung als Erster einen Spielstein bekommen.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Zusage und Erwartung — 3 Minuten.</a:t>
            </a:r>
          </a:p>
          <a:p xmlns:a="http://schemas.openxmlformats.org/drawingml/2006/main">
            <a:r>
              <a:t>Worte: Der Letzte bekam nicht mehr Münzen: jeder einen Denar. Die Ersten arbeiteten länger. Was wurde versprochen, was erhielten sie, was erwarteten sie nach dem fremden Lohn?</a:t>
            </a:r>
          </a:p>
          <a:p xmlns:a="http://schemas.openxmlformats.org/drawingml/2006/main">
            <a:r>
              <a:t>Durchführung: Zwei Antworten mit Versbeleg hören; Verse 13–15 lesen. Den Anfang „Himmelreich“ erklären: Gottes Barmherzigkeit lässt sich nicht als Überlegenheit über andere beanspruchen.</a:t>
            </a:r>
          </a:p>
          <a:p xmlns:a="http://schemas.openxmlformats.org/drawingml/2006/main">
            <a:r>
              <a:t>Frage: Änderte sich die Zusage des Hausherrn oder die Erwartung des Ersten?</a:t>
            </a:r>
          </a:p>
          <a:p xmlns:a="http://schemas.openxmlformats.org/drawingml/2006/main">
            <a:r>
              <a:t>Orientierung: Die Zusage wurde erfüllt. Die Ersten dachten nun, mehr zu bekommen. Der Hausherr ist zu den Letzten gütig. Gottes Barmherzigkeit annehmen, ohne über Gutes für andere zu murren.</a:t>
            </a:r>
          </a:p>
          <a:p xmlns:a="http://schemas.openxmlformats.org/drawingml/2006/main">
            <a:r>
              <a:t>Rhythmus: 1 Minute Antworten; 1 Minute Verse; 1 Minute Bedeutung.</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Die Reihenfolge der Ereignisse — 4 Minuten.</a:t>
            </a:r>
          </a:p>
          <a:p xmlns:a="http://schemas.openxmlformats.org/drawingml/2006/main">
            <a:r>
              <a:t>Worte: Vier Karten legen. An jeder Stelle Fakt und Erwartung benennen. Warum „Niemand hat uns eingestellt“ merken?</a:t>
            </a:r>
          </a:p>
          <a:p xmlns:a="http://schemas.openxmlformats.org/drawingml/2006/main">
            <a:r>
              <a:t>Durchführung: Paare bekommen gemischte Karten. Reihenfolge legen; in zwei Feldern ursprüngliche Zusage und neue Erwartung festhalten. Ein Paar erklärt das Ende.</a:t>
            </a:r>
          </a:p>
          <a:p xmlns:a="http://schemas.openxmlformats.org/drawingml/2006/main">
            <a:r>
              <a:t>Frage: Können wir die späten Arbeiter nach diesem Text faul nennen?</a:t>
            </a:r>
          </a:p>
          <a:p xmlns:a="http://schemas.openxmlformats.org/drawingml/2006/main">
            <a:r>
              <a:t>Orientierung: Sie erklären, dass niemand sie einstellte. Keine erfundenen Gründe. Reihenfolge: Vereinbarung am Morgen; neue Einladungen; Auszahlung von den Letzten an; Murren und Antwort.</a:t>
            </a:r>
          </a:p>
          <a:p xmlns:a="http://schemas.openxmlformats.org/drawingml/2006/main">
            <a:r>
              <a:t>Rhythmus: 2 Minuten Ordnung; 1 Minute Schreiben; 1 Minute Erklärung.</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Auszahlung von den Letzten an</a:t>
            </a:r>
          </a:p>
          <a:p xmlns:a="http://schemas.openxmlformats.org/drawingml/2006/main">
            <a:r>
              <a:t>Abends beginnt Verwalter bei den Letzten. Späte bekommen einen Denar; Erste denken, mehr zu erhalten.</a:t>
            </a:r>
          </a:p>
          <a:p xmlns:a="http://schemas.openxmlformats.org/drawingml/2006/main">
            <a:r>
              <a:t/>
            </a:r>
          </a:p>
          <a:p xmlns:a="http://schemas.openxmlformats.org/drawingml/2006/main">
            <a:r>
              <a:t>Vereinbarung am Morgen</a:t>
            </a:r>
          </a:p>
          <a:p xmlns:a="http://schemas.openxmlformats.org/drawingml/2006/main">
            <a:r>
              <a:t>Früh am Morgen vereinbart Hausherr mit Arbeitern einen Denar für den Tag. Sie gehen in den Weinberg.</a:t>
            </a:r>
          </a:p>
          <a:p xmlns:a="http://schemas.openxmlformats.org/drawingml/2006/main">
            <a:r>
              <a:t/>
            </a:r>
          </a:p>
          <a:p xmlns:a="http://schemas.openxmlformats.org/drawingml/2006/main">
            <a:r>
              <a:t>Murren und Antwort</a:t>
            </a:r>
          </a:p>
          <a:p xmlns:a="http://schemas.openxmlformats.org/drawingml/2006/main">
            <a:r>
              <a:t>Erste bekommen ebenfalls einen Denar und murren. Hausherr erinnert an Vereinbarung und spricht von Güte. Letzte werden Erste.</a:t>
            </a:r>
          </a:p>
          <a:p xmlns:a="http://schemas.openxmlformats.org/drawingml/2006/main">
            <a:r>
              <a:t/>
            </a:r>
          </a:p>
          <a:p xmlns:a="http://schemas.openxmlformats.org/drawingml/2006/main">
            <a:r>
              <a:t>Neue Einladungen</a:t>
            </a:r>
          </a:p>
          <a:p xmlns:a="http://schemas.openxmlformats.org/drawingml/2006/main">
            <a:r>
              <a:t>Hausherr ruft dritte, sechste, neunte, elfte Stunde. Letzte sagen: „Niemand hat uns eingestellt“.</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Großzügigkeit oder gebrochene Zusage — 4 Minuten.</a:t>
            </a:r>
          </a:p>
          <a:p xmlns:a="http://schemas.openxmlformats.org/drawingml/2006/main">
            <a:r>
              <a:t>Worte: Nicht jeder Unterschied bedeutet Unrecht. Eine gebrochene Zusage ruhig klären. Sechs Fälle nach „Zusage gebrochen“, „Hilfe oder Geschenk“, „Nachfragen nötig“ ordnen.</a:t>
            </a:r>
          </a:p>
          <a:p xmlns:a="http://schemas.openxmlformats.org/drawingml/2006/main">
            <a:r>
              <a:t>Durchführung: Bedingungen lesen, Gruppe wählen, wenigstens einen Fall erklären. Bei fehlenden Informationen eine notwendige Frage nennen.</a:t>
            </a:r>
          </a:p>
          <a:p xmlns:a="http://schemas.openxmlformats.org/drawingml/2006/main">
            <a:r>
              <a:t>Frage: Wie „Ich bekam das Versprochene nicht“ von „Ein anderer bekam etwas Gutes“ unterscheiden?</a:t>
            </a:r>
          </a:p>
          <a:p xmlns:a="http://schemas.openxmlformats.org/drawingml/2006/main">
            <a:r>
              <a:t>Orientierung: Konkrete Vereinbarung und eigenes Ergebnis prüfen. Fremde Hilfe oder Geschenk allein beweisen kein Unrecht gegen mich. Erfüllung einer gebrochenen Zusage ohne Angriff auf andere verlangen.</a:t>
            </a:r>
          </a:p>
          <a:p xmlns:a="http://schemas.openxmlformats.org/drawingml/2006/main">
            <a:r>
              <a:t>Rhythmus: 2 Minuten Sortieren; 2 Minuten zwei Erklärungen.</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Versprochene Minuten</a:t>
            </a:r>
          </a:p>
          <a:p xmlns:a="http://schemas.openxmlformats.org/drawingml/2006/main">
            <a:r>
              <a:t>Lehrkraft versprach dir zehn Minuten Rückmeldung, gab fünf und beendete Unterricht. Ein anderer bekam zehn. Was wurde verletzt, worum bitten?</a:t>
            </a:r>
          </a:p>
          <a:p xmlns:a="http://schemas.openxmlformats.org/drawingml/2006/main">
            <a:r>
              <a:t/>
            </a:r>
          </a:p>
          <a:p xmlns:a="http://schemas.openxmlformats.org/drawingml/2006/main">
            <a:r>
              <a:t>Hilfe für den Neuen</a:t>
            </a:r>
          </a:p>
          <a:p xmlns:a="http://schemas.openxmlformats.org/drawingml/2006/main">
            <a:r>
              <a:t>Jeder bekam versprochenes Material und Zeit. Danach hilft Pädagoge zusätzlich dem Neuen. Deine Hilfe wurde nicht gekürzt. Warum fremde Hilfe nicht beenden?</a:t>
            </a:r>
          </a:p>
          <a:p xmlns:a="http://schemas.openxmlformats.org/drawingml/2006/main">
            <a:r>
              <a:t/>
            </a:r>
          </a:p>
          <a:p xmlns:a="http://schemas.openxmlformats.org/drawingml/2006/main">
            <a:r>
              <a:t>Neue Schuhe</a:t>
            </a:r>
          </a:p>
          <a:p xmlns:a="http://schemas.openxmlformats.org/drawingml/2006/main">
            <a:r>
              <a:t>Bruder bekam Schuhe, weil alte zu klein. Deine passen und sind heil. Gleichzeitiger Kauf nicht versprochen. Eigenen Wunsch ohne „Er wird mehr geliebt“ äußern.</a:t>
            </a:r>
          </a:p>
          <a:p xmlns:a="http://schemas.openxmlformats.org/drawingml/2006/main">
            <a:r>
              <a:t/>
            </a:r>
          </a:p>
          <a:p xmlns:a="http://schemas.openxmlformats.org/drawingml/2006/main">
            <a:r>
              <a:t>Neuer Malkasten</a:t>
            </a:r>
          </a:p>
          <a:p xmlns:a="http://schemas.openxmlformats.org/drawingml/2006/main">
            <a:r>
              <a:t>Freund bekam Farben. Du siehst Geschenk, weißt aber nicht von wem, warum, mit welchen Vereinbarungen. Welchen Fakt vor Schluss klären?</a:t>
            </a:r>
          </a:p>
          <a:p xmlns:a="http://schemas.openxmlformats.org/drawingml/2006/main">
            <a:r>
              <a:t/>
            </a:r>
          </a:p>
          <a:p xmlns:a="http://schemas.openxmlformats.org/drawingml/2006/main">
            <a:r>
              <a:t>Die Arbeit des anderen</a:t>
            </a:r>
          </a:p>
          <a:p xmlns:a="http://schemas.openxmlformats.org/drawingml/2006/main">
            <a:r>
              <a:t>Freund bekam Lob für Bild. Du keinen Kommentar, weißt aber nicht, ob Lehrkraft dein Bild bereits ansah. Wie ruhig um Rückmeldung bitten?</a:t>
            </a:r>
          </a:p>
          <a:p xmlns:a="http://schemas.openxmlformats.org/drawingml/2006/main">
            <a:r>
              <a:t/>
            </a:r>
          </a:p>
          <a:p xmlns:a="http://schemas.openxmlformats.org/drawingml/2006/main">
            <a:r>
              <a:t>Material fehlt</a:t>
            </a:r>
          </a:p>
          <a:p xmlns:a="http://schemas.openxmlformats.org/drawingml/2006/main">
            <a:r>
              <a:t>Jedem brauchbarer Basiskasten versprochen. Du bekamst trockene Farben und sollst damit arbeiten, anderer brauchbare. Zusage einfordern, ohne fremden Kasten zu beschädigen.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Ein Gespräch ohne Vorwurf — 4 Minuten.</a:t>
            </a:r>
          </a:p>
          <a:p xmlns:a="http://schemas.openxmlformats.org/drawingml/2006/main">
            <a:r>
              <a:t>Worte: Statt „Er wird mehr geliebt“ mein Bedürfnis nennen. Gebrochene Zusage benennen; über Geschenk für einen Freund freuen und separat um das Eigene bitten.</a:t>
            </a:r>
          </a:p>
          <a:p xmlns:a="http://schemas.openxmlformats.org/drawingml/2006/main">
            <a:r>
              <a:t>Durchführung: Zwei Fälle von Seite 4 wählen. Einer antwortet dem vergleichenden Jugendlichen; dann Rollen wechseln. Zuhörer wiederholt verstandene Bitte, Glückwunsch oder Faktenfrage.</a:t>
            </a:r>
          </a:p>
          <a:p xmlns:a="http://schemas.openxmlformats.org/drawingml/2006/main">
            <a:r>
              <a:t>Frage: Wie um Nötiges bitten, ohne fremdes Geschenk wegzunehmen?</a:t>
            </a:r>
          </a:p>
          <a:p xmlns:a="http://schemas.openxmlformats.org/drawingml/2006/main">
            <a:r>
              <a:t>Orientierung: „Ich brauche brauchbare Farben. Können wir besprechen, wie ich sie bekomme?“ Oder „Wir vereinbarten zehn Minuten, ich bekam fünf. Wann können wir fertig werden?“ Fremdes Geschenk bleibt.</a:t>
            </a:r>
          </a:p>
          <a:p xmlns:a="http://schemas.openxmlformats.org/drawingml/2006/main">
            <a:r>
              <a:t>Rhythmus: 2 Minuten erste Übung; 2 Minuten Rollenwechsel.</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 Ein neuer Malkasten für den Neuen — 6 Minuten.</a:t>
            </a:r>
          </a:p>
          <a:p xmlns:a="http://schemas.openxmlformats.org/drawingml/2006/main">
            <a:r>
              <a:t>Worte: Mischa bekam in der Werkstatt einen neuen Malkasten, Sascha einen gewöhnlichen. Sascha: „Dann werde ich weniger geschätzt“. Jeder hat eine Information. Alle hören, ersten Plan erstellen.</a:t>
            </a:r>
          </a:p>
          <a:p xmlns:a="http://schemas.openxmlformats.org/drawingml/2006/main">
            <a:r>
              <a:t>Durchführung: Vierergruppen lesen getrennte Informationen auf Seite 5. Bekanntes, Unbekanntes, Frage an Lehrkraft und gute Tat schreiben. Vertreter stellt Plan vor. Neue Bedingung bleibt bei der Lehrkraft.</a:t>
            </a:r>
          </a:p>
          <a:p xmlns:a="http://schemas.openxmlformats.org/drawingml/2006/main">
            <a:r>
              <a:t>Frage: Welche Informationen verhindern den voreiligen Schluss „Er wird mehr geliebt“?</a:t>
            </a:r>
          </a:p>
          <a:p xmlns:a="http://schemas.openxmlformats.org/drawingml/2006/main">
            <a:r>
              <a:t>Orientierung: Brauchbarer Basiskasten und zehn Minuten Rückmeldung jedem versprochen. Saschas Kasten ist brauchbar, sein Termin steht noch aus. Ein Freiwilliger schenkte Mischa separat einen neuen. Eigene Zeit noch erhalten; Reihenfolge klären.</a:t>
            </a:r>
          </a:p>
          <a:p xmlns:a="http://schemas.openxmlformats.org/drawingml/2006/main">
            <a:r>
              <a:t>Rhythmus: 1 Minute Informationen; 3 Minuten erster Plan; 2 Minuten Bericht und Klärung.</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1. Gemeinsame Zusage</a:t>
            </a:r>
          </a:p>
          <a:p xmlns:a="http://schemas.openxmlformats.org/drawingml/2006/main">
            <a:r>
              <a:t>In Werkstatt versprach Lehrkraft jedem brauchbaren Basismalkasten und zehn Minuten Rückmeldung bis Unterrichtsende.</a:t>
            </a:r>
          </a:p>
          <a:p xmlns:a="http://schemas.openxmlformats.org/drawingml/2006/main">
            <a:r>
              <a:t/>
            </a:r>
          </a:p>
          <a:p xmlns:a="http://schemas.openxmlformats.org/drawingml/2006/main">
            <a:r>
              <a:t>2. Was Sascha hat</a:t>
            </a:r>
          </a:p>
          <a:p xmlns:a="http://schemas.openxmlformats.org/drawingml/2006/main">
            <a:r>
              <a:t>Sascha hat brauchbaren gewöhnlichen Kasten. Sein Zehn-Minuten-Termin steht noch aus, Lehrkraft hielt Platz frei. Neuer Kasten bei Mischa weckt „Ich werde weniger geschätzt“. Zeit noch erhalten.</a:t>
            </a:r>
          </a:p>
          <a:p xmlns:a="http://schemas.openxmlformats.org/drawingml/2006/main">
            <a:r>
              <a:t/>
            </a:r>
          </a:p>
          <a:p xmlns:a="http://schemas.openxmlformats.org/drawingml/2006/main">
            <a:r>
              <a:t>3. Woher das Geschenk kam</a:t>
            </a:r>
          </a:p>
          <a:p xmlns:a="http://schemas.openxmlformats.org/drawingml/2006/main">
            <a:r>
              <a:t>Mischa kam erstmals in Werkstatt. Seine Farben sind trocken. Ein Freiwilliger schenkte ihm separat seinen neuen Kasten, ohne anderen Material wegzunehmen.</a:t>
            </a:r>
          </a:p>
          <a:p xmlns:a="http://schemas.openxmlformats.org/drawingml/2006/main">
            <a:r>
              <a:t/>
            </a:r>
          </a:p>
          <a:p xmlns:a="http://schemas.openxmlformats.org/drawingml/2006/main">
            <a:r>
              <a:t>4. Was man tun kann</a:t>
            </a:r>
          </a:p>
          <a:p xmlns:a="http://schemas.openxmlformats.org/drawingml/2006/main">
            <a:r>
              <a:t>Saschas Termin klären, eigenes Bild weiter malen, Mischa beim Ankommen helfen. Fremdes Geschenk bestimmt Saschas Wert nicht. Für gebrochene Zusage braucht es konkrete Fakten.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 Wenn die Zusage nicht erfüllt wurde — 3 Minuten.</a:t>
            </a:r>
          </a:p>
          <a:p xmlns:a="http://schemas.openxmlformats.org/drawingml/2006/main">
            <a:r>
              <a:t>Worte: Neue Bedingung: Am Ende bekam Sascha nur fünf statt zehn Minuten Rückmeldung. Lehrkraft sagte: Für heute ist Schluss. Muss er schweigend dulden? Muss Mischa sein Geschenk verlieren?</a:t>
            </a:r>
          </a:p>
          <a:p xmlns:a="http://schemas.openxmlformats.org/drawingml/2006/main">
            <a:r>
              <a:t>Durchführung: Ersten Plan behalten; zweiten im letzten Feld ergänzen. Konkrete gebrochene Zusage liegt jetzt vor. Ruhige Bitte um fehlende Zeit formulieren, Mischas Geschenk lassen.</a:t>
            </a:r>
          </a:p>
          <a:p xmlns:a="http://schemas.openxmlformats.org/drawingml/2006/main">
            <a:r>
              <a:t>Frage: Wie verändert der neue Fakt den Plan?</a:t>
            </a:r>
          </a:p>
          <a:p xmlns:a="http://schemas.openxmlformats.org/drawingml/2006/main">
            <a:r>
              <a:t>Orientierung: „Wir hatten zehn Minuten vereinbart. Ich bekam fünf. Wann bekomme ich die übrigen fünf?“ Die berechtigte Bitte nicht bloß als Neid abtun; fremde Farben nicht wegnehmen.</a:t>
            </a:r>
          </a:p>
          <a:p xmlns:a="http://schemas.openxmlformats.org/drawingml/2006/main">
            <a:r>
              <a:t>Rhythmus: 2 Minuten neuer Plan; 1 Minute zwei Antworten.</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Meine Bitte und die Freude des anderen — 4 Minuten.</a:t>
            </a:r>
          </a:p>
          <a:p xmlns:a="http://schemas.openxmlformats.org/drawingml/2006/main">
            <a:r>
              <a:t>Worte: Erfüllung des Versprechens verlangen und Mischa freundlich begegnen. Bitte an Lehrkraft sagen, dann freundlicher Satz oder Hilfe für Freund.</a:t>
            </a:r>
          </a:p>
          <a:p xmlns:a="http://schemas.openxmlformats.org/drawingml/2006/main">
            <a:r>
              <a:t>Durchführung: Im Paar spricht einer die Bitte, anderer antwortet und wiederholt ihren Sinn. Rollen wechseln. Jeder nennt am Ende Satz an Mischa oder machbare Hilfe in der Werkstatt.</a:t>
            </a:r>
          </a:p>
          <a:p xmlns:a="http://schemas.openxmlformats.org/drawingml/2006/main">
            <a:r>
              <a:t>Frage: Warum darf Bitte um Gerechtigkeit kein Kampf gegen Gutes für andere werden?</a:t>
            </a:r>
          </a:p>
          <a:p xmlns:a="http://schemas.openxmlformats.org/drawingml/2006/main">
            <a:r>
              <a:t>Orientierung: Mein Bedürfnis ist real; fremdes Geschenk verursacht es nicht. Fehlende fünf Minuten verlangen und Mischa beim Ankommen helfen. Keine sofortige Lösung versprechen; bei Bedarf Vereinbarung nochmals klären.</a:t>
            </a:r>
          </a:p>
          <a:p xmlns:a="http://schemas.openxmlformats.org/drawingml/2006/main">
            <a:r>
              <a:t>Rhythmus: 2 Minuten Bitten im Paar; 2 Minuten freundliche Antwort und Hilfe.</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 Mein nächster Schritt — 3 Minuten.</a:t>
            </a:r>
          </a:p>
          <a:p xmlns:a="http://schemas.openxmlformats.org/drawingml/2006/main">
            <a:r>
              <a:t>Worte: Echten oder erfundenen Fall wählen. Was brauche ich, was wurde versprochen, was bekam ein anderer? Welche Frage, Dankbarkeit oder Hilfe folgt?</a:t>
            </a:r>
          </a:p>
          <a:p xmlns:a="http://schemas.openxmlformats.org/drawingml/2006/main">
            <a:r>
              <a:t>Durchführung: Sechs Felder des persönlichen Blatts ausfüllen. Nur gewählten Satz nennen ist möglich. Kurze Stille und eigens verfasstes Gebet. Blatt bleibt beim Jugendlichen.</a:t>
            </a:r>
          </a:p>
          <a:p xmlns:a="http://schemas.openxmlformats.org/drawingml/2006/main">
            <a:r>
              <a:t>Frage: Was kann ich tun, auch wenn das Vergleichsgefühl bleibt?</a:t>
            </a:r>
          </a:p>
          <a:p xmlns:a="http://schemas.openxmlformats.org/drawingml/2006/main">
            <a:r>
              <a:t>Orientierung: Fakten prüfen, Bedürfnis nennen, Zusage einfordern, danken, sich über andere freuen oder helfen. Gott um Hilfe gegen Neid bitten, ohne sich selbst abzuwerten.</a:t>
            </a:r>
          </a:p>
          <a:p xmlns:a="http://schemas.openxmlformats.org/drawingml/2006/main">
            <a:r>
              <a:t>Rhythmus: 2 Minuten persönliches Blatt; 1 Minute Stille und Gebet.</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Barmherzigkeit und mein Wert — 2 Minuten.</a:t>
            </a:r>
          </a:p>
          <a:p xmlns:a="http://schemas.openxmlformats.org/drawingml/2006/main">
            <a:r>
              <a:t>Worte: Zwei Sätze abschließen: „Der erste Arbeiter bekam…“ und „Wenn einem anderen geholfen wurde, kann ich…“. Welche Tat beim nächsten Vergleich?</a:t>
            </a:r>
          </a:p>
          <a:p xmlns:a="http://schemas.openxmlformats.org/drawingml/2006/main">
            <a:r>
              <a:t>Durchführung: Zwei kurze Antworten hören. Jeder wählt ersten Schritt und Zeitpunkt. Nächstes Treffen freiwillig von Versuch und Schwierigkeiten erzählen.</a:t>
            </a:r>
          </a:p>
          <a:p xmlns:a="http://schemas.openxmlformats.org/drawingml/2006/main">
            <a:r>
              <a:t>Frage: Was lehrt das Gleichnis über Gott und den Nächsten?</a:t>
            </a:r>
          </a:p>
          <a:p xmlns:a="http://schemas.openxmlformats.org/drawingml/2006/main">
            <a:r>
              <a:t>Orientierung: Gottes Barmherzigkeit ohne Anspruch auf Überlegenheit annehmen. Der Hausherr erfüllte die Vereinbarung und war großzügig. Freude über fremdes Gutes und ruhige Bitte um eigenes Bedürfnis verbinden.</a:t>
            </a:r>
          </a:p>
          <a:p xmlns:a="http://schemas.openxmlformats.org/drawingml/2006/main">
            <a:r>
              <a:t>Rhythmus: 1 Minute Antworten; 1 Minute Schritt und Abschluss.</a:t>
            </a:r>
          </a:p>
          <a:p xmlns:a="http://schemas.openxmlformats.org/drawingml/2006/main">
            <a:r>
              <a:t/>
            </a:r>
          </a:p>
          <a:p xmlns:a="http://schemas.openxmlformats.org/drawingml/2006/main">
            <a:r>
              <a:t>Vorbereitung</a:t>
            </a:r>
          </a:p>
          <a:p xmlns:a="http://schemas.openxmlformats.org/drawingml/2006/main">
            <a:r>
              <a:t>1. Zwölf Folien und Moderationsnotizen öffnen. Ganzes Matthäus 20,1–16 vorbereiten. Sofort nach dem Lesen spielen, danach besprechen.</a:t>
            </a:r>
          </a:p>
          <a:p xmlns:a="http://schemas.openxmlformats.org/drawingml/2006/main">
            <a:r>
              <a:t>2. Seiten 1–2 pro Gruppe, 3–4 pro Paar, 5 pro Viererteam, 6 pro Person drucken. Schreibfelder auf Seiten 3 und 5 nicht zerschneiden. Alle Karten illustriert; Graustufen möglich.</a:t>
            </a:r>
          </a:p>
          <a:p xmlns:a="http://schemas.openxmlformats.org/drawingml/2006/main">
            <a:r>
              <a:t>3. Fünf gleiche Spielsteine oder Knöpfe: jeder ein Denar. Requisiten, keine Teilnehmerbelohnung. Sieben Rollen auswählen; Lehrkraft liest Erzählung und Christi Schlussworte.</a:t>
            </a:r>
          </a:p>
          <a:p xmlns:a="http://schemas.openxmlformats.org/drawingml/2006/main">
            <a:r>
              <a:t>4. Paare und Viererteams bilden. Bei kleinerem Team liest einer zwei Informationen. Neue Bedingung über fünf Minuten bis Phase 9 zurückhalten. Ersten Plan nicht löschen.</a:t>
            </a:r>
          </a:p>
          <a:p xmlns:a="http://schemas.openxmlformats.org/drawingml/2006/main">
            <a:r>
              <a:t>5. Stifte und gegebenenfalls Werkstattmaterial vorbereiten. Persönliches Blatt bleibt beim Jugendlichen; erfundene Fälle zulässig.</a:t>
            </a:r>
          </a:p>
          <a:p xmlns:a="http://schemas.openxmlformats.org/drawingml/2006/main">
            <a:r>
              <a:t>Hinweise</a:t>
            </a:r>
          </a:p>
          <a:p xmlns:a="http://schemas.openxmlformats.org/drawingml/2006/main">
            <a:r>
              <a:t>1. Im Gleichnis bekommt der Letzte gleich viel wie der Erste. Titel beschreibt Vergleichsgefühl. Nicht zwei Münzen gegen eine erzählen. Jeder einen Denar; Zusage an Erste erfüllt.</a:t>
            </a:r>
          </a:p>
          <a:p xmlns:a="http://schemas.openxmlformats.org/drawingml/2006/main">
            <a:r>
              <a:t>2. Fünf Einladungszeiten, Auszahlung von den Letzten an erhalten. Sieben Rollen sind Bühnenwahl, fünf Vertreter sind Gruppen, keine Evangelien-Gesamtzahl. Niemand stellte die Letzten ein; nicht faul nennen.</a:t>
            </a:r>
          </a:p>
          <a:p xmlns:a="http://schemas.openxmlformats.org/drawingml/2006/main">
            <a:r>
              <a:t>3. Anfang vom Himmelreich bestimmt Bedeutung. Gottes Barmherzigkeit nicht als Lohn für Überlegenheit beanspruchen. Theophylakt sieht Möglichkeit, auch spät durch Umkehr ins Reich zu kommen. Nicht folgern, gute Taten aufzuschieben: Eingeladene arbeiten. Quelle: https://azbyka.ru/otechnik/Feofilakt_Bolgarskij/tolkovanie-na-evangelie-ot-matfeja/20.</a:t>
            </a:r>
          </a:p>
          <a:p xmlns:a="http://schemas.openxmlformats.org/drawingml/2006/main">
            <a:r>
              <a:t>4. Keine universelle Lohn-, Noten- oder Wettbewerbsregel. Im Alltag Zusage, Regeln und wirklichen Bedarf prüfen. Ruhige Bitte um Korrektur und gute Haltung zu anderen vereinbar.</a:t>
            </a:r>
          </a:p>
          <a:p xmlns:a="http://schemas.openxmlformats.org/drawingml/2006/main">
            <a:r>
              <a:t>5. Reihenfolge Seite 3: 2,4,1,3 von links oben. Seite 4: Zusage gebrochen 1,6; Hilfe/Geschenk 2,3; Nachfragen 4,5. Anderer Kontext kann Schluss ändern.</a:t>
            </a:r>
          </a:p>
          <a:p xmlns:a="http://schemas.openxmlformats.org/drawingml/2006/main">
            <a:r>
              <a:t>6. Erster Plan: Saschas Termin steht noch aus. Zweiter: fünf statt zehn Minuten, Zusage gebrochen. Nicht jede Bitte Neid nennen. Zeit klären; Geschenk bleibt.</a:t>
            </a:r>
          </a:p>
          <a:p xmlns:a="http://schemas.openxmlformats.org/drawingml/2006/main">
            <a:r>
              <a:t>7. Vergleich kann echtes Bedürfnis zeigen. Es benennen, nicht „undankbar“ oder „schlechter“ urteilen. Fremder Erfolg bestimmt meinen Wert vor Gott nicht. Dank und Bitte zusammen.</a:t>
            </a:r>
          </a:p>
          <a:p xmlns:a="http://schemas.openxmlformats.org/drawingml/2006/main">
            <a:r>
              <a:t>8. Keine sofortige Freude oder öffentliche Neidbeichte verlangen. Freundlichen Satz und Tat anbieten, auch wenn Gefühl bleibt. Gebet eigens verfasst, stilles Zuhören möglich. Bei Fragen zu Umkehr und Beichte Gespräch mit Priester anbieten.</a:t>
            </a:r>
          </a:p>
          <a:p xmlns:a="http://schemas.openxmlformats.org/drawingml/2006/main">
            <a:r>
              <a:t/>
            </a:r>
          </a:p>
          <a:p xmlns:a="http://schemas.openxmlformats.org/drawingml/2006/main">
            <a:r>
              <a:t>Quelle: vorhandener zweisprachiger Unterricht auf lessons.atapin.de; vorhandene Illustrationen unverändert.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cf4c72d53b43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c8c29888484d34" /><Relationship Type="http://schemas.openxmlformats.org/officeDocument/2006/relationships/slideLayout" Target="/ppt/slideLayouts/slideLayout1.xml" Id="Rfd1289f658e848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1289f658e848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551022f41a342c0" /><Relationship Type="http://schemas.openxmlformats.org/officeDocument/2006/relationships/image" Target="/ppt/media/image.jpeg" Id="Rbee57f27349943dc" /><Relationship Type="http://schemas.openxmlformats.org/officeDocument/2006/relationships/notesSlide" Target="/ppt/notesSlides/notesSlide1.xml" Id="Re89177bc3f1247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03534eb80004c3a" /><Relationship Type="http://schemas.openxmlformats.org/officeDocument/2006/relationships/image" Target="/ppt/media/image2.jpeg" Id="Ra11d823fa21e4401" /><Relationship Type="http://schemas.openxmlformats.org/officeDocument/2006/relationships/notesSlide" Target="/ppt/notesSlides/notesSlide2.xml" Id="Rd901d1e7a61741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bee3b2f08564458" /><Relationship Type="http://schemas.openxmlformats.org/officeDocument/2006/relationships/image" Target="/ppt/media/image3.jpeg" Id="Re9823cb1e9b44924" /><Relationship Type="http://schemas.openxmlformats.org/officeDocument/2006/relationships/notesSlide" Target="/ppt/notesSlides/notesSlide3.xml" Id="R389a8ddfec6241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ef0973b01841b6" /><Relationship Type="http://schemas.openxmlformats.org/officeDocument/2006/relationships/image" Target="/ppt/media/image4.jpeg" Id="R300df652f0074fea" /><Relationship Type="http://schemas.openxmlformats.org/officeDocument/2006/relationships/notesSlide" Target="/ppt/notesSlides/notesSlide4.xml" Id="Rbf904bf6cf0c4d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d0edf457ef4f51" /><Relationship Type="http://schemas.openxmlformats.org/officeDocument/2006/relationships/image" Target="/ppt/media/image5.jpeg" Id="R3dbb5c3972034aa2" /><Relationship Type="http://schemas.openxmlformats.org/officeDocument/2006/relationships/notesSlide" Target="/ppt/notesSlides/notesSlide5.xml" Id="Ra75a9cbc21bb46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de3b0850b8c428e" /><Relationship Type="http://schemas.openxmlformats.org/officeDocument/2006/relationships/image" Target="/ppt/media/image6.jpeg" Id="Rfe50481f75104202" /><Relationship Type="http://schemas.openxmlformats.org/officeDocument/2006/relationships/notesSlide" Target="/ppt/notesSlides/notesSlide6.xml" Id="Rd9b91f45b29a4a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2b7e34a23584625" /><Relationship Type="http://schemas.openxmlformats.org/officeDocument/2006/relationships/image" Target="/ppt/media/image7.jpeg" Id="R02c24916355e428d" /><Relationship Type="http://schemas.openxmlformats.org/officeDocument/2006/relationships/notesSlide" Target="/ppt/notesSlides/notesSlide7.xml" Id="R45b66d31352f48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d43dea5bfb54df3" /><Relationship Type="http://schemas.openxmlformats.org/officeDocument/2006/relationships/image" Target="/ppt/media/image8.jpeg" Id="R6bb5c619b11f4bd9" /><Relationship Type="http://schemas.openxmlformats.org/officeDocument/2006/relationships/notesSlide" Target="/ppt/notesSlides/notesSlide8.xml" Id="Rf5a3e5cf8c2b47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1bdec8b85444eec" /><Relationship Type="http://schemas.openxmlformats.org/officeDocument/2006/relationships/image" Target="/ppt/media/image9.jpeg" Id="R5a20769f89034d36" /><Relationship Type="http://schemas.openxmlformats.org/officeDocument/2006/relationships/notesSlide" Target="/ppt/notesSlides/notesSlide9.xml" Id="R80a8ab85c8304e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ebb723b1f14459d" /><Relationship Type="http://schemas.openxmlformats.org/officeDocument/2006/relationships/image" Target="/ppt/media/image10.jpeg" Id="R35d3e374b0914535" /><Relationship Type="http://schemas.openxmlformats.org/officeDocument/2006/relationships/notesSlide" Target="/ppt/notesSlides/notesSlide10.xml" Id="Rf6c92d0c1d2340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e10f552c33b4038" /><Relationship Type="http://schemas.openxmlformats.org/officeDocument/2006/relationships/image" Target="/ppt/media/image11.jpeg" Id="Ra4aea51595634b7e" /><Relationship Type="http://schemas.openxmlformats.org/officeDocument/2006/relationships/notesSlide" Target="/ppt/notesSlides/notesSlide11.xml" Id="Rdcd2dc248c08482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908d8af7fa6424d" /><Relationship Type="http://schemas.openxmlformats.org/officeDocument/2006/relationships/image" Target="/ppt/media/image12.jpeg" Id="R453683969b0341e9" /><Relationship Type="http://schemas.openxmlformats.org/officeDocument/2006/relationships/notesSlide" Target="/ppt/notesSlides/notesSlide12.xml" Id="R15d2aa73f8df4470" /></Relationships>
</file>

<file path=ppt/slides/slide1.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E57AB4-794D-4CF4-9CB6-149CD6BCDE48}"/>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Warum bekommt er mehr als ich?</a:t>
            </a:r>
          </a:p>
        </p:txBody>
      </p:sp>
      <p:sp>
        <p:nvSpPr>
          <p:cNvPr id="2" name="">
            <a:extLst xmlns:a="http://schemas.openxmlformats.org/drawingml/2006/main">
              <a:ext uri="{FF2B5EF4-FFF2-40B4-BE49-F238E27FC236}">
                <a16:creationId xmlns:a16="http://schemas.microsoft.com/office/drawing/2014/main" id="{537AA466-9E20-41D4-B897-C5152CA9DE37}"/>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Gerechtigkeit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und Großzügigkeit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Sich mit anderen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vergleichen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12–15 Jahre · 45 Minuten</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bee57f27349943dc"/>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034EAEB-2123-458F-A7F2-8F3BACD7AF7C}"/>
              </a:ext>
            </a:extLst>
          </p:cNvPr>
          <p:cNvSpPr>
            <a:spLocks xmlns:a="http://schemas.openxmlformats.org/drawingml/2006/main" noGrp="1"/>
          </p:cNvSpPr>
          <p:nvPr/>
        </p:nvSpPr>
        <p:spPr>
          <a:xfrm xmlns:a="http://schemas.openxmlformats.org/drawingml/2006/main">
            <a:off x="523875" y="60674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7D6048"/>
                </a:solidFill>
                <a:latin typeface="Arial"/>
                <a:ea typeface="Arial"/>
                <a:cs typeface="Arial"/>
              </a:defRPr>
            </a:pPr>
            <a:r>
              <a:rPr sz="1350" b="0">
                <a:solidFill>
                  <a:srgbClr val="7D6048"/>
                </a:solidFill>
                <a:latin typeface="Arial"/>
                <a:ea typeface="Arial"/>
                <a:cs typeface="Arial"/>
              </a:rPr>
              <a:t>Matthäus 20,1–16</a:t>
            </a:r>
          </a:p>
        </p:txBody>
      </p:sp>
      <p:sp>
        <p:nvSpPr>
          <p:cNvPr id="5" name="">
            <a:extLst xmlns:a="http://schemas.openxmlformats.org/drawingml/2006/main">
              <a:ext uri="{FF2B5EF4-FFF2-40B4-BE49-F238E27FC236}">
                <a16:creationId xmlns:a16="http://schemas.microsoft.com/office/drawing/2014/main" id="{A0B311F2-049B-422E-9E04-50C9A11FC1C1}"/>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1 / 12</a:t>
            </a:r>
          </a:p>
        </p:txBody>
      </p:sp>
    </p:spTree>
    <p:extLst>
      <p:ext uri="{BB962C8B-B14F-4D97-AF65-F5344CB8AC3E}">
        <p14:creationId xmlns:p14="http://schemas.microsoft.com/office/powerpoint/2010/main" val="273354410"/>
      </p:ext>
    </p:extLst>
  </p:cSld>
</p:sld>
</file>

<file path=ppt/slides/slide2.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43152DC-EEB8-48A0-A8D6-88900F511321}"/>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Die Arbeiter im Weinberg</a:t>
            </a:r>
          </a:p>
        </p:txBody>
      </p:sp>
      <p:sp>
        <p:nvSpPr>
          <p:cNvPr id="2" name="">
            <a:extLst xmlns:a="http://schemas.openxmlformats.org/drawingml/2006/main">
              <a:ext uri="{FF2B5EF4-FFF2-40B4-BE49-F238E27FC236}">
                <a16:creationId xmlns:a16="http://schemas.microsoft.com/office/drawing/2014/main" id="{3E2720FA-9F2F-4146-9D54-7BED0F8188B1}"/>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Matthäus 20,1–16.</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Früh am Morgen.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Dritte Stunde.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Sechste Stunde.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Neunte Stunde.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Elfte Stunde.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Wir lesen das ganze Gleichnis.</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Sofort nach allen sechzehn Versen folgt das Rollenspiel.</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11d823fa21e4401"/>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45AA32F-4DF3-4FF0-AF49-92AF6F7D6D1E}"/>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2 / 12</a:t>
            </a:r>
          </a:p>
        </p:txBody>
      </p:sp>
    </p:spTree>
    <p:extLst>
      <p:ext uri="{BB962C8B-B14F-4D97-AF65-F5344CB8AC3E}">
        <p14:creationId xmlns:p14="http://schemas.microsoft.com/office/powerpoint/2010/main" val="1050270415"/>
      </p:ext>
    </p:extLst>
  </p:cSld>
</p:sld>
</file>

<file path=ppt/slides/slide3.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60DAAEB-5292-4B0F-B33D-96680B28A616}"/>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Ein Denar für jeden</a:t>
            </a:r>
          </a:p>
        </p:txBody>
      </p:sp>
      <p:sp>
        <p:nvSpPr>
          <p:cNvPr id="2" name="">
            <a:extLst xmlns:a="http://schemas.openxmlformats.org/drawingml/2006/main">
              <a:ext uri="{FF2B5EF4-FFF2-40B4-BE49-F238E27FC236}">
                <a16:creationId xmlns:a16="http://schemas.microsoft.com/office/drawing/2014/main" id="{124E227C-A732-4A69-BFEE-38D306C1713E}"/>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Fünf Einladungen.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Auszahlung von den Letzten an.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Ein Denar für jeden.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Die Ersten erwarten mehr.</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Die Antwort des Hausherrn.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Sieben Rollen. Besprechung nach dem Ende.</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9823cb1e9b44924"/>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9FA5F1C-25B0-4108-AC79-CBB0E0F6F30C}"/>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3 / 12</a:t>
            </a:r>
          </a:p>
        </p:txBody>
      </p:sp>
    </p:spTree>
    <p:extLst>
      <p:ext uri="{BB962C8B-B14F-4D97-AF65-F5344CB8AC3E}">
        <p14:creationId xmlns:p14="http://schemas.microsoft.com/office/powerpoint/2010/main" val="1726861455"/>
      </p:ext>
    </p:extLst>
  </p:cSld>
</p:sld>
</file>

<file path=ppt/slides/slide4.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32A0151-915C-4E14-B7E9-D1AA64FC988B}"/>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Zusage und Erwartung</a:t>
            </a:r>
          </a:p>
        </p:txBody>
      </p:sp>
      <p:sp>
        <p:nvSpPr>
          <p:cNvPr id="2" name="">
            <a:extLst xmlns:a="http://schemas.openxmlformats.org/drawingml/2006/main">
              <a:ext uri="{FF2B5EF4-FFF2-40B4-BE49-F238E27FC236}">
                <a16:creationId xmlns:a16="http://schemas.microsoft.com/office/drawing/2014/main" id="{2A56FDFB-1294-4901-AACD-531ED828ED58}"/>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Was wurde mir versprochen?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Was habe ich bekommen?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Was begann ich zu erwarten?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„Ich tue dir kein Unrecht“.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„Ich bin gütig“.</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Matthäus 20,13.15.</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Der Hausherr erfüllte die Vereinbarung und zeigte Großzügigkeit.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00df652f0074fea"/>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F097B0D-2316-4D33-BC9F-C7819404BD12}"/>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4 / 12</a:t>
            </a:r>
          </a:p>
        </p:txBody>
      </p:sp>
    </p:spTree>
    <p:extLst>
      <p:ext uri="{BB962C8B-B14F-4D97-AF65-F5344CB8AC3E}">
        <p14:creationId xmlns:p14="http://schemas.microsoft.com/office/powerpoint/2010/main" val="859870934"/>
      </p:ext>
    </p:extLst>
  </p:cSld>
</p:sld>
</file>

<file path=ppt/slides/slide5.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9FB9CB1-1459-4152-9335-55CC0AD28842}"/>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Die Reihenfolge der Ereignisse</a:t>
            </a:r>
          </a:p>
        </p:txBody>
      </p:sp>
      <p:sp>
        <p:nvSpPr>
          <p:cNvPr id="2" name="">
            <a:extLst xmlns:a="http://schemas.openxmlformats.org/drawingml/2006/main">
              <a:ext uri="{FF2B5EF4-FFF2-40B4-BE49-F238E27FC236}">
                <a16:creationId xmlns:a16="http://schemas.microsoft.com/office/drawing/2014/main" id="{CDEAC5B9-E11E-42BE-89C3-9D0EEA0F7439}"/>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Vereinbarung am Morgen.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Neue Einladungen.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Auszahlung von den Letzten an.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Murren und Antwort.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„Niemand hat uns eingestellt“.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Wo entstand eine Erwartung?</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Vier Karten und zwei Schreibfelder.</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bb5c3972034aa2"/>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5CA17B-8AC7-4DE7-837C-7EC10A804793}"/>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5 / 12</a:t>
            </a:r>
          </a:p>
        </p:txBody>
      </p:sp>
    </p:spTree>
    <p:extLst>
      <p:ext uri="{BB962C8B-B14F-4D97-AF65-F5344CB8AC3E}">
        <p14:creationId xmlns:p14="http://schemas.microsoft.com/office/powerpoint/2010/main" val="1680357986"/>
      </p:ext>
    </p:extLst>
  </p:cSld>
</p:sld>
</file>

<file path=ppt/slides/slide6.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04FAD62-C64F-42A2-8AE0-BB171D07AC60}"/>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Großzügigkeit oder gebrochene Zusage</a:t>
            </a:r>
          </a:p>
        </p:txBody>
      </p:sp>
      <p:sp>
        <p:nvSpPr>
          <p:cNvPr id="2" name="">
            <a:extLst xmlns:a="http://schemas.openxmlformats.org/drawingml/2006/main">
              <a:ext uri="{FF2B5EF4-FFF2-40B4-BE49-F238E27FC236}">
                <a16:creationId xmlns:a16="http://schemas.microsoft.com/office/drawing/2014/main" id="{06595837-4C8B-4FA9-A82B-D23791A9F016}"/>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Zusage gebrochen.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Hilfe oder Geschenk.</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Nachfragen nötig.</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Sechs Fälle.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Welche Bedingung verändert unseren Schluss?</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Hilfe für andere beweist für sich allein kein Unrecht.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e50481f75104202"/>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FE17E6E-87FA-46E3-9BFB-1D9A7DBAA816}"/>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6 / 12</a:t>
            </a:r>
          </a:p>
        </p:txBody>
      </p:sp>
    </p:spTree>
    <p:extLst>
      <p:ext uri="{BB962C8B-B14F-4D97-AF65-F5344CB8AC3E}">
        <p14:creationId xmlns:p14="http://schemas.microsoft.com/office/powerpoint/2010/main" val="1567604755"/>
      </p:ext>
    </p:extLst>
  </p:cSld>
</p:sld>
</file>

<file path=ppt/slides/slide7.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95F3CEE-7CF8-4DC3-A914-8B55CAEFCD7F}"/>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Ein Gespräch ohne Vorwurf</a:t>
            </a:r>
          </a:p>
        </p:txBody>
      </p:sp>
      <p:sp>
        <p:nvSpPr>
          <p:cNvPr id="2" name="">
            <a:extLst xmlns:a="http://schemas.openxmlformats.org/drawingml/2006/main">
              <a:ext uri="{FF2B5EF4-FFF2-40B4-BE49-F238E27FC236}">
                <a16:creationId xmlns:a16="http://schemas.microsoft.com/office/drawing/2014/main" id="{E8B53C5A-329A-46C9-AE7C-CE88F521CBAD}"/>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„Ich brauche…“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„Wir hatten vereinbart…“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„Darf ich nachfragen…“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Der Partner wiederholt, wie er die Antwort verstanden hat.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Mein Bedürfnis verlangt nicht, einem anderen sein Geschenk wegzunehmen.</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2c24916355e428d"/>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DC45D19-2FE1-4327-839D-B4E9FBB5FE8A}"/>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7 / 12</a:t>
            </a:r>
          </a:p>
        </p:txBody>
      </p:sp>
    </p:spTree>
    <p:extLst>
      <p:ext uri="{BB962C8B-B14F-4D97-AF65-F5344CB8AC3E}">
        <p14:creationId xmlns:p14="http://schemas.microsoft.com/office/powerpoint/2010/main" val="1441316824"/>
      </p:ext>
    </p:extLst>
  </p:cSld>
</p:sld>
</file>

<file path=ppt/slides/slide8.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0884B78-045C-425F-A873-A131EE66503C}"/>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Ein neuer Malkasten für den Neuen</a:t>
            </a:r>
          </a:p>
        </p:txBody>
      </p:sp>
      <p:sp>
        <p:nvSpPr>
          <p:cNvPr id="2" name="">
            <a:extLst xmlns:a="http://schemas.openxmlformats.org/drawingml/2006/main">
              <a:ext uri="{FF2B5EF4-FFF2-40B4-BE49-F238E27FC236}">
                <a16:creationId xmlns:a16="http://schemas.microsoft.com/office/drawing/2014/main" id="{0D788E35-0A7F-4BFE-A464-ADF8E971C70D}"/>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Mischa hat einen neuen Malkasten.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Sascha hat einen gewöhnlichen.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Wer schenkte den Malkasten?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Was wurde Sascha versprochen?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Was steht noch aus?</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Hört alle vier Informationen.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Erster Plan. Die neue Bedingung kommt später.</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b5c619b11f4bd9"/>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54D92C4-34C0-4C66-A7C7-23AAFF864683}"/>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8 / 12</a:t>
            </a:r>
          </a:p>
        </p:txBody>
      </p:sp>
    </p:spTree>
    <p:extLst>
      <p:ext uri="{BB962C8B-B14F-4D97-AF65-F5344CB8AC3E}">
        <p14:creationId xmlns:p14="http://schemas.microsoft.com/office/powerpoint/2010/main" val="1095357587"/>
      </p:ext>
    </p:extLst>
  </p:cSld>
</p:sld>
</file>

<file path=ppt/slides/slide9.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6B3CDD-F0AB-4ADE-9EF6-AFACBB900BB6}"/>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Wenn die Zusage nicht erfüllt wurde</a:t>
            </a:r>
          </a:p>
        </p:txBody>
      </p:sp>
      <p:sp>
        <p:nvSpPr>
          <p:cNvPr id="2" name="">
            <a:extLst xmlns:a="http://schemas.openxmlformats.org/drawingml/2006/main">
              <a:ext uri="{FF2B5EF4-FFF2-40B4-BE49-F238E27FC236}">
                <a16:creationId xmlns:a16="http://schemas.microsoft.com/office/drawing/2014/main" id="{11B7D494-FBB1-42D9-B330-68E486E4127E}"/>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Sascha wurden 10 Minuten versprochen.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Er bekam nur 5.</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Der Unterricht ist vorbei.</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Wie um die übrigen 5 Minuten bitten?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Muss man Mischa sein Geschenk wegnehmen?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Ersten Plan behalten. Einen zweiten ergänzen.</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a20769f89034d36"/>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19849A9-F4D7-413A-9142-3200972FBC47}"/>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9 / 12</a:t>
            </a:r>
          </a:p>
        </p:txBody>
      </p:sp>
    </p:spTree>
    <p:extLst>
      <p:ext uri="{BB962C8B-B14F-4D97-AF65-F5344CB8AC3E}">
        <p14:creationId xmlns:p14="http://schemas.microsoft.com/office/powerpoint/2010/main" val="366472962"/>
      </p:ext>
    </p:extLst>
  </p:cSld>
</p:sld>
</file>

<file path=ppt/slides/slide10.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C73D67F-E314-4A20-913A-F33F39262298}"/>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Meine Bitte und die Freude des anderen</a:t>
            </a:r>
          </a:p>
        </p:txBody>
      </p:sp>
      <p:sp>
        <p:nvSpPr>
          <p:cNvPr id="2" name="">
            <a:extLst xmlns:a="http://schemas.openxmlformats.org/drawingml/2006/main">
              <a:ext uri="{FF2B5EF4-FFF2-40B4-BE49-F238E27FC236}">
                <a16:creationId xmlns:a16="http://schemas.microsoft.com/office/drawing/2014/main" id="{1C675A7D-EF2F-4A1E-B4EE-8446BF28258D}"/>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„Wir hatten zehn Minuten vereinbart. Ich bekam fünf. Wann können wir fertig werden?“</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Meine Bitte an die Lehrkraft.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Mein freundliches Wort zum Freund.</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Meine Hilfe.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Bitte um Gerechtigkeit und freundliche Haltung sind vereinbar.</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5d3e374b0914535"/>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F45F52B-9B12-4937-B94B-5156FD1C74D3}"/>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10 / 12</a:t>
            </a:r>
          </a:p>
        </p:txBody>
      </p:sp>
    </p:spTree>
    <p:extLst>
      <p:ext uri="{BB962C8B-B14F-4D97-AF65-F5344CB8AC3E}">
        <p14:creationId xmlns:p14="http://schemas.microsoft.com/office/powerpoint/2010/main" val="687848440"/>
      </p:ext>
    </p:extLst>
  </p:cSld>
</p:sld>
</file>

<file path=ppt/slides/slide11.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163EDCC-BCE6-4D0E-977D-B432CBD7A56B}"/>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Mein nächster Schritt</a:t>
            </a:r>
          </a:p>
        </p:txBody>
      </p:sp>
      <p:sp>
        <p:nvSpPr>
          <p:cNvPr id="2" name="">
            <a:extLst xmlns:a="http://schemas.openxmlformats.org/drawingml/2006/main">
              <a:ext uri="{FF2B5EF4-FFF2-40B4-BE49-F238E27FC236}">
                <a16:creationId xmlns:a16="http://schemas.microsoft.com/office/drawing/2014/main" id="{D83B2037-B791-421B-A4C9-73AF41129AF0}"/>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Mein Gefühl und Bedürfnis.</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Zusage und Ergebnis.</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Gutes für andere und Unbekanntes.</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Ruhige Bitte.</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Dankbarkeit.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Gute Tat und Zeitpunkt.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Herr Jesus Christus, vergib meinen Neid und mein Murren.</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4aea51595634b7e"/>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E9B31D-ECF0-4FFC-B011-62F94AA826EA}"/>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11 / 12</a:t>
            </a:r>
          </a:p>
        </p:txBody>
      </p:sp>
    </p:spTree>
    <p:extLst>
      <p:ext uri="{BB962C8B-B14F-4D97-AF65-F5344CB8AC3E}">
        <p14:creationId xmlns:p14="http://schemas.microsoft.com/office/powerpoint/2010/main" val="598581308"/>
      </p:ext>
    </p:extLst>
  </p:cSld>
</p:sld>
</file>

<file path=ppt/slides/slide12.xml><?xml version="1.0" encoding="utf-8"?>
<p:sld xmlns:p="http://schemas.openxmlformats.org/presentationml/2006/main">
  <p:cSld>
    <p:bg>
      <p:bgPr>
        <a:solidFill xmlns:a="http://schemas.openxmlformats.org/drawingml/2006/main">
          <a:srgbClr val="FFF9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7E42BA0-5E13-4AF6-8800-0D288A67EB6B}"/>
              </a:ext>
            </a:extLst>
          </p:cNvPr>
          <p:cNvSpPr>
            <a:spLocks xmlns:a="http://schemas.openxmlformats.org/drawingml/2006/main" noGrp="1"/>
          </p:cNvSpPr>
          <p:nvPr/>
        </p:nvSpPr>
        <p:spPr>
          <a:xfrm xmlns:a="http://schemas.openxmlformats.org/drawingml/2006/main">
            <a:off x="523875" y="333375"/>
            <a:ext cx="11144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0351F"/>
                </a:solidFill>
                <a:latin typeface="Arial"/>
                <a:ea typeface="Arial"/>
                <a:cs typeface="Arial"/>
              </a:defRPr>
            </a:pPr>
            <a:r>
              <a:rPr sz="3000" b="1">
                <a:solidFill>
                  <a:srgbClr val="50351F"/>
                </a:solidFill>
                <a:latin typeface="Arial"/>
                <a:ea typeface="Arial"/>
                <a:cs typeface="Arial"/>
              </a:rPr>
              <a:t>Barmherzigkeit und mein Wert</a:t>
            </a:r>
          </a:p>
        </p:txBody>
      </p:sp>
      <p:sp>
        <p:nvSpPr>
          <p:cNvPr id="2" name="">
            <a:extLst xmlns:a="http://schemas.openxmlformats.org/drawingml/2006/main">
              <a:ext uri="{FF2B5EF4-FFF2-40B4-BE49-F238E27FC236}">
                <a16:creationId xmlns:a16="http://schemas.microsoft.com/office/drawing/2014/main" id="{7B8D0EAD-EE26-4B12-BC9A-565A65204757}"/>
              </a:ext>
            </a:extLst>
          </p:cNvPr>
          <p:cNvSpPr>
            <a:spLocks xmlns:a="http://schemas.openxmlformats.org/drawingml/2006/main" noGrp="1"/>
          </p:cNvSpPr>
          <p:nvPr/>
        </p:nvSpPr>
        <p:spPr>
          <a:xfrm xmlns:a="http://schemas.openxmlformats.org/drawingml/2006/main">
            <a:off x="523875" y="1476375"/>
            <a:ext cx="552450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„Der erste Arbeiter bekam…“</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„Wenn einem anderen geholfen wurde, kann ich…“</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Nenne deinen nächsten Schritt.</a:t>
            </a:r>
          </a:p>
          <a:p xmlns:a="http://schemas.openxmlformats.org/drawingml/2006/main">
            <a:pPr>
              <a:defRPr sz="2250" b="0">
                <a:solidFill>
                  <a:srgbClr val="50351F"/>
                </a:solidFill>
                <a:latin typeface="Arial"/>
                <a:ea typeface="Arial"/>
                <a:cs typeface="Arial"/>
              </a:defRPr>
            </a:pPr>
            <a:r>
              <a:rPr sz="2250" b="0">
                <a:solidFill>
                  <a:srgbClr val="50351F"/>
                </a:solidFill>
                <a:latin typeface="Arial"/>
                <a:ea typeface="Arial"/>
                <a:cs typeface="Arial"/>
              </a:rPr>
              <a:t>Gottes Barmherzigkeit gibt auch spät Gekommenen einen Platz.</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53683969b0341e9"/>
          <a:stretch xmlns:a="http://schemas.openxmlformats.org/drawingml/2006/main"/>
        </p:blipFill>
        <p:spPr>
          <a:xfrm xmlns:a="http://schemas.openxmlformats.org/drawingml/2006/main">
            <a:off x="6381750" y="2156520"/>
            <a:ext cx="5286375" cy="29735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5D60FC3-8CF3-4420-BAC6-D401FB9010E2}"/>
              </a:ext>
            </a:extLst>
          </p:cNvPr>
          <p:cNvSpPr>
            <a:spLocks xmlns:a="http://schemas.openxmlformats.org/drawingml/2006/main" noGrp="1"/>
          </p:cNvSpPr>
          <p:nvPr/>
        </p:nvSpPr>
        <p:spPr>
          <a:xfrm xmlns:a="http://schemas.openxmlformats.org/drawingml/2006/main">
            <a:off x="10810875" y="6315075"/>
            <a:ext cx="95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7D6048"/>
                </a:solidFill>
                <a:latin typeface="Arial"/>
                <a:ea typeface="Arial"/>
                <a:cs typeface="Arial"/>
              </a:defRPr>
            </a:pPr>
            <a:r>
              <a:rPr sz="1200" b="0">
                <a:solidFill>
                  <a:srgbClr val="7D6048"/>
                </a:solidFill>
                <a:latin typeface="Arial"/>
                <a:ea typeface="Arial"/>
                <a:cs typeface="Arial"/>
              </a:rPr>
              <a:t>12 / 12</a:t>
            </a:r>
          </a:p>
        </p:txBody>
      </p:sp>
    </p:spTree>
    <p:extLst>
      <p:ext uri="{BB962C8B-B14F-4D97-AF65-F5344CB8AC3E}">
        <p14:creationId xmlns:p14="http://schemas.microsoft.com/office/powerpoint/2010/main" val="413662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2026-10-03T22:19:38.8690000Z</dcterms:created>
  <dcterms:modified xsi:type="dcterms:W3CDTF">2026-10-03T22:19:38.8690000Z</dcterms:modified>
</coreProperties>
</file>